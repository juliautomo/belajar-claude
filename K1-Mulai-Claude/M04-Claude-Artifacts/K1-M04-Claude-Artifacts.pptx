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1675"/>
  <p:notesSz cx="6858000" cy="12191675"/>
  <p:embeddedFontLst>
    <p:embeddedFont>
      <p:font typeface="Helvetica Neue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wmPdzqd9Ek8gAEiSVVDWm7EOT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italic.fntdata"/><Relationship Id="rId10" Type="http://schemas.openxmlformats.org/officeDocument/2006/relationships/font" Target="fonts/HelveticaNeue-bold.fntdata"/><Relationship Id="rId13" Type="http://customschemas.google.com/relationships/presentationmetadata" Target="metadata"/><Relationship Id="rId12" Type="http://schemas.openxmlformats.org/officeDocument/2006/relationships/font" Target="fonts/HelveticaNeue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HelveticaNeue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32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41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40080" y="5029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belajar</a:t>
            </a:r>
            <a:r>
              <a:rPr b="1" i="0" lang="en-US" sz="2400" u="none" cap="none" strike="noStrike">
                <a:solidFill>
                  <a:srgbClr val="8B7CF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0561320" y="548640"/>
            <a:ext cx="1051560" cy="457200"/>
          </a:xfrm>
          <a:prstGeom prst="roundRect">
            <a:avLst>
              <a:gd fmla="val 20000" name="adj"/>
            </a:avLst>
          </a:prstGeom>
          <a:solidFill>
            <a:srgbClr val="684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0561320" y="54864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2651760"/>
            <a:ext cx="69494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Helvetica Neue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 Artifacts: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Helvetica Neue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 Langsung Jadi Dokumen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452628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0D8"/>
              </a:buClr>
              <a:buSzPts val="1550"/>
              <a:buFont typeface="Helvetica Neue"/>
              <a:buNone/>
            </a:pPr>
            <a:r>
              <a:rPr b="0" i="0" lang="en-US" sz="1550" u="none" cap="none" strike="noStrike">
                <a:solidFill>
                  <a:srgbClr val="B7C0D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Generate &amp; edit dokumen terstruktur langsung dari chat — tanpa copy-paste manual.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belajar</a:t>
            </a:r>
            <a:r>
              <a:rPr b="1" i="0" lang="en-US" sz="2000" u="none" cap="none" strike="noStrike">
                <a:solidFill>
                  <a:srgbClr val="8B7CF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B4"/>
              </a:buClr>
              <a:buSzPts val="1250"/>
              <a:buFont typeface="Helvetica Neue"/>
              <a:buNone/>
            </a:pPr>
            <a:r>
              <a:rPr b="0" i="0" lang="en-US" sz="1250" u="none" cap="none" strike="noStrike">
                <a:solidFill>
                  <a:srgbClr val="9AA2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 4 — Claude Artifacts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1325880"/>
            <a:ext cx="6126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250"/>
              <a:buFont typeface="Helvetica Neue"/>
              <a:buNone/>
            </a:pPr>
            <a:r>
              <a:rPr b="1" i="0" lang="en-US" sz="1250" u="none" cap="none" strike="noStrike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KENAPA ARTIFACTS PENTING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1645920"/>
            <a:ext cx="6126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Minta Claude buat tabel, dapat hasilnya di tengah chat, lalu harus scroll, copy, paste ke Google Docs, dan rapikan lagi. Untuk dokumen panjang, proses copy-paste manual ini jadi titik paling melelahkan dari pakai AI.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2743200"/>
            <a:ext cx="6126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250"/>
              <a:buFont typeface="Helvetica Neue"/>
              <a:buNone/>
            </a:pPr>
            <a:r>
              <a:rPr b="1" i="0" lang="en-US" sz="1250" u="none" cap="none" strike="noStrike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APA ITU ARTIFACTS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3063240"/>
            <a:ext cx="6126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Canvas terpisah di sisi chat — begitu Claude membuat output terstruktur (dokumen, tabel, kode, diagram), otomatis muncul di panel sendiri. Kamu bisa edit langsung, minta revisi, dan export kapan sudah final.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8640" y="4160520"/>
            <a:ext cx="6126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250"/>
              <a:buFont typeface="Helvetica Neue"/>
              <a:buNone/>
            </a:pPr>
            <a:r>
              <a:rPr b="1" i="0" lang="en-US" sz="1250" u="none" cap="none" strike="noStrike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KAPAN MUNCUL OTOMATIS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4480560"/>
            <a:ext cx="6126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Untuk output yang cukup terstruktur dan panjang untuk berdiri sendiri. Jawaban singkat tetap di chat biasa — atau minta eksplisit “buatkan di Artifacts” kalau ingin memastikan.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949440" y="132588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250"/>
              <a:buFont typeface="Helvetica Neue"/>
              <a:buNone/>
            </a:pPr>
            <a:r>
              <a:rPr b="1" i="0" lang="en-US" sz="1250" u="none" cap="none" strike="noStrike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JENIS ARTIFACTS YANG PALING BERGUNA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949440" y="1737360"/>
            <a:ext cx="2263140" cy="1051560"/>
          </a:xfrm>
          <a:prstGeom prst="roundRect">
            <a:avLst>
              <a:gd fmla="val 8696" name="adj"/>
            </a:avLst>
          </a:prstGeom>
          <a:solidFill>
            <a:srgbClr val="F4F6FB"/>
          </a:solidFill>
          <a:ln cap="flat" cmpd="sng" w="12700">
            <a:solidFill>
              <a:srgbClr val="D6D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168896" y="1938528"/>
            <a:ext cx="18242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1250"/>
              <a:buFont typeface="Helvetica Neue"/>
              <a:buNone/>
            </a:pPr>
            <a:r>
              <a:rPr b="1" i="0" lang="en-US" sz="1250" u="none" cap="none" strike="noStrike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Markdown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168896" y="2240280"/>
            <a:ext cx="18242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Dokumen, laporan, SOP, proposal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9395460" y="1737360"/>
            <a:ext cx="2263140" cy="1051560"/>
          </a:xfrm>
          <a:prstGeom prst="roundRect">
            <a:avLst>
              <a:gd fmla="val 8696" name="adj"/>
            </a:avLst>
          </a:prstGeom>
          <a:solidFill>
            <a:srgbClr val="F4F6FB"/>
          </a:solidFill>
          <a:ln cap="flat" cmpd="sng" w="12700">
            <a:solidFill>
              <a:srgbClr val="D6D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9614916" y="1938528"/>
            <a:ext cx="18242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1250"/>
              <a:buFont typeface="Helvetica Neue"/>
              <a:buNone/>
            </a:pPr>
            <a:r>
              <a:rPr b="1" i="0" lang="en-US" sz="1250" u="none" cap="none" strike="noStrike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614916" y="2240280"/>
            <a:ext cx="18242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Perbandingan, tracking, rekap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949440" y="2971800"/>
            <a:ext cx="2263140" cy="1051560"/>
          </a:xfrm>
          <a:prstGeom prst="roundRect">
            <a:avLst>
              <a:gd fmla="val 8696" name="adj"/>
            </a:avLst>
          </a:prstGeom>
          <a:solidFill>
            <a:srgbClr val="F4F6FB"/>
          </a:solidFill>
          <a:ln cap="flat" cmpd="sng" w="12700">
            <a:solidFill>
              <a:srgbClr val="D6D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7168896" y="3172968"/>
            <a:ext cx="18242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1250"/>
              <a:buFont typeface="Helvetica Neue"/>
              <a:buNone/>
            </a:pPr>
            <a:r>
              <a:rPr b="1" i="0" lang="en-US" sz="1250" u="none" cap="none" strike="noStrike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168896" y="3474720"/>
            <a:ext cx="18242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Script, formula, halaman HTML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9395460" y="2971800"/>
            <a:ext cx="2263140" cy="1051560"/>
          </a:xfrm>
          <a:prstGeom prst="roundRect">
            <a:avLst>
              <a:gd fmla="val 8696" name="adj"/>
            </a:avLst>
          </a:prstGeom>
          <a:solidFill>
            <a:srgbClr val="F4F6FB"/>
          </a:solidFill>
          <a:ln cap="flat" cmpd="sng" w="12700">
            <a:solidFill>
              <a:srgbClr val="D6D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9614916" y="3172968"/>
            <a:ext cx="18242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1250"/>
              <a:buFont typeface="Helvetica Neue"/>
              <a:buNone/>
            </a:pPr>
            <a:r>
              <a:rPr b="1" i="0" lang="en-US" sz="1250" u="none" cap="none" strike="noStrike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SVG/Diagram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9614916" y="3474720"/>
            <a:ext cx="18242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Flowchart, struktur, alur proses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belajar</a:t>
            </a:r>
            <a:r>
              <a:rPr b="1" i="0" lang="en-US" sz="2000" u="none" cap="none" strike="noStrike">
                <a:solidFill>
                  <a:srgbClr val="8B7CF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B4"/>
              </a:buClr>
              <a:buSzPts val="1250"/>
              <a:buFont typeface="Helvetica Neue"/>
              <a:buNone/>
            </a:pPr>
            <a:r>
              <a:rPr b="0" i="0" lang="en-US" sz="1250" u="none" cap="none" strike="noStrike">
                <a:solidFill>
                  <a:srgbClr val="9AA2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 4 — Claude Artifacts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48640" y="1325880"/>
            <a:ext cx="11064240" cy="1645920"/>
          </a:xfrm>
          <a:prstGeom prst="roundRect">
            <a:avLst>
              <a:gd fmla="val 6667" name="adj"/>
            </a:avLst>
          </a:prstGeom>
          <a:solidFill>
            <a:srgbClr val="FFF8E6"/>
          </a:solidFill>
          <a:ln cap="flat" cmpd="sng" w="12700">
            <a:solidFill>
              <a:srgbClr val="F0DC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914400" y="14813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400"/>
              </a:buClr>
              <a:buSzPts val="1250"/>
              <a:buFont typeface="Helvetica Neue"/>
              <a:buNone/>
            </a:pPr>
            <a:r>
              <a:rPr b="1" i="0" lang="en-US" sz="1250" u="none" cap="none" strike="noStrike">
                <a:solidFill>
                  <a:srgbClr val="8A6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■ KESALAHAN UMUM MEMAKAI ARTIFACTS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4400" y="1810512"/>
            <a:ext cx="10332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150"/>
              <a:buFont typeface="Helvetica Neue"/>
              <a:buNone/>
            </a:pPr>
            <a:r>
              <a:rPr b="0" i="0" lang="en-US" sz="1150" u="none" cap="none" strike="noStrike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✗  Tidak memanfaatkan iterasi — minta ulang dari nol, padahal cukup minta revisi bagian tertentu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914400" y="2130552"/>
            <a:ext cx="10332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150"/>
              <a:buFont typeface="Helvetica Neue"/>
              <a:buNone/>
            </a:pPr>
            <a:r>
              <a:rPr b="0" i="0" lang="en-US" sz="1150" u="none" cap="none" strike="noStrike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✗  Lupa Artifacts tetap perlu direview — tampilan rapi bukan jaminan isinya sudah benar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914400" y="2450592"/>
            <a:ext cx="10332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150"/>
              <a:buFont typeface="Helvetica Neue"/>
              <a:buNone/>
            </a:pPr>
            <a:r>
              <a:rPr b="0" i="0" lang="en-US" sz="1150" u="none" cap="none" strike="noStrike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✗  Tidak export, cuma screenshot — kehilangan format asli yang bisa diedit atau dicopy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48640" y="3291840"/>
            <a:ext cx="11064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250"/>
              <a:buFont typeface="Helvetica Neue"/>
              <a:buNone/>
            </a:pPr>
            <a:r>
              <a:rPr b="1" i="0" lang="en-US" sz="1250" u="none" cap="none" strike="noStrike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CONTOH PROMPT: BIASA VS EKSPLISIT MINTA ARTIFACTS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48640" y="3657600"/>
            <a:ext cx="5440680" cy="2011680"/>
          </a:xfrm>
          <a:prstGeom prst="roundRect">
            <a:avLst>
              <a:gd fmla="val 3636" name="adj"/>
            </a:avLst>
          </a:prstGeom>
          <a:solidFill>
            <a:srgbClr val="FAFBFD"/>
          </a:solidFill>
          <a:ln cap="flat" cmpd="sng" w="12700">
            <a:solidFill>
              <a:srgbClr val="D6D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868680" y="388620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3B3B"/>
              </a:buClr>
              <a:buSzPts val="1150"/>
              <a:buFont typeface="Helvetica Neue"/>
              <a:buNone/>
            </a:pPr>
            <a:r>
              <a:rPr b="1" i="0" lang="en-US" sz="1150" u="none" cap="none" strike="noStrike">
                <a:solidFill>
                  <a:srgbClr val="9C3B3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PROMPT BIASA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68680" y="4224528"/>
            <a:ext cx="4800600" cy="457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1033272" y="4224528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200"/>
              <a:buFont typeface="Helvetica Neue"/>
              <a:buNone/>
            </a:pPr>
            <a:r>
              <a:rPr b="0" i="1" lang="en-US" sz="1200" u="none" cap="none" strike="noStrike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“Bandingkan 5 fitur Claude dengan ChatGPT”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68680" y="4791456"/>
            <a:ext cx="4800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 mungkin menjawab di chat biasa dengan poin-poin, tergantung panjang jawabannya.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172200" y="3657600"/>
            <a:ext cx="5440680" cy="2011680"/>
          </a:xfrm>
          <a:prstGeom prst="roundRect">
            <a:avLst>
              <a:gd fmla="val 3636" name="adj"/>
            </a:avLst>
          </a:prstGeom>
          <a:solidFill>
            <a:srgbClr val="FAFBFD"/>
          </a:solidFill>
          <a:ln cap="flat" cmpd="sng" w="12700">
            <a:solidFill>
              <a:srgbClr val="D6D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492240" y="388620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4"/>
              </a:buClr>
              <a:buSzPts val="1150"/>
              <a:buFont typeface="Helvetica Neue"/>
              <a:buNone/>
            </a:pPr>
            <a:r>
              <a:rPr b="1" i="0" lang="en-US" sz="1150" u="none" cap="none" strike="noStrike">
                <a:solidFill>
                  <a:srgbClr val="1A7A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PROMPT EKSPLISIT + TERSTRUKTUR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492240" y="4224528"/>
            <a:ext cx="480060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6656832" y="4224528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050"/>
              <a:buFont typeface="Helvetica Neue"/>
              <a:buNone/>
            </a:pPr>
            <a:r>
              <a:rPr b="0" i="1" lang="en-US" sz="1050" u="none" cap="none" strike="noStrike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“Buatkan tabel perbandingan 5 fitur Claude vs ChatGPT (Artifacts, Projects, Memory, harga, integrasi) dalam bentuk tabel markdown. Setelah itu saya mau minta revisi kolom tertentu, jadi buat di Artifacts.”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492240" y="5093208"/>
            <a:ext cx="4800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Instruksi eksplisit + format tabel + niat mau revisi → Claude tahu ini perlu jadi dokumen yang bisa diiterasi.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belajar</a:t>
            </a:r>
            <a:r>
              <a:rPr b="1" i="0" lang="en-US" sz="2000" u="none" cap="none" strike="noStrike">
                <a:solidFill>
                  <a:srgbClr val="8B7CF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B4"/>
              </a:buClr>
              <a:buSzPts val="1250"/>
              <a:buFont typeface="Helvetica Neue"/>
              <a:buNone/>
            </a:pPr>
            <a:r>
              <a:rPr b="0" i="0" lang="en-US" sz="1250" u="none" cap="none" strike="noStrike">
                <a:solidFill>
                  <a:srgbClr val="9AA2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 4 — Claude Artifacts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48640" y="12344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2100"/>
              <a:buFont typeface="Helvetica Neue"/>
              <a:buNone/>
            </a:pPr>
            <a:r>
              <a:rPr b="1" i="0" lang="en-US" sz="2100" u="none" cap="none" strike="noStrike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Cara Kerja Step-by-Step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48640" y="1828800"/>
            <a:ext cx="2651760" cy="160020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 cap="flat" cmpd="sng" w="12700">
            <a:solidFill>
              <a:srgbClr val="D6D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749808" y="2029968"/>
            <a:ext cx="365760" cy="365760"/>
          </a:xfrm>
          <a:prstGeom prst="ellipse">
            <a:avLst/>
          </a:prstGeom>
          <a:solidFill>
            <a:srgbClr val="684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749808" y="20299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49808" y="2487168"/>
            <a:ext cx="22494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749808" y="2779776"/>
            <a:ext cx="224942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Helvetica Neue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Minta Claude buat output terstruktur (tabel, dokumen, kode) — Artifacts biasanya muncul otomatis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337560" y="1828800"/>
            <a:ext cx="2651760" cy="160020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 cap="flat" cmpd="sng" w="12700">
            <a:solidFill>
              <a:srgbClr val="D6D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3538728" y="2029968"/>
            <a:ext cx="365760" cy="365760"/>
          </a:xfrm>
          <a:prstGeom prst="ellipse">
            <a:avLst/>
          </a:prstGeom>
          <a:solidFill>
            <a:srgbClr val="684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3538728" y="20299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538728" y="2487168"/>
            <a:ext cx="22494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Revisi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538728" y="2779776"/>
            <a:ext cx="224942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Helvetica Neue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Kalau ada bagian kurang pas, minta revisi spesifik — bukan minta ulang dari nol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126480" y="1828800"/>
            <a:ext cx="2651760" cy="160020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 cap="flat" cmpd="sng" w="12700">
            <a:solidFill>
              <a:srgbClr val="D6D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6327648" y="2029968"/>
            <a:ext cx="365760" cy="365760"/>
          </a:xfrm>
          <a:prstGeom prst="ellipse">
            <a:avLst/>
          </a:prstGeom>
          <a:solidFill>
            <a:srgbClr val="684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327648" y="20299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327648" y="2487168"/>
            <a:ext cx="22494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327648" y="2779776"/>
            <a:ext cx="224942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Helvetica Neue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Cek isi Artifacts sebelum dipakai; jangan asumsikan otomatis benar karena tampilannya rapi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8915400" y="1828800"/>
            <a:ext cx="2651760" cy="160020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 cap="flat" cmpd="sng" w="12700">
            <a:solidFill>
              <a:srgbClr val="D6D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9116568" y="2029968"/>
            <a:ext cx="365760" cy="365760"/>
          </a:xfrm>
          <a:prstGeom prst="ellipse">
            <a:avLst/>
          </a:prstGeom>
          <a:solidFill>
            <a:srgbClr val="684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9116568" y="20299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9116568" y="2487168"/>
            <a:ext cx="22494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9116568" y="2779776"/>
            <a:ext cx="224942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Helvetica Neue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Kalau sudah final, export ke Google Docs atau download sebagai file lokal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48640" y="3703320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EAFAF0"/>
          </a:solidFill>
          <a:ln cap="flat" cmpd="sng" w="12700">
            <a:solidFill>
              <a:srgbClr val="B8E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914400" y="38587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4"/>
              </a:buClr>
              <a:buSzPts val="1250"/>
              <a:buFont typeface="Helvetica Neue"/>
              <a:buNone/>
            </a:pPr>
            <a:r>
              <a:rPr b="1" i="0" lang="en-US" sz="1250" u="none" cap="none" strike="noStrike">
                <a:solidFill>
                  <a:srgbClr val="1A7A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■ </a:t>
            </a:r>
            <a:r>
              <a:rPr b="1" lang="en-US" sz="1250">
                <a:solidFill>
                  <a:srgbClr val="1A7A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LATIHAN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914400" y="4078224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150"/>
              <a:buFont typeface="Helvetica Neue"/>
              <a:buNone/>
            </a:pPr>
            <a:r>
              <a:rPr b="0" i="0" lang="en-US" sz="1150" u="none" cap="none" strike="noStrike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Generate tabel perbandingan 5 fitur Claude vs Chat biasa (bukan AI) — misalnya kecepatan, kemampuan olah dokumen, konsistensi jawaban, dll. Minta revisi 1 kolom setelah tabel muncul untuk coba fitur iterasi.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F3F0FF"/>
          </a:solidFill>
          <a:ln cap="flat" cmpd="sng" w="12700">
            <a:solidFill>
              <a:srgbClr val="DCD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914400" y="504748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250"/>
              <a:buFont typeface="Helvetica Neue"/>
              <a:buNone/>
            </a:pPr>
            <a:r>
              <a:rPr b="1" i="0" lang="en-US" sz="1250" u="none" cap="none" strike="noStrike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■ OUTPUT YANG DIHARAPKAN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914400" y="5266944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150"/>
              <a:buFont typeface="Helvetica Neue"/>
              <a:buNone/>
            </a:pPr>
            <a:r>
              <a:rPr b="0" i="0" lang="en-US" sz="1150" u="none" cap="none" strike="noStrike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tabel Artifacts yang sudah direvisi minimal 1 kali — kamu paham cara generate dan edit dokumen langsung di Claude tanpa copy-paste manual.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2026-07-10T07:33:55Z</dcterms:created>
  <dc:creator>PptxGenJS</dc:creator>
</cp:coreProperties>
</file>