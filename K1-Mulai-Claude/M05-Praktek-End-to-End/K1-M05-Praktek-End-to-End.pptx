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141D33"/>
          </a:solidFill>
          <a:ln/>
        </p:spPr>
        <p:txBody>
          <a:bodyPr/>
          <a:p/>
        </p:txBody>
      </p:sp>
      <p:sp>
        <p:nvSpPr>
          <p:cNvPr id="3" name="Text 1"/>
          <p:cNvSpPr/>
          <p:nvPr/>
        </p:nvSpPr>
        <p:spPr>
          <a:xfrm>
            <a:off x="640080" y="50292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Helvetica" pitchFamily="34" charset="0"/>
                <a:ea typeface="Helvetica" pitchFamily="34" charset="-122"/>
                <a:cs typeface="Helvetica" pitchFamily="34" charset="-120"/>
              </a:rPr>
              <a:t>belajar</a:t>
            </a:r>
            <a:pPr indent="0" marL="0">
              <a:buNone/>
            </a:pPr>
            <a:r>
              <a:rPr lang="en-US" sz="2400" b="1" dirty="0">
                <a:solidFill>
                  <a:srgbClr val="8B7CF6"/>
                </a:solidFill>
                <a:latin typeface="Helvetica" pitchFamily="34" charset="0"/>
                <a:ea typeface="Helvetica" pitchFamily="34" charset="-122"/>
                <a:cs typeface="Helvetica" pitchFamily="34" charset="-120"/>
              </a:rPr>
              <a:t>claude</a:t>
            </a:r>
            <a:endParaRPr lang="en-US" sz="2400" dirty="0"/>
          </a:p>
        </p:txBody>
      </p:sp>
      <p:sp>
        <p:nvSpPr>
          <p:cNvPr id="4" name="Shape 2"/>
          <p:cNvSpPr/>
          <p:nvPr/>
        </p:nvSpPr>
        <p:spPr>
          <a:xfrm>
            <a:off x="10561320" y="548640"/>
            <a:ext cx="1051560" cy="457200"/>
          </a:xfrm>
          <a:prstGeom prst="roundRect">
            <a:avLst>
              <a:gd name="adj" fmla="val 20000"/>
            </a:avLst>
          </a:prstGeom>
          <a:solidFill>
            <a:srgbClr val="6849F6"/>
          </a:solidFill>
          <a:ln/>
        </p:spPr>
        <p:txBody>
          <a:bodyPr/>
          <a:p/>
        </p:txBody>
      </p:sp>
      <p:sp>
        <p:nvSpPr>
          <p:cNvPr id="5" name="Text 3"/>
          <p:cNvSpPr/>
          <p:nvPr/>
        </p:nvSpPr>
        <p:spPr>
          <a:xfrm>
            <a:off x="10561320" y="548640"/>
            <a:ext cx="10515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MODUL 5</a:t>
            </a:r>
            <a:endParaRPr lang="en-US" sz="1200" dirty="0"/>
          </a:p>
        </p:txBody>
      </p:sp>
      <p:sp>
        <p:nvSpPr>
          <p:cNvPr id="6" name="Text 4"/>
          <p:cNvSpPr/>
          <p:nvPr/>
        </p:nvSpPr>
        <p:spPr>
          <a:xfrm>
            <a:off x="640080" y="2651760"/>
            <a:ext cx="6949440" cy="192024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Helvetica" pitchFamily="34" charset="0"/>
                <a:ea typeface="Helvetica" pitchFamily="34" charset="-122"/>
                <a:cs typeface="Helvetica" pitchFamily="34" charset="-120"/>
              </a:rPr>
              <a:t>PRAKTEK: Workflow</a:t>
            </a:r>
            <a:endParaRPr lang="en-US" sz="3400" dirty="0"/>
          </a:p>
          <a:p>
            <a:pPr indent="0" marL="0">
              <a:lnSpc>
                <a:spcPts val="4000"/>
              </a:lnSpc>
              <a:buNone/>
            </a:pPr>
            <a:r>
              <a:rPr lang="en-US" sz="3400" b="1" dirty="0">
                <a:solidFill>
                  <a:srgbClr val="FFFFFF"/>
                </a:solidFill>
                <a:latin typeface="Helvetica" pitchFamily="34" charset="0"/>
                <a:ea typeface="Helvetica" pitchFamily="34" charset="-122"/>
                <a:cs typeface="Helvetica" pitchFamily="34" charset="-120"/>
              </a:rPr>
              <a:t>End-to-End Pertamamu</a:t>
            </a:r>
            <a:endParaRPr lang="en-US" sz="3400" dirty="0"/>
          </a:p>
        </p:txBody>
      </p:sp>
      <p:sp>
        <p:nvSpPr>
          <p:cNvPr id="7" name="Text 5"/>
          <p:cNvSpPr/>
          <p:nvPr/>
        </p:nvSpPr>
        <p:spPr>
          <a:xfrm>
            <a:off x="640080" y="4526280"/>
            <a:ext cx="6949440" cy="640080"/>
          </a:xfrm>
          <a:prstGeom prst="rect">
            <a:avLst/>
          </a:prstGeom>
          <a:noFill/>
          <a:ln/>
        </p:spPr>
        <p:txBody>
          <a:bodyPr wrap="square" lIns="0" tIns="0" rIns="0" bIns="0" rtlCol="0" anchor="ctr"/>
          <a:lstStyle/>
          <a:p>
            <a:pPr indent="0" marL="0">
              <a:buNone/>
            </a:pPr>
            <a:r>
              <a:rPr lang="en-US" sz="1550" dirty="0">
                <a:solidFill>
                  <a:srgbClr val="B7C0D8"/>
                </a:solidFill>
                <a:latin typeface="Helvetica" pitchFamily="34" charset="0"/>
                <a:ea typeface="Helvetica" pitchFamily="34" charset="-122"/>
                <a:cs typeface="Helvetica" pitchFamily="34" charset="-120"/>
              </a:rPr>
              <a:t>Menyatukan semua yang sudah dipelajari jadi 1 alur kerja nyata — dari catatan berantakan sampai laporan siap kirim.</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p/>
        </p:txBody>
      </p:sp>
      <p:sp>
        <p:nvSpPr>
          <p:cNvPr id="3" name="Shape 1"/>
          <p:cNvSpPr/>
          <p:nvPr/>
        </p:nvSpPr>
        <p:spPr>
          <a:xfrm>
            <a:off x="0" y="960120"/>
            <a:ext cx="12191695" cy="41148"/>
          </a:xfrm>
          <a:prstGeom prst="rect">
            <a:avLst/>
          </a:prstGeom>
          <a:solidFill>
            <a:srgbClr val="6849F6"/>
          </a:solidFill>
          <a:ln/>
        </p:spPr>
        <p:txBody>
          <a:bodyPr/>
          <a:p/>
        </p:txBody>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Praktek: Workflow End-to-End</a:t>
            </a:r>
            <a:endParaRPr lang="en-US" sz="1250" dirty="0"/>
          </a:p>
        </p:txBody>
      </p:sp>
      <p:sp>
        <p:nvSpPr>
          <p:cNvPr id="6" name="Text 4"/>
          <p:cNvSpPr/>
          <p:nvPr/>
        </p:nvSpPr>
        <p:spPr>
          <a:xfrm>
            <a:off x="548640" y="1325880"/>
            <a:ext cx="6126480" cy="292608"/>
          </a:xfrm>
          <a:prstGeom prst="rect">
            <a:avLst/>
          </a:prstGeom>
          <a:noFill/>
          <a:ln/>
        </p:spPr>
        <p:txBody>
          <a:bodyPr wrap="square" lIns="0" tIns="0" rIns="0" bIns="0" rtlCol="0" anchor="ctr"/>
          <a:lstStyle/>
          <a:p>
            <a:pPr indent="0" marL="0">
              <a:buNone/>
            </a:pPr>
            <a:r>
              <a:rPr lang="en-US" sz="1250" b="1" spc="50" kern="0" dirty="0">
                <a:solidFill>
                  <a:srgbClr val="4B36C7"/>
                </a:solidFill>
                <a:latin typeface="Helvetica" pitchFamily="34" charset="0"/>
                <a:ea typeface="Helvetica" pitchFamily="34" charset="-122"/>
                <a:cs typeface="Helvetica" pitchFamily="34" charset="-120"/>
              </a:rPr>
              <a:t>MENYATUKAN SEMUA YANG SUDAH DIPELAJARI</a:t>
            </a:r>
            <a:endParaRPr lang="en-US" sz="1250" dirty="0"/>
          </a:p>
        </p:txBody>
      </p:sp>
      <p:sp>
        <p:nvSpPr>
          <p:cNvPr id="7" name="Text 5"/>
          <p:cNvSpPr/>
          <p:nvPr/>
        </p:nvSpPr>
        <p:spPr>
          <a:xfrm>
            <a:off x="548640" y="1645920"/>
            <a:ext cx="6126480" cy="100584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Sekarang saatnya menggabungkan semua kemampuan yang telah dipelajari menjadi satu workflow kerja yang utuh — dari input berantakan sampai output yang siap dikirim ke atasan, klien, atau siapapun yang menunggu hasil kerjamu.</a:t>
            </a:r>
            <a:endParaRPr lang="en-US" sz="1350" dirty="0"/>
          </a:p>
        </p:txBody>
      </p:sp>
      <p:sp>
        <p:nvSpPr>
          <p:cNvPr id="8" name="Text 6"/>
          <p:cNvSpPr/>
          <p:nvPr/>
        </p:nvSpPr>
        <p:spPr>
          <a:xfrm>
            <a:off x="548640" y="2834640"/>
            <a:ext cx="6126480" cy="292608"/>
          </a:xfrm>
          <a:prstGeom prst="rect">
            <a:avLst/>
          </a:prstGeom>
          <a:noFill/>
          <a:ln/>
        </p:spPr>
        <p:txBody>
          <a:bodyPr wrap="square" lIns="0" tIns="0" rIns="0" bIns="0" rtlCol="0" anchor="ctr"/>
          <a:lstStyle/>
          <a:p>
            <a:pPr indent="0" marL="0">
              <a:buNone/>
            </a:pPr>
            <a:r>
              <a:rPr lang="en-US" sz="1250" b="1" spc="50" kern="0" dirty="0">
                <a:solidFill>
                  <a:srgbClr val="4B36C7"/>
                </a:solidFill>
                <a:latin typeface="Helvetica" pitchFamily="34" charset="0"/>
                <a:ea typeface="Helvetica" pitchFamily="34" charset="-122"/>
                <a:cs typeface="Helvetica" pitchFamily="34" charset="-120"/>
              </a:rPr>
              <a:t>STUDI KASUS</a:t>
            </a:r>
            <a:endParaRPr lang="en-US" sz="1250" dirty="0"/>
          </a:p>
        </p:txBody>
      </p:sp>
      <p:sp>
        <p:nvSpPr>
          <p:cNvPr id="9" name="Text 7"/>
          <p:cNvSpPr/>
          <p:nvPr/>
        </p:nvSpPr>
        <p:spPr>
          <a:xfrm>
            <a:off x="548640" y="3154680"/>
            <a:ext cx="6126480" cy="100584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Keluar dari meeting dengan catatan yang tercecer, tapi tetap harus dikirim sebagai laporan rapi berisi ringkasan dan action items dalam waktu dekat. Workflow ini mengubah proses itu dari menyita banyak waktu, jadi jauh lebih cepat.</a:t>
            </a:r>
            <a:endParaRPr lang="en-US" sz="1350" dirty="0"/>
          </a:p>
        </p:txBody>
      </p:sp>
      <p:sp>
        <p:nvSpPr>
          <p:cNvPr id="10" name="Shape 8"/>
          <p:cNvSpPr/>
          <p:nvPr/>
        </p:nvSpPr>
        <p:spPr>
          <a:xfrm>
            <a:off x="548640" y="4389120"/>
            <a:ext cx="6126480" cy="777240"/>
          </a:xfrm>
          <a:prstGeom prst="roundRect">
            <a:avLst>
              <a:gd name="adj" fmla="val 11765"/>
            </a:avLst>
          </a:prstGeom>
          <a:solidFill>
            <a:srgbClr val="F3F0FF"/>
          </a:solidFill>
          <a:ln w="12700">
            <a:solidFill>
              <a:srgbClr val="DCD3FB"/>
            </a:solidFill>
            <a:prstDash val="solid"/>
          </a:ln>
        </p:spPr>
        <p:txBody>
          <a:bodyPr/>
          <a:p/>
        </p:txBody>
      </p:sp>
      <p:sp>
        <p:nvSpPr>
          <p:cNvPr id="11" name="Text 9"/>
          <p:cNvSpPr/>
          <p:nvPr/>
        </p:nvSpPr>
        <p:spPr>
          <a:xfrm>
            <a:off x="822960" y="4389120"/>
            <a:ext cx="5577840" cy="777240"/>
          </a:xfrm>
          <a:prstGeom prst="rect">
            <a:avLst/>
          </a:prstGeom>
          <a:noFill/>
          <a:ln/>
        </p:spPr>
        <p:txBody>
          <a:bodyPr wrap="square" lIns="0" tIns="0" rIns="0" bIns="0" rtlCol="0" anchor="ctr"/>
          <a:lstStyle/>
          <a:p>
            <a:pPr indent="0" marL="0">
              <a:lnSpc>
                <a:spcPct val="120000"/>
              </a:lnSpc>
              <a:buNone/>
            </a:pPr>
            <a:r>
              <a:rPr lang="en-US" sz="1150" b="1" dirty="0">
                <a:solidFill>
                  <a:srgbClr val="4B36C7"/>
                </a:solidFill>
                <a:latin typeface="Helvetica" pitchFamily="34" charset="0"/>
                <a:ea typeface="Helvetica" pitchFamily="34" charset="-122"/>
                <a:cs typeface="Helvetica" pitchFamily="34" charset="-120"/>
              </a:rPr>
              <a:t>Kenapa ini penting:  </a:t>
            </a:r>
            <a:pPr indent="0" marL="0">
              <a:lnSpc>
                <a:spcPct val="120000"/>
              </a:lnSpc>
              <a:buNone/>
            </a:pPr>
            <a:r>
              <a:rPr lang="en-US" sz="1150" dirty="0">
                <a:solidFill>
                  <a:srgbClr val="23283A"/>
                </a:solidFill>
                <a:latin typeface="Helvetica" pitchFamily="34" charset="0"/>
                <a:ea typeface="Helvetica" pitchFamily="34" charset="-122"/>
                <a:cs typeface="Helvetica" pitchFamily="34" charset="-120"/>
              </a:rPr>
              <a:t>satu prompt yang menggabungkan role, konteks, tugas, dan format langsung menghasilkan dokumen jadi — tanpa bolak-balik prompt dan tanpa copy-paste manual.</a:t>
            </a:r>
            <a:endParaRPr lang="en-US" sz="1150" dirty="0"/>
          </a:p>
        </p:txBody>
      </p:sp>
      <p:sp>
        <p:nvSpPr>
          <p:cNvPr id="12" name="Shape 10"/>
          <p:cNvSpPr/>
          <p:nvPr/>
        </p:nvSpPr>
        <p:spPr>
          <a:xfrm>
            <a:off x="6949440" y="1325880"/>
            <a:ext cx="4709160" cy="3108960"/>
          </a:xfrm>
          <a:prstGeom prst="roundRect">
            <a:avLst>
              <a:gd name="adj" fmla="val 3529"/>
            </a:avLst>
          </a:prstGeom>
          <a:solidFill>
            <a:srgbClr val="F4F6FB"/>
          </a:solidFill>
          <a:ln w="12700">
            <a:solidFill>
              <a:srgbClr val="D6DCEB"/>
            </a:solidFill>
            <a:prstDash val="solid"/>
          </a:ln>
        </p:spPr>
        <p:txBody>
          <a:bodyPr/>
          <a:p/>
        </p:txBody>
      </p:sp>
      <p:sp>
        <p:nvSpPr>
          <p:cNvPr id="13" name="Text 11"/>
          <p:cNvSpPr/>
          <p:nvPr/>
        </p:nvSpPr>
        <p:spPr>
          <a:xfrm>
            <a:off x="7269480" y="1536192"/>
            <a:ext cx="4069080" cy="365760"/>
          </a:xfrm>
          <a:prstGeom prst="rect">
            <a:avLst/>
          </a:prstGeom>
          <a:noFill/>
          <a:ln/>
        </p:spPr>
        <p:txBody>
          <a:bodyPr wrap="square" lIns="0" tIns="0" rIns="0" bIns="0" rtlCol="0" anchor="ctr"/>
          <a:lstStyle/>
          <a:p>
            <a:pPr indent="0" marL="0">
              <a:buNone/>
            </a:pPr>
            <a:r>
              <a:rPr lang="en-US" sz="1200" b="1" spc="30" kern="0" dirty="0">
                <a:solidFill>
                  <a:srgbClr val="4B36C7"/>
                </a:solidFill>
                <a:latin typeface="Helvetica" pitchFamily="34" charset="0"/>
                <a:ea typeface="Helvetica" pitchFamily="34" charset="-122"/>
                <a:cs typeface="Helvetica" pitchFamily="34" charset="-120"/>
              </a:rPr>
              <a:t>CONTOH SKENARIO BERDASARKAN PROFESI</a:t>
            </a:r>
            <a:endParaRPr lang="en-US" sz="1200" dirty="0"/>
          </a:p>
        </p:txBody>
      </p:sp>
      <p:sp>
        <p:nvSpPr>
          <p:cNvPr id="14" name="Text 12"/>
          <p:cNvSpPr/>
          <p:nvPr/>
        </p:nvSpPr>
        <p:spPr>
          <a:xfrm>
            <a:off x="7269480" y="2057400"/>
            <a:ext cx="4069080" cy="256032"/>
          </a:xfrm>
          <a:prstGeom prst="rect">
            <a:avLst/>
          </a:prstGeom>
          <a:noFill/>
          <a:ln/>
        </p:spPr>
        <p:txBody>
          <a:bodyPr wrap="square" lIns="0" tIns="0" rIns="0" bIns="0" rtlCol="0" anchor="ctr"/>
          <a:lstStyle/>
          <a:p>
            <a:pPr indent="0" marL="0">
              <a:buNone/>
            </a:pPr>
            <a:r>
              <a:rPr lang="en-US" sz="1250" b="1" dirty="0">
                <a:solidFill>
                  <a:srgbClr val="0D1321"/>
                </a:solidFill>
                <a:latin typeface="Helvetica" pitchFamily="34" charset="0"/>
                <a:ea typeface="Helvetica" pitchFamily="34" charset="-122"/>
                <a:cs typeface="Helvetica" pitchFamily="34" charset="-120"/>
              </a:rPr>
              <a:t>Manajer</a:t>
            </a:r>
            <a:endParaRPr lang="en-US" sz="1250" dirty="0"/>
          </a:p>
        </p:txBody>
      </p:sp>
      <p:sp>
        <p:nvSpPr>
          <p:cNvPr id="15" name="Text 13"/>
          <p:cNvSpPr/>
          <p:nvPr/>
        </p:nvSpPr>
        <p:spPr>
          <a:xfrm>
            <a:off x="7269480" y="2304288"/>
            <a:ext cx="4069080" cy="45720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Helvetica" pitchFamily="34" charset="0"/>
                <a:ea typeface="Helvetica" pitchFamily="34" charset="-122"/>
                <a:cs typeface="Helvetica" pitchFamily="34" charset="-120"/>
              </a:rPr>
              <a:t>Catatan meeting 2 halaman diolah jadi ringkasan + action items dalam satu prompt</a:t>
            </a:r>
            <a:endParaRPr lang="en-US" sz="1050" dirty="0"/>
          </a:p>
        </p:txBody>
      </p:sp>
      <p:sp>
        <p:nvSpPr>
          <p:cNvPr id="16" name="Text 14"/>
          <p:cNvSpPr/>
          <p:nvPr/>
        </p:nvSpPr>
        <p:spPr>
          <a:xfrm>
            <a:off x="7269480" y="2834640"/>
            <a:ext cx="4069080" cy="256032"/>
          </a:xfrm>
          <a:prstGeom prst="rect">
            <a:avLst/>
          </a:prstGeom>
          <a:noFill/>
          <a:ln/>
        </p:spPr>
        <p:txBody>
          <a:bodyPr wrap="square" lIns="0" tIns="0" rIns="0" bIns="0" rtlCol="0" anchor="ctr"/>
          <a:lstStyle/>
          <a:p>
            <a:pPr indent="0" marL="0">
              <a:buNone/>
            </a:pPr>
            <a:r>
              <a:rPr lang="en-US" sz="1250" b="1" dirty="0">
                <a:solidFill>
                  <a:srgbClr val="0D1321"/>
                </a:solidFill>
                <a:latin typeface="Helvetica" pitchFamily="34" charset="0"/>
                <a:ea typeface="Helvetica" pitchFamily="34" charset="-122"/>
                <a:cs typeface="Helvetica" pitchFamily="34" charset="-120"/>
              </a:rPr>
              <a:t>HRD</a:t>
            </a:r>
            <a:endParaRPr lang="en-US" sz="1250" dirty="0"/>
          </a:p>
        </p:txBody>
      </p:sp>
      <p:sp>
        <p:nvSpPr>
          <p:cNvPr id="17" name="Text 15"/>
          <p:cNvSpPr/>
          <p:nvPr/>
        </p:nvSpPr>
        <p:spPr>
          <a:xfrm>
            <a:off x="7269480" y="3081528"/>
            <a:ext cx="4069080" cy="45720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Helvetica" pitchFamily="34" charset="0"/>
                <a:ea typeface="Helvetica" pitchFamily="34" charset="-122"/>
                <a:cs typeface="Helvetica" pitchFamily="34" charset="-120"/>
              </a:rPr>
              <a:t>Hasil interview (catatan wawancara kandidat) diolah jadi laporan evaluasi terstruktur</a:t>
            </a:r>
            <a:endParaRPr lang="en-US" sz="1050" dirty="0"/>
          </a:p>
        </p:txBody>
      </p:sp>
      <p:sp>
        <p:nvSpPr>
          <p:cNvPr id="18" name="Text 16"/>
          <p:cNvSpPr/>
          <p:nvPr/>
        </p:nvSpPr>
        <p:spPr>
          <a:xfrm>
            <a:off x="7269480" y="3611880"/>
            <a:ext cx="4069080" cy="256032"/>
          </a:xfrm>
          <a:prstGeom prst="rect">
            <a:avLst/>
          </a:prstGeom>
          <a:noFill/>
          <a:ln/>
        </p:spPr>
        <p:txBody>
          <a:bodyPr wrap="square" lIns="0" tIns="0" rIns="0" bIns="0" rtlCol="0" anchor="ctr"/>
          <a:lstStyle/>
          <a:p>
            <a:pPr indent="0" marL="0">
              <a:buNone/>
            </a:pPr>
            <a:r>
              <a:rPr lang="en-US" sz="1250" b="1" dirty="0">
                <a:solidFill>
                  <a:srgbClr val="0D1321"/>
                </a:solidFill>
                <a:latin typeface="Helvetica" pitchFamily="34" charset="0"/>
                <a:ea typeface="Helvetica" pitchFamily="34" charset="-122"/>
                <a:cs typeface="Helvetica" pitchFamily="34" charset="-120"/>
              </a:rPr>
              <a:t>Mahasiswa</a:t>
            </a:r>
            <a:endParaRPr lang="en-US" sz="1250" dirty="0"/>
          </a:p>
        </p:txBody>
      </p:sp>
      <p:sp>
        <p:nvSpPr>
          <p:cNvPr id="19" name="Text 17"/>
          <p:cNvSpPr/>
          <p:nvPr/>
        </p:nvSpPr>
        <p:spPr>
          <a:xfrm>
            <a:off x="7269480" y="3858768"/>
            <a:ext cx="4069080" cy="45720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Helvetica" pitchFamily="34" charset="0"/>
                <a:ea typeface="Helvetica" pitchFamily="34" charset="-122"/>
                <a:cs typeface="Helvetica" pitchFamily="34" charset="-120"/>
              </a:rPr>
              <a:t>Catatan kuliah/diskusi kelompok diolah jadi rangkuman untuk bahan belajar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p/>
        </p:txBody>
      </p:sp>
      <p:sp>
        <p:nvSpPr>
          <p:cNvPr id="3" name="Shape 1"/>
          <p:cNvSpPr/>
          <p:nvPr/>
        </p:nvSpPr>
        <p:spPr>
          <a:xfrm>
            <a:off x="0" y="960120"/>
            <a:ext cx="12191695" cy="41148"/>
          </a:xfrm>
          <a:prstGeom prst="rect">
            <a:avLst/>
          </a:prstGeom>
          <a:solidFill>
            <a:srgbClr val="6849F6"/>
          </a:solidFill>
          <a:ln/>
        </p:spPr>
        <p:txBody>
          <a:bodyPr/>
          <a:p/>
        </p:txBody>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Praktek: Workflow End-to-End</a:t>
            </a:r>
            <a:endParaRPr lang="en-US" sz="1250" dirty="0"/>
          </a:p>
        </p:txBody>
      </p:sp>
      <p:sp>
        <p:nvSpPr>
          <p:cNvPr id="6" name="Text 4"/>
          <p:cNvSpPr/>
          <p:nvPr/>
        </p:nvSpPr>
        <p:spPr>
          <a:xfrm>
            <a:off x="548640" y="1234440"/>
            <a:ext cx="11064240" cy="457200"/>
          </a:xfrm>
          <a:prstGeom prst="rect">
            <a:avLst/>
          </a:prstGeom>
          <a:noFill/>
          <a:ln/>
        </p:spPr>
        <p:txBody>
          <a:bodyPr wrap="square" lIns="0" tIns="0" rIns="0" bIns="0" rtlCol="0" anchor="ctr"/>
          <a:lstStyle/>
          <a:p>
            <a:pPr indent="0" marL="0">
              <a:buNone/>
            </a:pPr>
            <a:r>
              <a:rPr lang="en-US" sz="1900" b="1" dirty="0">
                <a:solidFill>
                  <a:srgbClr val="0D1321"/>
                </a:solidFill>
                <a:latin typeface="Helvetica" pitchFamily="34" charset="0"/>
                <a:ea typeface="Helvetica" pitchFamily="34" charset="-122"/>
                <a:cs typeface="Helvetica" pitchFamily="34" charset="-120"/>
              </a:rPr>
              <a:t>Latihan: Mengubah Catatan Meeting Berantakan Jadi Laporan Rapi</a:t>
            </a:r>
            <a:endParaRPr lang="en-US" sz="1900" dirty="0"/>
          </a:p>
        </p:txBody>
      </p:sp>
      <p:sp>
        <p:nvSpPr>
          <p:cNvPr id="7" name="Shape 5"/>
          <p:cNvSpPr/>
          <p:nvPr/>
        </p:nvSpPr>
        <p:spPr>
          <a:xfrm>
            <a:off x="548640" y="1892808"/>
            <a:ext cx="0" cy="384048"/>
          </a:xfrm>
          <a:prstGeom prst="line">
            <a:avLst/>
          </a:prstGeom>
          <a:noFill/>
          <a:ln w="31750">
            <a:solidFill>
              <a:srgbClr val="6849F6"/>
            </a:solidFill>
            <a:prstDash val="solid"/>
          </a:ln>
        </p:spPr>
        <p:txBody>
          <a:bodyPr/>
          <a:p/>
        </p:txBody>
      </p:sp>
      <p:sp>
        <p:nvSpPr>
          <p:cNvPr id="8" name="Text 6"/>
          <p:cNvSpPr/>
          <p:nvPr/>
        </p:nvSpPr>
        <p:spPr>
          <a:xfrm>
            <a:off x="685800" y="1874520"/>
            <a:ext cx="11064240" cy="182880"/>
          </a:xfrm>
          <a:prstGeom prst="rect">
            <a:avLst/>
          </a:prstGeom>
          <a:noFill/>
          <a:ln/>
        </p:spPr>
        <p:txBody>
          <a:bodyPr wrap="square" lIns="0" tIns="0" rIns="0" bIns="0" rtlCol="0" anchor="ctr"/>
          <a:lstStyle/>
          <a:p>
            <a:pPr indent="0" marL="0">
              <a:buNone/>
            </a:pPr>
            <a:r>
              <a:rPr lang="en-US" sz="950" b="1" spc="50" kern="0" dirty="0">
                <a:solidFill>
                  <a:srgbClr val="6849F6"/>
                </a:solidFill>
                <a:latin typeface="Helvetica" pitchFamily="34" charset="0"/>
                <a:ea typeface="Helvetica" pitchFamily="34" charset="-122"/>
                <a:cs typeface="Helvetica" pitchFamily="34" charset="-120"/>
              </a:rPr>
              <a:t>01</a:t>
            </a:r>
            <a:endParaRPr lang="en-US" sz="950" dirty="0"/>
          </a:p>
        </p:txBody>
      </p:sp>
      <p:sp>
        <p:nvSpPr>
          <p:cNvPr id="9" name="Text 7"/>
          <p:cNvSpPr/>
          <p:nvPr/>
        </p:nvSpPr>
        <p:spPr>
          <a:xfrm>
            <a:off x="685800" y="2048256"/>
            <a:ext cx="11064240" cy="256032"/>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Situasi</a:t>
            </a:r>
            <a:endParaRPr lang="en-US" sz="1400" dirty="0"/>
          </a:p>
        </p:txBody>
      </p:sp>
      <p:sp>
        <p:nvSpPr>
          <p:cNvPr id="10" name="Text 8"/>
          <p:cNvSpPr/>
          <p:nvPr/>
        </p:nvSpPr>
        <p:spPr>
          <a:xfrm>
            <a:off x="685800" y="2340864"/>
            <a:ext cx="10881360" cy="640080"/>
          </a:xfrm>
          <a:prstGeom prst="rect">
            <a:avLst/>
          </a:prstGeom>
          <a:noFill/>
          <a:ln/>
        </p:spPr>
        <p:txBody>
          <a:bodyPr wrap="square" lIns="0" tIns="0" rIns="0" bIns="0" rtlCol="0" anchor="ctr"/>
          <a:lstStyle/>
          <a:p>
            <a:pPr indent="0" marL="0">
              <a:lnSpc>
                <a:spcPct val="125000"/>
              </a:lnSpc>
              <a:buNone/>
            </a:pPr>
            <a:r>
              <a:rPr lang="en-US" sz="1250" dirty="0">
                <a:solidFill>
                  <a:srgbClr val="23283A"/>
                </a:solidFill>
                <a:latin typeface="Helvetica" pitchFamily="34" charset="0"/>
                <a:ea typeface="Helvetica" pitchFamily="34" charset="-122"/>
                <a:cs typeface="Helvetica" pitchFamily="34" charset="-120"/>
              </a:rPr>
              <a:t>Kamu baru selesai meeting kerja (atau diskusi/kuliah kalau kamu mahasiswa). Catatan yang kamu tulis masih berantakan — poin diskusi, keputusan, dan tugas tercampur tanpa struktur yang jelas. Kamu perlu mengubahnya jadi laporan rapi yang bisa dibagikan ke tim, tanpa mengetik ulang manual.</a:t>
            </a:r>
            <a:endParaRPr lang="en-US" sz="1250" dirty="0"/>
          </a:p>
        </p:txBody>
      </p:sp>
      <p:sp>
        <p:nvSpPr>
          <p:cNvPr id="11" name="Shape 9"/>
          <p:cNvSpPr/>
          <p:nvPr/>
        </p:nvSpPr>
        <p:spPr>
          <a:xfrm>
            <a:off x="548640" y="3218688"/>
            <a:ext cx="0" cy="384048"/>
          </a:xfrm>
          <a:prstGeom prst="line">
            <a:avLst/>
          </a:prstGeom>
          <a:noFill/>
          <a:ln w="31750">
            <a:solidFill>
              <a:srgbClr val="6849F6"/>
            </a:solidFill>
            <a:prstDash val="solid"/>
          </a:ln>
        </p:spPr>
        <p:txBody>
          <a:bodyPr/>
          <a:p/>
        </p:txBody>
      </p:sp>
      <p:sp>
        <p:nvSpPr>
          <p:cNvPr id="12" name="Text 10"/>
          <p:cNvSpPr/>
          <p:nvPr/>
        </p:nvSpPr>
        <p:spPr>
          <a:xfrm>
            <a:off x="685800" y="3200400"/>
            <a:ext cx="11064240" cy="182880"/>
          </a:xfrm>
          <a:prstGeom prst="rect">
            <a:avLst/>
          </a:prstGeom>
          <a:noFill/>
          <a:ln/>
        </p:spPr>
        <p:txBody>
          <a:bodyPr wrap="square" lIns="0" tIns="0" rIns="0" bIns="0" rtlCol="0" anchor="ctr"/>
          <a:lstStyle/>
          <a:p>
            <a:pPr indent="0" marL="0">
              <a:buNone/>
            </a:pPr>
            <a:r>
              <a:rPr lang="en-US" sz="950" b="1" spc="50" kern="0" dirty="0">
                <a:solidFill>
                  <a:srgbClr val="6849F6"/>
                </a:solidFill>
                <a:latin typeface="Helvetica" pitchFamily="34" charset="0"/>
                <a:ea typeface="Helvetica" pitchFamily="34" charset="-122"/>
                <a:cs typeface="Helvetica" pitchFamily="34" charset="-120"/>
              </a:rPr>
              <a:t>02</a:t>
            </a:r>
            <a:endParaRPr lang="en-US" sz="950" dirty="0"/>
          </a:p>
        </p:txBody>
      </p:sp>
      <p:sp>
        <p:nvSpPr>
          <p:cNvPr id="13" name="Text 11"/>
          <p:cNvSpPr/>
          <p:nvPr/>
        </p:nvSpPr>
        <p:spPr>
          <a:xfrm>
            <a:off x="685800" y="3374136"/>
            <a:ext cx="11064240" cy="256032"/>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Tujuan</a:t>
            </a:r>
            <a:endParaRPr lang="en-US" sz="1400" dirty="0"/>
          </a:p>
        </p:txBody>
      </p:sp>
      <p:sp>
        <p:nvSpPr>
          <p:cNvPr id="14" name="Text 12"/>
          <p:cNvSpPr/>
          <p:nvPr/>
        </p:nvSpPr>
        <p:spPr>
          <a:xfrm>
            <a:off x="685800" y="3666744"/>
            <a:ext cx="10881360" cy="256032"/>
          </a:xfrm>
          <a:prstGeom prst="rect">
            <a:avLst/>
          </a:prstGeom>
          <a:noFill/>
          <a:ln/>
        </p:spPr>
        <p:txBody>
          <a:bodyPr wrap="square" lIns="0" tIns="0" rIns="0" bIns="0" rtlCol="0" anchor="ctr"/>
          <a:lstStyle/>
          <a:p>
            <a:pPr indent="0" marL="0">
              <a:buNone/>
            </a:pPr>
            <a:r>
              <a:rPr lang="en-US" sz="1250" dirty="0">
                <a:solidFill>
                  <a:srgbClr val="23283A"/>
                </a:solidFill>
                <a:latin typeface="Helvetica" pitchFamily="34" charset="0"/>
                <a:ea typeface="Helvetica" pitchFamily="34" charset="-122"/>
                <a:cs typeface="Helvetica" pitchFamily="34" charset="-120"/>
              </a:rPr>
              <a:t>Berlatih menyusun 1 prompt lengkap yang langsung menghasilkan:</a:t>
            </a:r>
            <a:endParaRPr lang="en-US" sz="1250" dirty="0"/>
          </a:p>
        </p:txBody>
      </p:sp>
      <p:sp>
        <p:nvSpPr>
          <p:cNvPr id="15" name="Text 13"/>
          <p:cNvSpPr/>
          <p:nvPr/>
        </p:nvSpPr>
        <p:spPr>
          <a:xfrm>
            <a:off x="685800" y="3959352"/>
            <a:ext cx="10881360" cy="237744"/>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  Ringkasan poin utama dalam bentuk paragraf singkat</a:t>
            </a:r>
            <a:endParaRPr lang="en-US" sz="1200" dirty="0"/>
          </a:p>
        </p:txBody>
      </p:sp>
      <p:sp>
        <p:nvSpPr>
          <p:cNvPr id="16" name="Text 14"/>
          <p:cNvSpPr/>
          <p:nvPr/>
        </p:nvSpPr>
        <p:spPr>
          <a:xfrm>
            <a:off x="685800" y="4215384"/>
            <a:ext cx="10881360" cy="237744"/>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  Action items dalam bentuk tabel (Tugas, PIC, Deadline)</a:t>
            </a:r>
            <a:endParaRPr lang="en-US" sz="1200" dirty="0"/>
          </a:p>
        </p:txBody>
      </p:sp>
      <p:sp>
        <p:nvSpPr>
          <p:cNvPr id="17" name="Text 15"/>
          <p:cNvSpPr/>
          <p:nvPr/>
        </p:nvSpPr>
        <p:spPr>
          <a:xfrm>
            <a:off x="685800" y="4471416"/>
            <a:ext cx="10881360" cy="237744"/>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  Output dalam format dokumen yang siap di-export ke Google Docs</a:t>
            </a:r>
            <a:endParaRPr lang="en-US" sz="1200" dirty="0"/>
          </a:p>
        </p:txBody>
      </p:sp>
      <p:sp>
        <p:nvSpPr>
          <p:cNvPr id="18" name="Text 16"/>
          <p:cNvSpPr/>
          <p:nvPr/>
        </p:nvSpPr>
        <p:spPr>
          <a:xfrm>
            <a:off x="685800" y="4782312"/>
            <a:ext cx="10881360" cy="256032"/>
          </a:xfrm>
          <a:prstGeom prst="rect">
            <a:avLst/>
          </a:prstGeom>
          <a:noFill/>
          <a:ln/>
        </p:spPr>
        <p:txBody>
          <a:bodyPr wrap="square" lIns="0" tIns="0" rIns="0" bIns="0" rtlCol="0" anchor="ctr"/>
          <a:lstStyle/>
          <a:p>
            <a:pPr indent="0" marL="0">
              <a:buNone/>
            </a:pPr>
            <a:r>
              <a:rPr lang="en-US" sz="1100" i="1" dirty="0">
                <a:solidFill>
                  <a:srgbClr val="6B7280"/>
                </a:solidFill>
                <a:latin typeface="Helvetica" pitchFamily="34" charset="0"/>
                <a:ea typeface="Helvetica" pitchFamily="34" charset="-122"/>
                <a:cs typeface="Helvetica" pitchFamily="34" charset="-120"/>
              </a:rPr>
              <a:t>...semua dalam satu alur, tanpa bolak-balik banyak prompt.</a:t>
            </a:r>
            <a:endParaRPr lang="en-US" sz="1100" dirty="0"/>
          </a:p>
        </p:txBody>
      </p:sp>
      <p:sp>
        <p:nvSpPr>
          <p:cNvPr id="19" name="Shape 17"/>
          <p:cNvSpPr/>
          <p:nvPr/>
        </p:nvSpPr>
        <p:spPr>
          <a:xfrm>
            <a:off x="548640" y="5230368"/>
            <a:ext cx="0" cy="384048"/>
          </a:xfrm>
          <a:prstGeom prst="line">
            <a:avLst/>
          </a:prstGeom>
          <a:noFill/>
          <a:ln w="31750">
            <a:solidFill>
              <a:srgbClr val="6849F6"/>
            </a:solidFill>
            <a:prstDash val="solid"/>
          </a:ln>
        </p:spPr>
        <p:txBody>
          <a:bodyPr/>
          <a:p/>
        </p:txBody>
      </p:sp>
      <p:sp>
        <p:nvSpPr>
          <p:cNvPr id="20" name="Text 18"/>
          <p:cNvSpPr/>
          <p:nvPr/>
        </p:nvSpPr>
        <p:spPr>
          <a:xfrm>
            <a:off x="685800" y="5212080"/>
            <a:ext cx="11064240" cy="182880"/>
          </a:xfrm>
          <a:prstGeom prst="rect">
            <a:avLst/>
          </a:prstGeom>
          <a:noFill/>
          <a:ln/>
        </p:spPr>
        <p:txBody>
          <a:bodyPr wrap="square" lIns="0" tIns="0" rIns="0" bIns="0" rtlCol="0" anchor="ctr"/>
          <a:lstStyle/>
          <a:p>
            <a:pPr indent="0" marL="0">
              <a:buNone/>
            </a:pPr>
            <a:r>
              <a:rPr lang="en-US" sz="950" b="1" spc="50" kern="0" dirty="0">
                <a:solidFill>
                  <a:srgbClr val="6849F6"/>
                </a:solidFill>
                <a:latin typeface="Helvetica" pitchFamily="34" charset="0"/>
                <a:ea typeface="Helvetica" pitchFamily="34" charset="-122"/>
                <a:cs typeface="Helvetica" pitchFamily="34" charset="-120"/>
              </a:rPr>
              <a:t>03</a:t>
            </a:r>
            <a:endParaRPr lang="en-US" sz="950" dirty="0"/>
          </a:p>
        </p:txBody>
      </p:sp>
      <p:sp>
        <p:nvSpPr>
          <p:cNvPr id="21" name="Text 19"/>
          <p:cNvSpPr/>
          <p:nvPr/>
        </p:nvSpPr>
        <p:spPr>
          <a:xfrm>
            <a:off x="685800" y="5385816"/>
            <a:ext cx="11064240" cy="256032"/>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Contoh Prompt Lengkap (1 Alur Penuh)</a:t>
            </a:r>
            <a:endParaRPr lang="en-US" sz="1400" dirty="0"/>
          </a:p>
        </p:txBody>
      </p:sp>
      <p:sp>
        <p:nvSpPr>
          <p:cNvPr id="22" name="Shape 20"/>
          <p:cNvSpPr/>
          <p:nvPr/>
        </p:nvSpPr>
        <p:spPr>
          <a:xfrm>
            <a:off x="548640" y="5687568"/>
            <a:ext cx="11064240" cy="1005840"/>
          </a:xfrm>
          <a:prstGeom prst="roundRect">
            <a:avLst>
              <a:gd name="adj" fmla="val 9091"/>
            </a:avLst>
          </a:prstGeom>
          <a:solidFill>
            <a:srgbClr val="F3F0FF"/>
          </a:solidFill>
          <a:ln w="12700">
            <a:solidFill>
              <a:srgbClr val="DCD3FB"/>
            </a:solidFill>
            <a:prstDash val="solid"/>
          </a:ln>
        </p:spPr>
        <p:txBody>
          <a:bodyPr/>
          <a:p/>
        </p:txBody>
      </p:sp>
      <p:sp>
        <p:nvSpPr>
          <p:cNvPr id="23" name="Text 21"/>
          <p:cNvSpPr/>
          <p:nvPr/>
        </p:nvSpPr>
        <p:spPr>
          <a:xfrm>
            <a:off x="868680" y="5687568"/>
            <a:ext cx="10424160" cy="1005840"/>
          </a:xfrm>
          <a:prstGeom prst="rect">
            <a:avLst/>
          </a:prstGeom>
          <a:noFill/>
          <a:ln/>
        </p:spPr>
        <p:txBody>
          <a:bodyPr wrap="square" lIns="0" tIns="0" rIns="0" bIns="0" rtlCol="0" anchor="ctr"/>
          <a:lstStyle/>
          <a:p>
            <a:pPr indent="0" marL="0">
              <a:lnSpc>
                <a:spcPct val="115000"/>
              </a:lnSpc>
              <a:buNone/>
            </a:pPr>
            <a:r>
              <a:rPr lang="en-US" sz="1050" i="1" dirty="0">
                <a:solidFill>
                  <a:srgbClr val="23283A"/>
                </a:solidFill>
                <a:latin typeface="Helvetica" pitchFamily="34" charset="0"/>
                <a:ea typeface="Helvetica" pitchFamily="34" charset="-122"/>
                <a:cs typeface="Helvetica" pitchFamily="34" charset="-120"/>
              </a:rPr>
              <a:t>Bertindaklah sebagai asisten kerja yang rapi dan terstruktur. “Ini catatan meeting saya hari ini, masih berantakan: [paste catatan mentah]. Tolong olah jadi laporan dengan 2 bagian: (1) Ringkasan poin utama, (2) Action items dalam tabel dengan kolom Tugas, PIC, dan Deadline. Buatkan dalam format dokumen supaya bisa saya export ke Google Docs.”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p/>
        </p:txBody>
      </p:sp>
      <p:sp>
        <p:nvSpPr>
          <p:cNvPr id="3" name="Shape 1"/>
          <p:cNvSpPr/>
          <p:nvPr/>
        </p:nvSpPr>
        <p:spPr>
          <a:xfrm>
            <a:off x="0" y="960120"/>
            <a:ext cx="12191695" cy="41148"/>
          </a:xfrm>
          <a:prstGeom prst="rect">
            <a:avLst/>
          </a:prstGeom>
          <a:solidFill>
            <a:srgbClr val="6849F6"/>
          </a:solidFill>
          <a:ln/>
        </p:spPr>
        <p:txBody>
          <a:bodyPr/>
          <a:p/>
        </p:txBody>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5 — Praktek: Workflow End-to-End</a:t>
            </a:r>
            <a:endParaRPr lang="en-US" sz="1250" dirty="0"/>
          </a:p>
        </p:txBody>
      </p:sp>
      <p:sp>
        <p:nvSpPr>
          <p:cNvPr id="6" name="Shape 4"/>
          <p:cNvSpPr/>
          <p:nvPr/>
        </p:nvSpPr>
        <p:spPr>
          <a:xfrm>
            <a:off x="548640" y="1344168"/>
            <a:ext cx="0" cy="384048"/>
          </a:xfrm>
          <a:prstGeom prst="line">
            <a:avLst/>
          </a:prstGeom>
          <a:noFill/>
          <a:ln w="31750">
            <a:solidFill>
              <a:srgbClr val="6849F6"/>
            </a:solidFill>
            <a:prstDash val="solid"/>
          </a:ln>
        </p:spPr>
        <p:txBody>
          <a:bodyPr/>
          <a:p/>
        </p:txBody>
      </p:sp>
      <p:sp>
        <p:nvSpPr>
          <p:cNvPr id="7" name="Text 5"/>
          <p:cNvSpPr/>
          <p:nvPr/>
        </p:nvSpPr>
        <p:spPr>
          <a:xfrm>
            <a:off x="685800" y="1325880"/>
            <a:ext cx="11064240" cy="182880"/>
          </a:xfrm>
          <a:prstGeom prst="rect">
            <a:avLst/>
          </a:prstGeom>
          <a:noFill/>
          <a:ln/>
        </p:spPr>
        <p:txBody>
          <a:bodyPr wrap="square" lIns="0" tIns="0" rIns="0" bIns="0" rtlCol="0" anchor="ctr"/>
          <a:lstStyle/>
          <a:p>
            <a:pPr indent="0" marL="0">
              <a:buNone/>
            </a:pPr>
            <a:r>
              <a:rPr lang="en-US" sz="950" b="1" spc="50" kern="0" dirty="0">
                <a:solidFill>
                  <a:srgbClr val="6849F6"/>
                </a:solidFill>
                <a:latin typeface="Helvetica" pitchFamily="34" charset="0"/>
                <a:ea typeface="Helvetica" pitchFamily="34" charset="-122"/>
                <a:cs typeface="Helvetica" pitchFamily="34" charset="-120"/>
              </a:rPr>
              <a:t>04</a:t>
            </a:r>
            <a:endParaRPr lang="en-US" sz="950" dirty="0"/>
          </a:p>
        </p:txBody>
      </p:sp>
      <p:sp>
        <p:nvSpPr>
          <p:cNvPr id="8" name="Text 6"/>
          <p:cNvSpPr/>
          <p:nvPr/>
        </p:nvSpPr>
        <p:spPr>
          <a:xfrm>
            <a:off x="685800" y="1499616"/>
            <a:ext cx="11064240" cy="256032"/>
          </a:xfrm>
          <a:prstGeom prst="rect">
            <a:avLst/>
          </a:prstGeom>
          <a:noFill/>
          <a:ln/>
        </p:spPr>
        <p:txBody>
          <a:bodyPr wrap="square" lIns="0" tIns="0" rIns="0" bIns="0" rtlCol="0" anchor="ctr"/>
          <a:lstStyle/>
          <a:p>
            <a:pPr indent="0" marL="0">
              <a:buNone/>
            </a:pPr>
            <a:r>
              <a:rPr lang="en-US" sz="1400" b="1" dirty="0">
                <a:solidFill>
                  <a:srgbClr val="0D1321"/>
                </a:solidFill>
                <a:latin typeface="Helvetica" pitchFamily="34" charset="0"/>
                <a:ea typeface="Helvetica" pitchFamily="34" charset="-122"/>
                <a:cs typeface="Helvetica" pitchFamily="34" charset="-120"/>
              </a:rPr>
              <a:t>Cara Kerja Step-by-Step</a:t>
            </a:r>
            <a:endParaRPr lang="en-US" sz="1400" dirty="0"/>
          </a:p>
        </p:txBody>
      </p:sp>
      <p:sp>
        <p:nvSpPr>
          <p:cNvPr id="9" name="Shape 7"/>
          <p:cNvSpPr/>
          <p:nvPr/>
        </p:nvSpPr>
        <p:spPr>
          <a:xfrm>
            <a:off x="548640" y="1847088"/>
            <a:ext cx="274320" cy="274320"/>
          </a:xfrm>
          <a:prstGeom prst="ellipse">
            <a:avLst/>
          </a:prstGeom>
          <a:solidFill>
            <a:srgbClr val="6849F6"/>
          </a:solidFill>
          <a:ln/>
        </p:spPr>
        <p:txBody>
          <a:bodyPr/>
          <a:p/>
        </p:txBody>
      </p:sp>
      <p:sp>
        <p:nvSpPr>
          <p:cNvPr id="10" name="Text 8"/>
          <p:cNvSpPr/>
          <p:nvPr/>
        </p:nvSpPr>
        <p:spPr>
          <a:xfrm>
            <a:off x="548640" y="184708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Helvetica" pitchFamily="34" charset="0"/>
                <a:ea typeface="Helvetica" pitchFamily="34" charset="-122"/>
                <a:cs typeface="Helvetica" pitchFamily="34" charset="-120"/>
              </a:rPr>
              <a:t>1</a:t>
            </a:r>
            <a:endParaRPr lang="en-US" sz="1050" dirty="0"/>
          </a:p>
        </p:txBody>
      </p:sp>
      <p:sp>
        <p:nvSpPr>
          <p:cNvPr id="11" name="Text 9"/>
          <p:cNvSpPr/>
          <p:nvPr/>
        </p:nvSpPr>
        <p:spPr>
          <a:xfrm>
            <a:off x="960120" y="1828800"/>
            <a:ext cx="10424160" cy="292608"/>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Buka chat baru di Claude.ai</a:t>
            </a:r>
            <a:endParaRPr lang="en-US" sz="1200" dirty="0"/>
          </a:p>
        </p:txBody>
      </p:sp>
      <p:sp>
        <p:nvSpPr>
          <p:cNvPr id="12" name="Shape 10"/>
          <p:cNvSpPr/>
          <p:nvPr/>
        </p:nvSpPr>
        <p:spPr>
          <a:xfrm>
            <a:off x="548640" y="2176272"/>
            <a:ext cx="274320" cy="274320"/>
          </a:xfrm>
          <a:prstGeom prst="ellipse">
            <a:avLst/>
          </a:prstGeom>
          <a:solidFill>
            <a:srgbClr val="6849F6"/>
          </a:solidFill>
          <a:ln/>
        </p:spPr>
        <p:txBody>
          <a:bodyPr/>
          <a:p/>
        </p:txBody>
      </p:sp>
      <p:sp>
        <p:nvSpPr>
          <p:cNvPr id="13" name="Text 11"/>
          <p:cNvSpPr/>
          <p:nvPr/>
        </p:nvSpPr>
        <p:spPr>
          <a:xfrm>
            <a:off x="548640" y="21762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Helvetica" pitchFamily="34" charset="0"/>
                <a:ea typeface="Helvetica" pitchFamily="34" charset="-122"/>
                <a:cs typeface="Helvetica" pitchFamily="34" charset="-120"/>
              </a:rPr>
              <a:t>2</a:t>
            </a:r>
            <a:endParaRPr lang="en-US" sz="1050" dirty="0"/>
          </a:p>
        </p:txBody>
      </p:sp>
      <p:sp>
        <p:nvSpPr>
          <p:cNvPr id="14" name="Text 12"/>
          <p:cNvSpPr/>
          <p:nvPr/>
        </p:nvSpPr>
        <p:spPr>
          <a:xfrm>
            <a:off x="960120" y="2157984"/>
            <a:ext cx="10424160" cy="292608"/>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Siapkan 1 catatan meeting/rapat nyata yang masih berantakan</a:t>
            </a:r>
            <a:endParaRPr lang="en-US" sz="1200" dirty="0"/>
          </a:p>
        </p:txBody>
      </p:sp>
      <p:sp>
        <p:nvSpPr>
          <p:cNvPr id="15" name="Shape 13"/>
          <p:cNvSpPr/>
          <p:nvPr/>
        </p:nvSpPr>
        <p:spPr>
          <a:xfrm>
            <a:off x="548640" y="2505456"/>
            <a:ext cx="274320" cy="274320"/>
          </a:xfrm>
          <a:prstGeom prst="ellipse">
            <a:avLst/>
          </a:prstGeom>
          <a:solidFill>
            <a:srgbClr val="6849F6"/>
          </a:solidFill>
          <a:ln/>
        </p:spPr>
        <p:txBody>
          <a:bodyPr/>
          <a:p/>
        </p:txBody>
      </p:sp>
      <p:sp>
        <p:nvSpPr>
          <p:cNvPr id="16" name="Text 14"/>
          <p:cNvSpPr/>
          <p:nvPr/>
        </p:nvSpPr>
        <p:spPr>
          <a:xfrm>
            <a:off x="548640" y="250545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Helvetica" pitchFamily="34" charset="0"/>
                <a:ea typeface="Helvetica" pitchFamily="34" charset="-122"/>
                <a:cs typeface="Helvetica" pitchFamily="34" charset="-120"/>
              </a:rPr>
              <a:t>3</a:t>
            </a:r>
            <a:endParaRPr lang="en-US" sz="1050" dirty="0"/>
          </a:p>
        </p:txBody>
      </p:sp>
      <p:sp>
        <p:nvSpPr>
          <p:cNvPr id="17" name="Text 15"/>
          <p:cNvSpPr/>
          <p:nvPr/>
        </p:nvSpPr>
        <p:spPr>
          <a:xfrm>
            <a:off x="960120" y="2487168"/>
            <a:ext cx="10424160" cy="292608"/>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Paste catatan, minta ringkasan + action items sekaligus dalam 1 prompt</a:t>
            </a:r>
            <a:endParaRPr lang="en-US" sz="1200" dirty="0"/>
          </a:p>
        </p:txBody>
      </p:sp>
      <p:sp>
        <p:nvSpPr>
          <p:cNvPr id="18" name="Shape 16"/>
          <p:cNvSpPr/>
          <p:nvPr/>
        </p:nvSpPr>
        <p:spPr>
          <a:xfrm>
            <a:off x="548640" y="2834640"/>
            <a:ext cx="274320" cy="274320"/>
          </a:xfrm>
          <a:prstGeom prst="ellipse">
            <a:avLst/>
          </a:prstGeom>
          <a:solidFill>
            <a:srgbClr val="6849F6"/>
          </a:solidFill>
          <a:ln/>
        </p:spPr>
        <p:txBody>
          <a:bodyPr/>
          <a:p/>
        </p:txBody>
      </p:sp>
      <p:sp>
        <p:nvSpPr>
          <p:cNvPr id="19" name="Text 17"/>
          <p:cNvSpPr/>
          <p:nvPr/>
        </p:nvSpPr>
        <p:spPr>
          <a:xfrm>
            <a:off x="548640" y="283464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Helvetica" pitchFamily="34" charset="0"/>
                <a:ea typeface="Helvetica" pitchFamily="34" charset="-122"/>
                <a:cs typeface="Helvetica" pitchFamily="34" charset="-120"/>
              </a:rPr>
              <a:t>4</a:t>
            </a:r>
            <a:endParaRPr lang="en-US" sz="1050" dirty="0"/>
          </a:p>
        </p:txBody>
      </p:sp>
      <p:sp>
        <p:nvSpPr>
          <p:cNvPr id="20" name="Text 18"/>
          <p:cNvSpPr/>
          <p:nvPr/>
        </p:nvSpPr>
        <p:spPr>
          <a:xfrm>
            <a:off x="960120" y="2816352"/>
            <a:ext cx="10424160" cy="292608"/>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Review hasil di Artifacts, minta revisi kalau ada bagian yang kurang pas</a:t>
            </a:r>
            <a:endParaRPr lang="en-US" sz="1200" dirty="0"/>
          </a:p>
        </p:txBody>
      </p:sp>
      <p:sp>
        <p:nvSpPr>
          <p:cNvPr id="21" name="Shape 19"/>
          <p:cNvSpPr/>
          <p:nvPr/>
        </p:nvSpPr>
        <p:spPr>
          <a:xfrm>
            <a:off x="548640" y="3163824"/>
            <a:ext cx="274320" cy="274320"/>
          </a:xfrm>
          <a:prstGeom prst="ellipse">
            <a:avLst/>
          </a:prstGeom>
          <a:solidFill>
            <a:srgbClr val="6849F6"/>
          </a:solidFill>
          <a:ln/>
        </p:spPr>
        <p:txBody>
          <a:bodyPr/>
          <a:p/>
        </p:txBody>
      </p:sp>
      <p:sp>
        <p:nvSpPr>
          <p:cNvPr id="22" name="Text 20"/>
          <p:cNvSpPr/>
          <p:nvPr/>
        </p:nvSpPr>
        <p:spPr>
          <a:xfrm>
            <a:off x="548640" y="316382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Helvetica" pitchFamily="34" charset="0"/>
                <a:ea typeface="Helvetica" pitchFamily="34" charset="-122"/>
                <a:cs typeface="Helvetica" pitchFamily="34" charset="-120"/>
              </a:rPr>
              <a:t>5</a:t>
            </a:r>
            <a:endParaRPr lang="en-US" sz="1050" dirty="0"/>
          </a:p>
        </p:txBody>
      </p:sp>
      <p:sp>
        <p:nvSpPr>
          <p:cNvPr id="23" name="Text 21"/>
          <p:cNvSpPr/>
          <p:nvPr/>
        </p:nvSpPr>
        <p:spPr>
          <a:xfrm>
            <a:off x="960120" y="3145536"/>
            <a:ext cx="10424160" cy="292608"/>
          </a:xfrm>
          <a:prstGeom prst="rect">
            <a:avLst/>
          </a:prstGeom>
          <a:noFill/>
          <a:ln/>
        </p:spPr>
        <p:txBody>
          <a:bodyPr wrap="square" lIns="0" tIns="0" rIns="0" bIns="0" rtlCol="0" anchor="ctr"/>
          <a:lstStyle/>
          <a:p>
            <a:pPr indent="0" marL="0">
              <a:buNone/>
            </a:pPr>
            <a:r>
              <a:rPr lang="en-US" sz="1200" dirty="0">
                <a:solidFill>
                  <a:srgbClr val="23283A"/>
                </a:solidFill>
                <a:latin typeface="Helvetica" pitchFamily="34" charset="0"/>
                <a:ea typeface="Helvetica" pitchFamily="34" charset="-122"/>
                <a:cs typeface="Helvetica" pitchFamily="34" charset="-120"/>
              </a:rPr>
              <a:t>Export ke Google Docs, rapikan format akhir (font, spacing, heading)</a:t>
            </a:r>
            <a:endParaRPr lang="en-US" sz="1200" dirty="0"/>
          </a:p>
        </p:txBody>
      </p:sp>
      <p:sp>
        <p:nvSpPr>
          <p:cNvPr id="24" name="Shape 22"/>
          <p:cNvSpPr/>
          <p:nvPr/>
        </p:nvSpPr>
        <p:spPr>
          <a:xfrm>
            <a:off x="548640" y="3611880"/>
            <a:ext cx="5440680" cy="1234440"/>
          </a:xfrm>
          <a:prstGeom prst="roundRect">
            <a:avLst>
              <a:gd name="adj" fmla="val 8889"/>
            </a:avLst>
          </a:prstGeom>
          <a:solidFill>
            <a:srgbClr val="EAFAF0"/>
          </a:solidFill>
          <a:ln w="12700">
            <a:solidFill>
              <a:srgbClr val="B8E6C9"/>
            </a:solidFill>
            <a:prstDash val="solid"/>
          </a:ln>
        </p:spPr>
        <p:txBody>
          <a:bodyPr/>
          <a:p/>
        </p:txBody>
      </p:sp>
      <p:sp>
        <p:nvSpPr>
          <p:cNvPr id="25" name="Text 23"/>
          <p:cNvSpPr/>
          <p:nvPr/>
        </p:nvSpPr>
        <p:spPr>
          <a:xfrm>
            <a:off x="868680" y="3767328"/>
            <a:ext cx="4800600" cy="201168"/>
          </a:xfrm>
          <a:prstGeom prst="rect">
            <a:avLst/>
          </a:prstGeom>
          <a:noFill/>
          <a:ln/>
        </p:spPr>
        <p:txBody>
          <a:bodyPr wrap="square" lIns="0" tIns="0" rIns="0" bIns="0" rtlCol="0" anchor="ctr"/>
          <a:lstStyle/>
          <a:p>
            <a:pPr indent="0" marL="0">
              <a:buNone/>
            </a:pPr>
            <a:r>
              <a:rPr lang="en-US" sz="1200" b="1" spc="30" kern="0" dirty="0">
                <a:solidFill>
                  <a:srgbClr val="1A7A44"/>
                </a:solidFill>
                <a:latin typeface="Helvetica" pitchFamily="34" charset="0"/>
                <a:ea typeface="Helvetica" pitchFamily="34" charset="-122"/>
                <a:cs typeface="Helvetica" pitchFamily="34" charset="-120"/>
              </a:rPr>
              <a:t>■ TIPS</a:t>
            </a:r>
            <a:endParaRPr lang="en-US" sz="1200" dirty="0"/>
          </a:p>
        </p:txBody>
      </p:sp>
      <p:sp>
        <p:nvSpPr>
          <p:cNvPr id="26" name="Text 24"/>
          <p:cNvSpPr/>
          <p:nvPr/>
        </p:nvSpPr>
        <p:spPr>
          <a:xfrm>
            <a:off x="868680" y="4014216"/>
            <a:ext cx="4800600" cy="777240"/>
          </a:xfrm>
          <a:prstGeom prst="rect">
            <a:avLst/>
          </a:prstGeom>
          <a:noFill/>
          <a:ln/>
        </p:spPr>
        <p:txBody>
          <a:bodyPr wrap="square" lIns="0" tIns="0" rIns="0" bIns="0" rtlCol="0" anchor="ctr"/>
          <a:lstStyle/>
          <a:p>
            <a:pPr indent="0" marL="0">
              <a:lnSpc>
                <a:spcPct val="120000"/>
              </a:lnSpc>
              <a:buNone/>
            </a:pPr>
            <a:r>
              <a:rPr lang="en-US" sz="1100" dirty="0">
                <a:solidFill>
                  <a:srgbClr val="23283A"/>
                </a:solidFill>
                <a:latin typeface="Helvetica" pitchFamily="34" charset="0"/>
                <a:ea typeface="Helvetica" pitchFamily="34" charset="-122"/>
                <a:cs typeface="Helvetica" pitchFamily="34" charset="-120"/>
              </a:rPr>
              <a:t>Tidak perlu hasil yang sempurna pada percobaan pertama. Fokuslah memahami alur kerja, karena kualitas output akan meningkat lewat iterasi.</a:t>
            </a:r>
            <a:endParaRPr lang="en-US" sz="1100" dirty="0"/>
          </a:p>
        </p:txBody>
      </p:sp>
      <p:sp>
        <p:nvSpPr>
          <p:cNvPr id="27" name="Shape 25"/>
          <p:cNvSpPr/>
          <p:nvPr/>
        </p:nvSpPr>
        <p:spPr>
          <a:xfrm>
            <a:off x="6172200" y="3611880"/>
            <a:ext cx="5440680" cy="1234440"/>
          </a:xfrm>
          <a:prstGeom prst="roundRect">
            <a:avLst>
              <a:gd name="adj" fmla="val 8889"/>
            </a:avLst>
          </a:prstGeom>
          <a:solidFill>
            <a:srgbClr val="F3F0FF"/>
          </a:solidFill>
          <a:ln w="12700">
            <a:solidFill>
              <a:srgbClr val="DCD3FB"/>
            </a:solidFill>
            <a:prstDash val="solid"/>
          </a:ln>
        </p:spPr>
        <p:txBody>
          <a:bodyPr/>
          <a:p/>
        </p:txBody>
      </p:sp>
      <p:sp>
        <p:nvSpPr>
          <p:cNvPr id="28" name="Text 26"/>
          <p:cNvSpPr/>
          <p:nvPr/>
        </p:nvSpPr>
        <p:spPr>
          <a:xfrm>
            <a:off x="6492240" y="3767328"/>
            <a:ext cx="4800600" cy="201168"/>
          </a:xfrm>
          <a:prstGeom prst="rect">
            <a:avLst/>
          </a:prstGeom>
          <a:noFill/>
          <a:ln/>
        </p:spPr>
        <p:txBody>
          <a:bodyPr wrap="square" lIns="0" tIns="0" rIns="0" bIns="0" rtlCol="0" anchor="ctr"/>
          <a:lstStyle/>
          <a:p>
            <a:pPr indent="0" marL="0">
              <a:buNone/>
            </a:pPr>
            <a:r>
              <a:rPr lang="en-US" sz="1200" b="1" spc="30" kern="0" dirty="0">
                <a:solidFill>
                  <a:srgbClr val="4B36C7"/>
                </a:solidFill>
                <a:latin typeface="Helvetica" pitchFamily="34" charset="0"/>
                <a:ea typeface="Helvetica" pitchFamily="34" charset="-122"/>
                <a:cs typeface="Helvetica" pitchFamily="34" charset="-120"/>
              </a:rPr>
              <a:t>■ OUTPUT YANG DIHARAPKAN</a:t>
            </a:r>
            <a:endParaRPr lang="en-US" sz="1200" dirty="0"/>
          </a:p>
        </p:txBody>
      </p:sp>
      <p:sp>
        <p:nvSpPr>
          <p:cNvPr id="29" name="Text 27"/>
          <p:cNvSpPr/>
          <p:nvPr/>
        </p:nvSpPr>
        <p:spPr>
          <a:xfrm>
            <a:off x="6492240" y="4014216"/>
            <a:ext cx="4800600" cy="777240"/>
          </a:xfrm>
          <a:prstGeom prst="rect">
            <a:avLst/>
          </a:prstGeom>
          <a:noFill/>
          <a:ln/>
        </p:spPr>
        <p:txBody>
          <a:bodyPr wrap="square" lIns="0" tIns="0" rIns="0" bIns="0" rtlCol="0" anchor="ctr"/>
          <a:lstStyle/>
          <a:p>
            <a:pPr indent="0" marL="0">
              <a:lnSpc>
                <a:spcPct val="120000"/>
              </a:lnSpc>
              <a:buNone/>
            </a:pPr>
            <a:r>
              <a:rPr lang="en-US" sz="1100" dirty="0">
                <a:solidFill>
                  <a:srgbClr val="23283A"/>
                </a:solidFill>
                <a:latin typeface="Helvetica" pitchFamily="34" charset="0"/>
                <a:ea typeface="Helvetica" pitchFamily="34" charset="-122"/>
                <a:cs typeface="Helvetica" pitchFamily="34" charset="-120"/>
              </a:rPr>
              <a:t>1 laporan meeting profesional di Google Docs, dibuat langsung dari catatan berantakan lewat satu prompt terstruktur — tanpa copy-paste manual dari chat.</a:t>
            </a:r>
            <a:endParaRPr lang="en-US" sz="1100" dirty="0"/>
          </a:p>
        </p:txBody>
      </p:sp>
      <p:sp>
        <p:nvSpPr>
          <p:cNvPr id="30" name="Shape 28"/>
          <p:cNvSpPr/>
          <p:nvPr/>
        </p:nvSpPr>
        <p:spPr>
          <a:xfrm>
            <a:off x="548640" y="5029200"/>
            <a:ext cx="11064240" cy="685800"/>
          </a:xfrm>
          <a:prstGeom prst="roundRect">
            <a:avLst>
              <a:gd name="adj" fmla="val 13333"/>
            </a:avLst>
          </a:prstGeom>
          <a:solidFill>
            <a:srgbClr val="FFFFFF"/>
          </a:solidFill>
          <a:ln w="12700">
            <a:solidFill>
              <a:srgbClr val="D6DCEB"/>
            </a:solidFill>
            <a:prstDash val="dash"/>
          </a:ln>
        </p:spPr>
      </p:sp>
      <p:sp>
        <p:nvSpPr>
          <p:cNvPr id="31" name="Text 29"/>
          <p:cNvSpPr/>
          <p:nvPr/>
        </p:nvSpPr>
        <p:spPr>
          <a:xfrm>
            <a:off x="868680" y="5029200"/>
            <a:ext cx="10424160" cy="685800"/>
          </a:xfrm>
          <a:prstGeom prst="rect">
            <a:avLst/>
          </a:prstGeom>
          <a:noFill/>
          <a:ln/>
        </p:spPr>
        <p:txBody>
          <a:bodyPr wrap="square" lIns="0" tIns="0" rIns="0" bIns="0" rtlCol="0" anchor="ctr"/>
          <a:lstStyle/>
          <a:p>
            <a:pPr indent="0" marL="0">
              <a:lnSpc>
                <a:spcPct val="120000"/>
              </a:lnSpc>
              <a:buNone/>
            </a:pPr>
            <a:r>
              <a:rPr lang="en-US" sz="1050" b="1" dirty="0">
                <a:solidFill>
                  <a:srgbClr val="0D1321"/>
                </a:solidFill>
                <a:latin typeface="Helvetica" pitchFamily="34" charset="0"/>
                <a:ea typeface="Helvetica" pitchFamily="34" charset="-122"/>
                <a:cs typeface="Helvetica" pitchFamily="34" charset="-120"/>
              </a:rPr>
              <a:t>File yang perlu disiapkan:  </a:t>
            </a:r>
            <a:pPr indent="0" marL="0">
              <a:lnSpc>
                <a:spcPct val="120000"/>
              </a:lnSpc>
              <a:buNone/>
            </a:pPr>
            <a:r>
              <a:rPr lang="en-US" sz="1050" dirty="0">
                <a:solidFill>
                  <a:srgbClr val="6B7280"/>
                </a:solidFill>
                <a:latin typeface="Helvetica" pitchFamily="34" charset="0"/>
                <a:ea typeface="Helvetica" pitchFamily="34" charset="-122"/>
                <a:cs typeface="Helvetica" pitchFamily="34" charset="-120"/>
              </a:rPr>
              <a:t>belum punya catatan meeting sendiri? Gunakan </a:t>
            </a:r>
            <a:pPr indent="0" marL="0">
              <a:lnSpc>
                <a:spcPct val="120000"/>
              </a:lnSpc>
              <a:buNone/>
            </a:pPr>
            <a:r>
              <a:rPr lang="en-US" sz="1050" dirty="0">
                <a:solidFill>
                  <a:srgbClr val="23283A"/>
                </a:solidFill>
                <a:latin typeface="Courier New" pitchFamily="34" charset="0"/>
                <a:ea typeface="Courier New" pitchFamily="34" charset="-122"/>
                <a:cs typeface="Courier New" pitchFamily="34" charset="-120"/>
              </a:rPr>
              <a:t>contoh-catatan-meeting-berantakan.txt</a:t>
            </a:r>
            <a:pPr indent="0" marL="0">
              <a:lnSpc>
                <a:spcPct val="120000"/>
              </a:lnSpc>
              <a:buNone/>
            </a:pPr>
            <a:r>
              <a:rPr lang="en-US" sz="1050" dirty="0">
                <a:solidFill>
                  <a:srgbClr val="6B7280"/>
                </a:solidFill>
                <a:latin typeface="Helvetica" pitchFamily="34" charset="0"/>
                <a:ea typeface="Helvetica" pitchFamily="34" charset="-122"/>
                <a:cs typeface="Helvetica" pitchFamily="34" charset="-120"/>
              </a:rPr>
              <a:t> — catatan meeting marketing yang sengaja dibuat berantakan untuk simulasi latihan ini.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2026-07-10T09:16:41Z</dcterms:created>
  <dcterms:modified xsi:type="dcterms:W3CDTF">2026-07-10T09:16:41Z</dcterms:modified>
</cp:coreProperties>
</file>