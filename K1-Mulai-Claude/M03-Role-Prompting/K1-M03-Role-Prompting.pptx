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1675"/>
  <p:notesSz cx="6858000" cy="12191675"/>
  <p:embeddedFontLst>
    <p:embeddedFont>
      <p:font typeface="Helvetica Neue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jgtRXLniKR7zF+d3s/K1LfLFu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italic.fntdata"/><Relationship Id="rId10" Type="http://schemas.openxmlformats.org/officeDocument/2006/relationships/font" Target="fonts/HelveticaNeue-bold.fntdata"/><Relationship Id="rId13" Type="http://customschemas.google.com/relationships/presentationmetadata" Target="metadata"/><Relationship Id="rId12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HelveticaNeu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32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41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5029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i="0" lang="en-US" sz="2400" u="none" cap="none" strike="noStrike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561320" y="548640"/>
            <a:ext cx="1051560" cy="457200"/>
          </a:xfrm>
          <a:prstGeom prst="roundRect">
            <a:avLst>
              <a:gd fmla="val 20000" name="adj"/>
            </a:avLst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561320" y="54864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2606040"/>
            <a:ext cx="78638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Helvetica Neue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 Prompting: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Helvetica Neue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sebagai Ahli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452628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0D8"/>
              </a:buClr>
              <a:buSzPts val="1550"/>
              <a:buFont typeface="Helvetica Neue"/>
              <a:buNone/>
            </a:pPr>
            <a:r>
              <a:rPr b="0" i="0" lang="en-US" sz="1550" u="none" cap="none" strike="noStrike">
                <a:solidFill>
                  <a:srgbClr val="B7C0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Membuat Claude berpikir dari sudut pandang seorang ahli, cukup dengan 1 kalimat di awal prompt.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i="0" lang="en-US" sz="2000" u="none" cap="none" strike="noStrike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B4"/>
              </a:buClr>
              <a:buSzPts val="1250"/>
              <a:buFont typeface="Helvetica Neue"/>
              <a:buNone/>
            </a:pPr>
            <a:r>
              <a:rPr b="0" i="0" lang="en-US" sz="1250" u="none" cap="none" strike="noStrike">
                <a:solidFill>
                  <a:srgbClr val="9AA2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3 — Role Prompting: Claude sebagai Ahli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325880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APA ITU ROLE PROMPTING?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645920"/>
            <a:ext cx="6126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Bayangkan bertanya soal kesehatan kulit ke teman biasa vs ke dokter kulit — jawaban dokter kulit jauh lebih terstruktur. Role prompting adalah cara “memanggil” versi Claude yang berpikir seperti ahli tertentu, cukup dengan bilang di awal prompt.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2834640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KENAPA INI MENINGKATKAN KUALITAS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3154680"/>
            <a:ext cx="612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Ketika diminta “bertindaklah sebagai konsultan penjualan berpengalaman,” Claude otomatis menerapkan standar dan sudut pandang bidang itu — tanpa kamu perlu menjelaskan semuanya secara manual.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4251960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BATASAN ROLE PROMPTING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4572000"/>
            <a:ext cx="612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 mengubah gaya dan sudut pandang Claude, bukan nilai dasarnya — Claude tetap tidak akan memberi info yang salah atau menyesatkan hanya karena “diperankan” sebagai sesuatu.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949440" y="1325880"/>
            <a:ext cx="4709160" cy="3840480"/>
          </a:xfrm>
          <a:prstGeom prst="roundRect">
            <a:avLst>
              <a:gd fmla="val 2857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269480" y="1536192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ROLE YANG PALING BERGUNA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269480" y="2057400"/>
            <a:ext cx="347472" cy="347472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269480" y="20574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726680" y="203911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Copywriter 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caption, promo &amp; deskripsi produk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269480" y="2679192"/>
            <a:ext cx="347472" cy="347472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269480" y="26791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726680" y="2660904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Analis 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baca data penjualan &amp; tren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269480" y="3300984"/>
            <a:ext cx="347472" cy="347472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269480" y="33009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726680" y="3282696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Konsultan 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strategi &amp; meyakinkan pelanggan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269480" y="3922776"/>
            <a:ext cx="347472" cy="347472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269480" y="3922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726680" y="39044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Editor 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perbaiki tulisan yang sudah dibuat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269480" y="4544568"/>
            <a:ext cx="347472" cy="347472"/>
          </a:xfrm>
          <a:prstGeom prst="ellipse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269480" y="45445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726680" y="45262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Guru 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jelaskan konsep pakai bahasa sederhana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i="0" lang="en-US" sz="2000" u="none" cap="none" strike="noStrike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B4"/>
              </a:buClr>
              <a:buSzPts val="1250"/>
              <a:buFont typeface="Helvetica Neue"/>
              <a:buNone/>
            </a:pPr>
            <a:r>
              <a:rPr b="0" i="0" lang="en-US" sz="1250" u="none" cap="none" strike="noStrike">
                <a:solidFill>
                  <a:srgbClr val="9AA2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3 — Role Prompting: Claude sebagai Ahli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CARA CHAIN ROLE + TUGAS + FORMAT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1627632"/>
            <a:ext cx="11064240" cy="777240"/>
          </a:xfrm>
          <a:prstGeom prst="roundRect">
            <a:avLst>
              <a:gd fmla="val 11765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68680" y="1627632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400"/>
              <a:buFont typeface="Helvetica Neue"/>
              <a:buNone/>
            </a:pPr>
            <a:r>
              <a:rPr b="0" i="1" lang="en-US" sz="140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“Bertindaklah sebagai konsultan penjualan yang persuasif tapi jujur. Tugas kamu: [tugas]. Format: [format].”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48640" y="251460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Helvetica Neue"/>
              <a:buNone/>
            </a:pPr>
            <a:r>
              <a:rPr b="0" i="1" lang="en-US" sz="115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 selalu ditaruh di awal, sebelum tugas dan format, supaya Claude “masuk peran” dulu sebelum mengerjakan.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48640" y="3063240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LIHAT BEDANYA: TANPA ROLE VS DENGAN ROLE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336499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Helvetica Neue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Situasi: Pelanggan bingung pilih antara dua tas — mereka tanya, “Mendingan saya beli yang model A atau B ya?”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8640" y="379476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AFBFD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68680" y="402336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3B3B"/>
              </a:buClr>
              <a:buSzPts val="1150"/>
              <a:buFont typeface="Helvetica Neue"/>
              <a:buNone/>
            </a:pPr>
            <a:r>
              <a:rPr b="1" i="0" lang="en-US" sz="1150" u="none" cap="none" strike="noStrike">
                <a:solidFill>
                  <a:srgbClr val="9C3B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TANPA ROLE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68680" y="4361688"/>
            <a:ext cx="4800600" cy="50292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033272" y="4361688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00"/>
              <a:buFont typeface="Helvetica Neue"/>
              <a:buNone/>
            </a:pPr>
            <a:r>
              <a:rPr b="0" i="1" lang="en-US" sz="110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“Pelanggan tanya mendingan beli tas model A atau B. Model A lebih murah, model B lebih tahan lama. Bantu jawab pelanggan ini.”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68680" y="498348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Hasil: jawaban netral yang sekadar membandingkan dua produk, terasa seperti daftar spesifikasi.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172200" y="379476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AFBFD"/>
          </a:solidFill>
          <a:ln cap="flat" cmpd="sng" w="12700">
            <a:solidFill>
              <a:srgbClr val="D6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492240" y="402336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4"/>
              </a:buClr>
              <a:buSzPts val="1150"/>
              <a:buFont typeface="Helvetica Neue"/>
              <a:buNone/>
            </a:pPr>
            <a:r>
              <a:rPr b="1" i="0" lang="en-US" sz="1150" u="none" cap="none" strike="noStrike">
                <a:solidFill>
                  <a:srgbClr val="1A7A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 ROLE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92240" y="4361688"/>
            <a:ext cx="48006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656832" y="4361688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050"/>
              <a:buFont typeface="Helvetica Neue"/>
              <a:buNone/>
            </a:pPr>
            <a:r>
              <a:rPr b="0" i="1" lang="en-US" sz="10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“Bertindaklah sebagai konsultan penjualan berpengalaman. Pelanggan tanya model A atau B. Tugas: bantu pelanggan memutuskan dengan menanyakan kebutuhan mereka dulu. Format: balasan chat, ramah, maks 4 kalimat.”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492240" y="5394960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Hasil: Claude lebih dulu menggali kebutuhan pelanggan sebelum merekomendasikan — persis cara sales berpengalaman menjual.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b="1" i="0" lang="en-US" sz="2000" u="none" cap="none" strike="noStrike">
                <a:solidFill>
                  <a:srgbClr val="8B7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B4"/>
              </a:buClr>
              <a:buSzPts val="1250"/>
              <a:buFont typeface="Helvetica Neue"/>
              <a:buNone/>
            </a:pPr>
            <a:r>
              <a:rPr b="0" i="0" lang="en-US" sz="1250" u="none" cap="none" strike="noStrike">
                <a:solidFill>
                  <a:srgbClr val="9AA2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 3 — Role Prompting: Claude sebagai Ahli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321"/>
              </a:buClr>
              <a:buSzPts val="2100"/>
              <a:buFont typeface="Helvetica Neue"/>
              <a:buNone/>
            </a:pPr>
            <a:r>
              <a:rPr b="1" i="0" lang="en-US" sz="2100" u="none" cap="none" strike="noStrike">
                <a:solidFill>
                  <a:srgbClr val="0D13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Sekarang Coba Sendiri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1828800"/>
            <a:ext cx="11064240" cy="1097280"/>
          </a:xfrm>
          <a:prstGeom prst="roundRect">
            <a:avLst>
              <a:gd fmla="val 10000" name="adj"/>
            </a:avLst>
          </a:prstGeom>
          <a:solidFill>
            <a:srgbClr val="EAFAF0"/>
          </a:solidFill>
          <a:ln cap="flat" cmpd="sng" w="12700">
            <a:solidFill>
              <a:srgbClr val="B8E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914400" y="19842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4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1A7A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■ </a:t>
            </a:r>
            <a:r>
              <a:rPr b="1" lang="en-US" sz="1250">
                <a:solidFill>
                  <a:srgbClr val="1A7A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LATIHAN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14400" y="2258568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Buat 1 prompt yang menggabungkan role + tugas + format untuk situasi ini: pelanggan bertanya kenapa harga produkmu lebih mahal dari kompetitor. Gunakan role “konsultan penjualan yang persuasif tapi jujur”, minta Claude menjelaskan value produkmu tanpa menjelekkan kompetitor, format: balasan chat singkat.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48640" y="3154680"/>
            <a:ext cx="11064240" cy="868680"/>
          </a:xfrm>
          <a:prstGeom prst="roundRect">
            <a:avLst>
              <a:gd fmla="val 12632" name="adj"/>
            </a:avLst>
          </a:prstGeom>
          <a:solidFill>
            <a:srgbClr val="F3F0FF"/>
          </a:solidFill>
          <a:ln cap="flat" cmpd="sng" w="12700">
            <a:solidFill>
              <a:srgbClr val="DCD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914400" y="33101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6C7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4B36C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■ OUTPUT YANG DIHARAPKAN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14400" y="356616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prompt lengkap dengan role yang jelas + 1 balasan chat dari Claude yang terasa lebih meyakinkan dan strategis dibanding kalau kamu tanya tanpa role.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FFF8E6"/>
          </a:solidFill>
          <a:ln cap="flat" cmpd="sng" w="12700">
            <a:solidFill>
              <a:srgbClr val="F0DC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914400" y="44074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400"/>
              </a:buClr>
              <a:buSzPts val="1250"/>
              <a:buFont typeface="Helvetica Neue"/>
              <a:buNone/>
            </a:pPr>
            <a:r>
              <a:rPr b="1" i="0" lang="en-US" sz="1250" u="none" cap="none" strike="noStrike">
                <a:solidFill>
                  <a:srgbClr val="8A6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■ TIPS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14400" y="46634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83A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2328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Simpan role-role yang sering kamu pakai di satu dokumen (Notion/Notepad) supaya tidak perlu mengetik ulang setiap kali — tinggal copy-paste dan sesuaikan situasinya.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2026-07-10T07:09:11Z</dcterms:created>
  <dc:creator>PptxGenJS</dc:creator>
</cp:coreProperties>
</file>