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692640" y="457200"/>
            <a:ext cx="1965960" cy="457200"/>
          </a:xfrm>
          <a:prstGeom prst="roundRect">
            <a:avLst>
              <a:gd name="adj" fmla="val 20000"/>
            </a:avLst>
          </a:prstGeom>
          <a:solidFill>
            <a:srgbClr val="6849F6"/>
          </a:solidFill>
          <a:ln/>
        </p:spPr>
      </p:sp>
      <p:sp>
        <p:nvSpPr>
          <p:cNvPr id="5" name="Text 3"/>
          <p:cNvSpPr/>
          <p:nvPr/>
        </p:nvSpPr>
        <p:spPr>
          <a:xfrm>
            <a:off x="9692640" y="457200"/>
            <a:ext cx="1965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5</a:t>
            </a:r>
            <a:endParaRPr lang="en-US" sz="1300" dirty="0"/>
          </a:p>
        </p:txBody>
      </p:sp>
      <p:sp>
        <p:nvSpPr>
          <p:cNvPr id="6" name="Text 4"/>
          <p:cNvSpPr/>
          <p:nvPr/>
        </p:nvSpPr>
        <p:spPr>
          <a:xfrm>
            <a:off x="640080" y="2468880"/>
            <a:ext cx="7315200" cy="155448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Helvetica" pitchFamily="34" charset="0"/>
                <a:ea typeface="Helvetica" pitchFamily="34" charset="-122"/>
                <a:cs typeface="Helvetica" pitchFamily="34" charset="-120"/>
              </a:rPr>
              <a:t>Dari Analisis ke Laporan</a:t>
            </a:r>
            <a:endParaRPr lang="en-US" sz="4000" dirty="0"/>
          </a:p>
        </p:txBody>
      </p:sp>
      <p:sp>
        <p:nvSpPr>
          <p:cNvPr id="7" name="Text 5"/>
          <p:cNvSpPr/>
          <p:nvPr/>
        </p:nvSpPr>
        <p:spPr>
          <a:xfrm>
            <a:off x="640080" y="3977640"/>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Ubah temuan jadi ringkasan eksekutif, kutipan pendukung, dan rencana aksi</a:t>
            </a:r>
            <a:endParaRPr lang="en-US" sz="1550" dirty="0"/>
          </a:p>
        </p:txBody>
      </p:sp>
      <p:sp>
        <p:nvSpPr>
          <p:cNvPr id="8" name="Text 6"/>
          <p:cNvSpPr/>
          <p:nvPr/>
        </p:nvSpPr>
        <p:spPr>
          <a:xfrm>
            <a:off x="640080" y="6263640"/>
            <a:ext cx="6858000" cy="32004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Analisis Data &amp; Laporan · Studi Kasus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Dari Analisis ke Laporan</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1. Ringkasan Eksekutif</a:t>
            </a:r>
            <a:endParaRPr lang="en-US" sz="2200" dirty="0"/>
          </a:p>
        </p:txBody>
      </p:sp>
      <p:sp>
        <p:nvSpPr>
          <p:cNvPr id="7" name="Text 5"/>
          <p:cNvSpPr/>
          <p:nvPr/>
        </p:nvSpPr>
        <p:spPr>
          <a:xfrm>
            <a:off x="502920" y="1691640"/>
            <a:ext cx="11155680" cy="457200"/>
          </a:xfrm>
          <a:prstGeom prst="rect">
            <a:avLst/>
          </a:prstGeom>
          <a:noFill/>
          <a:ln/>
        </p:spPr>
        <p:txBody>
          <a:bodyPr wrap="square" lIns="0" tIns="0" rIns="0" bIns="0" rtlCol="0" anchor="ctr"/>
          <a:lstStyle/>
          <a:p>
            <a:pPr indent="0" marL="0">
              <a:lnSpc>
                <a:spcPct val="122000"/>
              </a:lnSpc>
              <a:buNone/>
            </a:pPr>
            <a:r>
              <a:rPr lang="en-US" sz="1300" dirty="0">
                <a:solidFill>
                  <a:srgbClr val="6B7280"/>
                </a:solidFill>
                <a:latin typeface="Helvetica" pitchFamily="34" charset="0"/>
                <a:ea typeface="Helvetica" pitchFamily="34" charset="-122"/>
                <a:cs typeface="Helvetica" pitchFamily="34" charset="-120"/>
              </a:rPr>
              <a:t>Atasan atau partner bisnis biasanya nggak punya waktu baca laporan panjang. Mereka butuh versi singkat: apa yang terjadi, kenapa, dan harus apa.</a:t>
            </a:r>
            <a:endParaRPr lang="en-US" sz="1300" dirty="0"/>
          </a:p>
        </p:txBody>
      </p:sp>
      <p:sp>
        <p:nvSpPr>
          <p:cNvPr id="8" name="Shape 6"/>
          <p:cNvSpPr/>
          <p:nvPr/>
        </p:nvSpPr>
        <p:spPr>
          <a:xfrm>
            <a:off x="502920" y="2240280"/>
            <a:ext cx="11201400" cy="594360"/>
          </a:xfrm>
          <a:prstGeom prst="roundRect">
            <a:avLst>
              <a:gd name="adj" fmla="val 12308"/>
            </a:avLst>
          </a:prstGeom>
          <a:solidFill>
            <a:srgbClr val="F3F0FF"/>
          </a:solidFill>
          <a:ln w="12700">
            <a:solidFill>
              <a:srgbClr val="DCD3FB"/>
            </a:solidFill>
            <a:prstDash val="solid"/>
          </a:ln>
        </p:spPr>
      </p:sp>
      <p:sp>
        <p:nvSpPr>
          <p:cNvPr id="9" name="Text 7"/>
          <p:cNvSpPr/>
          <p:nvPr/>
        </p:nvSpPr>
        <p:spPr>
          <a:xfrm>
            <a:off x="777240" y="236829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FORMULA PROMPT</a:t>
            </a:r>
            <a:endParaRPr lang="en-US" sz="1100" dirty="0"/>
          </a:p>
        </p:txBody>
      </p:sp>
      <p:sp>
        <p:nvSpPr>
          <p:cNvPr id="10" name="Text 8"/>
          <p:cNvSpPr/>
          <p:nvPr/>
        </p:nvSpPr>
        <p:spPr>
          <a:xfrm>
            <a:off x="777240" y="2624328"/>
            <a:ext cx="10652760" cy="10058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[Konteks Temuan] + [Format Output] + [Target Audiens &amp; Gaya Bahasa]</a:t>
            </a:r>
            <a:endParaRPr lang="en-US" sz="1200" dirty="0"/>
          </a:p>
        </p:txBody>
      </p:sp>
      <p:sp>
        <p:nvSpPr>
          <p:cNvPr id="11" name="Shape 9"/>
          <p:cNvSpPr/>
          <p:nvPr/>
        </p:nvSpPr>
        <p:spPr>
          <a:xfrm>
            <a:off x="502920" y="3017520"/>
            <a:ext cx="11201400" cy="1051560"/>
          </a:xfrm>
          <a:prstGeom prst="roundRect">
            <a:avLst>
              <a:gd name="adj" fmla="val 6957"/>
            </a:avLst>
          </a:prstGeom>
          <a:solidFill>
            <a:srgbClr val="0D1321"/>
          </a:solidFill>
          <a:ln/>
        </p:spPr>
      </p:sp>
      <p:sp>
        <p:nvSpPr>
          <p:cNvPr id="12" name="Text 10"/>
          <p:cNvSpPr/>
          <p:nvPr/>
        </p:nvSpPr>
        <p:spPr>
          <a:xfrm>
            <a:off x="731520" y="3017520"/>
            <a:ext cx="10744200" cy="1051560"/>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Helvetica" pitchFamily="34" charset="0"/>
                <a:ea typeface="Helvetica" pitchFamily="34" charset="-122"/>
                <a:cs typeface="Helvetica" pitchFamily="34" charset="-120"/>
              </a:rPr>
              <a:t>Dari temuan saya soal penurunan penjualan Roti Sobek Keju dan Brownies setelah kenaikan harga pertengahan Juni, tolong buatkan ringkasan eksekutif 1 halaman yang bisa saya kirim ke partner bisnis saya. Jangan pakai istilah teknis, langsung ke poin penting.</a:t>
            </a:r>
            <a:endParaRPr lang="en-US" sz="1250" dirty="0"/>
          </a:p>
        </p:txBody>
      </p:sp>
      <p:sp>
        <p:nvSpPr>
          <p:cNvPr id="13" name="Text 11"/>
          <p:cNvSpPr/>
          <p:nvPr/>
        </p:nvSpPr>
        <p:spPr>
          <a:xfrm>
            <a:off x="502920" y="4251960"/>
            <a:ext cx="11155680" cy="365760"/>
          </a:xfrm>
          <a:prstGeom prst="rect">
            <a:avLst/>
          </a:prstGeom>
          <a:noFill/>
          <a:ln/>
        </p:spPr>
        <p:txBody>
          <a:bodyPr wrap="square" lIns="0" tIns="0" rIns="0" bIns="0" rtlCol="0" anchor="ctr"/>
          <a:lstStyle/>
          <a:p>
            <a:pPr indent="0" marL="0">
              <a:lnSpc>
                <a:spcPct val="120000"/>
              </a:lnSpc>
              <a:buNone/>
            </a:pPr>
            <a:r>
              <a:rPr lang="en-US" sz="1200" dirty="0">
                <a:solidFill>
                  <a:srgbClr val="6B7280"/>
                </a:solidFill>
                <a:latin typeface="Helvetica" pitchFamily="34" charset="0"/>
                <a:ea typeface="Helvetica" pitchFamily="34" charset="-122"/>
                <a:cs typeface="Helvetica" pitchFamily="34" charset="-120"/>
              </a:rPr>
              <a:t>Pola struktur utama — sama seperti “kenapa &amp; terus gimana” dari Modul 1, dirapikan untuk dibaca orang lain:</a:t>
            </a:r>
            <a:endParaRPr lang="en-US" sz="1200" dirty="0"/>
          </a:p>
        </p:txBody>
      </p:sp>
      <p:sp>
        <p:nvSpPr>
          <p:cNvPr id="14" name="Shape 12"/>
          <p:cNvSpPr/>
          <p:nvPr/>
        </p:nvSpPr>
        <p:spPr>
          <a:xfrm>
            <a:off x="502920" y="4709160"/>
            <a:ext cx="3538728" cy="1280160"/>
          </a:xfrm>
          <a:prstGeom prst="roundRect">
            <a:avLst>
              <a:gd name="adj" fmla="val 7143"/>
            </a:avLst>
          </a:prstGeom>
          <a:solidFill>
            <a:srgbClr val="F4F6FB"/>
          </a:solidFill>
          <a:ln w="12700">
            <a:solidFill>
              <a:srgbClr val="D6DCEB"/>
            </a:solidFill>
            <a:prstDash val="solid"/>
          </a:ln>
        </p:spPr>
      </p:sp>
      <p:sp>
        <p:nvSpPr>
          <p:cNvPr id="15" name="Shape 13"/>
          <p:cNvSpPr/>
          <p:nvPr/>
        </p:nvSpPr>
        <p:spPr>
          <a:xfrm>
            <a:off x="731520" y="4937760"/>
            <a:ext cx="411480" cy="411480"/>
          </a:xfrm>
          <a:prstGeom prst="ellipse">
            <a:avLst/>
          </a:prstGeom>
          <a:solidFill>
            <a:srgbClr val="6849F6"/>
          </a:solidFill>
          <a:ln/>
        </p:spPr>
      </p:sp>
      <p:sp>
        <p:nvSpPr>
          <p:cNvPr id="16" name="Text 14"/>
          <p:cNvSpPr/>
          <p:nvPr/>
        </p:nvSpPr>
        <p:spPr>
          <a:xfrm>
            <a:off x="731520" y="4937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1</a:t>
            </a:r>
            <a:endParaRPr lang="en-US" sz="1500" dirty="0"/>
          </a:p>
        </p:txBody>
      </p:sp>
      <p:sp>
        <p:nvSpPr>
          <p:cNvPr id="17" name="Text 15"/>
          <p:cNvSpPr/>
          <p:nvPr/>
        </p:nvSpPr>
        <p:spPr>
          <a:xfrm>
            <a:off x="1280160" y="4910328"/>
            <a:ext cx="2532888" cy="320040"/>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Situasi</a:t>
            </a:r>
            <a:endParaRPr lang="en-US" sz="1400" dirty="0"/>
          </a:p>
        </p:txBody>
      </p:sp>
      <p:sp>
        <p:nvSpPr>
          <p:cNvPr id="18" name="Text 16"/>
          <p:cNvSpPr/>
          <p:nvPr/>
        </p:nvSpPr>
        <p:spPr>
          <a:xfrm>
            <a:off x="731520" y="5422392"/>
            <a:ext cx="3081528" cy="457200"/>
          </a:xfrm>
          <a:prstGeom prst="rect">
            <a:avLst/>
          </a:prstGeom>
          <a:noFill/>
          <a:ln/>
        </p:spPr>
        <p:txBody>
          <a:bodyPr wrap="square" lIns="0" tIns="0" rIns="0" bIns="0" rtlCol="0" anchor="ctr"/>
          <a:lstStyle/>
          <a:p>
            <a:pPr indent="0" marL="0">
              <a:buNone/>
            </a:pPr>
            <a:r>
              <a:rPr lang="en-US" sz="1200" dirty="0">
                <a:solidFill>
                  <a:srgbClr val="6B7280"/>
                </a:solidFill>
                <a:latin typeface="Helvetica" pitchFamily="34" charset="0"/>
                <a:ea typeface="Helvetica" pitchFamily="34" charset="-122"/>
                <a:cs typeface="Helvetica" pitchFamily="34" charset="-120"/>
              </a:rPr>
              <a:t>Apa yang terjadi?</a:t>
            </a:r>
            <a:endParaRPr lang="en-US" sz="1200" dirty="0"/>
          </a:p>
        </p:txBody>
      </p:sp>
      <p:sp>
        <p:nvSpPr>
          <p:cNvPr id="19" name="Shape 17"/>
          <p:cNvSpPr/>
          <p:nvPr/>
        </p:nvSpPr>
        <p:spPr>
          <a:xfrm>
            <a:off x="4334256" y="4709160"/>
            <a:ext cx="3538728" cy="1280160"/>
          </a:xfrm>
          <a:prstGeom prst="roundRect">
            <a:avLst>
              <a:gd name="adj" fmla="val 7143"/>
            </a:avLst>
          </a:prstGeom>
          <a:solidFill>
            <a:srgbClr val="F4F6FB"/>
          </a:solidFill>
          <a:ln w="12700">
            <a:solidFill>
              <a:srgbClr val="D6DCEB"/>
            </a:solidFill>
            <a:prstDash val="solid"/>
          </a:ln>
        </p:spPr>
      </p:sp>
      <p:sp>
        <p:nvSpPr>
          <p:cNvPr id="20" name="Shape 18"/>
          <p:cNvSpPr/>
          <p:nvPr/>
        </p:nvSpPr>
        <p:spPr>
          <a:xfrm>
            <a:off x="4562856" y="4937760"/>
            <a:ext cx="411480" cy="411480"/>
          </a:xfrm>
          <a:prstGeom prst="ellipse">
            <a:avLst/>
          </a:prstGeom>
          <a:solidFill>
            <a:srgbClr val="6849F6"/>
          </a:solidFill>
          <a:ln/>
        </p:spPr>
      </p:sp>
      <p:sp>
        <p:nvSpPr>
          <p:cNvPr id="21" name="Text 19"/>
          <p:cNvSpPr/>
          <p:nvPr/>
        </p:nvSpPr>
        <p:spPr>
          <a:xfrm>
            <a:off x="4562856" y="4937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2</a:t>
            </a:r>
            <a:endParaRPr lang="en-US" sz="1500" dirty="0"/>
          </a:p>
        </p:txBody>
      </p:sp>
      <p:sp>
        <p:nvSpPr>
          <p:cNvPr id="22" name="Text 20"/>
          <p:cNvSpPr/>
          <p:nvPr/>
        </p:nvSpPr>
        <p:spPr>
          <a:xfrm>
            <a:off x="5111496" y="4910328"/>
            <a:ext cx="2532888" cy="320040"/>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Temuan Utama</a:t>
            </a:r>
            <a:endParaRPr lang="en-US" sz="1400" dirty="0"/>
          </a:p>
        </p:txBody>
      </p:sp>
      <p:sp>
        <p:nvSpPr>
          <p:cNvPr id="23" name="Text 21"/>
          <p:cNvSpPr/>
          <p:nvPr/>
        </p:nvSpPr>
        <p:spPr>
          <a:xfrm>
            <a:off x="4562856" y="5422392"/>
            <a:ext cx="3081528" cy="457200"/>
          </a:xfrm>
          <a:prstGeom prst="rect">
            <a:avLst/>
          </a:prstGeom>
          <a:noFill/>
          <a:ln/>
        </p:spPr>
        <p:txBody>
          <a:bodyPr wrap="square" lIns="0" tIns="0" rIns="0" bIns="0" rtlCol="0" anchor="ctr"/>
          <a:lstStyle/>
          <a:p>
            <a:pPr indent="0" marL="0">
              <a:buNone/>
            </a:pPr>
            <a:r>
              <a:rPr lang="en-US" sz="1200" dirty="0">
                <a:solidFill>
                  <a:srgbClr val="6B7280"/>
                </a:solidFill>
                <a:latin typeface="Helvetica" pitchFamily="34" charset="0"/>
                <a:ea typeface="Helvetica" pitchFamily="34" charset="-122"/>
                <a:cs typeface="Helvetica" pitchFamily="34" charset="-120"/>
              </a:rPr>
              <a:t>Kenapa hal itu terjadi?</a:t>
            </a:r>
            <a:endParaRPr lang="en-US" sz="1200" dirty="0"/>
          </a:p>
        </p:txBody>
      </p:sp>
      <p:sp>
        <p:nvSpPr>
          <p:cNvPr id="24" name="Shape 22"/>
          <p:cNvSpPr/>
          <p:nvPr/>
        </p:nvSpPr>
        <p:spPr>
          <a:xfrm>
            <a:off x="8165592" y="4709160"/>
            <a:ext cx="3538728" cy="1280160"/>
          </a:xfrm>
          <a:prstGeom prst="roundRect">
            <a:avLst>
              <a:gd name="adj" fmla="val 7143"/>
            </a:avLst>
          </a:prstGeom>
          <a:solidFill>
            <a:srgbClr val="F4F6FB"/>
          </a:solidFill>
          <a:ln w="12700">
            <a:solidFill>
              <a:srgbClr val="D6DCEB"/>
            </a:solidFill>
            <a:prstDash val="solid"/>
          </a:ln>
        </p:spPr>
      </p:sp>
      <p:sp>
        <p:nvSpPr>
          <p:cNvPr id="25" name="Shape 23"/>
          <p:cNvSpPr/>
          <p:nvPr/>
        </p:nvSpPr>
        <p:spPr>
          <a:xfrm>
            <a:off x="8394192" y="4937760"/>
            <a:ext cx="411480" cy="411480"/>
          </a:xfrm>
          <a:prstGeom prst="ellipse">
            <a:avLst/>
          </a:prstGeom>
          <a:solidFill>
            <a:srgbClr val="6849F6"/>
          </a:solidFill>
          <a:ln/>
        </p:spPr>
      </p:sp>
      <p:sp>
        <p:nvSpPr>
          <p:cNvPr id="26" name="Text 24"/>
          <p:cNvSpPr/>
          <p:nvPr/>
        </p:nvSpPr>
        <p:spPr>
          <a:xfrm>
            <a:off x="8394192" y="4937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3</a:t>
            </a:r>
            <a:endParaRPr lang="en-US" sz="1500" dirty="0"/>
          </a:p>
        </p:txBody>
      </p:sp>
      <p:sp>
        <p:nvSpPr>
          <p:cNvPr id="27" name="Text 25"/>
          <p:cNvSpPr/>
          <p:nvPr/>
        </p:nvSpPr>
        <p:spPr>
          <a:xfrm>
            <a:off x="8942832" y="4910328"/>
            <a:ext cx="2532888" cy="320040"/>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Rekomendasi</a:t>
            </a:r>
            <a:endParaRPr lang="en-US" sz="1400" dirty="0"/>
          </a:p>
        </p:txBody>
      </p:sp>
      <p:sp>
        <p:nvSpPr>
          <p:cNvPr id="28" name="Text 26"/>
          <p:cNvSpPr/>
          <p:nvPr/>
        </p:nvSpPr>
        <p:spPr>
          <a:xfrm>
            <a:off x="8394192" y="5422392"/>
            <a:ext cx="3081528" cy="457200"/>
          </a:xfrm>
          <a:prstGeom prst="rect">
            <a:avLst/>
          </a:prstGeom>
          <a:noFill/>
          <a:ln/>
        </p:spPr>
        <p:txBody>
          <a:bodyPr wrap="square" lIns="0" tIns="0" rIns="0" bIns="0" rtlCol="0" anchor="ctr"/>
          <a:lstStyle/>
          <a:p>
            <a:pPr indent="0" marL="0">
              <a:buNone/>
            </a:pPr>
            <a:r>
              <a:rPr lang="en-US" sz="1200" dirty="0">
                <a:solidFill>
                  <a:srgbClr val="6B7280"/>
                </a:solidFill>
                <a:latin typeface="Helvetica" pitchFamily="34" charset="0"/>
                <a:ea typeface="Helvetica" pitchFamily="34" charset="-122"/>
                <a:cs typeface="Helvetica" pitchFamily="34" charset="-120"/>
              </a:rPr>
              <a:t>Apa yang harus dilakukan?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Dari Analisis ke Laporan</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2. Kutipan Pendukung  &amp;  3. Rencana Aksi</a:t>
            </a:r>
            <a:endParaRPr lang="en-US" sz="2200" dirty="0"/>
          </a:p>
        </p:txBody>
      </p:sp>
      <p:sp>
        <p:nvSpPr>
          <p:cNvPr id="7" name="Text 5"/>
          <p:cNvSpPr/>
          <p:nvPr/>
        </p:nvSpPr>
        <p:spPr>
          <a:xfrm>
            <a:off x="502920" y="1783080"/>
            <a:ext cx="5394960" cy="365760"/>
          </a:xfrm>
          <a:prstGeom prst="rect">
            <a:avLst/>
          </a:prstGeom>
          <a:noFill/>
          <a:ln/>
        </p:spPr>
        <p:txBody>
          <a:bodyPr wrap="square" lIns="0" tIns="0" rIns="0" bIns="0" rtlCol="0" anchor="ctr"/>
          <a:lstStyle/>
          <a:p>
            <a:pPr indent="0" marL="0">
              <a:buNone/>
            </a:pPr>
            <a:r>
              <a:rPr lang="en-US" sz="1450" b="1" dirty="0">
                <a:solidFill>
                  <a:srgbClr val="0D1321"/>
                </a:solidFill>
                <a:latin typeface="Helvetica" pitchFamily="34" charset="0"/>
                <a:ea typeface="Helvetica" pitchFamily="34" charset="-122"/>
                <a:cs typeface="Helvetica" pitchFamily="34" charset="-120"/>
              </a:rPr>
              <a:t>2. Kutipan Pendukung untuk Presentasi</a:t>
            </a:r>
            <a:endParaRPr lang="en-US" sz="1450" dirty="0"/>
          </a:p>
        </p:txBody>
      </p:sp>
      <p:sp>
        <p:nvSpPr>
          <p:cNvPr id="8" name="Text 6"/>
          <p:cNvSpPr/>
          <p:nvPr/>
        </p:nvSpPr>
        <p:spPr>
          <a:xfrm>
            <a:off x="502920" y="2194560"/>
            <a:ext cx="5394960" cy="68580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Helvetica" pitchFamily="34" charset="0"/>
                <a:ea typeface="Helvetica" pitchFamily="34" charset="-122"/>
                <a:cs typeface="Helvetica" pitchFamily="34" charset="-120"/>
              </a:rPr>
              <a:t>Angka saja sering kurang membekas. Kutipan asli dari pelanggan membuat temuan kamu terasa lebih nyata dan mudah diingat.</a:t>
            </a:r>
            <a:endParaRPr lang="en-US" sz="1200" dirty="0"/>
          </a:p>
        </p:txBody>
      </p:sp>
      <p:sp>
        <p:nvSpPr>
          <p:cNvPr id="9" name="Shape 7"/>
          <p:cNvSpPr/>
          <p:nvPr/>
        </p:nvSpPr>
        <p:spPr>
          <a:xfrm>
            <a:off x="502920" y="2926080"/>
            <a:ext cx="5394960" cy="1508760"/>
          </a:xfrm>
          <a:prstGeom prst="roundRect">
            <a:avLst>
              <a:gd name="adj" fmla="val 4848"/>
            </a:avLst>
          </a:prstGeom>
          <a:solidFill>
            <a:srgbClr val="0D1321"/>
          </a:solidFill>
          <a:ln/>
        </p:spPr>
      </p:sp>
      <p:sp>
        <p:nvSpPr>
          <p:cNvPr id="10" name="Text 8"/>
          <p:cNvSpPr/>
          <p:nvPr/>
        </p:nvSpPr>
        <p:spPr>
          <a:xfrm>
            <a:off x="731520" y="2926080"/>
            <a:ext cx="4937760" cy="1508760"/>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Helvetica" pitchFamily="34" charset="0"/>
                <a:ea typeface="Helvetica" pitchFamily="34" charset="-122"/>
                <a:cs typeface="Helvetica" pitchFamily="34" charset="-120"/>
              </a:rPr>
              <a:t>Dari data review pelanggan di Modul 1, ambilkan 3 kutipan yang paling mewakili keluhan tentang pengiriman. Buatkan format yang rapi untuk saya masukkan ke slide presentasi.</a:t>
            </a:r>
            <a:endParaRPr lang="en-US" sz="1250" dirty="0"/>
          </a:p>
        </p:txBody>
      </p:sp>
      <p:sp>
        <p:nvSpPr>
          <p:cNvPr id="11" name="Text 9"/>
          <p:cNvSpPr/>
          <p:nvPr/>
        </p:nvSpPr>
        <p:spPr>
          <a:xfrm>
            <a:off x="6309360" y="1783080"/>
            <a:ext cx="5394960" cy="365760"/>
          </a:xfrm>
          <a:prstGeom prst="rect">
            <a:avLst/>
          </a:prstGeom>
          <a:noFill/>
          <a:ln/>
        </p:spPr>
        <p:txBody>
          <a:bodyPr wrap="square" lIns="0" tIns="0" rIns="0" bIns="0" rtlCol="0" anchor="ctr"/>
          <a:lstStyle/>
          <a:p>
            <a:pPr indent="0" marL="0">
              <a:buNone/>
            </a:pPr>
            <a:r>
              <a:rPr lang="en-US" sz="1450" b="1" dirty="0">
                <a:solidFill>
                  <a:srgbClr val="0D1321"/>
                </a:solidFill>
                <a:latin typeface="Helvetica" pitchFamily="34" charset="0"/>
                <a:ea typeface="Helvetica" pitchFamily="34" charset="-122"/>
                <a:cs typeface="Helvetica" pitchFamily="34" charset="-120"/>
              </a:rPr>
              <a:t>3. Mengubah Temuan Menjadi Rencana Aksi</a:t>
            </a:r>
            <a:endParaRPr lang="en-US" sz="1450" dirty="0"/>
          </a:p>
        </p:txBody>
      </p:sp>
      <p:sp>
        <p:nvSpPr>
          <p:cNvPr id="12" name="Text 10"/>
          <p:cNvSpPr/>
          <p:nvPr/>
        </p:nvSpPr>
        <p:spPr>
          <a:xfrm>
            <a:off x="6309360" y="2194560"/>
            <a:ext cx="5394960" cy="685800"/>
          </a:xfrm>
          <a:prstGeom prst="rect">
            <a:avLst/>
          </a:prstGeom>
          <a:noFill/>
          <a:ln/>
        </p:spPr>
        <p:txBody>
          <a:bodyPr wrap="square" lIns="0" tIns="0" rIns="0" bIns="0" rtlCol="0" anchor="ctr"/>
          <a:lstStyle/>
          <a:p>
            <a:pPr indent="0" marL="0">
              <a:lnSpc>
                <a:spcPct val="125000"/>
              </a:lnSpc>
              <a:buNone/>
            </a:pPr>
            <a:r>
              <a:rPr lang="en-US" sz="1200" dirty="0">
                <a:solidFill>
                  <a:srgbClr val="6B7280"/>
                </a:solidFill>
                <a:latin typeface="Helvetica" pitchFamily="34" charset="0"/>
                <a:ea typeface="Helvetica" pitchFamily="34" charset="-122"/>
                <a:cs typeface="Helvetica" pitchFamily="34" charset="-120"/>
              </a:rPr>
              <a:t>Analisis tanpa rencana aksi hanya jadi informasi, bukan keputusan — saatnya minta Insight Preskriptif dari Modul 1.</a:t>
            </a:r>
            <a:endParaRPr lang="en-US" sz="1200" dirty="0"/>
          </a:p>
        </p:txBody>
      </p:sp>
      <p:sp>
        <p:nvSpPr>
          <p:cNvPr id="13" name="Shape 11"/>
          <p:cNvSpPr/>
          <p:nvPr/>
        </p:nvSpPr>
        <p:spPr>
          <a:xfrm>
            <a:off x="6309360" y="2926080"/>
            <a:ext cx="5394960" cy="1508760"/>
          </a:xfrm>
          <a:prstGeom prst="roundRect">
            <a:avLst>
              <a:gd name="adj" fmla="val 4848"/>
            </a:avLst>
          </a:prstGeom>
          <a:solidFill>
            <a:srgbClr val="0D1321"/>
          </a:solidFill>
          <a:ln/>
        </p:spPr>
      </p:sp>
      <p:sp>
        <p:nvSpPr>
          <p:cNvPr id="14" name="Text 12"/>
          <p:cNvSpPr/>
          <p:nvPr/>
        </p:nvSpPr>
        <p:spPr>
          <a:xfrm>
            <a:off x="6537960" y="2926080"/>
            <a:ext cx="4937760" cy="1508760"/>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Helvetica" pitchFamily="34" charset="0"/>
                <a:ea typeface="Helvetica" pitchFamily="34" charset="-122"/>
                <a:cs typeface="Helvetica" pitchFamily="34" charset="-120"/>
              </a:rPr>
              <a:t>Berdasarkan temuan soal penurunan penjualan usai kenaikan harga, berikan saya 3 rekomendasi konkret yang bisa saya eksekusi minggu ini beserta perkiraan dampaknya.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Dari Analisis ke Laporan</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4. Prompt Siap Pakai untuk Berbagai Kebutuhan</a:t>
            </a:r>
            <a:endParaRPr lang="en-US" sz="2200" dirty="0"/>
          </a:p>
        </p:txBody>
      </p:sp>
      <p:sp>
        <p:nvSpPr>
          <p:cNvPr id="7" name="Text 5"/>
          <p:cNvSpPr/>
          <p:nvPr/>
        </p:nvSpPr>
        <p:spPr>
          <a:xfrm>
            <a:off x="502920" y="1691640"/>
            <a:ext cx="11155680" cy="320040"/>
          </a:xfrm>
          <a:prstGeom prst="rect">
            <a:avLst/>
          </a:prstGeom>
          <a:noFill/>
          <a:ln/>
        </p:spPr>
        <p:txBody>
          <a:bodyPr wrap="square" lIns="0" tIns="0" rIns="0" bIns="0" rtlCol="0" anchor="ctr"/>
          <a:lstStyle/>
          <a:p>
            <a:pPr indent="0" marL="0">
              <a:buNone/>
            </a:pPr>
            <a:r>
              <a:rPr lang="en-US" sz="1250" dirty="0">
                <a:solidFill>
                  <a:srgbClr val="6B7280"/>
                </a:solidFill>
                <a:latin typeface="Helvetica" pitchFamily="34" charset="0"/>
                <a:ea typeface="Helvetica" pitchFamily="34" charset="-122"/>
                <a:cs typeface="Helvetica" pitchFamily="34" charset="-120"/>
              </a:rPr>
              <a:t>Formula yang sama (Ringkasan Eksekutif, Kutipan, Rencana Aksi) bisa dipakai ke berbagai jenis masalah:</a:t>
            </a:r>
            <a:endParaRPr lang="en-US" sz="1250" dirty="0"/>
          </a:p>
        </p:txBody>
      </p:sp>
      <p:sp>
        <p:nvSpPr>
          <p:cNvPr id="8" name="Shape 6"/>
          <p:cNvSpPr/>
          <p:nvPr/>
        </p:nvSpPr>
        <p:spPr>
          <a:xfrm>
            <a:off x="502920" y="2148840"/>
            <a:ext cx="3630168" cy="3931920"/>
          </a:xfrm>
          <a:prstGeom prst="roundRect">
            <a:avLst>
              <a:gd name="adj" fmla="val 2519"/>
            </a:avLst>
          </a:prstGeom>
          <a:solidFill>
            <a:srgbClr val="F4F6FB"/>
          </a:solidFill>
          <a:ln w="12700">
            <a:solidFill>
              <a:srgbClr val="D6DCEB"/>
            </a:solidFill>
            <a:prstDash val="solid"/>
          </a:ln>
        </p:spPr>
      </p:sp>
      <p:sp>
        <p:nvSpPr>
          <p:cNvPr id="9" name="Text 7"/>
          <p:cNvSpPr/>
          <p:nvPr/>
        </p:nvSpPr>
        <p:spPr>
          <a:xfrm>
            <a:off x="704088" y="2331720"/>
            <a:ext cx="3227832" cy="50292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Laporan Mingguan Rutin</a:t>
            </a:r>
            <a:endParaRPr lang="en-US" sz="1300" dirty="0"/>
          </a:p>
        </p:txBody>
      </p:sp>
      <p:sp>
        <p:nvSpPr>
          <p:cNvPr id="10" name="Text 8"/>
          <p:cNvSpPr/>
          <p:nvPr/>
        </p:nvSpPr>
        <p:spPr>
          <a:xfrm>
            <a:off x="704088" y="2926080"/>
            <a:ext cx="3227832" cy="1188720"/>
          </a:xfrm>
          <a:prstGeom prst="rect">
            <a:avLst/>
          </a:prstGeom>
          <a:noFill/>
          <a:ln/>
        </p:spPr>
        <p:txBody>
          <a:bodyPr wrap="square" lIns="0" tIns="0" rIns="0" bIns="0" rtlCol="0" anchor="ctr"/>
          <a:lstStyle/>
          <a:p>
            <a:pPr indent="0" marL="0">
              <a:lnSpc>
                <a:spcPct val="122000"/>
              </a:lnSpc>
              <a:buNone/>
            </a:pPr>
            <a:r>
              <a:rPr lang="en-US" sz="1050" b="1" dirty="0">
                <a:solidFill>
                  <a:srgbClr val="23283A"/>
                </a:solidFill>
                <a:latin typeface="Helvetica" pitchFamily="34" charset="0"/>
                <a:ea typeface="Helvetica" pitchFamily="34" charset="-122"/>
                <a:cs typeface="Helvetica" pitchFamily="34" charset="-120"/>
              </a:rPr>
              <a:t>Data: </a:t>
            </a:r>
            <a:pPr indent="0" marL="0">
              <a:lnSpc>
                <a:spcPct val="122000"/>
              </a:lnSpc>
              <a:buNone/>
            </a:pPr>
            <a:r>
              <a:rPr lang="en-US" sz="1050" dirty="0">
                <a:solidFill>
                  <a:srgbClr val="6B7280"/>
                </a:solidFill>
                <a:latin typeface="Helvetica" pitchFamily="34" charset="0"/>
                <a:ea typeface="Helvetica" pitchFamily="34" charset="-122"/>
                <a:cs typeface="Helvetica" pitchFamily="34" charset="-120"/>
              </a:rPr>
              <a:t>142 tiket closed (naik dari 128), respons 4.2 jam (turun dari 5.1 jam), kepuasan 87% (stabil).</a:t>
            </a:r>
            <a:endParaRPr lang="en-US" sz="1050" dirty="0"/>
          </a:p>
        </p:txBody>
      </p:sp>
      <p:sp>
        <p:nvSpPr>
          <p:cNvPr id="11" name="Shape 9"/>
          <p:cNvSpPr/>
          <p:nvPr/>
        </p:nvSpPr>
        <p:spPr>
          <a:xfrm>
            <a:off x="704088" y="4206240"/>
            <a:ext cx="3227832" cy="1737360"/>
          </a:xfrm>
          <a:prstGeom prst="roundRect">
            <a:avLst>
              <a:gd name="adj" fmla="val 3158"/>
            </a:avLst>
          </a:prstGeom>
          <a:solidFill>
            <a:srgbClr val="0D1321"/>
          </a:solidFill>
          <a:ln/>
        </p:spPr>
      </p:sp>
      <p:sp>
        <p:nvSpPr>
          <p:cNvPr id="12" name="Text 10"/>
          <p:cNvSpPr/>
          <p:nvPr/>
        </p:nvSpPr>
        <p:spPr>
          <a:xfrm>
            <a:off x="841248" y="4297680"/>
            <a:ext cx="2953512" cy="1554480"/>
          </a:xfrm>
          <a:prstGeom prst="rect">
            <a:avLst/>
          </a:prstGeom>
          <a:noFill/>
          <a:ln/>
        </p:spPr>
        <p:txBody>
          <a:bodyPr wrap="square" lIns="0" tIns="0" rIns="0" bIns="0" rtlCol="0" anchor="t"/>
          <a:lstStyle/>
          <a:p>
            <a:pPr indent="0" marL="0">
              <a:lnSpc>
                <a:spcPct val="125000"/>
              </a:lnSpc>
              <a:buNone/>
            </a:pPr>
            <a:r>
              <a:rPr lang="en-US" sz="1050" i="1" dirty="0">
                <a:solidFill>
                  <a:srgbClr val="FFFFFF"/>
                </a:solidFill>
                <a:latin typeface="Helvetica" pitchFamily="34" charset="0"/>
                <a:ea typeface="Helvetica" pitchFamily="34" charset="-122"/>
                <a:cs typeface="Helvetica" pitchFamily="34" charset="-120"/>
              </a:rPr>
              <a:t>Buatkan laporan singkat rutin: ringkasan performa, apa yang membaik/memburuk, 1 catatan minggu depan. Santai, buat grup tim internal.</a:t>
            </a:r>
            <a:endParaRPr lang="en-US" sz="1050" dirty="0"/>
          </a:p>
        </p:txBody>
      </p:sp>
      <p:sp>
        <p:nvSpPr>
          <p:cNvPr id="13" name="Shape 11"/>
          <p:cNvSpPr/>
          <p:nvPr/>
        </p:nvSpPr>
        <p:spPr>
          <a:xfrm>
            <a:off x="4288536" y="2148840"/>
            <a:ext cx="3630168" cy="3931920"/>
          </a:xfrm>
          <a:prstGeom prst="roundRect">
            <a:avLst>
              <a:gd name="adj" fmla="val 2519"/>
            </a:avLst>
          </a:prstGeom>
          <a:solidFill>
            <a:srgbClr val="F4F6FB"/>
          </a:solidFill>
          <a:ln w="12700">
            <a:solidFill>
              <a:srgbClr val="D6DCEB"/>
            </a:solidFill>
            <a:prstDash val="solid"/>
          </a:ln>
        </p:spPr>
      </p:sp>
      <p:sp>
        <p:nvSpPr>
          <p:cNvPr id="14" name="Text 12"/>
          <p:cNvSpPr/>
          <p:nvPr/>
        </p:nvSpPr>
        <p:spPr>
          <a:xfrm>
            <a:off x="4489704" y="2331720"/>
            <a:ext cx="3227832" cy="50292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Diagnosis Over-Budget</a:t>
            </a:r>
            <a:endParaRPr lang="en-US" sz="1300" dirty="0"/>
          </a:p>
        </p:txBody>
      </p:sp>
      <p:sp>
        <p:nvSpPr>
          <p:cNvPr id="15" name="Text 13"/>
          <p:cNvSpPr/>
          <p:nvPr/>
        </p:nvSpPr>
        <p:spPr>
          <a:xfrm>
            <a:off x="4489704" y="2926080"/>
            <a:ext cx="3227832" cy="1188720"/>
          </a:xfrm>
          <a:prstGeom prst="rect">
            <a:avLst/>
          </a:prstGeom>
          <a:noFill/>
          <a:ln/>
        </p:spPr>
        <p:txBody>
          <a:bodyPr wrap="square" lIns="0" tIns="0" rIns="0" bIns="0" rtlCol="0" anchor="ctr"/>
          <a:lstStyle/>
          <a:p>
            <a:pPr indent="0" marL="0">
              <a:lnSpc>
                <a:spcPct val="122000"/>
              </a:lnSpc>
              <a:buNone/>
            </a:pPr>
            <a:r>
              <a:rPr lang="en-US" sz="1050" b="1" dirty="0">
                <a:solidFill>
                  <a:srgbClr val="23283A"/>
                </a:solidFill>
                <a:latin typeface="Helvetica" pitchFamily="34" charset="0"/>
                <a:ea typeface="Helvetica" pitchFamily="34" charset="-122"/>
                <a:cs typeface="Helvetica" pitchFamily="34" charset="-120"/>
              </a:rPr>
              <a:t>Data: </a:t>
            </a:r>
            <a:pPr indent="0" marL="0">
              <a:lnSpc>
                <a:spcPct val="122000"/>
              </a:lnSpc>
              <a:buNone/>
            </a:pPr>
            <a:r>
              <a:rPr lang="en-US" sz="1050" dirty="0">
                <a:solidFill>
                  <a:srgbClr val="6B7280"/>
                </a:solidFill>
                <a:latin typeface="Helvetica" pitchFamily="34" charset="0"/>
                <a:ea typeface="Helvetica" pitchFamily="34" charset="-122"/>
                <a:cs typeface="Helvetica" pitchFamily="34" charset="-120"/>
              </a:rPr>
              <a:t>Biaya operasional Rp42 juta, budget Rp38 juta (over 10%). Kenaikan utama di ongkos kirim, naik 25%.</a:t>
            </a:r>
            <a:endParaRPr lang="en-US" sz="1050" dirty="0"/>
          </a:p>
        </p:txBody>
      </p:sp>
      <p:sp>
        <p:nvSpPr>
          <p:cNvPr id="16" name="Shape 14"/>
          <p:cNvSpPr/>
          <p:nvPr/>
        </p:nvSpPr>
        <p:spPr>
          <a:xfrm>
            <a:off x="4489704" y="4206240"/>
            <a:ext cx="3227832" cy="1737360"/>
          </a:xfrm>
          <a:prstGeom prst="roundRect">
            <a:avLst>
              <a:gd name="adj" fmla="val 3158"/>
            </a:avLst>
          </a:prstGeom>
          <a:solidFill>
            <a:srgbClr val="0D1321"/>
          </a:solidFill>
          <a:ln/>
        </p:spPr>
      </p:sp>
      <p:sp>
        <p:nvSpPr>
          <p:cNvPr id="17" name="Text 15"/>
          <p:cNvSpPr/>
          <p:nvPr/>
        </p:nvSpPr>
        <p:spPr>
          <a:xfrm>
            <a:off x="4626864" y="4297680"/>
            <a:ext cx="2953512" cy="1554480"/>
          </a:xfrm>
          <a:prstGeom prst="rect">
            <a:avLst/>
          </a:prstGeom>
          <a:noFill/>
          <a:ln/>
        </p:spPr>
        <p:txBody>
          <a:bodyPr wrap="square" lIns="0" tIns="0" rIns="0" bIns="0" rtlCol="0" anchor="t"/>
          <a:lstStyle/>
          <a:p>
            <a:pPr indent="0" marL="0">
              <a:lnSpc>
                <a:spcPct val="125000"/>
              </a:lnSpc>
              <a:buNone/>
            </a:pPr>
            <a:r>
              <a:rPr lang="en-US" sz="1050" i="1" dirty="0">
                <a:solidFill>
                  <a:srgbClr val="FFFFFF"/>
                </a:solidFill>
                <a:latin typeface="Helvetica" pitchFamily="34" charset="0"/>
                <a:ea typeface="Helvetica" pitchFamily="34" charset="-122"/>
                <a:cs typeface="Helvetica" pitchFamily="34" charset="-120"/>
              </a:rPr>
              <a:t>Buatkan ringkasan eksekutif soal kenapa kita over budget, penyebabnya, dan 2 opsi tindakan bulan depan. Tanpa istilah akuntansi rumit.</a:t>
            </a:r>
            <a:endParaRPr lang="en-US" sz="1050" dirty="0"/>
          </a:p>
        </p:txBody>
      </p:sp>
      <p:sp>
        <p:nvSpPr>
          <p:cNvPr id="18" name="Shape 16"/>
          <p:cNvSpPr/>
          <p:nvPr/>
        </p:nvSpPr>
        <p:spPr>
          <a:xfrm>
            <a:off x="8074152" y="2148840"/>
            <a:ext cx="3630168" cy="3931920"/>
          </a:xfrm>
          <a:prstGeom prst="roundRect">
            <a:avLst>
              <a:gd name="adj" fmla="val 2519"/>
            </a:avLst>
          </a:prstGeom>
          <a:solidFill>
            <a:srgbClr val="F4F6FB"/>
          </a:solidFill>
          <a:ln w="12700">
            <a:solidFill>
              <a:srgbClr val="D6DCEB"/>
            </a:solidFill>
            <a:prstDash val="solid"/>
          </a:ln>
        </p:spPr>
      </p:sp>
      <p:sp>
        <p:nvSpPr>
          <p:cNvPr id="19" name="Text 17"/>
          <p:cNvSpPr/>
          <p:nvPr/>
        </p:nvSpPr>
        <p:spPr>
          <a:xfrm>
            <a:off x="8275320" y="2331720"/>
            <a:ext cx="3227832" cy="50292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Sebelum/Sesudah Kampanye</a:t>
            </a:r>
            <a:endParaRPr lang="en-US" sz="1300" dirty="0"/>
          </a:p>
        </p:txBody>
      </p:sp>
      <p:sp>
        <p:nvSpPr>
          <p:cNvPr id="20" name="Text 18"/>
          <p:cNvSpPr/>
          <p:nvPr/>
        </p:nvSpPr>
        <p:spPr>
          <a:xfrm>
            <a:off x="8275320" y="2926080"/>
            <a:ext cx="3227832" cy="1188720"/>
          </a:xfrm>
          <a:prstGeom prst="rect">
            <a:avLst/>
          </a:prstGeom>
          <a:noFill/>
          <a:ln/>
        </p:spPr>
        <p:txBody>
          <a:bodyPr wrap="square" lIns="0" tIns="0" rIns="0" bIns="0" rtlCol="0" anchor="ctr"/>
          <a:lstStyle/>
          <a:p>
            <a:pPr indent="0" marL="0">
              <a:lnSpc>
                <a:spcPct val="122000"/>
              </a:lnSpc>
              <a:buNone/>
            </a:pPr>
            <a:r>
              <a:rPr lang="en-US" sz="1050" b="1" dirty="0">
                <a:solidFill>
                  <a:srgbClr val="23283A"/>
                </a:solidFill>
                <a:latin typeface="Helvetica" pitchFamily="34" charset="0"/>
                <a:ea typeface="Helvetica" pitchFamily="34" charset="-122"/>
                <a:cs typeface="Helvetica" pitchFamily="34" charset="-120"/>
              </a:rPr>
              <a:t>Data: </a:t>
            </a:r>
            <a:pPr indent="0" marL="0">
              <a:lnSpc>
                <a:spcPct val="122000"/>
              </a:lnSpc>
              <a:buNone/>
            </a:pPr>
            <a:r>
              <a:rPr lang="en-US" sz="1050" dirty="0">
                <a:solidFill>
                  <a:srgbClr val="6B7280"/>
                </a:solidFill>
                <a:latin typeface="Helvetica" pitchFamily="34" charset="0"/>
                <a:ea typeface="Helvetica" pitchFamily="34" charset="-122"/>
                <a:cs typeface="Helvetica" pitchFamily="34" charset="-120"/>
              </a:rPr>
              <a:t>Sebelum: 320 pengunjung/hari, konversi 2.1%. Selama promo: 510/hari, konversi turun ke 1.4%.</a:t>
            </a:r>
            <a:endParaRPr lang="en-US" sz="1050" dirty="0"/>
          </a:p>
        </p:txBody>
      </p:sp>
      <p:sp>
        <p:nvSpPr>
          <p:cNvPr id="21" name="Shape 19"/>
          <p:cNvSpPr/>
          <p:nvPr/>
        </p:nvSpPr>
        <p:spPr>
          <a:xfrm>
            <a:off x="8275320" y="4206240"/>
            <a:ext cx="3227832" cy="1737360"/>
          </a:xfrm>
          <a:prstGeom prst="roundRect">
            <a:avLst>
              <a:gd name="adj" fmla="val 3158"/>
            </a:avLst>
          </a:prstGeom>
          <a:solidFill>
            <a:srgbClr val="0D1321"/>
          </a:solidFill>
          <a:ln/>
        </p:spPr>
      </p:sp>
      <p:sp>
        <p:nvSpPr>
          <p:cNvPr id="22" name="Text 20"/>
          <p:cNvSpPr/>
          <p:nvPr/>
        </p:nvSpPr>
        <p:spPr>
          <a:xfrm>
            <a:off x="8412480" y="4297680"/>
            <a:ext cx="2953512" cy="1554480"/>
          </a:xfrm>
          <a:prstGeom prst="rect">
            <a:avLst/>
          </a:prstGeom>
          <a:noFill/>
          <a:ln/>
        </p:spPr>
        <p:txBody>
          <a:bodyPr wrap="square" lIns="0" tIns="0" rIns="0" bIns="0" rtlCol="0" anchor="t"/>
          <a:lstStyle/>
          <a:p>
            <a:pPr indent="0" marL="0">
              <a:lnSpc>
                <a:spcPct val="125000"/>
              </a:lnSpc>
              <a:buNone/>
            </a:pPr>
            <a:r>
              <a:rPr lang="en-US" sz="1050" i="1" dirty="0">
                <a:solidFill>
                  <a:srgbClr val="FFFFFF"/>
                </a:solidFill>
                <a:latin typeface="Helvetica" pitchFamily="34" charset="0"/>
                <a:ea typeface="Helvetica" pitchFamily="34" charset="-122"/>
                <a:cs typeface="Helvetica" pitchFamily="34" charset="-120"/>
              </a:rPr>
              <a:t>Bandingkan performa sebelum &amp; sesudah kampanye. Format 2 kolom gampang dibaca, kasih 1 dugaan kenapa konversi turun.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Dari Analisis ke Laporan</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5</a:t>
            </a:r>
            <a:endParaRPr lang="en-US" sz="2200" dirty="0"/>
          </a:p>
        </p:txBody>
      </p:sp>
      <p:sp>
        <p:nvSpPr>
          <p:cNvPr id="7" name="Shape 5"/>
          <p:cNvSpPr/>
          <p:nvPr/>
        </p:nvSpPr>
        <p:spPr>
          <a:xfrm>
            <a:off x="502920" y="1783080"/>
            <a:ext cx="11201400" cy="1965960"/>
          </a:xfrm>
          <a:prstGeom prst="roundRect">
            <a:avLst>
              <a:gd name="adj" fmla="val 5581"/>
            </a:avLst>
          </a:prstGeom>
          <a:solidFill>
            <a:srgbClr val="F3F0FF"/>
          </a:solidFill>
          <a:ln w="12700">
            <a:solidFill>
              <a:srgbClr val="DCD3FB"/>
            </a:solidFill>
            <a:prstDash val="solid"/>
          </a:ln>
        </p:spPr>
      </p:sp>
      <p:sp>
        <p:nvSpPr>
          <p:cNvPr id="8" name="Text 6"/>
          <p:cNvSpPr/>
          <p:nvPr/>
        </p:nvSpPr>
        <p:spPr>
          <a:xfrm>
            <a:off x="822960" y="2057400"/>
            <a:ext cx="10561320" cy="141732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Temuan analisis baru berguna jika sudah diubah menjadi format laporan yang siap dipresentasikan</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Struktur ringkasan eksekutif: Situasi → Temuan Utama → Rekomendasi</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Gunakan kutipan asli (voice of customer) untuk memperkuat angka/data statistik</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Selalu minta Insight Preskriptif agar analisis berujung pada tindakan nyata</a:t>
            </a:r>
            <a:endParaRPr lang="en-US" sz="1300" dirty="0"/>
          </a:p>
        </p:txBody>
      </p:sp>
      <p:sp>
        <p:nvSpPr>
          <p:cNvPr id="9" name="Shape 7"/>
          <p:cNvSpPr/>
          <p:nvPr/>
        </p:nvSpPr>
        <p:spPr>
          <a:xfrm>
            <a:off x="502920" y="4023360"/>
            <a:ext cx="11201400" cy="1051560"/>
          </a:xfrm>
          <a:prstGeom prst="roundRect">
            <a:avLst>
              <a:gd name="adj" fmla="val 6957"/>
            </a:avLst>
          </a:prstGeom>
          <a:solidFill>
            <a:srgbClr val="F4F6FB"/>
          </a:solidFill>
          <a:ln w="12700">
            <a:solidFill>
              <a:srgbClr val="D6DCEB"/>
            </a:solidFill>
            <a:prstDash val="solid"/>
          </a:ln>
        </p:spPr>
      </p:sp>
      <p:sp>
        <p:nvSpPr>
          <p:cNvPr id="10" name="Text 8"/>
          <p:cNvSpPr/>
          <p:nvPr/>
        </p:nvSpPr>
        <p:spPr>
          <a:xfrm>
            <a:off x="777240" y="415137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TIPS: SESUAIKAN TARGET AUDIENS!</a:t>
            </a:r>
            <a:endParaRPr lang="en-US" sz="1100" dirty="0"/>
          </a:p>
        </p:txBody>
      </p:sp>
      <p:sp>
        <p:nvSpPr>
          <p:cNvPr id="11" name="Text 9"/>
          <p:cNvSpPr/>
          <p:nvPr/>
        </p:nvSpPr>
        <p:spPr>
          <a:xfrm>
            <a:off x="777240" y="4407408"/>
            <a:ext cx="10652760" cy="55778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Selalu sebutkan siapa yang akan membaca laporanmu di dalam prompt (misal: Investor, Atasan, atau Tim Operasional). Laporan untuk investor butuh fokus pada angka revenue, risiko, dan margin. Laporan untuk tim internal butuh fokus pada alur kerja, kendala teknis, dan eksekusi lapangan.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Dari Analisis ke Laporan</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783080"/>
            <a:ext cx="11201400" cy="2514600"/>
          </a:xfrm>
          <a:prstGeom prst="roundRect">
            <a:avLst>
              <a:gd name="adj" fmla="val 3636"/>
            </a:avLst>
          </a:prstGeom>
          <a:solidFill>
            <a:srgbClr val="EAFAF0"/>
          </a:solidFill>
          <a:ln w="12700">
            <a:solidFill>
              <a:srgbClr val="B8E6C9"/>
            </a:solidFill>
            <a:prstDash val="solid"/>
          </a:ln>
        </p:spPr>
      </p:sp>
      <p:sp>
        <p:nvSpPr>
          <p:cNvPr id="8" name="Text 6"/>
          <p:cNvSpPr/>
          <p:nvPr/>
        </p:nvSpPr>
        <p:spPr>
          <a:xfrm>
            <a:off x="777240" y="1965960"/>
            <a:ext cx="4572000"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p:nvPr/>
        </p:nvSpPr>
        <p:spPr>
          <a:xfrm>
            <a:off x="777240" y="2286000"/>
            <a:ext cx="10652760" cy="1051560"/>
          </a:xfrm>
          <a:prstGeom prst="rect">
            <a:avLst/>
          </a:prstGeom>
          <a:noFill/>
          <a:ln/>
        </p:spPr>
        <p:txBody>
          <a:bodyPr wrap="square" lIns="0" tIns="0" rIns="0" bIns="0" rtlCol="0" anchor="ctr"/>
          <a:lstStyle/>
          <a:p>
            <a:pPr indent="0" marL="0">
              <a:lnSpc>
                <a:spcPct val="125000"/>
              </a:lnSpc>
              <a:buNone/>
            </a:pPr>
            <a:r>
              <a:rPr lang="en-US" sz="1200" b="1" dirty="0">
                <a:solidFill>
                  <a:srgbClr val="23283A"/>
                </a:solidFill>
                <a:latin typeface="Helvetica" pitchFamily="34" charset="0"/>
                <a:ea typeface="Helvetica" pitchFamily="34" charset="-122"/>
                <a:cs typeface="Helvetica" pitchFamily="34" charset="-120"/>
              </a:rPr>
              <a:t>Temuan mentah: </a:t>
            </a:r>
            <a:pPr indent="0" marL="0">
              <a:lnSpc>
                <a:spcPct val="125000"/>
              </a:lnSpc>
              <a:buNone/>
            </a:pPr>
            <a:r>
              <a:rPr lang="en-US" sz="1200" i="1" dirty="0">
                <a:solidFill>
                  <a:srgbClr val="23283A"/>
                </a:solidFill>
                <a:latin typeface="Helvetica" pitchFamily="34" charset="0"/>
                <a:ea typeface="Helvetica" pitchFamily="34" charset="-122"/>
                <a:cs typeface="Helvetica" pitchFamily="34" charset="-120"/>
              </a:rPr>
              <a:t>“Penjualan Roti Sobek Keju turun dari 80 unit/minggu jadi 48, dan Brownies turun dari 60 jadi 35, keduanya mulai minggu ke-3 Juni — bertepatan dengan kenaikan harga masing-masing 18% dan 15%. Produk lain relatif stabil.”</a:t>
            </a:r>
            <a:endParaRPr lang="en-US" sz="1200" dirty="0"/>
          </a:p>
        </p:txBody>
      </p:sp>
      <p:sp>
        <p:nvSpPr>
          <p:cNvPr id="10" name="Text 8"/>
          <p:cNvSpPr/>
          <p:nvPr/>
        </p:nvSpPr>
        <p:spPr>
          <a:xfrm>
            <a:off x="777240" y="3383280"/>
            <a:ext cx="10652760" cy="777240"/>
          </a:xfrm>
          <a:prstGeom prst="rect">
            <a:avLst/>
          </a:prstGeom>
          <a:noFill/>
          <a:ln/>
        </p:spPr>
        <p:txBody>
          <a:bodyPr wrap="square" lIns="0" tIns="0" rIns="0" bIns="0" rtlCol="0" anchor="ctr"/>
          <a:lstStyle/>
          <a:p>
            <a:pPr indent="0" marL="0">
              <a:lnSpc>
                <a:spcPct val="122000"/>
              </a:lnSpc>
              <a:buNone/>
            </a:pPr>
            <a:r>
              <a:rPr lang="en-US" sz="1200" dirty="0">
                <a:solidFill>
                  <a:srgbClr val="23283A"/>
                </a:solidFill>
                <a:latin typeface="Helvetica" pitchFamily="34" charset="0"/>
                <a:ea typeface="Helvetica" pitchFamily="34" charset="-122"/>
                <a:cs typeface="Helvetica" pitchFamily="34" charset="-120"/>
              </a:rPr>
              <a:t>Kirim Prompt Ringkasan Eksekutif ke Claude pakai temuan di atas, lalu lanjutkan dalam chat yang sama dengan mengirim Prompt Rekomendasi Aksi. (Opsional) Coba juga fitur kutipan, pakai data review dari Modul 1.</a:t>
            </a:r>
            <a:endParaRPr lang="en-US" sz="1200" dirty="0"/>
          </a:p>
        </p:txBody>
      </p:sp>
      <p:sp>
        <p:nvSpPr>
          <p:cNvPr id="11" name="Shape 9"/>
          <p:cNvSpPr/>
          <p:nvPr/>
        </p:nvSpPr>
        <p:spPr>
          <a:xfrm>
            <a:off x="502920" y="4553712"/>
            <a:ext cx="11201400" cy="868680"/>
          </a:xfrm>
          <a:prstGeom prst="roundRect">
            <a:avLst>
              <a:gd name="adj" fmla="val 8421"/>
            </a:avLst>
          </a:prstGeom>
          <a:solidFill>
            <a:srgbClr val="F3F0FF"/>
          </a:solidFill>
          <a:ln w="12700">
            <a:solidFill>
              <a:srgbClr val="DCD3FB"/>
            </a:solidFill>
            <a:prstDash val="solid"/>
          </a:ln>
        </p:spPr>
      </p:sp>
      <p:sp>
        <p:nvSpPr>
          <p:cNvPr id="12" name="Shape 10"/>
          <p:cNvSpPr/>
          <p:nvPr/>
        </p:nvSpPr>
        <p:spPr>
          <a:xfrm>
            <a:off x="731520" y="4759452"/>
            <a:ext cx="457200" cy="457200"/>
          </a:xfrm>
          <a:prstGeom prst="ellipse">
            <a:avLst/>
          </a:prstGeom>
          <a:solidFill>
            <a:srgbClr val="6849F6"/>
          </a:solidFill>
          <a:ln/>
        </p:spPr>
      </p:sp>
      <p:sp>
        <p:nvSpPr>
          <p:cNvPr id="13" name="Text 11"/>
          <p:cNvSpPr/>
          <p:nvPr/>
        </p:nvSpPr>
        <p:spPr>
          <a:xfrm>
            <a:off x="731520" y="47594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a:t>
            </a:r>
            <a:endParaRPr lang="en-US" sz="1800" dirty="0"/>
          </a:p>
        </p:txBody>
      </p:sp>
      <p:sp>
        <p:nvSpPr>
          <p:cNvPr id="14" name="Text 12"/>
          <p:cNvSpPr/>
          <p:nvPr/>
        </p:nvSpPr>
        <p:spPr>
          <a:xfrm>
            <a:off x="1371600" y="4663440"/>
            <a:ext cx="10104120" cy="649224"/>
          </a:xfrm>
          <a:prstGeom prst="rect">
            <a:avLst/>
          </a:prstGeom>
          <a:noFill/>
          <a:ln/>
        </p:spPr>
        <p:txBody>
          <a:bodyPr wrap="square" lIns="0" tIns="0" rIns="0" bIns="0" rtlCol="0" anchor="t"/>
          <a:lstStyle/>
          <a:p>
            <a:pPr indent="0" marL="0">
              <a:lnSpc>
                <a:spcPct val="120000"/>
              </a:lnSpc>
              <a:buNone/>
            </a:pPr>
            <a:r>
              <a:rPr lang="en-US" sz="1200" b="1" dirty="0">
                <a:solidFill>
                  <a:srgbClr val="0D1321"/>
                </a:solidFill>
                <a:latin typeface="Helvetica" pitchFamily="34" charset="0"/>
                <a:ea typeface="Helvetica" pitchFamily="34" charset="-122"/>
                <a:cs typeface="Helvetica" pitchFamily="34" charset="-120"/>
              </a:rPr>
              <a:t>Output yang Diharapkan   </a:t>
            </a:r>
            <a:endParaRPr lang="en-US" sz="1200" dirty="0"/>
          </a:p>
          <a:p>
            <a:pPr indent="0" marL="0">
              <a:lnSpc>
                <a:spcPct val="120000"/>
              </a:lnSpc>
              <a:buNone/>
            </a:pPr>
            <a:r>
              <a:rPr lang="en-US" sz="1200" dirty="0">
                <a:solidFill>
                  <a:srgbClr val="6B7280"/>
                </a:solidFill>
                <a:latin typeface="Helvetica" pitchFamily="34" charset="0"/>
                <a:ea typeface="Helvetica" pitchFamily="34" charset="-122"/>
                <a:cs typeface="Helvetica" pitchFamily="34" charset="-120"/>
              </a:rPr>
              <a:t>Satu ringkasan eksekutif siap kirim + daftar rekomendasi aksi konkret yang diolah dari data mentah.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2026-08-24T09:26:06Z</dcterms:created>
  <dcterms:modified xsi:type="dcterms:W3CDTF">2026-08-24T09:26:06Z</dcterms:modified>
</cp:coreProperties>
</file>