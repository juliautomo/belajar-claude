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321"/>
        </a:solidFill>
      </p:bgPr>
    </p:bg>
    <p:spTree>
      <p:nvGrpSpPr>
        <p:cNvPr id="1" name=""/>
        <p:cNvGrpSpPr/>
        <p:nvPr/>
      </p:nvGrpSpPr>
      <p:grpSpPr>
        <a:xfrm>
          <a:off x="0" y="0"/>
          <a:ext cx="0" cy="0"/>
          <a:chOff x="0" y="0"/>
          <a:chExt cx="0" cy="0"/>
        </a:xfrm>
      </p:grpSpPr>
      <p:sp>
        <p:nvSpPr>
          <p:cNvPr id="2" name="Shape 0"/>
          <p:cNvSpPr/>
          <p:nvPr/>
        </p:nvSpPr>
        <p:spPr>
          <a:xfrm>
            <a:off x="8138160" y="0"/>
            <a:ext cx="4053535" cy="6858000"/>
          </a:xfrm>
          <a:prstGeom prst="rect">
            <a:avLst/>
          </a:prstGeom>
          <a:solidFill>
            <a:srgbClr val="141D33"/>
          </a:solidFill>
          <a:ln/>
        </p:spPr>
      </p:sp>
      <p:sp>
        <p:nvSpPr>
          <p:cNvPr id="3" name="Text 1"/>
          <p:cNvSpPr/>
          <p:nvPr/>
        </p:nvSpPr>
        <p:spPr>
          <a:xfrm>
            <a:off x="640080" y="502920"/>
            <a:ext cx="3657600" cy="457200"/>
          </a:xfrm>
          <a:prstGeom prst="rect">
            <a:avLst/>
          </a:prstGeom>
          <a:noFill/>
          <a:ln/>
        </p:spPr>
        <p:txBody>
          <a:bodyPr wrap="square" lIns="0" tIns="0" rIns="0" bIns="0" rtlCol="0" anchor="ctr"/>
          <a:lstStyle/>
          <a:p>
            <a:pPr indent="0" marL="0">
              <a:buNone/>
            </a:pPr>
            <a:r>
              <a:rPr lang="en-US" sz="2000" b="1" dirty="0">
                <a:solidFill>
                  <a:srgbClr val="FFFFFF"/>
                </a:solidFill>
                <a:latin typeface="Helvetica" pitchFamily="34" charset="0"/>
                <a:ea typeface="Helvetica" pitchFamily="34" charset="-122"/>
                <a:cs typeface="Helvetica" pitchFamily="34" charset="-120"/>
              </a:rPr>
              <a:t>belajar</a:t>
            </a:r>
            <a:pPr indent="0" marL="0">
              <a:buNone/>
            </a:pPr>
            <a:r>
              <a:rPr lang="en-US" sz="2000" b="1" dirty="0">
                <a:solidFill>
                  <a:srgbClr val="8B7CF6"/>
                </a:solidFill>
                <a:latin typeface="Helvetica" pitchFamily="34" charset="0"/>
                <a:ea typeface="Helvetica" pitchFamily="34" charset="-122"/>
                <a:cs typeface="Helvetica" pitchFamily="34" charset="-120"/>
              </a:rPr>
              <a:t>claude</a:t>
            </a:r>
            <a:endParaRPr lang="en-US" sz="2000" dirty="0"/>
          </a:p>
        </p:txBody>
      </p:sp>
      <p:sp>
        <p:nvSpPr>
          <p:cNvPr id="4" name="Shape 2"/>
          <p:cNvSpPr/>
          <p:nvPr/>
        </p:nvSpPr>
        <p:spPr>
          <a:xfrm>
            <a:off x="9692640" y="457200"/>
            <a:ext cx="1965960" cy="457200"/>
          </a:xfrm>
          <a:prstGeom prst="roundRect">
            <a:avLst>
              <a:gd name="adj" fmla="val 20000"/>
            </a:avLst>
          </a:prstGeom>
          <a:solidFill>
            <a:srgbClr val="6849F6"/>
          </a:solidFill>
          <a:ln/>
        </p:spPr>
      </p:sp>
      <p:sp>
        <p:nvSpPr>
          <p:cNvPr id="5" name="Text 3"/>
          <p:cNvSpPr/>
          <p:nvPr/>
        </p:nvSpPr>
        <p:spPr>
          <a:xfrm>
            <a:off x="9692640" y="457200"/>
            <a:ext cx="196596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Helvetica" pitchFamily="34" charset="0"/>
                <a:ea typeface="Helvetica" pitchFamily="34" charset="-122"/>
                <a:cs typeface="Helvetica" pitchFamily="34" charset="-120"/>
              </a:rPr>
              <a:t>MODUL 6</a:t>
            </a:r>
            <a:endParaRPr lang="en-US" sz="1300" dirty="0"/>
          </a:p>
        </p:txBody>
      </p:sp>
      <p:sp>
        <p:nvSpPr>
          <p:cNvPr id="6" name="Text 4"/>
          <p:cNvSpPr/>
          <p:nvPr/>
        </p:nvSpPr>
        <p:spPr>
          <a:xfrm>
            <a:off x="640080" y="2468880"/>
            <a:ext cx="7315200" cy="1554480"/>
          </a:xfrm>
          <a:prstGeom prst="rect">
            <a:avLst/>
          </a:prstGeom>
          <a:noFill/>
          <a:ln/>
        </p:spPr>
        <p:txBody>
          <a:bodyPr wrap="square" lIns="0" tIns="0" rIns="0" bIns="0" rtlCol="0" anchor="t"/>
          <a:lstStyle/>
          <a:p>
            <a:pPr indent="0" marL="0">
              <a:lnSpc>
                <a:spcPts val="4600"/>
              </a:lnSpc>
              <a:buNone/>
            </a:pPr>
            <a:r>
              <a:rPr lang="en-US" sz="4000" b="1" dirty="0">
                <a:solidFill>
                  <a:srgbClr val="FFFFFF"/>
                </a:solidFill>
                <a:latin typeface="Helvetica" pitchFamily="34" charset="0"/>
                <a:ea typeface="Helvetica" pitchFamily="34" charset="-122"/>
                <a:cs typeface="Helvetica" pitchFamily="34" charset="-120"/>
              </a:rPr>
              <a:t>Dari Angka ke Grafik</a:t>
            </a:r>
            <a:endParaRPr lang="en-US" sz="4000" dirty="0"/>
          </a:p>
        </p:txBody>
      </p:sp>
      <p:sp>
        <p:nvSpPr>
          <p:cNvPr id="7" name="Text 5"/>
          <p:cNvSpPr/>
          <p:nvPr/>
        </p:nvSpPr>
        <p:spPr>
          <a:xfrm>
            <a:off x="640080" y="3977640"/>
            <a:ext cx="6949440" cy="822960"/>
          </a:xfrm>
          <a:prstGeom prst="rect">
            <a:avLst/>
          </a:prstGeom>
          <a:noFill/>
          <a:ln/>
        </p:spPr>
        <p:txBody>
          <a:bodyPr wrap="square" lIns="0" tIns="0" rIns="0" bIns="0" rtlCol="0" anchor="ctr"/>
          <a:lstStyle/>
          <a:p>
            <a:pPr indent="0" marL="0">
              <a:lnSpc>
                <a:spcPct val="130000"/>
              </a:lnSpc>
              <a:buNone/>
            </a:pPr>
            <a:r>
              <a:rPr lang="en-US" sz="1550" dirty="0">
                <a:solidFill>
                  <a:srgbClr val="B7C0D8"/>
                </a:solidFill>
                <a:latin typeface="Helvetica" pitchFamily="34" charset="0"/>
                <a:ea typeface="Helvetica" pitchFamily="34" charset="-122"/>
                <a:cs typeface="Helvetica" pitchFamily="34" charset="-120"/>
              </a:rPr>
              <a:t>Bikin chart langsung dari data pakai fitur Artifacts</a:t>
            </a:r>
            <a:endParaRPr lang="en-US" sz="1550" dirty="0"/>
          </a:p>
        </p:txBody>
      </p:sp>
      <p:sp>
        <p:nvSpPr>
          <p:cNvPr id="8" name="Text 6"/>
          <p:cNvSpPr/>
          <p:nvPr/>
        </p:nvSpPr>
        <p:spPr>
          <a:xfrm>
            <a:off x="640080" y="6263640"/>
            <a:ext cx="6858000" cy="320040"/>
          </a:xfrm>
          <a:prstGeom prst="rect">
            <a:avLst/>
          </a:prstGeom>
          <a:noFill/>
          <a:ln/>
        </p:spPr>
        <p:txBody>
          <a:bodyPr wrap="square" lIns="0" tIns="0" rIns="0" bIns="0" rtlCol="0" anchor="ctr"/>
          <a:lstStyle/>
          <a:p>
            <a:pPr indent="0" marL="0">
              <a:buNone/>
            </a:pPr>
            <a:r>
              <a:rPr lang="en-US" sz="1150" dirty="0">
                <a:solidFill>
                  <a:srgbClr val="9AA2B4"/>
                </a:solidFill>
                <a:latin typeface="Helvetica" pitchFamily="34" charset="0"/>
                <a:ea typeface="Helvetica" pitchFamily="34" charset="-122"/>
                <a:cs typeface="Helvetica" pitchFamily="34" charset="-120"/>
              </a:rPr>
              <a:t>Analisis Data &amp; Laporan · Studi Kasus Toko Roti Online</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60120"/>
          </a:xfrm>
          <a:prstGeom prst="rect">
            <a:avLst/>
          </a:prstGeom>
          <a:solidFill>
            <a:srgbClr val="0D1321"/>
          </a:solidFill>
          <a:ln/>
        </p:spPr>
      </p:sp>
      <p:sp>
        <p:nvSpPr>
          <p:cNvPr id="3" name="Shape 1"/>
          <p:cNvSpPr/>
          <p:nvPr/>
        </p:nvSpPr>
        <p:spPr>
          <a:xfrm>
            <a:off x="0" y="960120"/>
            <a:ext cx="12191695" cy="41148"/>
          </a:xfrm>
          <a:prstGeom prst="rect">
            <a:avLst/>
          </a:prstGeom>
          <a:solidFill>
            <a:srgbClr val="6849F6"/>
          </a:solidFill>
          <a:ln/>
        </p:spPr>
      </p:sp>
      <p:sp>
        <p:nvSpPr>
          <p:cNvPr id="4" name="Text 2"/>
          <p:cNvSpPr/>
          <p:nvPr/>
        </p:nvSpPr>
        <p:spPr>
          <a:xfrm>
            <a:off x="502920" y="256032"/>
            <a:ext cx="3657600" cy="457200"/>
          </a:xfrm>
          <a:prstGeom prst="rect">
            <a:avLst/>
          </a:prstGeom>
          <a:noFill/>
          <a:ln/>
        </p:spPr>
        <p:txBody>
          <a:bodyPr wrap="square" lIns="0" tIns="0" rIns="0" bIns="0" rtlCol="0" anchor="ctr"/>
          <a:lstStyle/>
          <a:p>
            <a:pPr indent="0" marL="0">
              <a:buNone/>
            </a:pPr>
            <a:r>
              <a:rPr lang="en-US" sz="2000" b="1" dirty="0">
                <a:solidFill>
                  <a:srgbClr val="FFFFFF"/>
                </a:solidFill>
                <a:latin typeface="Helvetica" pitchFamily="34" charset="0"/>
                <a:ea typeface="Helvetica" pitchFamily="34" charset="-122"/>
                <a:cs typeface="Helvetica" pitchFamily="34" charset="-120"/>
              </a:rPr>
              <a:t>belajar</a:t>
            </a:r>
            <a:pPr indent="0" marL="0">
              <a:buNone/>
            </a:pPr>
            <a:r>
              <a:rPr lang="en-US" sz="2000" b="1" dirty="0">
                <a:solidFill>
                  <a:srgbClr val="8B7CF6"/>
                </a:solidFill>
                <a:latin typeface="Helvetica" pitchFamily="34" charset="0"/>
                <a:ea typeface="Helvetica" pitchFamily="34" charset="-122"/>
                <a:cs typeface="Helvetica" pitchFamily="34" charset="-120"/>
              </a:rPr>
              <a:t>claude</a:t>
            </a:r>
            <a:endParaRPr lang="en-US" sz="2000" dirty="0"/>
          </a:p>
        </p:txBody>
      </p:sp>
      <p:sp>
        <p:nvSpPr>
          <p:cNvPr id="5" name="Text 3"/>
          <p:cNvSpPr/>
          <p:nvPr/>
        </p:nvSpPr>
        <p:spPr>
          <a:xfrm>
            <a:off x="5943600" y="274320"/>
            <a:ext cx="5760720" cy="411480"/>
          </a:xfrm>
          <a:prstGeom prst="rect">
            <a:avLst/>
          </a:prstGeom>
          <a:noFill/>
          <a:ln/>
        </p:spPr>
        <p:txBody>
          <a:bodyPr wrap="square" lIns="0" tIns="0" rIns="0" bIns="0" rtlCol="0" anchor="ctr"/>
          <a:lstStyle/>
          <a:p>
            <a:pPr algn="r" indent="0" marL="0">
              <a:buNone/>
            </a:pPr>
            <a:r>
              <a:rPr lang="en-US" sz="1250" dirty="0">
                <a:solidFill>
                  <a:srgbClr val="9AA2B4"/>
                </a:solidFill>
                <a:latin typeface="Helvetica" pitchFamily="34" charset="0"/>
                <a:ea typeface="Helvetica" pitchFamily="34" charset="-122"/>
                <a:cs typeface="Helvetica" pitchFamily="34" charset="-120"/>
              </a:rPr>
              <a:t>Modul 6 — Dari Angka ke Grafik</a:t>
            </a:r>
            <a:endParaRPr lang="en-US" sz="1250" dirty="0"/>
          </a:p>
        </p:txBody>
      </p:sp>
      <p:sp>
        <p:nvSpPr>
          <p:cNvPr id="6" name="Text 4"/>
          <p:cNvSpPr/>
          <p:nvPr/>
        </p:nvSpPr>
        <p:spPr>
          <a:xfrm>
            <a:off x="502920" y="1188720"/>
            <a:ext cx="11155680" cy="502920"/>
          </a:xfrm>
          <a:prstGeom prst="rect">
            <a:avLst/>
          </a:prstGeom>
          <a:noFill/>
          <a:ln/>
        </p:spPr>
        <p:txBody>
          <a:bodyPr wrap="square" lIns="0" tIns="0" rIns="0" bIns="0" rtlCol="0" anchor="ctr"/>
          <a:lstStyle/>
          <a:p>
            <a:pPr indent="0" marL="0">
              <a:buNone/>
            </a:pPr>
            <a:r>
              <a:rPr lang="en-US" sz="2200" b="1" dirty="0">
                <a:solidFill>
                  <a:srgbClr val="0D1321"/>
                </a:solidFill>
                <a:latin typeface="Helvetica" pitchFamily="34" charset="0"/>
                <a:ea typeface="Helvetica" pitchFamily="34" charset="-122"/>
                <a:cs typeface="Helvetica" pitchFamily="34" charset="-120"/>
              </a:rPr>
              <a:t>1. Nyalakan Fitur Artifacts Dulu (Cukup Sekali)</a:t>
            </a:r>
            <a:endParaRPr lang="en-US" sz="2200" dirty="0"/>
          </a:p>
        </p:txBody>
      </p:sp>
      <p:sp>
        <p:nvSpPr>
          <p:cNvPr id="7" name="Text 5"/>
          <p:cNvSpPr/>
          <p:nvPr/>
        </p:nvSpPr>
        <p:spPr>
          <a:xfrm>
            <a:off x="502920" y="1691640"/>
            <a:ext cx="11155680" cy="365760"/>
          </a:xfrm>
          <a:prstGeom prst="rect">
            <a:avLst/>
          </a:prstGeom>
          <a:noFill/>
          <a:ln/>
        </p:spPr>
        <p:txBody>
          <a:bodyPr wrap="square" lIns="0" tIns="0" rIns="0" bIns="0" rtlCol="0" anchor="ctr"/>
          <a:lstStyle/>
          <a:p>
            <a:pPr indent="0" marL="0">
              <a:buNone/>
            </a:pPr>
            <a:r>
              <a:rPr lang="en-US" sz="1300" dirty="0">
                <a:solidFill>
                  <a:srgbClr val="6B7280"/>
                </a:solidFill>
                <a:latin typeface="Helvetica" pitchFamily="34" charset="0"/>
                <a:ea typeface="Helvetica" pitchFamily="34" charset="-122"/>
                <a:cs typeface="Helvetica" pitchFamily="34" charset="-120"/>
              </a:rPr>
              <a:t>Sebelum bisa minta chart, pastikan fitur ini aktif — biasanya cuma perlu dilakukan sekali di awal.</a:t>
            </a:r>
            <a:endParaRPr lang="en-US" sz="1300" dirty="0"/>
          </a:p>
        </p:txBody>
      </p:sp>
      <p:sp>
        <p:nvSpPr>
          <p:cNvPr id="8" name="Shape 6"/>
          <p:cNvSpPr/>
          <p:nvPr/>
        </p:nvSpPr>
        <p:spPr>
          <a:xfrm>
            <a:off x="502920" y="2194560"/>
            <a:ext cx="3630168" cy="960120"/>
          </a:xfrm>
          <a:prstGeom prst="roundRect">
            <a:avLst>
              <a:gd name="adj" fmla="val 9524"/>
            </a:avLst>
          </a:prstGeom>
          <a:solidFill>
            <a:srgbClr val="F4F6FB"/>
          </a:solidFill>
          <a:ln w="12700">
            <a:solidFill>
              <a:srgbClr val="D6DCEB"/>
            </a:solidFill>
            <a:prstDash val="solid"/>
          </a:ln>
        </p:spPr>
      </p:sp>
      <p:sp>
        <p:nvSpPr>
          <p:cNvPr id="9" name="Shape 7"/>
          <p:cNvSpPr/>
          <p:nvPr/>
        </p:nvSpPr>
        <p:spPr>
          <a:xfrm>
            <a:off x="704088" y="2395728"/>
            <a:ext cx="384048" cy="384048"/>
          </a:xfrm>
          <a:prstGeom prst="ellipse">
            <a:avLst/>
          </a:prstGeom>
          <a:solidFill>
            <a:srgbClr val="6849F6"/>
          </a:solidFill>
          <a:ln/>
        </p:spPr>
      </p:sp>
      <p:sp>
        <p:nvSpPr>
          <p:cNvPr id="10" name="Text 8"/>
          <p:cNvSpPr/>
          <p:nvPr/>
        </p:nvSpPr>
        <p:spPr>
          <a:xfrm>
            <a:off x="704088" y="23957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Helvetica" pitchFamily="34" charset="0"/>
                <a:ea typeface="Helvetica" pitchFamily="34" charset="-122"/>
                <a:cs typeface="Helvetica" pitchFamily="34" charset="-120"/>
              </a:rPr>
              <a:t>1</a:t>
            </a:r>
            <a:endParaRPr lang="en-US" sz="1400" dirty="0"/>
          </a:p>
        </p:txBody>
      </p:sp>
      <p:sp>
        <p:nvSpPr>
          <p:cNvPr id="11" name="Text 9"/>
          <p:cNvSpPr/>
          <p:nvPr/>
        </p:nvSpPr>
        <p:spPr>
          <a:xfrm>
            <a:off x="704088" y="2852928"/>
            <a:ext cx="3227832" cy="320040"/>
          </a:xfrm>
          <a:prstGeom prst="rect">
            <a:avLst/>
          </a:prstGeom>
          <a:noFill/>
          <a:ln/>
        </p:spPr>
        <p:txBody>
          <a:bodyPr wrap="square" lIns="0" tIns="0" rIns="0" bIns="0" rtlCol="0" anchor="ctr"/>
          <a:lstStyle/>
          <a:p>
            <a:pPr indent="0" marL="0">
              <a:lnSpc>
                <a:spcPct val="115000"/>
              </a:lnSpc>
              <a:buNone/>
            </a:pPr>
            <a:r>
              <a:rPr lang="en-US" sz="1100" dirty="0">
                <a:solidFill>
                  <a:srgbClr val="23283A"/>
                </a:solidFill>
                <a:latin typeface="Helvetica" pitchFamily="34" charset="0"/>
                <a:ea typeface="Helvetica" pitchFamily="34" charset="-122"/>
                <a:cs typeface="Helvetica" pitchFamily="34" charset="-120"/>
              </a:rPr>
              <a:t>Klik nama/inisial kamu di pojok kiri bawah</a:t>
            </a:r>
            <a:endParaRPr lang="en-US" sz="1100" dirty="0"/>
          </a:p>
        </p:txBody>
      </p:sp>
      <p:sp>
        <p:nvSpPr>
          <p:cNvPr id="12" name="Shape 10"/>
          <p:cNvSpPr/>
          <p:nvPr/>
        </p:nvSpPr>
        <p:spPr>
          <a:xfrm>
            <a:off x="4288536" y="2194560"/>
            <a:ext cx="3630168" cy="960120"/>
          </a:xfrm>
          <a:prstGeom prst="roundRect">
            <a:avLst>
              <a:gd name="adj" fmla="val 9524"/>
            </a:avLst>
          </a:prstGeom>
          <a:solidFill>
            <a:srgbClr val="F4F6FB"/>
          </a:solidFill>
          <a:ln w="12700">
            <a:solidFill>
              <a:srgbClr val="D6DCEB"/>
            </a:solidFill>
            <a:prstDash val="solid"/>
          </a:ln>
        </p:spPr>
      </p:sp>
      <p:sp>
        <p:nvSpPr>
          <p:cNvPr id="13" name="Shape 11"/>
          <p:cNvSpPr/>
          <p:nvPr/>
        </p:nvSpPr>
        <p:spPr>
          <a:xfrm>
            <a:off x="4489704" y="2395728"/>
            <a:ext cx="384048" cy="384048"/>
          </a:xfrm>
          <a:prstGeom prst="ellipse">
            <a:avLst/>
          </a:prstGeom>
          <a:solidFill>
            <a:srgbClr val="6849F6"/>
          </a:solidFill>
          <a:ln/>
        </p:spPr>
      </p:sp>
      <p:sp>
        <p:nvSpPr>
          <p:cNvPr id="14" name="Text 12"/>
          <p:cNvSpPr/>
          <p:nvPr/>
        </p:nvSpPr>
        <p:spPr>
          <a:xfrm>
            <a:off x="4489704" y="23957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Helvetica" pitchFamily="34" charset="0"/>
                <a:ea typeface="Helvetica" pitchFamily="34" charset="-122"/>
                <a:cs typeface="Helvetica" pitchFamily="34" charset="-120"/>
              </a:rPr>
              <a:t>2</a:t>
            </a:r>
            <a:endParaRPr lang="en-US" sz="1400" dirty="0"/>
          </a:p>
        </p:txBody>
      </p:sp>
      <p:sp>
        <p:nvSpPr>
          <p:cNvPr id="15" name="Text 13"/>
          <p:cNvSpPr/>
          <p:nvPr/>
        </p:nvSpPr>
        <p:spPr>
          <a:xfrm>
            <a:off x="4489704" y="2852928"/>
            <a:ext cx="3227832" cy="320040"/>
          </a:xfrm>
          <a:prstGeom prst="rect">
            <a:avLst/>
          </a:prstGeom>
          <a:noFill/>
          <a:ln/>
        </p:spPr>
        <p:txBody>
          <a:bodyPr wrap="square" lIns="0" tIns="0" rIns="0" bIns="0" rtlCol="0" anchor="ctr"/>
          <a:lstStyle/>
          <a:p>
            <a:pPr indent="0" marL="0">
              <a:lnSpc>
                <a:spcPct val="115000"/>
              </a:lnSpc>
              <a:buNone/>
            </a:pPr>
            <a:r>
              <a:rPr lang="en-US" sz="1100" dirty="0">
                <a:solidFill>
                  <a:srgbClr val="23283A"/>
                </a:solidFill>
                <a:latin typeface="Helvetica" pitchFamily="34" charset="0"/>
                <a:ea typeface="Helvetica" pitchFamily="34" charset="-122"/>
                <a:cs typeface="Helvetica" pitchFamily="34" charset="-120"/>
              </a:rPr>
              <a:t>Buka Settings → Capabilities</a:t>
            </a:r>
            <a:endParaRPr lang="en-US" sz="1100" dirty="0"/>
          </a:p>
        </p:txBody>
      </p:sp>
      <p:sp>
        <p:nvSpPr>
          <p:cNvPr id="16" name="Shape 14"/>
          <p:cNvSpPr/>
          <p:nvPr/>
        </p:nvSpPr>
        <p:spPr>
          <a:xfrm>
            <a:off x="8074152" y="2194560"/>
            <a:ext cx="3630168" cy="960120"/>
          </a:xfrm>
          <a:prstGeom prst="roundRect">
            <a:avLst>
              <a:gd name="adj" fmla="val 9524"/>
            </a:avLst>
          </a:prstGeom>
          <a:solidFill>
            <a:srgbClr val="F4F6FB"/>
          </a:solidFill>
          <a:ln w="12700">
            <a:solidFill>
              <a:srgbClr val="D6DCEB"/>
            </a:solidFill>
            <a:prstDash val="solid"/>
          </a:ln>
        </p:spPr>
      </p:sp>
      <p:sp>
        <p:nvSpPr>
          <p:cNvPr id="17" name="Shape 15"/>
          <p:cNvSpPr/>
          <p:nvPr/>
        </p:nvSpPr>
        <p:spPr>
          <a:xfrm>
            <a:off x="8275320" y="2395728"/>
            <a:ext cx="384048" cy="384048"/>
          </a:xfrm>
          <a:prstGeom prst="ellipse">
            <a:avLst/>
          </a:prstGeom>
          <a:solidFill>
            <a:srgbClr val="6849F6"/>
          </a:solidFill>
          <a:ln/>
        </p:spPr>
      </p:sp>
      <p:sp>
        <p:nvSpPr>
          <p:cNvPr id="18" name="Text 16"/>
          <p:cNvSpPr/>
          <p:nvPr/>
        </p:nvSpPr>
        <p:spPr>
          <a:xfrm>
            <a:off x="8275320" y="23957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Helvetica" pitchFamily="34" charset="0"/>
                <a:ea typeface="Helvetica" pitchFamily="34" charset="-122"/>
                <a:cs typeface="Helvetica" pitchFamily="34" charset="-120"/>
              </a:rPr>
              <a:t>3</a:t>
            </a:r>
            <a:endParaRPr lang="en-US" sz="1400" dirty="0"/>
          </a:p>
        </p:txBody>
      </p:sp>
      <p:sp>
        <p:nvSpPr>
          <p:cNvPr id="19" name="Text 17"/>
          <p:cNvSpPr/>
          <p:nvPr/>
        </p:nvSpPr>
        <p:spPr>
          <a:xfrm>
            <a:off x="8275320" y="2852928"/>
            <a:ext cx="3227832" cy="320040"/>
          </a:xfrm>
          <a:prstGeom prst="rect">
            <a:avLst/>
          </a:prstGeom>
          <a:noFill/>
          <a:ln/>
        </p:spPr>
        <p:txBody>
          <a:bodyPr wrap="square" lIns="0" tIns="0" rIns="0" bIns="0" rtlCol="0" anchor="ctr"/>
          <a:lstStyle/>
          <a:p>
            <a:pPr indent="0" marL="0">
              <a:lnSpc>
                <a:spcPct val="115000"/>
              </a:lnSpc>
              <a:buNone/>
            </a:pPr>
            <a:r>
              <a:rPr lang="en-US" sz="1100" dirty="0">
                <a:solidFill>
                  <a:srgbClr val="23283A"/>
                </a:solidFill>
                <a:latin typeface="Helvetica" pitchFamily="34" charset="0"/>
                <a:ea typeface="Helvetica" pitchFamily="34" charset="-122"/>
                <a:cs typeface="Helvetica" pitchFamily="34" charset="-120"/>
              </a:rPr>
              <a:t>Aktifkan toggle “Code execution and file creation”</a:t>
            </a:r>
            <a:endParaRPr lang="en-US" sz="1100" dirty="0"/>
          </a:p>
        </p:txBody>
      </p:sp>
      <p:sp>
        <p:nvSpPr>
          <p:cNvPr id="20" name="Text 18"/>
          <p:cNvSpPr/>
          <p:nvPr/>
        </p:nvSpPr>
        <p:spPr>
          <a:xfrm>
            <a:off x="502920" y="3429000"/>
            <a:ext cx="11155680" cy="502920"/>
          </a:xfrm>
          <a:prstGeom prst="rect">
            <a:avLst/>
          </a:prstGeom>
          <a:noFill/>
          <a:ln/>
        </p:spPr>
        <p:txBody>
          <a:bodyPr wrap="square" lIns="0" tIns="0" rIns="0" bIns="0" rtlCol="0" anchor="ctr"/>
          <a:lstStyle/>
          <a:p>
            <a:pPr indent="0" marL="0">
              <a:buNone/>
            </a:pPr>
            <a:r>
              <a:rPr lang="en-US" sz="2200" b="1" dirty="0">
                <a:solidFill>
                  <a:srgbClr val="0D1321"/>
                </a:solidFill>
                <a:latin typeface="Helvetica" pitchFamily="34" charset="0"/>
                <a:ea typeface="Helvetica" pitchFamily="34" charset="-122"/>
                <a:cs typeface="Helvetica" pitchFamily="34" charset="-120"/>
              </a:rPr>
              <a:t>2. Formula Prompt untuk Minta Chart</a:t>
            </a:r>
            <a:endParaRPr lang="en-US" sz="2200" dirty="0"/>
          </a:p>
        </p:txBody>
      </p:sp>
      <p:sp>
        <p:nvSpPr>
          <p:cNvPr id="21" name="Shape 19"/>
          <p:cNvSpPr/>
          <p:nvPr/>
        </p:nvSpPr>
        <p:spPr>
          <a:xfrm>
            <a:off x="502920" y="3931920"/>
            <a:ext cx="11201400" cy="548640"/>
          </a:xfrm>
          <a:prstGeom prst="roundRect">
            <a:avLst>
              <a:gd name="adj" fmla="val 13333"/>
            </a:avLst>
          </a:prstGeom>
          <a:solidFill>
            <a:srgbClr val="F3F0FF"/>
          </a:solidFill>
          <a:ln w="12700">
            <a:solidFill>
              <a:srgbClr val="DCD3FB"/>
            </a:solidFill>
            <a:prstDash val="solid"/>
          </a:ln>
        </p:spPr>
      </p:sp>
      <p:sp>
        <p:nvSpPr>
          <p:cNvPr id="22" name="Text 20"/>
          <p:cNvSpPr/>
          <p:nvPr/>
        </p:nvSpPr>
        <p:spPr>
          <a:xfrm>
            <a:off x="777240" y="4059936"/>
            <a:ext cx="10652760" cy="256032"/>
          </a:xfrm>
          <a:prstGeom prst="rect">
            <a:avLst/>
          </a:prstGeom>
          <a:noFill/>
          <a:ln/>
        </p:spPr>
        <p:txBody>
          <a:bodyPr wrap="square" lIns="0" tIns="0" rIns="0" bIns="0" rtlCol="0" anchor="ctr"/>
          <a:lstStyle/>
          <a:p>
            <a:pPr indent="0" marL="0">
              <a:buNone/>
            </a:pPr>
            <a:r>
              <a:rPr lang="en-US" sz="1100" b="1" spc="30" kern="0" dirty="0">
                <a:solidFill>
                  <a:srgbClr val="4B36C7"/>
                </a:solidFill>
                <a:latin typeface="Helvetica" pitchFamily="34" charset="0"/>
                <a:ea typeface="Helvetica" pitchFamily="34" charset="-122"/>
                <a:cs typeface="Helvetica" pitchFamily="34" charset="-120"/>
              </a:rPr>
              <a:t>◆ FORMULA PROMPT</a:t>
            </a:r>
            <a:endParaRPr lang="en-US" sz="1100" dirty="0"/>
          </a:p>
        </p:txBody>
      </p:sp>
      <p:sp>
        <p:nvSpPr>
          <p:cNvPr id="23" name="Text 21"/>
          <p:cNvSpPr/>
          <p:nvPr/>
        </p:nvSpPr>
        <p:spPr>
          <a:xfrm>
            <a:off x="777240" y="4315968"/>
            <a:ext cx="10652760" cy="54864"/>
          </a:xfrm>
          <a:prstGeom prst="rect">
            <a:avLst/>
          </a:prstGeom>
          <a:noFill/>
          <a:ln/>
        </p:spPr>
        <p:txBody>
          <a:bodyPr wrap="square" lIns="0" tIns="0" rIns="0" bIns="0" rtlCol="0" anchor="t"/>
          <a:lstStyle/>
          <a:p>
            <a:pPr indent="0" marL="0">
              <a:lnSpc>
                <a:spcPct val="120000"/>
              </a:lnSpc>
              <a:buNone/>
            </a:pPr>
            <a:r>
              <a:rPr lang="en-US" sz="1200" dirty="0">
                <a:solidFill>
                  <a:srgbClr val="23283A"/>
                </a:solidFill>
                <a:latin typeface="Helvetica" pitchFamily="34" charset="0"/>
                <a:ea typeface="Helvetica" pitchFamily="34" charset="-122"/>
                <a:cs typeface="Helvetica" pitchFamily="34" charset="-120"/>
              </a:rPr>
              <a:t>[Jenis Chart] + [Data yang Mau Divisualisasikan] + [Apa yang Perlu Di-highlight]</a:t>
            </a:r>
            <a:endParaRPr lang="en-US" sz="1200" dirty="0"/>
          </a:p>
        </p:txBody>
      </p:sp>
      <p:sp>
        <p:nvSpPr>
          <p:cNvPr id="24" name="Shape 22"/>
          <p:cNvSpPr/>
          <p:nvPr/>
        </p:nvSpPr>
        <p:spPr>
          <a:xfrm>
            <a:off x="502920" y="4663440"/>
            <a:ext cx="11201400" cy="868680"/>
          </a:xfrm>
          <a:prstGeom prst="roundRect">
            <a:avLst>
              <a:gd name="adj" fmla="val 8421"/>
            </a:avLst>
          </a:prstGeom>
          <a:solidFill>
            <a:srgbClr val="0D1321"/>
          </a:solidFill>
          <a:ln/>
        </p:spPr>
      </p:sp>
      <p:sp>
        <p:nvSpPr>
          <p:cNvPr id="25" name="Text 23"/>
          <p:cNvSpPr/>
          <p:nvPr/>
        </p:nvSpPr>
        <p:spPr>
          <a:xfrm>
            <a:off x="731520" y="4663440"/>
            <a:ext cx="10744200" cy="868680"/>
          </a:xfrm>
          <a:prstGeom prst="rect">
            <a:avLst/>
          </a:prstGeom>
          <a:noFill/>
          <a:ln/>
        </p:spPr>
        <p:txBody>
          <a:bodyPr wrap="square" lIns="0" tIns="0" rIns="0" bIns="0" rtlCol="0" anchor="ctr"/>
          <a:lstStyle/>
          <a:p>
            <a:pPr indent="0" marL="0">
              <a:lnSpc>
                <a:spcPct val="130000"/>
              </a:lnSpc>
              <a:buNone/>
            </a:pPr>
            <a:r>
              <a:rPr lang="en-US" sz="1250" i="1" dirty="0">
                <a:solidFill>
                  <a:srgbClr val="FFFFFF"/>
                </a:solidFill>
                <a:latin typeface="Helvetica" pitchFamily="34" charset="0"/>
                <a:ea typeface="Helvetica" pitchFamily="34" charset="-122"/>
                <a:cs typeface="Helvetica" pitchFamily="34" charset="-120"/>
              </a:rPr>
              <a:t>Buatkan line chart penjualan mingguan tiap produk dari Mei ke Juni. Kasih tanda di titik waktu Roti Sobek Keju dan Brownies mulai turun tajam.</a:t>
            </a:r>
            <a:endParaRPr lang="en-US" sz="1250" dirty="0"/>
          </a:p>
        </p:txBody>
      </p:sp>
      <p:sp>
        <p:nvSpPr>
          <p:cNvPr id="26" name="Text 24"/>
          <p:cNvSpPr/>
          <p:nvPr/>
        </p:nvSpPr>
        <p:spPr>
          <a:xfrm>
            <a:off x="502920" y="5669280"/>
            <a:ext cx="11201400" cy="457200"/>
          </a:xfrm>
          <a:prstGeom prst="rect">
            <a:avLst/>
          </a:prstGeom>
          <a:noFill/>
          <a:ln/>
        </p:spPr>
        <p:txBody>
          <a:bodyPr wrap="square" lIns="0" tIns="0" rIns="0" bIns="0" rtlCol="0" anchor="ctr"/>
          <a:lstStyle/>
          <a:p>
            <a:pPr indent="0" marL="0">
              <a:lnSpc>
                <a:spcPct val="120000"/>
              </a:lnSpc>
              <a:buNone/>
            </a:pPr>
            <a:r>
              <a:rPr lang="en-US" sz="1150" i="1" dirty="0">
                <a:solidFill>
                  <a:srgbClr val="6B7280"/>
                </a:solidFill>
                <a:latin typeface="Helvetica" pitchFamily="34" charset="0"/>
                <a:ea typeface="Helvetica" pitchFamily="34" charset="-122"/>
                <a:cs typeface="Helvetica" pitchFamily="34" charset="-120"/>
              </a:rPr>
              <a:t>Karena chart itu berbasis kode dan berdiri sendiri, Claude otomatis membukanya di panel Artifacts — kamu nggak perlu minta “buatkan di Artifacts” secara terpisah.</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60120"/>
          </a:xfrm>
          <a:prstGeom prst="rect">
            <a:avLst/>
          </a:prstGeom>
          <a:solidFill>
            <a:srgbClr val="0D1321"/>
          </a:solidFill>
          <a:ln/>
        </p:spPr>
      </p:sp>
      <p:sp>
        <p:nvSpPr>
          <p:cNvPr id="3" name="Shape 1"/>
          <p:cNvSpPr/>
          <p:nvPr/>
        </p:nvSpPr>
        <p:spPr>
          <a:xfrm>
            <a:off x="0" y="960120"/>
            <a:ext cx="12191695" cy="41148"/>
          </a:xfrm>
          <a:prstGeom prst="rect">
            <a:avLst/>
          </a:prstGeom>
          <a:solidFill>
            <a:srgbClr val="6849F6"/>
          </a:solidFill>
          <a:ln/>
        </p:spPr>
      </p:sp>
      <p:sp>
        <p:nvSpPr>
          <p:cNvPr id="4" name="Text 2"/>
          <p:cNvSpPr/>
          <p:nvPr/>
        </p:nvSpPr>
        <p:spPr>
          <a:xfrm>
            <a:off x="502920" y="256032"/>
            <a:ext cx="3657600" cy="457200"/>
          </a:xfrm>
          <a:prstGeom prst="rect">
            <a:avLst/>
          </a:prstGeom>
          <a:noFill/>
          <a:ln/>
        </p:spPr>
        <p:txBody>
          <a:bodyPr wrap="square" lIns="0" tIns="0" rIns="0" bIns="0" rtlCol="0" anchor="ctr"/>
          <a:lstStyle/>
          <a:p>
            <a:pPr indent="0" marL="0">
              <a:buNone/>
            </a:pPr>
            <a:r>
              <a:rPr lang="en-US" sz="2000" b="1" dirty="0">
                <a:solidFill>
                  <a:srgbClr val="FFFFFF"/>
                </a:solidFill>
                <a:latin typeface="Helvetica" pitchFamily="34" charset="0"/>
                <a:ea typeface="Helvetica" pitchFamily="34" charset="-122"/>
                <a:cs typeface="Helvetica" pitchFamily="34" charset="-120"/>
              </a:rPr>
              <a:t>belajar</a:t>
            </a:r>
            <a:pPr indent="0" marL="0">
              <a:buNone/>
            </a:pPr>
            <a:r>
              <a:rPr lang="en-US" sz="2000" b="1" dirty="0">
                <a:solidFill>
                  <a:srgbClr val="8B7CF6"/>
                </a:solidFill>
                <a:latin typeface="Helvetica" pitchFamily="34" charset="0"/>
                <a:ea typeface="Helvetica" pitchFamily="34" charset="-122"/>
                <a:cs typeface="Helvetica" pitchFamily="34" charset="-120"/>
              </a:rPr>
              <a:t>claude</a:t>
            </a:r>
            <a:endParaRPr lang="en-US" sz="2000" dirty="0"/>
          </a:p>
        </p:txBody>
      </p:sp>
      <p:sp>
        <p:nvSpPr>
          <p:cNvPr id="5" name="Text 3"/>
          <p:cNvSpPr/>
          <p:nvPr/>
        </p:nvSpPr>
        <p:spPr>
          <a:xfrm>
            <a:off x="5943600" y="274320"/>
            <a:ext cx="5760720" cy="411480"/>
          </a:xfrm>
          <a:prstGeom prst="rect">
            <a:avLst/>
          </a:prstGeom>
          <a:noFill/>
          <a:ln/>
        </p:spPr>
        <p:txBody>
          <a:bodyPr wrap="square" lIns="0" tIns="0" rIns="0" bIns="0" rtlCol="0" anchor="ctr"/>
          <a:lstStyle/>
          <a:p>
            <a:pPr algn="r" indent="0" marL="0">
              <a:buNone/>
            </a:pPr>
            <a:r>
              <a:rPr lang="en-US" sz="1250" dirty="0">
                <a:solidFill>
                  <a:srgbClr val="9AA2B4"/>
                </a:solidFill>
                <a:latin typeface="Helvetica" pitchFamily="34" charset="0"/>
                <a:ea typeface="Helvetica" pitchFamily="34" charset="-122"/>
                <a:cs typeface="Helvetica" pitchFamily="34" charset="-120"/>
              </a:rPr>
              <a:t>Modul 6 — Dari Angka ke Grafik</a:t>
            </a:r>
            <a:endParaRPr lang="en-US" sz="1250" dirty="0"/>
          </a:p>
        </p:txBody>
      </p:sp>
      <p:sp>
        <p:nvSpPr>
          <p:cNvPr id="6" name="Text 4"/>
          <p:cNvSpPr/>
          <p:nvPr/>
        </p:nvSpPr>
        <p:spPr>
          <a:xfrm>
            <a:off x="502920" y="1188720"/>
            <a:ext cx="11155680" cy="502920"/>
          </a:xfrm>
          <a:prstGeom prst="rect">
            <a:avLst/>
          </a:prstGeom>
          <a:noFill/>
          <a:ln/>
        </p:spPr>
        <p:txBody>
          <a:bodyPr wrap="square" lIns="0" tIns="0" rIns="0" bIns="0" rtlCol="0" anchor="ctr"/>
          <a:lstStyle/>
          <a:p>
            <a:pPr indent="0" marL="0">
              <a:buNone/>
            </a:pPr>
            <a:r>
              <a:rPr lang="en-US" sz="2200" b="1" dirty="0">
                <a:solidFill>
                  <a:srgbClr val="0D1321"/>
                </a:solidFill>
                <a:latin typeface="Helvetica" pitchFamily="34" charset="0"/>
                <a:ea typeface="Helvetica" pitchFamily="34" charset="-122"/>
                <a:cs typeface="Helvetica" pitchFamily="34" charset="-120"/>
              </a:rPr>
              <a:t>3. Iterasi Tanpa Perlu Mulai dari Nol</a:t>
            </a:r>
            <a:endParaRPr lang="en-US" sz="2200" dirty="0"/>
          </a:p>
        </p:txBody>
      </p:sp>
      <p:sp>
        <p:nvSpPr>
          <p:cNvPr id="7" name="Text 5"/>
          <p:cNvSpPr/>
          <p:nvPr/>
        </p:nvSpPr>
        <p:spPr>
          <a:xfrm>
            <a:off x="502920" y="1691640"/>
            <a:ext cx="11155680" cy="320040"/>
          </a:xfrm>
          <a:prstGeom prst="rect">
            <a:avLst/>
          </a:prstGeom>
          <a:noFill/>
          <a:ln/>
        </p:spPr>
        <p:txBody>
          <a:bodyPr wrap="square" lIns="0" tIns="0" rIns="0" bIns="0" rtlCol="0" anchor="ctr"/>
          <a:lstStyle/>
          <a:p>
            <a:pPr indent="0" marL="0">
              <a:buNone/>
            </a:pPr>
            <a:r>
              <a:rPr lang="en-US" sz="1300" dirty="0">
                <a:solidFill>
                  <a:srgbClr val="6B7280"/>
                </a:solidFill>
                <a:latin typeface="Helvetica" pitchFamily="34" charset="0"/>
                <a:ea typeface="Helvetica" pitchFamily="34" charset="-122"/>
                <a:cs typeface="Helvetica" pitchFamily="34" charset="-120"/>
              </a:rPr>
              <a:t>Kalau chart-nya belum pas, cukup minta revisi langsung:</a:t>
            </a:r>
            <a:endParaRPr lang="en-US" sz="1300" dirty="0"/>
          </a:p>
        </p:txBody>
      </p:sp>
      <p:sp>
        <p:nvSpPr>
          <p:cNvPr id="8" name="Shape 6"/>
          <p:cNvSpPr/>
          <p:nvPr/>
        </p:nvSpPr>
        <p:spPr>
          <a:xfrm>
            <a:off x="502920" y="2148840"/>
            <a:ext cx="3538728" cy="1371600"/>
          </a:xfrm>
          <a:prstGeom prst="roundRect">
            <a:avLst>
              <a:gd name="adj" fmla="val 6667"/>
            </a:avLst>
          </a:prstGeom>
          <a:solidFill>
            <a:srgbClr val="F4F6FB"/>
          </a:solidFill>
          <a:ln w="12700">
            <a:solidFill>
              <a:srgbClr val="D6DCEB"/>
            </a:solidFill>
            <a:prstDash val="solid"/>
          </a:ln>
        </p:spPr>
      </p:sp>
      <p:sp>
        <p:nvSpPr>
          <p:cNvPr id="9" name="Text 7"/>
          <p:cNvSpPr/>
          <p:nvPr/>
        </p:nvSpPr>
        <p:spPr>
          <a:xfrm>
            <a:off x="704088" y="2331720"/>
            <a:ext cx="3136392" cy="457200"/>
          </a:xfrm>
          <a:prstGeom prst="rect">
            <a:avLst/>
          </a:prstGeom>
          <a:noFill/>
          <a:ln/>
        </p:spPr>
        <p:txBody>
          <a:bodyPr wrap="square" lIns="0" tIns="0" rIns="0" bIns="0" rtlCol="0" anchor="ctr"/>
          <a:lstStyle/>
          <a:p>
            <a:pPr indent="0" marL="0">
              <a:lnSpc>
                <a:spcPct val="115000"/>
              </a:lnSpc>
              <a:buNone/>
            </a:pPr>
            <a:r>
              <a:rPr lang="en-US" sz="1300" b="1" dirty="0">
                <a:solidFill>
                  <a:srgbClr val="4B36C7"/>
                </a:solidFill>
                <a:latin typeface="Helvetica" pitchFamily="34" charset="0"/>
                <a:ea typeface="Helvetica" pitchFamily="34" charset="-122"/>
                <a:cs typeface="Helvetica" pitchFamily="34" charset="-120"/>
              </a:rPr>
              <a:t>“Ganti jadi bar chart”</a:t>
            </a:r>
            <a:endParaRPr lang="en-US" sz="1300" dirty="0"/>
          </a:p>
        </p:txBody>
      </p:sp>
      <p:sp>
        <p:nvSpPr>
          <p:cNvPr id="10" name="Text 8"/>
          <p:cNvSpPr/>
          <p:nvPr/>
        </p:nvSpPr>
        <p:spPr>
          <a:xfrm>
            <a:off x="704088" y="2807208"/>
            <a:ext cx="3136392" cy="640080"/>
          </a:xfrm>
          <a:prstGeom prst="rect">
            <a:avLst/>
          </a:prstGeom>
          <a:noFill/>
          <a:ln/>
        </p:spPr>
        <p:txBody>
          <a:bodyPr wrap="square" lIns="0" tIns="0" rIns="0" bIns="0" rtlCol="0" anchor="ctr"/>
          <a:lstStyle/>
          <a:p>
            <a:pPr indent="0" marL="0">
              <a:lnSpc>
                <a:spcPct val="122000"/>
              </a:lnSpc>
              <a:buNone/>
            </a:pPr>
            <a:r>
              <a:rPr lang="en-US" sz="1150" dirty="0">
                <a:solidFill>
                  <a:srgbClr val="6B7280"/>
                </a:solidFill>
                <a:latin typeface="Helvetica" pitchFamily="34" charset="0"/>
                <a:ea typeface="Helvetica" pitchFamily="34" charset="-122"/>
                <a:cs typeface="Helvetica" pitchFamily="34" charset="-120"/>
              </a:rPr>
              <a:t>Ganti jenis chart tanpa mengulang data dari awal</a:t>
            </a:r>
            <a:endParaRPr lang="en-US" sz="1150" dirty="0"/>
          </a:p>
        </p:txBody>
      </p:sp>
      <p:sp>
        <p:nvSpPr>
          <p:cNvPr id="11" name="Shape 9"/>
          <p:cNvSpPr/>
          <p:nvPr/>
        </p:nvSpPr>
        <p:spPr>
          <a:xfrm>
            <a:off x="4334256" y="2148840"/>
            <a:ext cx="3538728" cy="1371600"/>
          </a:xfrm>
          <a:prstGeom prst="roundRect">
            <a:avLst>
              <a:gd name="adj" fmla="val 6667"/>
            </a:avLst>
          </a:prstGeom>
          <a:solidFill>
            <a:srgbClr val="F4F6FB"/>
          </a:solidFill>
          <a:ln w="12700">
            <a:solidFill>
              <a:srgbClr val="D6DCEB"/>
            </a:solidFill>
            <a:prstDash val="solid"/>
          </a:ln>
        </p:spPr>
      </p:sp>
      <p:sp>
        <p:nvSpPr>
          <p:cNvPr id="12" name="Text 10"/>
          <p:cNvSpPr/>
          <p:nvPr/>
        </p:nvSpPr>
        <p:spPr>
          <a:xfrm>
            <a:off x="4535424" y="2331720"/>
            <a:ext cx="3136392" cy="457200"/>
          </a:xfrm>
          <a:prstGeom prst="rect">
            <a:avLst/>
          </a:prstGeom>
          <a:noFill/>
          <a:ln/>
        </p:spPr>
        <p:txBody>
          <a:bodyPr wrap="square" lIns="0" tIns="0" rIns="0" bIns="0" rtlCol="0" anchor="ctr"/>
          <a:lstStyle/>
          <a:p>
            <a:pPr indent="0" marL="0">
              <a:lnSpc>
                <a:spcPct val="115000"/>
              </a:lnSpc>
              <a:buNone/>
            </a:pPr>
            <a:r>
              <a:rPr lang="en-US" sz="1300" b="1" dirty="0">
                <a:solidFill>
                  <a:srgbClr val="4B36C7"/>
                </a:solidFill>
                <a:latin typeface="Helvetica" pitchFamily="34" charset="0"/>
                <a:ea typeface="Helvetica" pitchFamily="34" charset="-122"/>
                <a:cs typeface="Helvetica" pitchFamily="34" charset="-120"/>
              </a:rPr>
              <a:t>“Warnanya kurang kontras”</a:t>
            </a:r>
            <a:endParaRPr lang="en-US" sz="1300" dirty="0"/>
          </a:p>
        </p:txBody>
      </p:sp>
      <p:sp>
        <p:nvSpPr>
          <p:cNvPr id="13" name="Text 11"/>
          <p:cNvSpPr/>
          <p:nvPr/>
        </p:nvSpPr>
        <p:spPr>
          <a:xfrm>
            <a:off x="4535424" y="2807208"/>
            <a:ext cx="3136392" cy="640080"/>
          </a:xfrm>
          <a:prstGeom prst="rect">
            <a:avLst/>
          </a:prstGeom>
          <a:noFill/>
          <a:ln/>
        </p:spPr>
        <p:txBody>
          <a:bodyPr wrap="square" lIns="0" tIns="0" rIns="0" bIns="0" rtlCol="0" anchor="ctr"/>
          <a:lstStyle/>
          <a:p>
            <a:pPr indent="0" marL="0">
              <a:lnSpc>
                <a:spcPct val="122000"/>
              </a:lnSpc>
              <a:buNone/>
            </a:pPr>
            <a:r>
              <a:rPr lang="en-US" sz="1150" dirty="0">
                <a:solidFill>
                  <a:srgbClr val="6B7280"/>
                </a:solidFill>
                <a:latin typeface="Helvetica" pitchFamily="34" charset="0"/>
                <a:ea typeface="Helvetica" pitchFamily="34" charset="-122"/>
                <a:cs typeface="Helvetica" pitchFamily="34" charset="-120"/>
              </a:rPr>
              <a:t>Perbaiki tampilan visual saja</a:t>
            </a:r>
            <a:endParaRPr lang="en-US" sz="1150" dirty="0"/>
          </a:p>
        </p:txBody>
      </p:sp>
      <p:sp>
        <p:nvSpPr>
          <p:cNvPr id="14" name="Shape 12"/>
          <p:cNvSpPr/>
          <p:nvPr/>
        </p:nvSpPr>
        <p:spPr>
          <a:xfrm>
            <a:off x="8165592" y="2148840"/>
            <a:ext cx="3538728" cy="1371600"/>
          </a:xfrm>
          <a:prstGeom prst="roundRect">
            <a:avLst>
              <a:gd name="adj" fmla="val 6667"/>
            </a:avLst>
          </a:prstGeom>
          <a:solidFill>
            <a:srgbClr val="F4F6FB"/>
          </a:solidFill>
          <a:ln w="12700">
            <a:solidFill>
              <a:srgbClr val="D6DCEB"/>
            </a:solidFill>
            <a:prstDash val="solid"/>
          </a:ln>
        </p:spPr>
      </p:sp>
      <p:sp>
        <p:nvSpPr>
          <p:cNvPr id="15" name="Text 13"/>
          <p:cNvSpPr/>
          <p:nvPr/>
        </p:nvSpPr>
        <p:spPr>
          <a:xfrm>
            <a:off x="8366760" y="2331720"/>
            <a:ext cx="3136392" cy="457200"/>
          </a:xfrm>
          <a:prstGeom prst="rect">
            <a:avLst/>
          </a:prstGeom>
          <a:noFill/>
          <a:ln/>
        </p:spPr>
        <p:txBody>
          <a:bodyPr wrap="square" lIns="0" tIns="0" rIns="0" bIns="0" rtlCol="0" anchor="ctr"/>
          <a:lstStyle/>
          <a:p>
            <a:pPr indent="0" marL="0">
              <a:lnSpc>
                <a:spcPct val="115000"/>
              </a:lnSpc>
              <a:buNone/>
            </a:pPr>
            <a:r>
              <a:rPr lang="en-US" sz="1300" b="1" dirty="0">
                <a:solidFill>
                  <a:srgbClr val="4B36C7"/>
                </a:solidFill>
                <a:latin typeface="Helvetica" pitchFamily="34" charset="0"/>
                <a:ea typeface="Helvetica" pitchFamily="34" charset="-122"/>
                <a:cs typeface="Helvetica" pitchFamily="34" charset="-120"/>
              </a:rPr>
              <a:t>“Tambahin garis vertikal”</a:t>
            </a:r>
            <a:endParaRPr lang="en-US" sz="1300" dirty="0"/>
          </a:p>
        </p:txBody>
      </p:sp>
      <p:sp>
        <p:nvSpPr>
          <p:cNvPr id="16" name="Text 14"/>
          <p:cNvSpPr/>
          <p:nvPr/>
        </p:nvSpPr>
        <p:spPr>
          <a:xfrm>
            <a:off x="8366760" y="2807208"/>
            <a:ext cx="3136392" cy="640080"/>
          </a:xfrm>
          <a:prstGeom prst="rect">
            <a:avLst/>
          </a:prstGeom>
          <a:noFill/>
          <a:ln/>
        </p:spPr>
        <p:txBody>
          <a:bodyPr wrap="square" lIns="0" tIns="0" rIns="0" bIns="0" rtlCol="0" anchor="ctr"/>
          <a:lstStyle/>
          <a:p>
            <a:pPr indent="0" marL="0">
              <a:lnSpc>
                <a:spcPct val="122000"/>
              </a:lnSpc>
              <a:buNone/>
            </a:pPr>
            <a:r>
              <a:rPr lang="en-US" sz="1150" dirty="0">
                <a:solidFill>
                  <a:srgbClr val="6B7280"/>
                </a:solidFill>
                <a:latin typeface="Helvetica" pitchFamily="34" charset="0"/>
                <a:ea typeface="Helvetica" pitchFamily="34" charset="-122"/>
                <a:cs typeface="Helvetica" pitchFamily="34" charset="-120"/>
              </a:rPr>
              <a:t>Tambah anotasi tanpa membuat ulang chart</a:t>
            </a:r>
            <a:endParaRPr lang="en-US" sz="1150" dirty="0"/>
          </a:p>
        </p:txBody>
      </p:sp>
      <p:sp>
        <p:nvSpPr>
          <p:cNvPr id="17" name="Text 15"/>
          <p:cNvSpPr/>
          <p:nvPr/>
        </p:nvSpPr>
        <p:spPr>
          <a:xfrm>
            <a:off x="502920" y="3749040"/>
            <a:ext cx="11201400" cy="411480"/>
          </a:xfrm>
          <a:prstGeom prst="rect">
            <a:avLst/>
          </a:prstGeom>
          <a:noFill/>
          <a:ln/>
        </p:spPr>
        <p:txBody>
          <a:bodyPr wrap="square" lIns="0" tIns="0" rIns="0" bIns="0" rtlCol="0" anchor="ctr"/>
          <a:lstStyle/>
          <a:p>
            <a:pPr indent="0" marL="0">
              <a:lnSpc>
                <a:spcPct val="120000"/>
              </a:lnSpc>
              <a:buNone/>
            </a:pPr>
            <a:r>
              <a:rPr lang="en-US" sz="1150" i="1" dirty="0">
                <a:solidFill>
                  <a:srgbClr val="6B7280"/>
                </a:solidFill>
                <a:latin typeface="Helvetica" pitchFamily="34" charset="0"/>
                <a:ea typeface="Helvetica" pitchFamily="34" charset="-122"/>
                <a:cs typeface="Helvetica" pitchFamily="34" charset="-120"/>
              </a:rPr>
              <a:t>Perubahannya langsung muncul di panel yang sama. Ada version selector kalau kamu mau membandingkan versi sebelum dan sesudah revisi.</a:t>
            </a:r>
            <a:endParaRPr lang="en-US" sz="1150" dirty="0"/>
          </a:p>
        </p:txBody>
      </p:sp>
      <p:sp>
        <p:nvSpPr>
          <p:cNvPr id="18" name="Text 16"/>
          <p:cNvSpPr/>
          <p:nvPr/>
        </p:nvSpPr>
        <p:spPr>
          <a:xfrm>
            <a:off x="502920" y="4297680"/>
            <a:ext cx="11155680" cy="502920"/>
          </a:xfrm>
          <a:prstGeom prst="rect">
            <a:avLst/>
          </a:prstGeom>
          <a:noFill/>
          <a:ln/>
        </p:spPr>
        <p:txBody>
          <a:bodyPr wrap="square" lIns="0" tIns="0" rIns="0" bIns="0" rtlCol="0" anchor="ctr"/>
          <a:lstStyle/>
          <a:p>
            <a:pPr indent="0" marL="0">
              <a:buNone/>
            </a:pPr>
            <a:r>
              <a:rPr lang="en-US" sz="2200" b="1" dirty="0">
                <a:solidFill>
                  <a:srgbClr val="0D1321"/>
                </a:solidFill>
                <a:latin typeface="Helvetica" pitchFamily="34" charset="0"/>
                <a:ea typeface="Helvetica" pitchFamily="34" charset="-122"/>
                <a:cs typeface="Helvetica" pitchFamily="34" charset="-120"/>
              </a:rPr>
              <a:t>4. Ekspor &amp; Simpan</a:t>
            </a:r>
            <a:endParaRPr lang="en-US" sz="2200" dirty="0"/>
          </a:p>
        </p:txBody>
      </p:sp>
      <p:sp>
        <p:nvSpPr>
          <p:cNvPr id="19" name="Text 17"/>
          <p:cNvSpPr/>
          <p:nvPr/>
        </p:nvSpPr>
        <p:spPr>
          <a:xfrm>
            <a:off x="502920" y="4800600"/>
            <a:ext cx="11155680" cy="685800"/>
          </a:xfrm>
          <a:prstGeom prst="rect">
            <a:avLst/>
          </a:prstGeom>
          <a:noFill/>
          <a:ln/>
        </p:spPr>
        <p:txBody>
          <a:bodyPr wrap="square" lIns="0" tIns="0" rIns="0" bIns="0" rtlCol="0" anchor="ctr"/>
          <a:lstStyle/>
          <a:p>
            <a:pPr indent="0" marL="0">
              <a:lnSpc>
                <a:spcPct val="125000"/>
              </a:lnSpc>
              <a:buNone/>
            </a:pPr>
            <a:r>
              <a:rPr lang="en-US" sz="1250" dirty="0">
                <a:solidFill>
                  <a:srgbClr val="23283A"/>
                </a:solidFill>
                <a:latin typeface="Helvetica" pitchFamily="34" charset="0"/>
                <a:ea typeface="Helvetica" pitchFamily="34" charset="-122"/>
                <a:cs typeface="Helvetica" pitchFamily="34" charset="-120"/>
              </a:rPr>
              <a:t>Di pojok kanan bawah panel Artifact, kamu bisa lihat kode di baliknya, copy isinya, atau download file untuk dipakai di laporan atau slide presentasi. Kalau mau disimpan permanen di koleksi Artifacts kamu, klik Publish.</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60120"/>
          </a:xfrm>
          <a:prstGeom prst="rect">
            <a:avLst/>
          </a:prstGeom>
          <a:solidFill>
            <a:srgbClr val="0D1321"/>
          </a:solidFill>
          <a:ln/>
        </p:spPr>
      </p:sp>
      <p:sp>
        <p:nvSpPr>
          <p:cNvPr id="3" name="Shape 1"/>
          <p:cNvSpPr/>
          <p:nvPr/>
        </p:nvSpPr>
        <p:spPr>
          <a:xfrm>
            <a:off x="0" y="960120"/>
            <a:ext cx="12191695" cy="41148"/>
          </a:xfrm>
          <a:prstGeom prst="rect">
            <a:avLst/>
          </a:prstGeom>
          <a:solidFill>
            <a:srgbClr val="6849F6"/>
          </a:solidFill>
          <a:ln/>
        </p:spPr>
      </p:sp>
      <p:sp>
        <p:nvSpPr>
          <p:cNvPr id="4" name="Text 2"/>
          <p:cNvSpPr/>
          <p:nvPr/>
        </p:nvSpPr>
        <p:spPr>
          <a:xfrm>
            <a:off x="502920" y="256032"/>
            <a:ext cx="3657600" cy="457200"/>
          </a:xfrm>
          <a:prstGeom prst="rect">
            <a:avLst/>
          </a:prstGeom>
          <a:noFill/>
          <a:ln/>
        </p:spPr>
        <p:txBody>
          <a:bodyPr wrap="square" lIns="0" tIns="0" rIns="0" bIns="0" rtlCol="0" anchor="ctr"/>
          <a:lstStyle/>
          <a:p>
            <a:pPr indent="0" marL="0">
              <a:buNone/>
            </a:pPr>
            <a:r>
              <a:rPr lang="en-US" sz="2000" b="1" dirty="0">
                <a:solidFill>
                  <a:srgbClr val="FFFFFF"/>
                </a:solidFill>
                <a:latin typeface="Helvetica" pitchFamily="34" charset="0"/>
                <a:ea typeface="Helvetica" pitchFamily="34" charset="-122"/>
                <a:cs typeface="Helvetica" pitchFamily="34" charset="-120"/>
              </a:rPr>
              <a:t>belajar</a:t>
            </a:r>
            <a:pPr indent="0" marL="0">
              <a:buNone/>
            </a:pPr>
            <a:r>
              <a:rPr lang="en-US" sz="2000" b="1" dirty="0">
                <a:solidFill>
                  <a:srgbClr val="8B7CF6"/>
                </a:solidFill>
                <a:latin typeface="Helvetica" pitchFamily="34" charset="0"/>
                <a:ea typeface="Helvetica" pitchFamily="34" charset="-122"/>
                <a:cs typeface="Helvetica" pitchFamily="34" charset="-120"/>
              </a:rPr>
              <a:t>claude</a:t>
            </a:r>
            <a:endParaRPr lang="en-US" sz="2000" dirty="0"/>
          </a:p>
        </p:txBody>
      </p:sp>
      <p:sp>
        <p:nvSpPr>
          <p:cNvPr id="5" name="Text 3"/>
          <p:cNvSpPr/>
          <p:nvPr/>
        </p:nvSpPr>
        <p:spPr>
          <a:xfrm>
            <a:off x="5943600" y="274320"/>
            <a:ext cx="5760720" cy="411480"/>
          </a:xfrm>
          <a:prstGeom prst="rect">
            <a:avLst/>
          </a:prstGeom>
          <a:noFill/>
          <a:ln/>
        </p:spPr>
        <p:txBody>
          <a:bodyPr wrap="square" lIns="0" tIns="0" rIns="0" bIns="0" rtlCol="0" anchor="ctr"/>
          <a:lstStyle/>
          <a:p>
            <a:pPr algn="r" indent="0" marL="0">
              <a:buNone/>
            </a:pPr>
            <a:r>
              <a:rPr lang="en-US" sz="1250" dirty="0">
                <a:solidFill>
                  <a:srgbClr val="9AA2B4"/>
                </a:solidFill>
                <a:latin typeface="Helvetica" pitchFamily="34" charset="0"/>
                <a:ea typeface="Helvetica" pitchFamily="34" charset="-122"/>
                <a:cs typeface="Helvetica" pitchFamily="34" charset="-120"/>
              </a:rPr>
              <a:t>Modul 6 — Dari Angka ke Grafik</a:t>
            </a:r>
            <a:endParaRPr lang="en-US" sz="1250" dirty="0"/>
          </a:p>
        </p:txBody>
      </p:sp>
      <p:sp>
        <p:nvSpPr>
          <p:cNvPr id="6" name="Text 4"/>
          <p:cNvSpPr/>
          <p:nvPr/>
        </p:nvSpPr>
        <p:spPr>
          <a:xfrm>
            <a:off x="502920" y="1188720"/>
            <a:ext cx="11155680" cy="502920"/>
          </a:xfrm>
          <a:prstGeom prst="rect">
            <a:avLst/>
          </a:prstGeom>
          <a:noFill/>
          <a:ln/>
        </p:spPr>
        <p:txBody>
          <a:bodyPr wrap="square" lIns="0" tIns="0" rIns="0" bIns="0" rtlCol="0" anchor="ctr"/>
          <a:lstStyle/>
          <a:p>
            <a:pPr indent="0" marL="0">
              <a:buNone/>
            </a:pPr>
            <a:r>
              <a:rPr lang="en-US" sz="2200" b="1" dirty="0">
                <a:solidFill>
                  <a:srgbClr val="0D1321"/>
                </a:solidFill>
                <a:latin typeface="Helvetica" pitchFamily="34" charset="0"/>
                <a:ea typeface="Helvetica" pitchFamily="34" charset="-122"/>
                <a:cs typeface="Helvetica" pitchFamily="34" charset="-120"/>
              </a:rPr>
              <a:t>5. Alternatif Gratis Tanpa Artifacts</a:t>
            </a:r>
            <a:endParaRPr lang="en-US" sz="2200" dirty="0"/>
          </a:p>
        </p:txBody>
      </p:sp>
      <p:sp>
        <p:nvSpPr>
          <p:cNvPr id="7" name="Text 5"/>
          <p:cNvSpPr/>
          <p:nvPr/>
        </p:nvSpPr>
        <p:spPr>
          <a:xfrm>
            <a:off x="502920" y="1691640"/>
            <a:ext cx="11155680" cy="548640"/>
          </a:xfrm>
          <a:prstGeom prst="rect">
            <a:avLst/>
          </a:prstGeom>
          <a:noFill/>
          <a:ln/>
        </p:spPr>
        <p:txBody>
          <a:bodyPr wrap="square" lIns="0" tIns="0" rIns="0" bIns="0" rtlCol="0" anchor="ctr"/>
          <a:lstStyle/>
          <a:p>
            <a:pPr indent="0" marL="0">
              <a:lnSpc>
                <a:spcPct val="122000"/>
              </a:lnSpc>
              <a:buNone/>
            </a:pPr>
            <a:r>
              <a:rPr lang="en-US" sz="1250" dirty="0">
                <a:solidFill>
                  <a:srgbClr val="6B7280"/>
                </a:solidFill>
                <a:latin typeface="Helvetica" pitchFamily="34" charset="0"/>
                <a:ea typeface="Helvetica" pitchFamily="34" charset="-122"/>
                <a:cs typeface="Helvetica" pitchFamily="34" charset="-120"/>
              </a:rPr>
              <a:t>Artifacts sendiri sebenarnya sudah gratis. Tapi kalau kamu lebih nyaman kerja di tools yang biasa dipakai, kamu tetap bisa minta Claude menyiapkan datanya, lalu bikin chart-nya langsung di Google Sheets atau Excel.</a:t>
            </a:r>
            <a:endParaRPr lang="en-US" sz="1250" dirty="0"/>
          </a:p>
        </p:txBody>
      </p:sp>
      <p:sp>
        <p:nvSpPr>
          <p:cNvPr id="8" name="Shape 6"/>
          <p:cNvSpPr/>
          <p:nvPr/>
        </p:nvSpPr>
        <p:spPr>
          <a:xfrm>
            <a:off x="502920" y="2423160"/>
            <a:ext cx="5394960" cy="3383280"/>
          </a:xfrm>
          <a:prstGeom prst="roundRect">
            <a:avLst>
              <a:gd name="adj" fmla="val 3243"/>
            </a:avLst>
          </a:prstGeom>
          <a:solidFill>
            <a:srgbClr val="F4F6FB"/>
          </a:solidFill>
          <a:ln w="12700">
            <a:solidFill>
              <a:srgbClr val="D6DCEB"/>
            </a:solidFill>
            <a:prstDash val="solid"/>
          </a:ln>
        </p:spPr>
      </p:sp>
      <p:sp>
        <p:nvSpPr>
          <p:cNvPr id="9" name="Text 7"/>
          <p:cNvSpPr/>
          <p:nvPr/>
        </p:nvSpPr>
        <p:spPr>
          <a:xfrm>
            <a:off x="777240" y="2651760"/>
            <a:ext cx="4846320" cy="320040"/>
          </a:xfrm>
          <a:prstGeom prst="rect">
            <a:avLst/>
          </a:prstGeom>
          <a:noFill/>
          <a:ln/>
        </p:spPr>
        <p:txBody>
          <a:bodyPr wrap="square" lIns="0" tIns="0" rIns="0" bIns="0" rtlCol="0" anchor="ctr"/>
          <a:lstStyle/>
          <a:p>
            <a:pPr indent="0" marL="0">
              <a:buNone/>
            </a:pPr>
            <a:r>
              <a:rPr lang="en-US" sz="1500" b="1" dirty="0">
                <a:solidFill>
                  <a:srgbClr val="0D1321"/>
                </a:solidFill>
                <a:latin typeface="Helvetica" pitchFamily="34" charset="0"/>
                <a:ea typeface="Helvetica" pitchFamily="34" charset="-122"/>
                <a:cs typeface="Helvetica" pitchFamily="34" charset="-120"/>
              </a:rPr>
              <a:t>Google Sheets</a:t>
            </a:r>
            <a:endParaRPr lang="en-US" sz="1500" dirty="0"/>
          </a:p>
        </p:txBody>
      </p:sp>
      <p:sp>
        <p:nvSpPr>
          <p:cNvPr id="10" name="Text 8"/>
          <p:cNvSpPr/>
          <p:nvPr/>
        </p:nvSpPr>
        <p:spPr>
          <a:xfrm>
            <a:off x="777240" y="3017520"/>
            <a:ext cx="4846320" cy="1371600"/>
          </a:xfrm>
          <a:prstGeom prst="rect">
            <a:avLst/>
          </a:prstGeom>
          <a:noFill/>
          <a:ln/>
        </p:spPr>
        <p:txBody>
          <a:bodyPr wrap="square" lIns="0" tIns="0" rIns="0" bIns="0" rtlCol="0" anchor="ctr"/>
          <a:lstStyle/>
          <a:p>
            <a:pPr indent="0" marL="0">
              <a:lnSpc>
                <a:spcPct val="122000"/>
              </a:lnSpc>
              <a:buNone/>
            </a:pPr>
            <a:r>
              <a:rPr lang="en-US" sz="1100" i="1" dirty="0">
                <a:solidFill>
                  <a:srgbClr val="23283A"/>
                </a:solidFill>
                <a:latin typeface="Helvetica" pitchFamily="34" charset="0"/>
                <a:ea typeface="Helvetica" pitchFamily="34" charset="-122"/>
                <a:cs typeface="Helvetica" pitchFamily="34" charset="-120"/>
              </a:rPr>
              <a:t>“Ini data penjualan roti saya Mei-Juni. Rangkum jadi 1 tabel: baris = minggu, kolom = tiap produk, isinya total unit terjual per minggu. Format rapi supaya saya bisa langsung paste ke Google Sheets dan buat line chart dari situ.”</a:t>
            </a:r>
            <a:endParaRPr lang="en-US" sz="1100" dirty="0"/>
          </a:p>
        </p:txBody>
      </p:sp>
      <p:sp>
        <p:nvSpPr>
          <p:cNvPr id="11" name="Text 9"/>
          <p:cNvSpPr/>
          <p:nvPr/>
        </p:nvSpPr>
        <p:spPr>
          <a:xfrm>
            <a:off x="777240" y="4480560"/>
            <a:ext cx="4846320" cy="1188720"/>
          </a:xfrm>
          <a:prstGeom prst="rect">
            <a:avLst/>
          </a:prstGeom>
          <a:noFill/>
          <a:ln/>
        </p:spPr>
        <p:txBody>
          <a:bodyPr wrap="square" lIns="0" tIns="0" rIns="0" bIns="0" rtlCol="0" anchor="t"/>
          <a:lstStyle/>
          <a:p>
            <a:pPr marL="342900" indent="-342900">
              <a:lnSpc>
                <a:spcPct val="125000"/>
              </a:lnSpc>
              <a:spcAft>
                <a:spcPts val="600"/>
              </a:spcAft>
              <a:buSzPct val="100000"/>
              <a:buChar char="●"/>
            </a:pPr>
            <a:r>
              <a:rPr lang="en-US" sz="1100" dirty="0">
                <a:solidFill>
                  <a:srgbClr val="23283A"/>
                </a:solidFill>
                <a:latin typeface="Helvetica" pitchFamily="34" charset="0"/>
                <a:ea typeface="Helvetica" pitchFamily="34" charset="-122"/>
                <a:cs typeface="Helvetica" pitchFamily="34" charset="-120"/>
              </a:rPr>
              <a:t>Copy hasil ringkasan dari Claude</a:t>
            </a:r>
            <a:endParaRPr lang="en-US" sz="1100" dirty="0"/>
          </a:p>
          <a:p>
            <a:pPr marL="342900" indent="-342900">
              <a:lnSpc>
                <a:spcPct val="125000"/>
              </a:lnSpc>
              <a:spcAft>
                <a:spcPts val="600"/>
              </a:spcAft>
              <a:buSzPct val="100000"/>
              <a:buChar char="●"/>
            </a:pPr>
            <a:r>
              <a:rPr lang="en-US" sz="1100" dirty="0">
                <a:solidFill>
                  <a:srgbClr val="23283A"/>
                </a:solidFill>
                <a:latin typeface="Helvetica" pitchFamily="34" charset="0"/>
                <a:ea typeface="Helvetica" pitchFamily="34" charset="-122"/>
                <a:cs typeface="Helvetica" pitchFamily="34" charset="-120"/>
              </a:rPr>
              <a:t>Paste ke Google Sheets</a:t>
            </a:r>
            <a:endParaRPr lang="en-US" sz="1100" dirty="0"/>
          </a:p>
          <a:p>
            <a:pPr marL="342900" indent="-342900">
              <a:lnSpc>
                <a:spcPct val="125000"/>
              </a:lnSpc>
              <a:spcAft>
                <a:spcPts val="600"/>
              </a:spcAft>
              <a:buSzPct val="100000"/>
              <a:buChar char="●"/>
            </a:pPr>
            <a:r>
              <a:rPr lang="en-US" sz="1100" dirty="0">
                <a:solidFill>
                  <a:srgbClr val="23283A"/>
                </a:solidFill>
                <a:latin typeface="Helvetica" pitchFamily="34" charset="0"/>
                <a:ea typeface="Helvetica" pitchFamily="34" charset="-122"/>
                <a:cs typeface="Helvetica" pitchFamily="34" charset="-120"/>
              </a:rPr>
              <a:t>Select data → Insert → Chart → pilih jenis chart</a:t>
            </a:r>
            <a:endParaRPr lang="en-US" sz="1100" dirty="0"/>
          </a:p>
        </p:txBody>
      </p:sp>
      <p:sp>
        <p:nvSpPr>
          <p:cNvPr id="12" name="Shape 10"/>
          <p:cNvSpPr/>
          <p:nvPr/>
        </p:nvSpPr>
        <p:spPr>
          <a:xfrm>
            <a:off x="6309360" y="2423160"/>
            <a:ext cx="5394960" cy="3383280"/>
          </a:xfrm>
          <a:prstGeom prst="roundRect">
            <a:avLst>
              <a:gd name="adj" fmla="val 3243"/>
            </a:avLst>
          </a:prstGeom>
          <a:solidFill>
            <a:srgbClr val="F4F6FB"/>
          </a:solidFill>
          <a:ln w="12700">
            <a:solidFill>
              <a:srgbClr val="D6DCEB"/>
            </a:solidFill>
            <a:prstDash val="solid"/>
          </a:ln>
        </p:spPr>
      </p:sp>
      <p:sp>
        <p:nvSpPr>
          <p:cNvPr id="13" name="Text 11"/>
          <p:cNvSpPr/>
          <p:nvPr/>
        </p:nvSpPr>
        <p:spPr>
          <a:xfrm>
            <a:off x="6583680" y="2651760"/>
            <a:ext cx="4846320" cy="320040"/>
          </a:xfrm>
          <a:prstGeom prst="rect">
            <a:avLst/>
          </a:prstGeom>
          <a:noFill/>
          <a:ln/>
        </p:spPr>
        <p:txBody>
          <a:bodyPr wrap="square" lIns="0" tIns="0" rIns="0" bIns="0" rtlCol="0" anchor="ctr"/>
          <a:lstStyle/>
          <a:p>
            <a:pPr indent="0" marL="0">
              <a:buNone/>
            </a:pPr>
            <a:r>
              <a:rPr lang="en-US" sz="1500" b="1" dirty="0">
                <a:solidFill>
                  <a:srgbClr val="0D1321"/>
                </a:solidFill>
                <a:latin typeface="Helvetica" pitchFamily="34" charset="0"/>
                <a:ea typeface="Helvetica" pitchFamily="34" charset="-122"/>
                <a:cs typeface="Helvetica" pitchFamily="34" charset="-120"/>
              </a:rPr>
              <a:t>Excel</a:t>
            </a:r>
            <a:endParaRPr lang="en-US" sz="1500" dirty="0"/>
          </a:p>
        </p:txBody>
      </p:sp>
      <p:sp>
        <p:nvSpPr>
          <p:cNvPr id="14" name="Text 12"/>
          <p:cNvSpPr/>
          <p:nvPr/>
        </p:nvSpPr>
        <p:spPr>
          <a:xfrm>
            <a:off x="6583680" y="3017520"/>
            <a:ext cx="4846320" cy="1371600"/>
          </a:xfrm>
          <a:prstGeom prst="rect">
            <a:avLst/>
          </a:prstGeom>
          <a:noFill/>
          <a:ln/>
        </p:spPr>
        <p:txBody>
          <a:bodyPr wrap="square" lIns="0" tIns="0" rIns="0" bIns="0" rtlCol="0" anchor="ctr"/>
          <a:lstStyle/>
          <a:p>
            <a:pPr indent="0" marL="0">
              <a:lnSpc>
                <a:spcPct val="122000"/>
              </a:lnSpc>
              <a:buNone/>
            </a:pPr>
            <a:r>
              <a:rPr lang="en-US" sz="1100" i="1" dirty="0">
                <a:solidFill>
                  <a:srgbClr val="23283A"/>
                </a:solidFill>
                <a:latin typeface="Helvetica" pitchFamily="34" charset="0"/>
                <a:ea typeface="Helvetica" pitchFamily="34" charset="-122"/>
                <a:cs typeface="Helvetica" pitchFamily="34" charset="-120"/>
              </a:rPr>
              <a:t>“Ini data penjualan roti saya Mei-Juni. Rangkum jadi 1 tabel ringkas: baris = minggu, kolom = tiap produk, isinya total unit terjual. Formatnya harus rapi buat langsung di-paste ke Excel, biar saya tinggal select semua terus Insert &gt; Chart.”</a:t>
            </a:r>
            <a:endParaRPr lang="en-US" sz="1100" dirty="0"/>
          </a:p>
        </p:txBody>
      </p:sp>
      <p:sp>
        <p:nvSpPr>
          <p:cNvPr id="15" name="Text 13"/>
          <p:cNvSpPr/>
          <p:nvPr/>
        </p:nvSpPr>
        <p:spPr>
          <a:xfrm>
            <a:off x="6583680" y="4480560"/>
            <a:ext cx="4846320" cy="1188720"/>
          </a:xfrm>
          <a:prstGeom prst="rect">
            <a:avLst/>
          </a:prstGeom>
          <a:noFill/>
          <a:ln/>
        </p:spPr>
        <p:txBody>
          <a:bodyPr wrap="square" lIns="0" tIns="0" rIns="0" bIns="0" rtlCol="0" anchor="t"/>
          <a:lstStyle/>
          <a:p>
            <a:pPr marL="342900" indent="-342900">
              <a:lnSpc>
                <a:spcPct val="125000"/>
              </a:lnSpc>
              <a:spcAft>
                <a:spcPts val="600"/>
              </a:spcAft>
              <a:buSzPct val="100000"/>
              <a:buChar char="●"/>
            </a:pPr>
            <a:r>
              <a:rPr lang="en-US" sz="1100" dirty="0">
                <a:solidFill>
                  <a:srgbClr val="23283A"/>
                </a:solidFill>
                <a:latin typeface="Helvetica" pitchFamily="34" charset="0"/>
                <a:ea typeface="Helvetica" pitchFamily="34" charset="-122"/>
                <a:cs typeface="Helvetica" pitchFamily="34" charset="-120"/>
              </a:rPr>
              <a:t>Copy hasil ringkasan dari Claude</a:t>
            </a:r>
            <a:endParaRPr lang="en-US" sz="1100" dirty="0"/>
          </a:p>
          <a:p>
            <a:pPr marL="342900" indent="-342900">
              <a:lnSpc>
                <a:spcPct val="125000"/>
              </a:lnSpc>
              <a:spcAft>
                <a:spcPts val="600"/>
              </a:spcAft>
              <a:buSzPct val="100000"/>
              <a:buChar char="●"/>
            </a:pPr>
            <a:r>
              <a:rPr lang="en-US" sz="1100" dirty="0">
                <a:solidFill>
                  <a:srgbClr val="23283A"/>
                </a:solidFill>
                <a:latin typeface="Helvetica" pitchFamily="34" charset="0"/>
                <a:ea typeface="Helvetica" pitchFamily="34" charset="-122"/>
                <a:cs typeface="Helvetica" pitchFamily="34" charset="-120"/>
              </a:rPr>
              <a:t>Paste ke Excel</a:t>
            </a:r>
            <a:endParaRPr lang="en-US" sz="1100" dirty="0"/>
          </a:p>
          <a:p>
            <a:pPr marL="342900" indent="-342900">
              <a:lnSpc>
                <a:spcPct val="125000"/>
              </a:lnSpc>
              <a:spcAft>
                <a:spcPts val="600"/>
              </a:spcAft>
              <a:buSzPct val="100000"/>
              <a:buChar char="●"/>
            </a:pPr>
            <a:r>
              <a:rPr lang="en-US" sz="1100" dirty="0">
                <a:solidFill>
                  <a:srgbClr val="23283A"/>
                </a:solidFill>
                <a:latin typeface="Helvetica" pitchFamily="34" charset="0"/>
                <a:ea typeface="Helvetica" pitchFamily="34" charset="-122"/>
                <a:cs typeface="Helvetica" pitchFamily="34" charset="-120"/>
              </a:rPr>
              <a:t>Select data → tab Insert → pilih Line/Bar Chart</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60120"/>
          </a:xfrm>
          <a:prstGeom prst="rect">
            <a:avLst/>
          </a:prstGeom>
          <a:solidFill>
            <a:srgbClr val="0D1321"/>
          </a:solidFill>
          <a:ln/>
        </p:spPr>
      </p:sp>
      <p:sp>
        <p:nvSpPr>
          <p:cNvPr id="3" name="Shape 1"/>
          <p:cNvSpPr/>
          <p:nvPr/>
        </p:nvSpPr>
        <p:spPr>
          <a:xfrm>
            <a:off x="0" y="960120"/>
            <a:ext cx="12191695" cy="41148"/>
          </a:xfrm>
          <a:prstGeom prst="rect">
            <a:avLst/>
          </a:prstGeom>
          <a:solidFill>
            <a:srgbClr val="6849F6"/>
          </a:solidFill>
          <a:ln/>
        </p:spPr>
      </p:sp>
      <p:sp>
        <p:nvSpPr>
          <p:cNvPr id="4" name="Text 2"/>
          <p:cNvSpPr/>
          <p:nvPr/>
        </p:nvSpPr>
        <p:spPr>
          <a:xfrm>
            <a:off x="502920" y="256032"/>
            <a:ext cx="3657600" cy="457200"/>
          </a:xfrm>
          <a:prstGeom prst="rect">
            <a:avLst/>
          </a:prstGeom>
          <a:noFill/>
          <a:ln/>
        </p:spPr>
        <p:txBody>
          <a:bodyPr wrap="square" lIns="0" tIns="0" rIns="0" bIns="0" rtlCol="0" anchor="ctr"/>
          <a:lstStyle/>
          <a:p>
            <a:pPr indent="0" marL="0">
              <a:buNone/>
            </a:pPr>
            <a:r>
              <a:rPr lang="en-US" sz="2000" b="1" dirty="0">
                <a:solidFill>
                  <a:srgbClr val="FFFFFF"/>
                </a:solidFill>
                <a:latin typeface="Helvetica" pitchFamily="34" charset="0"/>
                <a:ea typeface="Helvetica" pitchFamily="34" charset="-122"/>
                <a:cs typeface="Helvetica" pitchFamily="34" charset="-120"/>
              </a:rPr>
              <a:t>belajar</a:t>
            </a:r>
            <a:pPr indent="0" marL="0">
              <a:buNone/>
            </a:pPr>
            <a:r>
              <a:rPr lang="en-US" sz="2000" b="1" dirty="0">
                <a:solidFill>
                  <a:srgbClr val="8B7CF6"/>
                </a:solidFill>
                <a:latin typeface="Helvetica" pitchFamily="34" charset="0"/>
                <a:ea typeface="Helvetica" pitchFamily="34" charset="-122"/>
                <a:cs typeface="Helvetica" pitchFamily="34" charset="-120"/>
              </a:rPr>
              <a:t>claude</a:t>
            </a:r>
            <a:endParaRPr lang="en-US" sz="2000" dirty="0"/>
          </a:p>
        </p:txBody>
      </p:sp>
      <p:sp>
        <p:nvSpPr>
          <p:cNvPr id="5" name="Text 3"/>
          <p:cNvSpPr/>
          <p:nvPr/>
        </p:nvSpPr>
        <p:spPr>
          <a:xfrm>
            <a:off x="5943600" y="274320"/>
            <a:ext cx="5760720" cy="411480"/>
          </a:xfrm>
          <a:prstGeom prst="rect">
            <a:avLst/>
          </a:prstGeom>
          <a:noFill/>
          <a:ln/>
        </p:spPr>
        <p:txBody>
          <a:bodyPr wrap="square" lIns="0" tIns="0" rIns="0" bIns="0" rtlCol="0" anchor="ctr"/>
          <a:lstStyle/>
          <a:p>
            <a:pPr algn="r" indent="0" marL="0">
              <a:buNone/>
            </a:pPr>
            <a:r>
              <a:rPr lang="en-US" sz="1250" dirty="0">
                <a:solidFill>
                  <a:srgbClr val="9AA2B4"/>
                </a:solidFill>
                <a:latin typeface="Helvetica" pitchFamily="34" charset="0"/>
                <a:ea typeface="Helvetica" pitchFamily="34" charset="-122"/>
                <a:cs typeface="Helvetica" pitchFamily="34" charset="-120"/>
              </a:rPr>
              <a:t>Modul 6 — Dari Angka ke Grafik</a:t>
            </a:r>
            <a:endParaRPr lang="en-US" sz="1250" dirty="0"/>
          </a:p>
        </p:txBody>
      </p:sp>
      <p:sp>
        <p:nvSpPr>
          <p:cNvPr id="6" name="Text 4"/>
          <p:cNvSpPr/>
          <p:nvPr/>
        </p:nvSpPr>
        <p:spPr>
          <a:xfrm>
            <a:off x="502920" y="1188720"/>
            <a:ext cx="11155680" cy="502920"/>
          </a:xfrm>
          <a:prstGeom prst="rect">
            <a:avLst/>
          </a:prstGeom>
          <a:noFill/>
          <a:ln/>
        </p:spPr>
        <p:txBody>
          <a:bodyPr wrap="square" lIns="0" tIns="0" rIns="0" bIns="0" rtlCol="0" anchor="ctr"/>
          <a:lstStyle/>
          <a:p>
            <a:pPr indent="0" marL="0">
              <a:buNone/>
            </a:pPr>
            <a:r>
              <a:rPr lang="en-US" sz="2200" b="1" dirty="0">
                <a:solidFill>
                  <a:srgbClr val="0D1321"/>
                </a:solidFill>
                <a:latin typeface="Helvetica" pitchFamily="34" charset="0"/>
                <a:ea typeface="Helvetica" pitchFamily="34" charset="-122"/>
                <a:cs typeface="Helvetica" pitchFamily="34" charset="-120"/>
              </a:rPr>
              <a:t>Ringkasan Modul 6</a:t>
            </a:r>
            <a:endParaRPr lang="en-US" sz="2200" dirty="0"/>
          </a:p>
        </p:txBody>
      </p:sp>
      <p:sp>
        <p:nvSpPr>
          <p:cNvPr id="7" name="Shape 5"/>
          <p:cNvSpPr/>
          <p:nvPr/>
        </p:nvSpPr>
        <p:spPr>
          <a:xfrm>
            <a:off x="502920" y="1783080"/>
            <a:ext cx="11201400" cy="1965960"/>
          </a:xfrm>
          <a:prstGeom prst="roundRect">
            <a:avLst>
              <a:gd name="adj" fmla="val 5581"/>
            </a:avLst>
          </a:prstGeom>
          <a:solidFill>
            <a:srgbClr val="F3F0FF"/>
          </a:solidFill>
          <a:ln w="12700">
            <a:solidFill>
              <a:srgbClr val="DCD3FB"/>
            </a:solidFill>
            <a:prstDash val="solid"/>
          </a:ln>
        </p:spPr>
      </p:sp>
      <p:sp>
        <p:nvSpPr>
          <p:cNvPr id="8" name="Text 6"/>
          <p:cNvSpPr/>
          <p:nvPr/>
        </p:nvSpPr>
        <p:spPr>
          <a:xfrm>
            <a:off x="822960" y="2057400"/>
            <a:ext cx="10561320" cy="1417320"/>
          </a:xfrm>
          <a:prstGeom prst="rect">
            <a:avLst/>
          </a:prstGeom>
          <a:noFill/>
          <a:ln/>
        </p:spPr>
        <p:txBody>
          <a:bodyPr wrap="square" lIns="0" tIns="0" rIns="0" bIns="0" rtlCol="0" anchor="t"/>
          <a:lstStyle/>
          <a:p>
            <a:pPr marL="342900" indent="-342900">
              <a:lnSpc>
                <a:spcPct val="125000"/>
              </a:lnSpc>
              <a:spcAft>
                <a:spcPts val="1200"/>
              </a:spcAft>
              <a:buSzPct val="100000"/>
              <a:buChar char="●"/>
            </a:pPr>
            <a:r>
              <a:rPr lang="en-US" sz="1300" dirty="0">
                <a:solidFill>
                  <a:srgbClr val="23283A"/>
                </a:solidFill>
                <a:latin typeface="Helvetica" pitchFamily="34" charset="0"/>
                <a:ea typeface="Helvetica" pitchFamily="34" charset="-122"/>
                <a:cs typeface="Helvetica" pitchFamily="34" charset="-120"/>
              </a:rPr>
              <a:t>Setup sekali di awal: aktifkan Code execution and file creation sebelum minta chart pertama kali</a:t>
            </a:r>
            <a:endParaRPr lang="en-US" sz="1300" dirty="0"/>
          </a:p>
          <a:p>
            <a:pPr marL="342900" indent="-342900">
              <a:lnSpc>
                <a:spcPct val="125000"/>
              </a:lnSpc>
              <a:spcAft>
                <a:spcPts val="1200"/>
              </a:spcAft>
              <a:buSzPct val="100000"/>
              <a:buChar char="●"/>
            </a:pPr>
            <a:r>
              <a:rPr lang="en-US" sz="1300" dirty="0">
                <a:solidFill>
                  <a:srgbClr val="23283A"/>
                </a:solidFill>
                <a:latin typeface="Helvetica" pitchFamily="34" charset="0"/>
                <a:ea typeface="Helvetica" pitchFamily="34" charset="-122"/>
                <a:cs typeface="Helvetica" pitchFamily="34" charset="-120"/>
              </a:rPr>
              <a:t>Formula Prompt: Jenis Chart + Data yang Divisualisasikan + Apa yang Perlu Di-highlight</a:t>
            </a:r>
            <a:endParaRPr lang="en-US" sz="1300" dirty="0"/>
          </a:p>
          <a:p>
            <a:pPr marL="342900" indent="-342900">
              <a:lnSpc>
                <a:spcPct val="125000"/>
              </a:lnSpc>
              <a:spcAft>
                <a:spcPts val="1200"/>
              </a:spcAft>
              <a:buSzPct val="100000"/>
              <a:buChar char="●"/>
            </a:pPr>
            <a:r>
              <a:rPr lang="en-US" sz="1300" dirty="0">
                <a:solidFill>
                  <a:srgbClr val="23283A"/>
                </a:solidFill>
                <a:latin typeface="Helvetica" pitchFamily="34" charset="0"/>
                <a:ea typeface="Helvetica" pitchFamily="34" charset="-122"/>
                <a:cs typeface="Helvetica" pitchFamily="34" charset="-120"/>
              </a:rPr>
              <a:t>Chart muncul di panel Artifacts, bisa diiterasi langsung tanpa mulai dari nol</a:t>
            </a:r>
            <a:endParaRPr lang="en-US" sz="1300" dirty="0"/>
          </a:p>
          <a:p>
            <a:pPr marL="342900" indent="-342900">
              <a:lnSpc>
                <a:spcPct val="125000"/>
              </a:lnSpc>
              <a:spcAft>
                <a:spcPts val="1200"/>
              </a:spcAft>
              <a:buSzPct val="100000"/>
              <a:buChar char="●"/>
            </a:pPr>
            <a:r>
              <a:rPr lang="en-US" sz="1300" dirty="0">
                <a:solidFill>
                  <a:srgbClr val="23283A"/>
                </a:solidFill>
                <a:latin typeface="Helvetica" pitchFamily="34" charset="0"/>
                <a:ea typeface="Helvetica" pitchFamily="34" charset="-122"/>
                <a:cs typeface="Helvetica" pitchFamily="34" charset="-120"/>
              </a:rPr>
              <a:t>Ekspor: download filenya untuk dipakai di laporan, atau Publish kalau mau disimpan permanen</a:t>
            </a:r>
            <a:endParaRPr lang="en-US" sz="1300" dirty="0"/>
          </a:p>
        </p:txBody>
      </p:sp>
      <p:sp>
        <p:nvSpPr>
          <p:cNvPr id="9" name="Shape 7"/>
          <p:cNvSpPr/>
          <p:nvPr/>
        </p:nvSpPr>
        <p:spPr>
          <a:xfrm>
            <a:off x="502920" y="4023360"/>
            <a:ext cx="11201400" cy="960120"/>
          </a:xfrm>
          <a:prstGeom prst="roundRect">
            <a:avLst>
              <a:gd name="adj" fmla="val 7619"/>
            </a:avLst>
          </a:prstGeom>
          <a:solidFill>
            <a:srgbClr val="F4F6FB"/>
          </a:solidFill>
          <a:ln w="12700">
            <a:solidFill>
              <a:srgbClr val="D6DCEB"/>
            </a:solidFill>
            <a:prstDash val="solid"/>
          </a:ln>
        </p:spPr>
      </p:sp>
      <p:sp>
        <p:nvSpPr>
          <p:cNvPr id="10" name="Text 8"/>
          <p:cNvSpPr/>
          <p:nvPr/>
        </p:nvSpPr>
        <p:spPr>
          <a:xfrm>
            <a:off x="777240" y="4151376"/>
            <a:ext cx="10652760" cy="256032"/>
          </a:xfrm>
          <a:prstGeom prst="rect">
            <a:avLst/>
          </a:prstGeom>
          <a:noFill/>
          <a:ln/>
        </p:spPr>
        <p:txBody>
          <a:bodyPr wrap="square" lIns="0" tIns="0" rIns="0" bIns="0" rtlCol="0" anchor="ctr"/>
          <a:lstStyle/>
          <a:p>
            <a:pPr indent="0" marL="0">
              <a:buNone/>
            </a:pPr>
            <a:r>
              <a:rPr lang="en-US" sz="1100" b="1" spc="30" kern="0" dirty="0">
                <a:solidFill>
                  <a:srgbClr val="4B36C7"/>
                </a:solidFill>
                <a:latin typeface="Helvetica" pitchFamily="34" charset="0"/>
                <a:ea typeface="Helvetica" pitchFamily="34" charset="-122"/>
                <a:cs typeface="Helvetica" pitchFamily="34" charset="-120"/>
              </a:rPr>
              <a:t>◆ TIPS</a:t>
            </a:r>
            <a:endParaRPr lang="en-US" sz="1100" dirty="0"/>
          </a:p>
        </p:txBody>
      </p:sp>
      <p:sp>
        <p:nvSpPr>
          <p:cNvPr id="11" name="Text 9"/>
          <p:cNvSpPr/>
          <p:nvPr/>
        </p:nvSpPr>
        <p:spPr>
          <a:xfrm>
            <a:off x="777240" y="4407408"/>
            <a:ext cx="10652760" cy="466344"/>
          </a:xfrm>
          <a:prstGeom prst="rect">
            <a:avLst/>
          </a:prstGeom>
          <a:noFill/>
          <a:ln/>
        </p:spPr>
        <p:txBody>
          <a:bodyPr wrap="square" lIns="0" tIns="0" rIns="0" bIns="0" rtlCol="0" anchor="t"/>
          <a:lstStyle/>
          <a:p>
            <a:pPr indent="0" marL="0">
              <a:lnSpc>
                <a:spcPct val="120000"/>
              </a:lnSpc>
              <a:buNone/>
            </a:pPr>
            <a:r>
              <a:rPr lang="en-US" sz="1200" dirty="0">
                <a:solidFill>
                  <a:srgbClr val="23283A"/>
                </a:solidFill>
                <a:latin typeface="Helvetica" pitchFamily="34" charset="0"/>
                <a:ea typeface="Helvetica" pitchFamily="34" charset="-122"/>
                <a:cs typeface="Helvetica" pitchFamily="34" charset="-120"/>
              </a:rPr>
              <a:t>Sebutkan bagian mana dari data yang paling penting untuk di-highlight di chart-nya (misalnya titik kenaikan harga). Kalau nggak disebut, Claude bisa bikin chart yang teknis benar tapi nggak menonjolkan poin yang paling penting buat audiensmu.</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60120"/>
          </a:xfrm>
          <a:prstGeom prst="rect">
            <a:avLst/>
          </a:prstGeom>
          <a:solidFill>
            <a:srgbClr val="0D1321"/>
          </a:solidFill>
          <a:ln/>
        </p:spPr>
      </p:sp>
      <p:sp>
        <p:nvSpPr>
          <p:cNvPr id="3" name="Shape 1"/>
          <p:cNvSpPr/>
          <p:nvPr/>
        </p:nvSpPr>
        <p:spPr>
          <a:xfrm>
            <a:off x="0" y="960120"/>
            <a:ext cx="12191695" cy="41148"/>
          </a:xfrm>
          <a:prstGeom prst="rect">
            <a:avLst/>
          </a:prstGeom>
          <a:solidFill>
            <a:srgbClr val="6849F6"/>
          </a:solidFill>
          <a:ln/>
        </p:spPr>
      </p:sp>
      <p:sp>
        <p:nvSpPr>
          <p:cNvPr id="4" name="Text 2"/>
          <p:cNvSpPr/>
          <p:nvPr/>
        </p:nvSpPr>
        <p:spPr>
          <a:xfrm>
            <a:off x="502920" y="256032"/>
            <a:ext cx="3657600" cy="457200"/>
          </a:xfrm>
          <a:prstGeom prst="rect">
            <a:avLst/>
          </a:prstGeom>
          <a:noFill/>
          <a:ln/>
        </p:spPr>
        <p:txBody>
          <a:bodyPr wrap="square" lIns="0" tIns="0" rIns="0" bIns="0" rtlCol="0" anchor="ctr"/>
          <a:lstStyle/>
          <a:p>
            <a:pPr indent="0" marL="0">
              <a:buNone/>
            </a:pPr>
            <a:r>
              <a:rPr lang="en-US" sz="2000" b="1" dirty="0">
                <a:solidFill>
                  <a:srgbClr val="FFFFFF"/>
                </a:solidFill>
                <a:latin typeface="Helvetica" pitchFamily="34" charset="0"/>
                <a:ea typeface="Helvetica" pitchFamily="34" charset="-122"/>
                <a:cs typeface="Helvetica" pitchFamily="34" charset="-120"/>
              </a:rPr>
              <a:t>belajar</a:t>
            </a:r>
            <a:pPr indent="0" marL="0">
              <a:buNone/>
            </a:pPr>
            <a:r>
              <a:rPr lang="en-US" sz="2000" b="1" dirty="0">
                <a:solidFill>
                  <a:srgbClr val="8B7CF6"/>
                </a:solidFill>
                <a:latin typeface="Helvetica" pitchFamily="34" charset="0"/>
                <a:ea typeface="Helvetica" pitchFamily="34" charset="-122"/>
                <a:cs typeface="Helvetica" pitchFamily="34" charset="-120"/>
              </a:rPr>
              <a:t>claude</a:t>
            </a:r>
            <a:endParaRPr lang="en-US" sz="2000" dirty="0"/>
          </a:p>
        </p:txBody>
      </p:sp>
      <p:sp>
        <p:nvSpPr>
          <p:cNvPr id="5" name="Text 3"/>
          <p:cNvSpPr/>
          <p:nvPr/>
        </p:nvSpPr>
        <p:spPr>
          <a:xfrm>
            <a:off x="5943600" y="274320"/>
            <a:ext cx="5760720" cy="411480"/>
          </a:xfrm>
          <a:prstGeom prst="rect">
            <a:avLst/>
          </a:prstGeom>
          <a:noFill/>
          <a:ln/>
        </p:spPr>
        <p:txBody>
          <a:bodyPr wrap="square" lIns="0" tIns="0" rIns="0" bIns="0" rtlCol="0" anchor="ctr"/>
          <a:lstStyle/>
          <a:p>
            <a:pPr algn="r" indent="0" marL="0">
              <a:buNone/>
            </a:pPr>
            <a:r>
              <a:rPr lang="en-US" sz="1250" dirty="0">
                <a:solidFill>
                  <a:srgbClr val="9AA2B4"/>
                </a:solidFill>
                <a:latin typeface="Helvetica" pitchFamily="34" charset="0"/>
                <a:ea typeface="Helvetica" pitchFamily="34" charset="-122"/>
                <a:cs typeface="Helvetica" pitchFamily="34" charset="-120"/>
              </a:rPr>
              <a:t>Modul 6 — Dari Angka ke Grafik</a:t>
            </a:r>
            <a:endParaRPr lang="en-US" sz="1250" dirty="0"/>
          </a:p>
        </p:txBody>
      </p:sp>
      <p:sp>
        <p:nvSpPr>
          <p:cNvPr id="6" name="Text 4"/>
          <p:cNvSpPr/>
          <p:nvPr/>
        </p:nvSpPr>
        <p:spPr>
          <a:xfrm>
            <a:off x="502920" y="1188720"/>
            <a:ext cx="11155680" cy="502920"/>
          </a:xfrm>
          <a:prstGeom prst="rect">
            <a:avLst/>
          </a:prstGeom>
          <a:noFill/>
          <a:ln/>
        </p:spPr>
        <p:txBody>
          <a:bodyPr wrap="square" lIns="0" tIns="0" rIns="0" bIns="0" rtlCol="0" anchor="ctr"/>
          <a:lstStyle/>
          <a:p>
            <a:pPr indent="0" marL="0">
              <a:buNone/>
            </a:pPr>
            <a:r>
              <a:rPr lang="en-US" sz="2200" b="1" dirty="0">
                <a:solidFill>
                  <a:srgbClr val="0D1321"/>
                </a:solidFill>
                <a:latin typeface="Helvetica" pitchFamily="34" charset="0"/>
                <a:ea typeface="Helvetica" pitchFamily="34" charset="-122"/>
                <a:cs typeface="Helvetica" pitchFamily="34" charset="-120"/>
              </a:rPr>
              <a:t>Latihan &amp; Output</a:t>
            </a:r>
            <a:endParaRPr lang="en-US" sz="2200" dirty="0"/>
          </a:p>
        </p:txBody>
      </p:sp>
      <p:sp>
        <p:nvSpPr>
          <p:cNvPr id="7" name="Shape 5"/>
          <p:cNvSpPr/>
          <p:nvPr/>
        </p:nvSpPr>
        <p:spPr>
          <a:xfrm>
            <a:off x="502920" y="1783080"/>
            <a:ext cx="11201400" cy="2011680"/>
          </a:xfrm>
          <a:prstGeom prst="roundRect">
            <a:avLst>
              <a:gd name="adj" fmla="val 4545"/>
            </a:avLst>
          </a:prstGeom>
          <a:solidFill>
            <a:srgbClr val="EAFAF0"/>
          </a:solidFill>
          <a:ln w="12700">
            <a:solidFill>
              <a:srgbClr val="B8E6C9"/>
            </a:solidFill>
            <a:prstDash val="solid"/>
          </a:ln>
        </p:spPr>
      </p:sp>
      <p:sp>
        <p:nvSpPr>
          <p:cNvPr id="8" name="Text 6"/>
          <p:cNvSpPr/>
          <p:nvPr/>
        </p:nvSpPr>
        <p:spPr>
          <a:xfrm>
            <a:off x="777240" y="1965960"/>
            <a:ext cx="4572000" cy="274320"/>
          </a:xfrm>
          <a:prstGeom prst="rect">
            <a:avLst/>
          </a:prstGeom>
          <a:noFill/>
          <a:ln/>
        </p:spPr>
        <p:txBody>
          <a:bodyPr wrap="square" lIns="0" tIns="0" rIns="0" bIns="0" rtlCol="0" anchor="ctr"/>
          <a:lstStyle/>
          <a:p>
            <a:pPr indent="0" marL="0">
              <a:buNone/>
            </a:pPr>
            <a:r>
              <a:rPr lang="en-US" sz="1250" b="1" spc="30" kern="0" dirty="0">
                <a:solidFill>
                  <a:srgbClr val="1A7A44"/>
                </a:solidFill>
                <a:latin typeface="Helvetica" pitchFamily="34" charset="0"/>
                <a:ea typeface="Helvetica" pitchFamily="34" charset="-122"/>
                <a:cs typeface="Helvetica" pitchFamily="34" charset="-120"/>
              </a:rPr>
              <a:t>■ LATIHAN</a:t>
            </a:r>
            <a:endParaRPr lang="en-US" sz="1250" dirty="0"/>
          </a:p>
        </p:txBody>
      </p:sp>
      <p:sp>
        <p:nvSpPr>
          <p:cNvPr id="9" name="Text 7"/>
          <p:cNvSpPr/>
          <p:nvPr/>
        </p:nvSpPr>
        <p:spPr>
          <a:xfrm>
            <a:off x="777240" y="2286000"/>
            <a:ext cx="10652760" cy="1371600"/>
          </a:xfrm>
          <a:prstGeom prst="rect">
            <a:avLst/>
          </a:prstGeom>
          <a:noFill/>
          <a:ln/>
        </p:spPr>
        <p:txBody>
          <a:bodyPr wrap="square" lIns="0" tIns="0" rIns="0" bIns="0" rtlCol="0" anchor="ctr"/>
          <a:lstStyle/>
          <a:p>
            <a:pPr indent="0" marL="0">
              <a:lnSpc>
                <a:spcPct val="125000"/>
              </a:lnSpc>
              <a:buNone/>
            </a:pPr>
            <a:r>
              <a:rPr lang="en-US" sz="1200" dirty="0">
                <a:solidFill>
                  <a:srgbClr val="23283A"/>
                </a:solidFill>
                <a:latin typeface="Helvetica" pitchFamily="34" charset="0"/>
                <a:ea typeface="Helvetica" pitchFamily="34" charset="-122"/>
                <a:cs typeface="Helvetica" pitchFamily="34" charset="-120"/>
              </a:rPr>
              <a:t>Pakai data yang sama dari Modul 3 (penjualan mingguan Mei-Juni). Pastikan Code execution and file creation sudah aktif, lalu kirim prompt: “Buatkan line chart penjualan mingguan tiap produk dari Mei ke Juni. Kasih tanda di titik waktu Roti Sobek Keju dan Brownies mulai turun tajam, dan tambahkan keterangan singkat soal kenaikan harga di periode itu.” Minta minimal 1 revisi (misalnya ganti warna atau jenis chart), lalu download hasilnya.</a:t>
            </a:r>
            <a:endParaRPr lang="en-US" sz="1200" dirty="0"/>
          </a:p>
        </p:txBody>
      </p:sp>
      <p:sp>
        <p:nvSpPr>
          <p:cNvPr id="10" name="Shape 8"/>
          <p:cNvSpPr/>
          <p:nvPr/>
        </p:nvSpPr>
        <p:spPr>
          <a:xfrm>
            <a:off x="502920" y="4050792"/>
            <a:ext cx="11201400" cy="868680"/>
          </a:xfrm>
          <a:prstGeom prst="roundRect">
            <a:avLst>
              <a:gd name="adj" fmla="val 8421"/>
            </a:avLst>
          </a:prstGeom>
          <a:solidFill>
            <a:srgbClr val="F3F0FF"/>
          </a:solidFill>
          <a:ln w="12700">
            <a:solidFill>
              <a:srgbClr val="DCD3FB"/>
            </a:solidFill>
            <a:prstDash val="solid"/>
          </a:ln>
        </p:spPr>
      </p:sp>
      <p:sp>
        <p:nvSpPr>
          <p:cNvPr id="11" name="Shape 9"/>
          <p:cNvSpPr/>
          <p:nvPr/>
        </p:nvSpPr>
        <p:spPr>
          <a:xfrm>
            <a:off x="731520" y="4256532"/>
            <a:ext cx="457200" cy="457200"/>
          </a:xfrm>
          <a:prstGeom prst="ellipse">
            <a:avLst/>
          </a:prstGeom>
          <a:solidFill>
            <a:srgbClr val="6849F6"/>
          </a:solidFill>
          <a:ln/>
        </p:spPr>
      </p:sp>
      <p:sp>
        <p:nvSpPr>
          <p:cNvPr id="12" name="Text 10"/>
          <p:cNvSpPr/>
          <p:nvPr/>
        </p:nvSpPr>
        <p:spPr>
          <a:xfrm>
            <a:off x="731520" y="4256532"/>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Helvetica" pitchFamily="34" charset="0"/>
                <a:ea typeface="Helvetica" pitchFamily="34" charset="-122"/>
                <a:cs typeface="Helvetica" pitchFamily="34" charset="-120"/>
              </a:rPr>
              <a:t>✓</a:t>
            </a:r>
            <a:endParaRPr lang="en-US" sz="1800" dirty="0"/>
          </a:p>
        </p:txBody>
      </p:sp>
      <p:sp>
        <p:nvSpPr>
          <p:cNvPr id="13" name="Text 11"/>
          <p:cNvSpPr/>
          <p:nvPr/>
        </p:nvSpPr>
        <p:spPr>
          <a:xfrm>
            <a:off x="1371600" y="4160520"/>
            <a:ext cx="10104120" cy="649224"/>
          </a:xfrm>
          <a:prstGeom prst="rect">
            <a:avLst/>
          </a:prstGeom>
          <a:noFill/>
          <a:ln/>
        </p:spPr>
        <p:txBody>
          <a:bodyPr wrap="square" lIns="0" tIns="0" rIns="0" bIns="0" rtlCol="0" anchor="t"/>
          <a:lstStyle/>
          <a:p>
            <a:pPr indent="0" marL="0">
              <a:lnSpc>
                <a:spcPct val="120000"/>
              </a:lnSpc>
              <a:buNone/>
            </a:pPr>
            <a:r>
              <a:rPr lang="en-US" sz="1200" b="1" dirty="0">
                <a:solidFill>
                  <a:srgbClr val="0D1321"/>
                </a:solidFill>
                <a:latin typeface="Helvetica" pitchFamily="34" charset="0"/>
                <a:ea typeface="Helvetica" pitchFamily="34" charset="-122"/>
                <a:cs typeface="Helvetica" pitchFamily="34" charset="-120"/>
              </a:rPr>
              <a:t>Output yang Diharapkan   </a:t>
            </a:r>
            <a:endParaRPr lang="en-US" sz="1200" dirty="0"/>
          </a:p>
          <a:p>
            <a:pPr indent="0" marL="0">
              <a:lnSpc>
                <a:spcPct val="120000"/>
              </a:lnSpc>
              <a:buNone/>
            </a:pPr>
            <a:r>
              <a:rPr lang="en-US" sz="1200" dirty="0">
                <a:solidFill>
                  <a:srgbClr val="6B7280"/>
                </a:solidFill>
                <a:latin typeface="Helvetica" pitchFamily="34" charset="0"/>
                <a:ea typeface="Helvetica" pitchFamily="34" charset="-122"/>
                <a:cs typeface="Helvetica" pitchFamily="34" charset="-120"/>
              </a:rPr>
              <a:t>1 chart di Artifacts yang sudah direvisi minimal 1 kali, plus file hasil download-nya — siap ditempel ke ringkasan eksekutif dari Modul 5.</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2026-08-24T09:27:59Z</dcterms:created>
  <dcterms:modified xsi:type="dcterms:W3CDTF">2026-08-24T09:27:59Z</dcterms:modified>
</cp:coreProperties>
</file>