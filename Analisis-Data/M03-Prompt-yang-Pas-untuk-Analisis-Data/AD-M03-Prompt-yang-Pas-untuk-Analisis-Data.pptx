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321"/>
        </a:solidFill>
      </p:bgPr>
    </p:bg>
    <p:spTree>
      <p:nvGrpSpPr>
        <p:cNvPr id="1" name=""/>
        <p:cNvGrpSpPr/>
        <p:nvPr/>
      </p:nvGrpSpPr>
      <p:grpSpPr>
        <a:xfrm>
          <a:off x="0" y="0"/>
          <a:ext cx="0" cy="0"/>
          <a:chOff x="0" y="0"/>
          <a:chExt cx="0" cy="0"/>
        </a:xfrm>
      </p:grpSpPr>
      <p:sp>
        <p:nvSpPr>
          <p:cNvPr id="2" name="Shape 0"/>
          <p:cNvSpPr/>
          <p:nvPr/>
        </p:nvSpPr>
        <p:spPr>
          <a:xfrm>
            <a:off x="8138160" y="0"/>
            <a:ext cx="4053535" cy="6858000"/>
          </a:xfrm>
          <a:prstGeom prst="rect">
            <a:avLst/>
          </a:prstGeom>
          <a:solidFill>
            <a:srgbClr val="141D33"/>
          </a:solidFill>
          <a:ln/>
        </p:spPr>
      </p:sp>
      <p:sp>
        <p:nvSpPr>
          <p:cNvPr id="3" name="Text 1"/>
          <p:cNvSpPr/>
          <p:nvPr/>
        </p:nvSpPr>
        <p:spPr>
          <a:xfrm>
            <a:off x="640080" y="502920"/>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4" name="Shape 2"/>
          <p:cNvSpPr/>
          <p:nvPr/>
        </p:nvSpPr>
        <p:spPr>
          <a:xfrm>
            <a:off x="9692640" y="457200"/>
            <a:ext cx="1965960" cy="457200"/>
          </a:xfrm>
          <a:prstGeom prst="roundRect">
            <a:avLst>
              <a:gd name="adj" fmla="val 20000"/>
            </a:avLst>
          </a:prstGeom>
          <a:solidFill>
            <a:srgbClr val="6849F6"/>
          </a:solidFill>
          <a:ln/>
        </p:spPr>
      </p:sp>
      <p:sp>
        <p:nvSpPr>
          <p:cNvPr id="5" name="Text 3"/>
          <p:cNvSpPr/>
          <p:nvPr/>
        </p:nvSpPr>
        <p:spPr>
          <a:xfrm>
            <a:off x="9692640" y="457200"/>
            <a:ext cx="19659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Helvetica" pitchFamily="34" charset="0"/>
                <a:ea typeface="Helvetica" pitchFamily="34" charset="-122"/>
                <a:cs typeface="Helvetica" pitchFamily="34" charset="-120"/>
              </a:rPr>
              <a:t>MODUL 3</a:t>
            </a:r>
            <a:endParaRPr lang="en-US" sz="1300" dirty="0"/>
          </a:p>
        </p:txBody>
      </p:sp>
      <p:sp>
        <p:nvSpPr>
          <p:cNvPr id="6" name="Text 4"/>
          <p:cNvSpPr/>
          <p:nvPr/>
        </p:nvSpPr>
        <p:spPr>
          <a:xfrm>
            <a:off x="640080" y="2468880"/>
            <a:ext cx="7315200" cy="1554480"/>
          </a:xfrm>
          <a:prstGeom prst="rect">
            <a:avLst/>
          </a:prstGeom>
          <a:noFill/>
          <a:ln/>
        </p:spPr>
        <p:txBody>
          <a:bodyPr wrap="square" lIns="0" tIns="0" rIns="0" bIns="0" rtlCol="0" anchor="t"/>
          <a:lstStyle/>
          <a:p>
            <a:pPr indent="0" marL="0">
              <a:lnSpc>
                <a:spcPts val="4600"/>
              </a:lnSpc>
              <a:buNone/>
            </a:pPr>
            <a:r>
              <a:rPr lang="en-US" sz="4000" b="1" dirty="0">
                <a:solidFill>
                  <a:srgbClr val="FFFFFF"/>
                </a:solidFill>
                <a:latin typeface="Helvetica" pitchFamily="34" charset="0"/>
                <a:ea typeface="Helvetica" pitchFamily="34" charset="-122"/>
                <a:cs typeface="Helvetica" pitchFamily="34" charset="-120"/>
              </a:rPr>
              <a:t>Prompt yang Pas untuk</a:t>
            </a:r>
            <a:endParaRPr lang="en-US" sz="4000" dirty="0"/>
          </a:p>
          <a:p>
            <a:pPr indent="0" marL="0">
              <a:lnSpc>
                <a:spcPts val="4600"/>
              </a:lnSpc>
              <a:buNone/>
            </a:pPr>
            <a:r>
              <a:rPr lang="en-US" sz="4000" b="1" dirty="0">
                <a:solidFill>
                  <a:srgbClr val="FFFFFF"/>
                </a:solidFill>
                <a:latin typeface="Helvetica" pitchFamily="34" charset="0"/>
                <a:ea typeface="Helvetica" pitchFamily="34" charset="-122"/>
                <a:cs typeface="Helvetica" pitchFamily="34" charset="-120"/>
              </a:rPr>
              <a:t>Analisis Data</a:t>
            </a:r>
            <a:endParaRPr lang="en-US" sz="4000" dirty="0"/>
          </a:p>
        </p:txBody>
      </p:sp>
      <p:sp>
        <p:nvSpPr>
          <p:cNvPr id="7" name="Text 5"/>
          <p:cNvSpPr/>
          <p:nvPr/>
        </p:nvSpPr>
        <p:spPr>
          <a:xfrm>
            <a:off x="640080" y="3977640"/>
            <a:ext cx="6949440" cy="822960"/>
          </a:xfrm>
          <a:prstGeom prst="rect">
            <a:avLst/>
          </a:prstGeom>
          <a:noFill/>
          <a:ln/>
        </p:spPr>
        <p:txBody>
          <a:bodyPr wrap="square" lIns="0" tIns="0" rIns="0" bIns="0" rtlCol="0" anchor="ctr"/>
          <a:lstStyle/>
          <a:p>
            <a:pPr indent="0" marL="0">
              <a:lnSpc>
                <a:spcPct val="130000"/>
              </a:lnSpc>
              <a:buNone/>
            </a:pPr>
            <a:r>
              <a:rPr lang="en-US" sz="1550" dirty="0">
                <a:solidFill>
                  <a:srgbClr val="B7C0D8"/>
                </a:solidFill>
                <a:latin typeface="Helvetica" pitchFamily="34" charset="0"/>
                <a:ea typeface="Helvetica" pitchFamily="34" charset="-122"/>
                <a:cs typeface="Helvetica" pitchFamily="34" charset="-120"/>
              </a:rPr>
              <a:t>Framework K-P-I: Konteks Bisnis + Pertanyaan Spesifik + Jenis Insight</a:t>
            </a:r>
            <a:endParaRPr lang="en-US" sz="1550" dirty="0"/>
          </a:p>
        </p:txBody>
      </p:sp>
      <p:sp>
        <p:nvSpPr>
          <p:cNvPr id="8" name="Text 6"/>
          <p:cNvSpPr/>
          <p:nvPr/>
        </p:nvSpPr>
        <p:spPr>
          <a:xfrm>
            <a:off x="640080" y="6263640"/>
            <a:ext cx="6858000" cy="320040"/>
          </a:xfrm>
          <a:prstGeom prst="rect">
            <a:avLst/>
          </a:prstGeom>
          <a:noFill/>
          <a:ln/>
        </p:spPr>
        <p:txBody>
          <a:bodyPr wrap="square" lIns="0" tIns="0" rIns="0" bIns="0" rtlCol="0" anchor="ctr"/>
          <a:lstStyle/>
          <a:p>
            <a:pPr indent="0" marL="0">
              <a:buNone/>
            </a:pPr>
            <a:r>
              <a:rPr lang="en-US" sz="1150" dirty="0">
                <a:solidFill>
                  <a:srgbClr val="9AA2B4"/>
                </a:solidFill>
                <a:latin typeface="Helvetica" pitchFamily="34" charset="0"/>
                <a:ea typeface="Helvetica" pitchFamily="34" charset="-122"/>
                <a:cs typeface="Helvetica" pitchFamily="34" charset="-120"/>
              </a:rPr>
              <a:t>Analisis Data &amp; Laporan · Studi Kasus Toko Roti Online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3 — Prompt yang Pas untuk Analisis Data</a:t>
            </a:r>
            <a:endParaRPr lang="en-US" sz="1250" dirty="0"/>
          </a:p>
        </p:txBody>
      </p:sp>
      <p:sp>
        <p:nvSpPr>
          <p:cNvPr id="6" name="Text 4"/>
          <p:cNvSpPr/>
          <p:nvPr/>
        </p:nvSpPr>
        <p:spPr>
          <a:xfrm>
            <a:off x="502920" y="1188720"/>
            <a:ext cx="1115568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Framework K-P-I</a:t>
            </a:r>
            <a:endParaRPr lang="en-US" sz="2200" dirty="0"/>
          </a:p>
        </p:txBody>
      </p:sp>
      <p:sp>
        <p:nvSpPr>
          <p:cNvPr id="7" name="Text 5"/>
          <p:cNvSpPr/>
          <p:nvPr/>
        </p:nvSpPr>
        <p:spPr>
          <a:xfrm>
            <a:off x="502920" y="1691640"/>
            <a:ext cx="11155680" cy="457200"/>
          </a:xfrm>
          <a:prstGeom prst="rect">
            <a:avLst/>
          </a:prstGeom>
          <a:noFill/>
          <a:ln/>
        </p:spPr>
        <p:txBody>
          <a:bodyPr wrap="square" lIns="0" tIns="0" rIns="0" bIns="0" rtlCol="0" anchor="ctr"/>
          <a:lstStyle/>
          <a:p>
            <a:pPr indent="0" marL="0">
              <a:lnSpc>
                <a:spcPct val="120000"/>
              </a:lnSpc>
              <a:buNone/>
            </a:pPr>
            <a:r>
              <a:rPr lang="en-US" sz="1300" dirty="0">
                <a:solidFill>
                  <a:srgbClr val="6B7280"/>
                </a:solidFill>
                <a:latin typeface="Helvetica" pitchFamily="34" charset="0"/>
                <a:ea typeface="Helvetica" pitchFamily="34" charset="-122"/>
                <a:cs typeface="Helvetica" pitchFamily="34" charset="-120"/>
              </a:rPr>
              <a:t>Prompt yang terlalu umum ke data menghasilkan analisis yang generik — makin spesifik kamu nanya, makin tajam jawaban yang kamu dapat.</a:t>
            </a:r>
            <a:endParaRPr lang="en-US" sz="1300" dirty="0"/>
          </a:p>
        </p:txBody>
      </p:sp>
      <p:sp>
        <p:nvSpPr>
          <p:cNvPr id="8" name="Shape 6"/>
          <p:cNvSpPr/>
          <p:nvPr/>
        </p:nvSpPr>
        <p:spPr>
          <a:xfrm>
            <a:off x="502920" y="2331720"/>
            <a:ext cx="5394960" cy="3429000"/>
          </a:xfrm>
          <a:prstGeom prst="roundRect">
            <a:avLst>
              <a:gd name="adj" fmla="val 3200"/>
            </a:avLst>
          </a:prstGeom>
          <a:solidFill>
            <a:srgbClr val="F4F6FB"/>
          </a:solidFill>
          <a:ln w="12700">
            <a:solidFill>
              <a:srgbClr val="D6DCEB"/>
            </a:solidFill>
            <a:prstDash val="solid"/>
          </a:ln>
        </p:spPr>
      </p:sp>
      <p:sp>
        <p:nvSpPr>
          <p:cNvPr id="9" name="Text 7"/>
          <p:cNvSpPr/>
          <p:nvPr/>
        </p:nvSpPr>
        <p:spPr>
          <a:xfrm>
            <a:off x="777240" y="2560320"/>
            <a:ext cx="4846320" cy="320040"/>
          </a:xfrm>
          <a:prstGeom prst="rect">
            <a:avLst/>
          </a:prstGeom>
          <a:noFill/>
          <a:ln/>
        </p:spPr>
        <p:txBody>
          <a:bodyPr wrap="square" lIns="0" tIns="0" rIns="0" bIns="0" rtlCol="0" anchor="ctr"/>
          <a:lstStyle/>
          <a:p>
            <a:pPr indent="0" marL="0">
              <a:buNone/>
            </a:pPr>
            <a:r>
              <a:rPr lang="en-US" sz="1500" b="1" dirty="0">
                <a:solidFill>
                  <a:srgbClr val="0D1321"/>
                </a:solidFill>
                <a:latin typeface="Helvetica" pitchFamily="34" charset="0"/>
                <a:ea typeface="Helvetica" pitchFamily="34" charset="-122"/>
                <a:cs typeface="Helvetica" pitchFamily="34" charset="-120"/>
              </a:rPr>
              <a:t>Prompt Buruk</a:t>
            </a:r>
            <a:endParaRPr lang="en-US" sz="1500" dirty="0"/>
          </a:p>
        </p:txBody>
      </p:sp>
      <p:sp>
        <p:nvSpPr>
          <p:cNvPr id="10" name="Text 8"/>
          <p:cNvSpPr/>
          <p:nvPr/>
        </p:nvSpPr>
        <p:spPr>
          <a:xfrm>
            <a:off x="777240" y="2971800"/>
            <a:ext cx="4846320" cy="640080"/>
          </a:xfrm>
          <a:prstGeom prst="rect">
            <a:avLst/>
          </a:prstGeom>
          <a:noFill/>
          <a:ln/>
        </p:spPr>
        <p:txBody>
          <a:bodyPr wrap="square" lIns="0" tIns="0" rIns="0" bIns="0" rtlCol="0" anchor="ctr"/>
          <a:lstStyle/>
          <a:p>
            <a:pPr indent="0" marL="0">
              <a:lnSpc>
                <a:spcPct val="125000"/>
              </a:lnSpc>
              <a:buNone/>
            </a:pPr>
            <a:r>
              <a:rPr lang="en-US" sz="1300" i="1" dirty="0">
                <a:solidFill>
                  <a:srgbClr val="23283A"/>
                </a:solidFill>
                <a:latin typeface="Helvetica" pitchFamily="34" charset="0"/>
                <a:ea typeface="Helvetica" pitchFamily="34" charset="-122"/>
                <a:cs typeface="Helvetica" pitchFamily="34" charset="-120"/>
              </a:rPr>
              <a:t>“Analisa data penjualan toko roti aku dong.”</a:t>
            </a:r>
            <a:endParaRPr lang="en-US" sz="1300" dirty="0"/>
          </a:p>
        </p:txBody>
      </p:sp>
      <p:sp>
        <p:nvSpPr>
          <p:cNvPr id="11" name="Text 9"/>
          <p:cNvSpPr/>
          <p:nvPr/>
        </p:nvSpPr>
        <p:spPr>
          <a:xfrm>
            <a:off x="777240" y="3749040"/>
            <a:ext cx="4846320" cy="914400"/>
          </a:xfrm>
          <a:prstGeom prst="rect">
            <a:avLst/>
          </a:prstGeom>
          <a:noFill/>
          <a:ln/>
        </p:spPr>
        <p:txBody>
          <a:bodyPr wrap="square" lIns="0" tIns="0" rIns="0" bIns="0" rtlCol="0" anchor="ctr"/>
          <a:lstStyle/>
          <a:p>
            <a:pPr indent="0" marL="0">
              <a:lnSpc>
                <a:spcPct val="125000"/>
              </a:lnSpc>
              <a:buNone/>
            </a:pPr>
            <a:r>
              <a:rPr lang="en-US" sz="1250" b="1" dirty="0">
                <a:solidFill>
                  <a:srgbClr val="23283A"/>
                </a:solidFill>
                <a:latin typeface="Helvetica" pitchFamily="34" charset="0"/>
                <a:ea typeface="Helvetica" pitchFamily="34" charset="-122"/>
                <a:cs typeface="Helvetica" pitchFamily="34" charset="-120"/>
              </a:rPr>
              <a:t>Hasil: </a:t>
            </a:r>
            <a:pPr indent="0" marL="0">
              <a:lnSpc>
                <a:spcPct val="125000"/>
              </a:lnSpc>
              <a:buNone/>
            </a:pPr>
            <a:r>
              <a:rPr lang="en-US" sz="1250" dirty="0">
                <a:solidFill>
                  <a:srgbClr val="6B7280"/>
                </a:solidFill>
                <a:latin typeface="Helvetica" pitchFamily="34" charset="0"/>
                <a:ea typeface="Helvetica" pitchFamily="34" charset="-122"/>
                <a:cs typeface="Helvetica" pitchFamily="34" charset="-120"/>
              </a:rPr>
              <a:t>tidak ada konteks, pertanyaan, atau jenis insight yang jelas — hasilnya generik.</a:t>
            </a:r>
            <a:endParaRPr lang="en-US" sz="1250" dirty="0"/>
          </a:p>
        </p:txBody>
      </p:sp>
      <p:sp>
        <p:nvSpPr>
          <p:cNvPr id="12" name="Shape 10"/>
          <p:cNvSpPr/>
          <p:nvPr/>
        </p:nvSpPr>
        <p:spPr>
          <a:xfrm>
            <a:off x="6309360" y="2331720"/>
            <a:ext cx="5394960" cy="3429000"/>
          </a:xfrm>
          <a:prstGeom prst="roundRect">
            <a:avLst>
              <a:gd name="adj" fmla="val 3200"/>
            </a:avLst>
          </a:prstGeom>
          <a:solidFill>
            <a:srgbClr val="F3F0FF"/>
          </a:solidFill>
          <a:ln w="12700">
            <a:solidFill>
              <a:srgbClr val="DCD3FB"/>
            </a:solidFill>
            <a:prstDash val="solid"/>
          </a:ln>
        </p:spPr>
      </p:sp>
      <p:sp>
        <p:nvSpPr>
          <p:cNvPr id="13" name="Text 11"/>
          <p:cNvSpPr/>
          <p:nvPr/>
        </p:nvSpPr>
        <p:spPr>
          <a:xfrm>
            <a:off x="6583680" y="2560320"/>
            <a:ext cx="4846320" cy="320040"/>
          </a:xfrm>
          <a:prstGeom prst="rect">
            <a:avLst/>
          </a:prstGeom>
          <a:noFill/>
          <a:ln/>
        </p:spPr>
        <p:txBody>
          <a:bodyPr wrap="square" lIns="0" tIns="0" rIns="0" bIns="0" rtlCol="0" anchor="ctr"/>
          <a:lstStyle/>
          <a:p>
            <a:pPr indent="0" marL="0">
              <a:buNone/>
            </a:pPr>
            <a:r>
              <a:rPr lang="en-US" sz="1500" b="1" dirty="0">
                <a:solidFill>
                  <a:srgbClr val="4B36C7"/>
                </a:solidFill>
                <a:latin typeface="Helvetica" pitchFamily="34" charset="0"/>
                <a:ea typeface="Helvetica" pitchFamily="34" charset="-122"/>
                <a:cs typeface="Helvetica" pitchFamily="34" charset="-120"/>
              </a:rPr>
              <a:t>Prompt K-P-I</a:t>
            </a:r>
            <a:endParaRPr lang="en-US" sz="1500" dirty="0"/>
          </a:p>
        </p:txBody>
      </p:sp>
      <p:sp>
        <p:nvSpPr>
          <p:cNvPr id="14" name="Text 12"/>
          <p:cNvSpPr/>
          <p:nvPr/>
        </p:nvSpPr>
        <p:spPr>
          <a:xfrm>
            <a:off x="6583680" y="2971800"/>
            <a:ext cx="4846320" cy="1691640"/>
          </a:xfrm>
          <a:prstGeom prst="rect">
            <a:avLst/>
          </a:prstGeom>
          <a:noFill/>
          <a:ln/>
        </p:spPr>
        <p:txBody>
          <a:bodyPr wrap="square" lIns="0" tIns="0" rIns="0" bIns="0" rtlCol="0" anchor="ctr"/>
          <a:lstStyle/>
          <a:p>
            <a:pPr indent="0" marL="0">
              <a:lnSpc>
                <a:spcPct val="122000"/>
              </a:lnSpc>
              <a:buNone/>
            </a:pPr>
            <a:r>
              <a:rPr lang="en-US" sz="1150" i="1" dirty="0">
                <a:solidFill>
                  <a:srgbClr val="23283A"/>
                </a:solidFill>
                <a:latin typeface="Helvetica" pitchFamily="34" charset="0"/>
                <a:ea typeface="Helvetica" pitchFamily="34" charset="-122"/>
                <a:cs typeface="Helvetica" pitchFamily="34" charset="-120"/>
              </a:rPr>
              <a:t>“Saya jualan roti online, penjualan Juni turun dibanding Mei. Saya sempat naikin harga beberapa produk di pertengahan bulan. Produk apa yang penurunannya paling signifikan, dan apakah waktunya berbarengan dengan kenaikan harga? Saya butuh diagnosis, bukan cuma angka penurunannya.”</a:t>
            </a:r>
            <a:endParaRPr lang="en-US" sz="1150" dirty="0"/>
          </a:p>
        </p:txBody>
      </p:sp>
      <p:sp>
        <p:nvSpPr>
          <p:cNvPr id="15" name="Text 13"/>
          <p:cNvSpPr/>
          <p:nvPr/>
        </p:nvSpPr>
        <p:spPr>
          <a:xfrm>
            <a:off x="6583680" y="4754880"/>
            <a:ext cx="4846320" cy="822960"/>
          </a:xfrm>
          <a:prstGeom prst="rect">
            <a:avLst/>
          </a:prstGeom>
          <a:noFill/>
          <a:ln/>
        </p:spPr>
        <p:txBody>
          <a:bodyPr wrap="square" lIns="0" tIns="0" rIns="0" bIns="0" rtlCol="0" anchor="ctr"/>
          <a:lstStyle/>
          <a:p>
            <a:pPr indent="0" marL="0">
              <a:lnSpc>
                <a:spcPct val="125000"/>
              </a:lnSpc>
              <a:buNone/>
            </a:pPr>
            <a:r>
              <a:rPr lang="en-US" sz="1250" b="1" dirty="0">
                <a:solidFill>
                  <a:srgbClr val="23283A"/>
                </a:solidFill>
                <a:latin typeface="Helvetica" pitchFamily="34" charset="0"/>
                <a:ea typeface="Helvetica" pitchFamily="34" charset="-122"/>
                <a:cs typeface="Helvetica" pitchFamily="34" charset="-120"/>
              </a:rPr>
              <a:t>Hasil: </a:t>
            </a:r>
            <a:pPr indent="0" marL="0">
              <a:lnSpc>
                <a:spcPct val="125000"/>
              </a:lnSpc>
              <a:buNone/>
            </a:pPr>
            <a:r>
              <a:rPr lang="en-US" sz="1250" dirty="0">
                <a:solidFill>
                  <a:srgbClr val="6B7280"/>
                </a:solidFill>
                <a:latin typeface="Helvetica" pitchFamily="34" charset="0"/>
                <a:ea typeface="Helvetica" pitchFamily="34" charset="-122"/>
                <a:cs typeface="Helvetica" pitchFamily="34" charset="-120"/>
              </a:rPr>
              <a:t>konteks, pertanyaan spesifik, dan jenis insight jelas — hasilnya tajam dan langsung terpakai.</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3 — Prompt yang Pas untuk Analisis Data</a:t>
            </a:r>
            <a:endParaRPr lang="en-US" sz="1250" dirty="0"/>
          </a:p>
        </p:txBody>
      </p:sp>
      <p:sp>
        <p:nvSpPr>
          <p:cNvPr id="6" name="Text 4"/>
          <p:cNvSpPr/>
          <p:nvPr/>
        </p:nvSpPr>
        <p:spPr>
          <a:xfrm>
            <a:off x="502920" y="1188720"/>
            <a:ext cx="1115568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3 Elemen Framework K-P-I</a:t>
            </a:r>
            <a:endParaRPr lang="en-US" sz="2200" dirty="0"/>
          </a:p>
        </p:txBody>
      </p:sp>
      <p:sp>
        <p:nvSpPr>
          <p:cNvPr id="7" name="Shape 5"/>
          <p:cNvSpPr/>
          <p:nvPr/>
        </p:nvSpPr>
        <p:spPr>
          <a:xfrm>
            <a:off x="502920" y="2011680"/>
            <a:ext cx="3538728" cy="1965960"/>
          </a:xfrm>
          <a:prstGeom prst="roundRect">
            <a:avLst>
              <a:gd name="adj" fmla="val 4651"/>
            </a:avLst>
          </a:prstGeom>
          <a:solidFill>
            <a:srgbClr val="F4F6FB"/>
          </a:solidFill>
          <a:ln w="12700">
            <a:solidFill>
              <a:srgbClr val="D6DCEB"/>
            </a:solidFill>
            <a:prstDash val="solid"/>
          </a:ln>
        </p:spPr>
      </p:sp>
      <p:sp>
        <p:nvSpPr>
          <p:cNvPr id="8" name="Shape 6"/>
          <p:cNvSpPr/>
          <p:nvPr/>
        </p:nvSpPr>
        <p:spPr>
          <a:xfrm>
            <a:off x="758952" y="2267712"/>
            <a:ext cx="502920" cy="502920"/>
          </a:xfrm>
          <a:prstGeom prst="ellipse">
            <a:avLst/>
          </a:prstGeom>
          <a:solidFill>
            <a:srgbClr val="6849F6"/>
          </a:solidFill>
          <a:ln/>
        </p:spPr>
      </p:sp>
      <p:sp>
        <p:nvSpPr>
          <p:cNvPr id="9" name="Text 7"/>
          <p:cNvSpPr/>
          <p:nvPr/>
        </p:nvSpPr>
        <p:spPr>
          <a:xfrm>
            <a:off x="758952" y="226771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Helvetica" pitchFamily="34" charset="0"/>
                <a:ea typeface="Helvetica" pitchFamily="34" charset="-122"/>
                <a:cs typeface="Helvetica" pitchFamily="34" charset="-120"/>
              </a:rPr>
              <a:t>K</a:t>
            </a:r>
            <a:endParaRPr lang="en-US" sz="1800" dirty="0"/>
          </a:p>
        </p:txBody>
      </p:sp>
      <p:sp>
        <p:nvSpPr>
          <p:cNvPr id="10" name="Text 8"/>
          <p:cNvSpPr/>
          <p:nvPr/>
        </p:nvSpPr>
        <p:spPr>
          <a:xfrm>
            <a:off x="758952" y="2880360"/>
            <a:ext cx="3026664" cy="365760"/>
          </a:xfrm>
          <a:prstGeom prst="rect">
            <a:avLst/>
          </a:prstGeom>
          <a:noFill/>
          <a:ln/>
        </p:spPr>
        <p:txBody>
          <a:bodyPr wrap="square" lIns="0" tIns="0" rIns="0" bIns="0" rtlCol="0" anchor="ctr"/>
          <a:lstStyle/>
          <a:p>
            <a:pPr indent="0" marL="0">
              <a:buNone/>
            </a:pPr>
            <a:r>
              <a:rPr lang="en-US" sz="1450" b="1" dirty="0">
                <a:solidFill>
                  <a:srgbClr val="0D1321"/>
                </a:solidFill>
                <a:latin typeface="Helvetica" pitchFamily="34" charset="0"/>
                <a:ea typeface="Helvetica" pitchFamily="34" charset="-122"/>
                <a:cs typeface="Helvetica" pitchFamily="34" charset="-120"/>
              </a:rPr>
              <a:t>Konteks Bisnis</a:t>
            </a:r>
            <a:endParaRPr lang="en-US" sz="1450" dirty="0"/>
          </a:p>
        </p:txBody>
      </p:sp>
      <p:sp>
        <p:nvSpPr>
          <p:cNvPr id="11" name="Text 9"/>
          <p:cNvSpPr/>
          <p:nvPr/>
        </p:nvSpPr>
        <p:spPr>
          <a:xfrm>
            <a:off x="758952" y="3218688"/>
            <a:ext cx="3026664" cy="685800"/>
          </a:xfrm>
          <a:prstGeom prst="rect">
            <a:avLst/>
          </a:prstGeom>
          <a:noFill/>
          <a:ln/>
        </p:spPr>
        <p:txBody>
          <a:bodyPr wrap="square" lIns="0" tIns="0" rIns="0" bIns="0" rtlCol="0" anchor="ctr"/>
          <a:lstStyle/>
          <a:p>
            <a:pPr indent="0" marL="0">
              <a:lnSpc>
                <a:spcPct val="125000"/>
              </a:lnSpc>
              <a:buNone/>
            </a:pPr>
            <a:r>
              <a:rPr lang="en-US" sz="1150" dirty="0">
                <a:solidFill>
                  <a:srgbClr val="6B7280"/>
                </a:solidFill>
                <a:latin typeface="Helvetica" pitchFamily="34" charset="0"/>
                <a:ea typeface="Helvetica" pitchFamily="34" charset="-122"/>
                <a:cs typeface="Helvetica" pitchFamily="34" charset="-120"/>
              </a:rPr>
              <a:t>Situasi di balik data: jenis usaha, periode waktu, hal khusus yang lagi terjadi</a:t>
            </a:r>
            <a:endParaRPr lang="en-US" sz="1150" dirty="0"/>
          </a:p>
        </p:txBody>
      </p:sp>
      <p:sp>
        <p:nvSpPr>
          <p:cNvPr id="12" name="Shape 10"/>
          <p:cNvSpPr/>
          <p:nvPr/>
        </p:nvSpPr>
        <p:spPr>
          <a:xfrm>
            <a:off x="4334256" y="2011680"/>
            <a:ext cx="3538728" cy="1965960"/>
          </a:xfrm>
          <a:prstGeom prst="roundRect">
            <a:avLst>
              <a:gd name="adj" fmla="val 4651"/>
            </a:avLst>
          </a:prstGeom>
          <a:solidFill>
            <a:srgbClr val="F4F6FB"/>
          </a:solidFill>
          <a:ln w="12700">
            <a:solidFill>
              <a:srgbClr val="D6DCEB"/>
            </a:solidFill>
            <a:prstDash val="solid"/>
          </a:ln>
        </p:spPr>
      </p:sp>
      <p:sp>
        <p:nvSpPr>
          <p:cNvPr id="13" name="Shape 11"/>
          <p:cNvSpPr/>
          <p:nvPr/>
        </p:nvSpPr>
        <p:spPr>
          <a:xfrm>
            <a:off x="4590288" y="2267712"/>
            <a:ext cx="502920" cy="502920"/>
          </a:xfrm>
          <a:prstGeom prst="ellipse">
            <a:avLst/>
          </a:prstGeom>
          <a:solidFill>
            <a:srgbClr val="6849F6"/>
          </a:solidFill>
          <a:ln/>
        </p:spPr>
      </p:sp>
      <p:sp>
        <p:nvSpPr>
          <p:cNvPr id="14" name="Text 12"/>
          <p:cNvSpPr/>
          <p:nvPr/>
        </p:nvSpPr>
        <p:spPr>
          <a:xfrm>
            <a:off x="4590288" y="226771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Helvetica" pitchFamily="34" charset="0"/>
                <a:ea typeface="Helvetica" pitchFamily="34" charset="-122"/>
                <a:cs typeface="Helvetica" pitchFamily="34" charset="-120"/>
              </a:rPr>
              <a:t>P</a:t>
            </a:r>
            <a:endParaRPr lang="en-US" sz="1800" dirty="0"/>
          </a:p>
        </p:txBody>
      </p:sp>
      <p:sp>
        <p:nvSpPr>
          <p:cNvPr id="15" name="Text 13"/>
          <p:cNvSpPr/>
          <p:nvPr/>
        </p:nvSpPr>
        <p:spPr>
          <a:xfrm>
            <a:off x="4590288" y="2880360"/>
            <a:ext cx="3026664" cy="365760"/>
          </a:xfrm>
          <a:prstGeom prst="rect">
            <a:avLst/>
          </a:prstGeom>
          <a:noFill/>
          <a:ln/>
        </p:spPr>
        <p:txBody>
          <a:bodyPr wrap="square" lIns="0" tIns="0" rIns="0" bIns="0" rtlCol="0" anchor="ctr"/>
          <a:lstStyle/>
          <a:p>
            <a:pPr indent="0" marL="0">
              <a:buNone/>
            </a:pPr>
            <a:r>
              <a:rPr lang="en-US" sz="1450" b="1" dirty="0">
                <a:solidFill>
                  <a:srgbClr val="0D1321"/>
                </a:solidFill>
                <a:latin typeface="Helvetica" pitchFamily="34" charset="0"/>
                <a:ea typeface="Helvetica" pitchFamily="34" charset="-122"/>
                <a:cs typeface="Helvetica" pitchFamily="34" charset="-120"/>
              </a:rPr>
              <a:t>Pertanyaan Spesifik</a:t>
            </a:r>
            <a:endParaRPr lang="en-US" sz="1450" dirty="0"/>
          </a:p>
        </p:txBody>
      </p:sp>
      <p:sp>
        <p:nvSpPr>
          <p:cNvPr id="16" name="Text 14"/>
          <p:cNvSpPr/>
          <p:nvPr/>
        </p:nvSpPr>
        <p:spPr>
          <a:xfrm>
            <a:off x="4590288" y="3218688"/>
            <a:ext cx="3026664" cy="685800"/>
          </a:xfrm>
          <a:prstGeom prst="rect">
            <a:avLst/>
          </a:prstGeom>
          <a:noFill/>
          <a:ln/>
        </p:spPr>
        <p:txBody>
          <a:bodyPr wrap="square" lIns="0" tIns="0" rIns="0" bIns="0" rtlCol="0" anchor="ctr"/>
          <a:lstStyle/>
          <a:p>
            <a:pPr indent="0" marL="0">
              <a:lnSpc>
                <a:spcPct val="125000"/>
              </a:lnSpc>
              <a:buNone/>
            </a:pPr>
            <a:r>
              <a:rPr lang="en-US" sz="1150" dirty="0">
                <a:solidFill>
                  <a:srgbClr val="6B7280"/>
                </a:solidFill>
                <a:latin typeface="Helvetica" pitchFamily="34" charset="0"/>
                <a:ea typeface="Helvetica" pitchFamily="34" charset="-122"/>
                <a:cs typeface="Helvetica" pitchFamily="34" charset="-120"/>
              </a:rPr>
              <a:t>Bukan “analisa data ini”, tapi pertanyaan yang bisa dijawab dengan jelas</a:t>
            </a:r>
            <a:endParaRPr lang="en-US" sz="1150" dirty="0"/>
          </a:p>
        </p:txBody>
      </p:sp>
      <p:sp>
        <p:nvSpPr>
          <p:cNvPr id="17" name="Shape 15"/>
          <p:cNvSpPr/>
          <p:nvPr/>
        </p:nvSpPr>
        <p:spPr>
          <a:xfrm>
            <a:off x="8165592" y="2011680"/>
            <a:ext cx="3538728" cy="1965960"/>
          </a:xfrm>
          <a:prstGeom prst="roundRect">
            <a:avLst>
              <a:gd name="adj" fmla="val 4651"/>
            </a:avLst>
          </a:prstGeom>
          <a:solidFill>
            <a:srgbClr val="F4F6FB"/>
          </a:solidFill>
          <a:ln w="12700">
            <a:solidFill>
              <a:srgbClr val="D6DCEB"/>
            </a:solidFill>
            <a:prstDash val="solid"/>
          </a:ln>
        </p:spPr>
      </p:sp>
      <p:sp>
        <p:nvSpPr>
          <p:cNvPr id="18" name="Shape 16"/>
          <p:cNvSpPr/>
          <p:nvPr/>
        </p:nvSpPr>
        <p:spPr>
          <a:xfrm>
            <a:off x="8421624" y="2267712"/>
            <a:ext cx="502920" cy="502920"/>
          </a:xfrm>
          <a:prstGeom prst="ellipse">
            <a:avLst/>
          </a:prstGeom>
          <a:solidFill>
            <a:srgbClr val="6849F6"/>
          </a:solidFill>
          <a:ln/>
        </p:spPr>
      </p:sp>
      <p:sp>
        <p:nvSpPr>
          <p:cNvPr id="19" name="Text 17"/>
          <p:cNvSpPr/>
          <p:nvPr/>
        </p:nvSpPr>
        <p:spPr>
          <a:xfrm>
            <a:off x="8421624" y="226771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Helvetica" pitchFamily="34" charset="0"/>
                <a:ea typeface="Helvetica" pitchFamily="34" charset="-122"/>
                <a:cs typeface="Helvetica" pitchFamily="34" charset="-120"/>
              </a:rPr>
              <a:t>I</a:t>
            </a:r>
            <a:endParaRPr lang="en-US" sz="1800" dirty="0"/>
          </a:p>
        </p:txBody>
      </p:sp>
      <p:sp>
        <p:nvSpPr>
          <p:cNvPr id="20" name="Text 18"/>
          <p:cNvSpPr/>
          <p:nvPr/>
        </p:nvSpPr>
        <p:spPr>
          <a:xfrm>
            <a:off x="8421624" y="2880360"/>
            <a:ext cx="3026664" cy="365760"/>
          </a:xfrm>
          <a:prstGeom prst="rect">
            <a:avLst/>
          </a:prstGeom>
          <a:noFill/>
          <a:ln/>
        </p:spPr>
        <p:txBody>
          <a:bodyPr wrap="square" lIns="0" tIns="0" rIns="0" bIns="0" rtlCol="0" anchor="ctr"/>
          <a:lstStyle/>
          <a:p>
            <a:pPr indent="0" marL="0">
              <a:buNone/>
            </a:pPr>
            <a:r>
              <a:rPr lang="en-US" sz="1450" b="1" dirty="0">
                <a:solidFill>
                  <a:srgbClr val="0D1321"/>
                </a:solidFill>
                <a:latin typeface="Helvetica" pitchFamily="34" charset="0"/>
                <a:ea typeface="Helvetica" pitchFamily="34" charset="-122"/>
                <a:cs typeface="Helvetica" pitchFamily="34" charset="-120"/>
              </a:rPr>
              <a:t>Jenis Insight</a:t>
            </a:r>
            <a:endParaRPr lang="en-US" sz="1450" dirty="0"/>
          </a:p>
        </p:txBody>
      </p:sp>
      <p:sp>
        <p:nvSpPr>
          <p:cNvPr id="21" name="Text 19"/>
          <p:cNvSpPr/>
          <p:nvPr/>
        </p:nvSpPr>
        <p:spPr>
          <a:xfrm>
            <a:off x="8421624" y="3218688"/>
            <a:ext cx="3026664" cy="685800"/>
          </a:xfrm>
          <a:prstGeom prst="rect">
            <a:avLst/>
          </a:prstGeom>
          <a:noFill/>
          <a:ln/>
        </p:spPr>
        <p:txBody>
          <a:bodyPr wrap="square" lIns="0" tIns="0" rIns="0" bIns="0" rtlCol="0" anchor="ctr"/>
          <a:lstStyle/>
          <a:p>
            <a:pPr indent="0" marL="0">
              <a:lnSpc>
                <a:spcPct val="125000"/>
              </a:lnSpc>
              <a:buNone/>
            </a:pPr>
            <a:r>
              <a:rPr lang="en-US" sz="1150" dirty="0">
                <a:solidFill>
                  <a:srgbClr val="6B7280"/>
                </a:solidFill>
                <a:latin typeface="Helvetica" pitchFamily="34" charset="0"/>
                <a:ea typeface="Helvetica" pitchFamily="34" charset="-122"/>
                <a:cs typeface="Helvetica" pitchFamily="34" charset="-120"/>
              </a:rPr>
              <a:t>Mau angka aja, penyebabnya, atau rekomendasi tindakan? — nyambung ke 5 jenis analisis Modul 1</a:t>
            </a:r>
            <a:endParaRPr lang="en-US" sz="1150" dirty="0"/>
          </a:p>
        </p:txBody>
      </p:sp>
      <p:sp>
        <p:nvSpPr>
          <p:cNvPr id="22" name="Shape 20"/>
          <p:cNvSpPr/>
          <p:nvPr/>
        </p:nvSpPr>
        <p:spPr>
          <a:xfrm>
            <a:off x="502920" y="4251960"/>
            <a:ext cx="11201400" cy="1371600"/>
          </a:xfrm>
          <a:prstGeom prst="roundRect">
            <a:avLst>
              <a:gd name="adj" fmla="val 5333"/>
            </a:avLst>
          </a:prstGeom>
          <a:solidFill>
            <a:srgbClr val="F3F0FF"/>
          </a:solidFill>
          <a:ln w="12700">
            <a:solidFill>
              <a:srgbClr val="DCD3FB"/>
            </a:solidFill>
            <a:prstDash val="solid"/>
          </a:ln>
        </p:spPr>
      </p:sp>
      <p:sp>
        <p:nvSpPr>
          <p:cNvPr id="23" name="Text 21"/>
          <p:cNvSpPr/>
          <p:nvPr/>
        </p:nvSpPr>
        <p:spPr>
          <a:xfrm>
            <a:off x="777240" y="4379976"/>
            <a:ext cx="10652760" cy="256032"/>
          </a:xfrm>
          <a:prstGeom prst="rect">
            <a:avLst/>
          </a:prstGeom>
          <a:noFill/>
          <a:ln/>
        </p:spPr>
        <p:txBody>
          <a:bodyPr wrap="square" lIns="0" tIns="0" rIns="0" bIns="0" rtlCol="0" anchor="ctr"/>
          <a:lstStyle/>
          <a:p>
            <a:pPr indent="0" marL="0">
              <a:buNone/>
            </a:pPr>
            <a:r>
              <a:rPr lang="en-US" sz="1100" b="1" spc="30" kern="0" dirty="0">
                <a:solidFill>
                  <a:srgbClr val="4B36C7"/>
                </a:solidFill>
                <a:latin typeface="Helvetica" pitchFamily="34" charset="0"/>
                <a:ea typeface="Helvetica" pitchFamily="34" charset="-122"/>
                <a:cs typeface="Helvetica" pitchFamily="34" charset="-120"/>
              </a:rPr>
              <a:t>◆ ANALOGI</a:t>
            </a:r>
            <a:endParaRPr lang="en-US" sz="1100" dirty="0"/>
          </a:p>
        </p:txBody>
      </p:sp>
      <p:sp>
        <p:nvSpPr>
          <p:cNvPr id="24" name="Text 22"/>
          <p:cNvSpPr/>
          <p:nvPr/>
        </p:nvSpPr>
        <p:spPr>
          <a:xfrm>
            <a:off x="777240" y="4636008"/>
            <a:ext cx="10652760" cy="877824"/>
          </a:xfrm>
          <a:prstGeom prst="rect">
            <a:avLst/>
          </a:prstGeom>
          <a:noFill/>
          <a:ln/>
        </p:spPr>
        <p:txBody>
          <a:bodyPr wrap="square" lIns="0" tIns="0" rIns="0" bIns="0" rtlCol="0" anchor="t"/>
          <a:lstStyle/>
          <a:p>
            <a:pPr indent="0" marL="0">
              <a:lnSpc>
                <a:spcPct val="120000"/>
              </a:lnSpc>
              <a:buNone/>
            </a:pPr>
            <a:r>
              <a:rPr lang="en-US" sz="1200" dirty="0">
                <a:solidFill>
                  <a:srgbClr val="23283A"/>
                </a:solidFill>
                <a:latin typeface="Helvetica" pitchFamily="34" charset="0"/>
                <a:ea typeface="Helvetica" pitchFamily="34" charset="-122"/>
                <a:cs typeface="Helvetica" pitchFamily="34" charset="-120"/>
              </a:rPr>
              <a:t>Coba bayangin kamu kasih Claude prompt “Analisa data penjualan toko roti aku dong.” Ini sama kayak nyuruh karyawan baru “tolong cek data penjualan” tanpa bilang mau dicek apa — dia bisa balik dengan laporan 10 halaman yang nggak ada yang kamu butuhin.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3 — Prompt yang Pas untuk Analisis Data</a:t>
            </a:r>
            <a:endParaRPr lang="en-US" sz="1250" dirty="0"/>
          </a:p>
        </p:txBody>
      </p:sp>
      <p:sp>
        <p:nvSpPr>
          <p:cNvPr id="6" name="Text 4"/>
          <p:cNvSpPr/>
          <p:nvPr/>
        </p:nvSpPr>
        <p:spPr>
          <a:xfrm>
            <a:off x="502920" y="1188720"/>
            <a:ext cx="1115568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Prompt Siap Pakai untuk Berbagai Kebutuhan</a:t>
            </a:r>
            <a:endParaRPr lang="en-US" sz="2200" dirty="0"/>
          </a:p>
        </p:txBody>
      </p:sp>
      <p:sp>
        <p:nvSpPr>
          <p:cNvPr id="7" name="Text 5"/>
          <p:cNvSpPr/>
          <p:nvPr/>
        </p:nvSpPr>
        <p:spPr>
          <a:xfrm>
            <a:off x="502920" y="1691640"/>
            <a:ext cx="11155680" cy="365760"/>
          </a:xfrm>
          <a:prstGeom prst="rect">
            <a:avLst/>
          </a:prstGeom>
          <a:noFill/>
          <a:ln/>
        </p:spPr>
        <p:txBody>
          <a:bodyPr wrap="square" lIns="0" tIns="0" rIns="0" bIns="0" rtlCol="0" anchor="ctr"/>
          <a:lstStyle/>
          <a:p>
            <a:pPr indent="0" marL="0">
              <a:buNone/>
            </a:pPr>
            <a:r>
              <a:rPr lang="en-US" sz="1300" dirty="0">
                <a:solidFill>
                  <a:srgbClr val="6B7280"/>
                </a:solidFill>
                <a:latin typeface="Helvetica" pitchFamily="34" charset="0"/>
                <a:ea typeface="Helvetica" pitchFamily="34" charset="-122"/>
                <a:cs typeface="Helvetica" pitchFamily="34" charset="-120"/>
              </a:rPr>
              <a:t>Framework K-P-I yang sama bisa dipakai untuk kebutuhan analisis data lain sehari-hari:</a:t>
            </a:r>
            <a:endParaRPr lang="en-US" sz="1300" dirty="0"/>
          </a:p>
        </p:txBody>
      </p:sp>
      <p:sp>
        <p:nvSpPr>
          <p:cNvPr id="8" name="Shape 6"/>
          <p:cNvSpPr/>
          <p:nvPr/>
        </p:nvSpPr>
        <p:spPr>
          <a:xfrm>
            <a:off x="502920" y="2240280"/>
            <a:ext cx="3630168" cy="1417320"/>
          </a:xfrm>
          <a:prstGeom prst="roundRect">
            <a:avLst>
              <a:gd name="adj" fmla="val 6452"/>
            </a:avLst>
          </a:prstGeom>
          <a:solidFill>
            <a:srgbClr val="F4F6FB"/>
          </a:solidFill>
          <a:ln w="12700">
            <a:solidFill>
              <a:srgbClr val="D6DCEB"/>
            </a:solidFill>
            <a:prstDash val="solid"/>
          </a:ln>
        </p:spPr>
      </p:sp>
      <p:sp>
        <p:nvSpPr>
          <p:cNvPr id="9" name="Text 7"/>
          <p:cNvSpPr/>
          <p:nvPr/>
        </p:nvSpPr>
        <p:spPr>
          <a:xfrm>
            <a:off x="704088" y="2404872"/>
            <a:ext cx="3227832" cy="457200"/>
          </a:xfrm>
          <a:prstGeom prst="rect">
            <a:avLst/>
          </a:prstGeom>
          <a:noFill/>
          <a:ln/>
        </p:spPr>
        <p:txBody>
          <a:bodyPr wrap="square" lIns="0" tIns="0" rIns="0" bIns="0" rtlCol="0" anchor="ctr"/>
          <a:lstStyle/>
          <a:p>
            <a:pPr indent="0" marL="0">
              <a:lnSpc>
                <a:spcPct val="115000"/>
              </a:lnSpc>
              <a:buNone/>
            </a:pPr>
            <a:r>
              <a:rPr lang="en-US" sz="1250" b="1" dirty="0">
                <a:solidFill>
                  <a:srgbClr val="4B36C7"/>
                </a:solidFill>
                <a:latin typeface="Helvetica" pitchFamily="34" charset="0"/>
                <a:ea typeface="Helvetica" pitchFamily="34" charset="-122"/>
                <a:cs typeface="Helvetica" pitchFamily="34" charset="-120"/>
              </a:rPr>
              <a:t>Ringkasan &amp; Deteksi Anomali</a:t>
            </a:r>
            <a:endParaRPr lang="en-US" sz="1250" dirty="0"/>
          </a:p>
        </p:txBody>
      </p:sp>
      <p:sp>
        <p:nvSpPr>
          <p:cNvPr id="10" name="Text 8"/>
          <p:cNvSpPr/>
          <p:nvPr/>
        </p:nvSpPr>
        <p:spPr>
          <a:xfrm>
            <a:off x="704088" y="2862072"/>
            <a:ext cx="3227832" cy="731520"/>
          </a:xfrm>
          <a:prstGeom prst="rect">
            <a:avLst/>
          </a:prstGeom>
          <a:noFill/>
          <a:ln/>
        </p:spPr>
        <p:txBody>
          <a:bodyPr wrap="square" lIns="0" tIns="0" rIns="0" bIns="0" rtlCol="0" anchor="ctr"/>
          <a:lstStyle/>
          <a:p>
            <a:pPr indent="0" marL="0">
              <a:lnSpc>
                <a:spcPct val="120000"/>
              </a:lnSpc>
              <a:buNone/>
            </a:pPr>
            <a:r>
              <a:rPr lang="en-US" sz="1100" dirty="0">
                <a:solidFill>
                  <a:srgbClr val="6B7280"/>
                </a:solidFill>
                <a:latin typeface="Helvetica" pitchFamily="34" charset="0"/>
                <a:ea typeface="Helvetica" pitchFamily="34" charset="-122"/>
                <a:cs typeface="Helvetica" pitchFamily="34" charset="-120"/>
              </a:rPr>
              <a:t>Ringkas tren utama, tandai angka yang kelihatan aneh</a:t>
            </a:r>
            <a:endParaRPr lang="en-US" sz="1100" dirty="0"/>
          </a:p>
        </p:txBody>
      </p:sp>
      <p:sp>
        <p:nvSpPr>
          <p:cNvPr id="11" name="Shape 9"/>
          <p:cNvSpPr/>
          <p:nvPr/>
        </p:nvSpPr>
        <p:spPr>
          <a:xfrm>
            <a:off x="4288536" y="2240280"/>
            <a:ext cx="3630168" cy="1417320"/>
          </a:xfrm>
          <a:prstGeom prst="roundRect">
            <a:avLst>
              <a:gd name="adj" fmla="val 6452"/>
            </a:avLst>
          </a:prstGeom>
          <a:solidFill>
            <a:srgbClr val="F4F6FB"/>
          </a:solidFill>
          <a:ln w="12700">
            <a:solidFill>
              <a:srgbClr val="D6DCEB"/>
            </a:solidFill>
            <a:prstDash val="solid"/>
          </a:ln>
        </p:spPr>
      </p:sp>
      <p:sp>
        <p:nvSpPr>
          <p:cNvPr id="12" name="Text 10"/>
          <p:cNvSpPr/>
          <p:nvPr/>
        </p:nvSpPr>
        <p:spPr>
          <a:xfrm>
            <a:off x="4489704" y="2404872"/>
            <a:ext cx="3227832" cy="457200"/>
          </a:xfrm>
          <a:prstGeom prst="rect">
            <a:avLst/>
          </a:prstGeom>
          <a:noFill/>
          <a:ln/>
        </p:spPr>
        <p:txBody>
          <a:bodyPr wrap="square" lIns="0" tIns="0" rIns="0" bIns="0" rtlCol="0" anchor="ctr"/>
          <a:lstStyle/>
          <a:p>
            <a:pPr indent="0" marL="0">
              <a:lnSpc>
                <a:spcPct val="115000"/>
              </a:lnSpc>
              <a:buNone/>
            </a:pPr>
            <a:r>
              <a:rPr lang="en-US" sz="1250" b="1" dirty="0">
                <a:solidFill>
                  <a:srgbClr val="4B36C7"/>
                </a:solidFill>
                <a:latin typeface="Helvetica" pitchFamily="34" charset="0"/>
                <a:ea typeface="Helvetica" pitchFamily="34" charset="-122"/>
                <a:cs typeface="Helvetica" pitchFamily="34" charset="-120"/>
              </a:rPr>
              <a:t>Bandingkan 2 Periode</a:t>
            </a:r>
            <a:endParaRPr lang="en-US" sz="1250" dirty="0"/>
          </a:p>
        </p:txBody>
      </p:sp>
      <p:sp>
        <p:nvSpPr>
          <p:cNvPr id="13" name="Text 11"/>
          <p:cNvSpPr/>
          <p:nvPr/>
        </p:nvSpPr>
        <p:spPr>
          <a:xfrm>
            <a:off x="4489704" y="2862072"/>
            <a:ext cx="3227832" cy="731520"/>
          </a:xfrm>
          <a:prstGeom prst="rect">
            <a:avLst/>
          </a:prstGeom>
          <a:noFill/>
          <a:ln/>
        </p:spPr>
        <p:txBody>
          <a:bodyPr wrap="square" lIns="0" tIns="0" rIns="0" bIns="0" rtlCol="0" anchor="ctr"/>
          <a:lstStyle/>
          <a:p>
            <a:pPr indent="0" marL="0">
              <a:lnSpc>
                <a:spcPct val="120000"/>
              </a:lnSpc>
              <a:buNone/>
            </a:pPr>
            <a:r>
              <a:rPr lang="en-US" sz="1100" dirty="0">
                <a:solidFill>
                  <a:srgbClr val="6B7280"/>
                </a:solidFill>
                <a:latin typeface="Helvetica" pitchFamily="34" charset="0"/>
                <a:ea typeface="Helvetica" pitchFamily="34" charset="-122"/>
                <a:cs typeface="Helvetica" pitchFamily="34" charset="-120"/>
              </a:rPr>
              <a:t>Urutkan produk dari yang paling perlu diperhatikan</a:t>
            </a:r>
            <a:endParaRPr lang="en-US" sz="1100" dirty="0"/>
          </a:p>
        </p:txBody>
      </p:sp>
      <p:sp>
        <p:nvSpPr>
          <p:cNvPr id="14" name="Shape 12"/>
          <p:cNvSpPr/>
          <p:nvPr/>
        </p:nvSpPr>
        <p:spPr>
          <a:xfrm>
            <a:off x="8074152" y="2240280"/>
            <a:ext cx="3630168" cy="1417320"/>
          </a:xfrm>
          <a:prstGeom prst="roundRect">
            <a:avLst>
              <a:gd name="adj" fmla="val 6452"/>
            </a:avLst>
          </a:prstGeom>
          <a:solidFill>
            <a:srgbClr val="F4F6FB"/>
          </a:solidFill>
          <a:ln w="12700">
            <a:solidFill>
              <a:srgbClr val="D6DCEB"/>
            </a:solidFill>
            <a:prstDash val="solid"/>
          </a:ln>
        </p:spPr>
      </p:sp>
      <p:sp>
        <p:nvSpPr>
          <p:cNvPr id="15" name="Text 13"/>
          <p:cNvSpPr/>
          <p:nvPr/>
        </p:nvSpPr>
        <p:spPr>
          <a:xfrm>
            <a:off x="8275320" y="2404872"/>
            <a:ext cx="3227832" cy="457200"/>
          </a:xfrm>
          <a:prstGeom prst="rect">
            <a:avLst/>
          </a:prstGeom>
          <a:noFill/>
          <a:ln/>
        </p:spPr>
        <p:txBody>
          <a:bodyPr wrap="square" lIns="0" tIns="0" rIns="0" bIns="0" rtlCol="0" anchor="ctr"/>
          <a:lstStyle/>
          <a:p>
            <a:pPr indent="0" marL="0">
              <a:lnSpc>
                <a:spcPct val="115000"/>
              </a:lnSpc>
              <a:buNone/>
            </a:pPr>
            <a:r>
              <a:rPr lang="en-US" sz="1250" b="1" dirty="0">
                <a:solidFill>
                  <a:srgbClr val="4B36C7"/>
                </a:solidFill>
                <a:latin typeface="Helvetica" pitchFamily="34" charset="0"/>
                <a:ea typeface="Helvetica" pitchFamily="34" charset="-122"/>
                <a:cs typeface="Helvetica" pitchFamily="34" charset="-120"/>
              </a:rPr>
              <a:t>Cari Pola atau Korelasi</a:t>
            </a:r>
            <a:endParaRPr lang="en-US" sz="1250" dirty="0"/>
          </a:p>
        </p:txBody>
      </p:sp>
      <p:sp>
        <p:nvSpPr>
          <p:cNvPr id="16" name="Text 14"/>
          <p:cNvSpPr/>
          <p:nvPr/>
        </p:nvSpPr>
        <p:spPr>
          <a:xfrm>
            <a:off x="8275320" y="2862072"/>
            <a:ext cx="3227832" cy="731520"/>
          </a:xfrm>
          <a:prstGeom prst="rect">
            <a:avLst/>
          </a:prstGeom>
          <a:noFill/>
          <a:ln/>
        </p:spPr>
        <p:txBody>
          <a:bodyPr wrap="square" lIns="0" tIns="0" rIns="0" bIns="0" rtlCol="0" anchor="ctr"/>
          <a:lstStyle/>
          <a:p>
            <a:pPr indent="0" marL="0">
              <a:lnSpc>
                <a:spcPct val="120000"/>
              </a:lnSpc>
              <a:buNone/>
            </a:pPr>
            <a:r>
              <a:rPr lang="en-US" sz="1100" dirty="0">
                <a:solidFill>
                  <a:srgbClr val="6B7280"/>
                </a:solidFill>
                <a:latin typeface="Helvetica" pitchFamily="34" charset="0"/>
                <a:ea typeface="Helvetica" pitchFamily="34" charset="-122"/>
                <a:cs typeface="Helvetica" pitchFamily="34" charset="-120"/>
              </a:rPr>
              <a:t>Cek produk yang penjualannya naik/turun bareng</a:t>
            </a:r>
            <a:endParaRPr lang="en-US" sz="1100" dirty="0"/>
          </a:p>
        </p:txBody>
      </p:sp>
      <p:sp>
        <p:nvSpPr>
          <p:cNvPr id="17" name="Shape 15"/>
          <p:cNvSpPr/>
          <p:nvPr/>
        </p:nvSpPr>
        <p:spPr>
          <a:xfrm>
            <a:off x="502920" y="3840480"/>
            <a:ext cx="3630168" cy="1417320"/>
          </a:xfrm>
          <a:prstGeom prst="roundRect">
            <a:avLst>
              <a:gd name="adj" fmla="val 6452"/>
            </a:avLst>
          </a:prstGeom>
          <a:solidFill>
            <a:srgbClr val="F4F6FB"/>
          </a:solidFill>
          <a:ln w="12700">
            <a:solidFill>
              <a:srgbClr val="D6DCEB"/>
            </a:solidFill>
            <a:prstDash val="solid"/>
          </a:ln>
        </p:spPr>
      </p:sp>
      <p:sp>
        <p:nvSpPr>
          <p:cNvPr id="18" name="Text 16"/>
          <p:cNvSpPr/>
          <p:nvPr/>
        </p:nvSpPr>
        <p:spPr>
          <a:xfrm>
            <a:off x="704088" y="4005072"/>
            <a:ext cx="3227832" cy="457200"/>
          </a:xfrm>
          <a:prstGeom prst="rect">
            <a:avLst/>
          </a:prstGeom>
          <a:noFill/>
          <a:ln/>
        </p:spPr>
        <p:txBody>
          <a:bodyPr wrap="square" lIns="0" tIns="0" rIns="0" bIns="0" rtlCol="0" anchor="ctr"/>
          <a:lstStyle/>
          <a:p>
            <a:pPr indent="0" marL="0">
              <a:lnSpc>
                <a:spcPct val="115000"/>
              </a:lnSpc>
              <a:buNone/>
            </a:pPr>
            <a:r>
              <a:rPr lang="en-US" sz="1250" b="1" dirty="0">
                <a:solidFill>
                  <a:srgbClr val="4B36C7"/>
                </a:solidFill>
                <a:latin typeface="Helvetica" pitchFamily="34" charset="0"/>
                <a:ea typeface="Helvetica" pitchFamily="34" charset="-122"/>
                <a:cs typeface="Helvetica" pitchFamily="34" charset="-120"/>
              </a:rPr>
              <a:t>Ide Visualisasi</a:t>
            </a:r>
            <a:endParaRPr lang="en-US" sz="1250" dirty="0"/>
          </a:p>
        </p:txBody>
      </p:sp>
      <p:sp>
        <p:nvSpPr>
          <p:cNvPr id="19" name="Text 17"/>
          <p:cNvSpPr/>
          <p:nvPr/>
        </p:nvSpPr>
        <p:spPr>
          <a:xfrm>
            <a:off x="704088" y="4462272"/>
            <a:ext cx="3227832" cy="731520"/>
          </a:xfrm>
          <a:prstGeom prst="rect">
            <a:avLst/>
          </a:prstGeom>
          <a:noFill/>
          <a:ln/>
        </p:spPr>
        <p:txBody>
          <a:bodyPr wrap="square" lIns="0" tIns="0" rIns="0" bIns="0" rtlCol="0" anchor="ctr"/>
          <a:lstStyle/>
          <a:p>
            <a:pPr indent="0" marL="0">
              <a:lnSpc>
                <a:spcPct val="120000"/>
              </a:lnSpc>
              <a:buNone/>
            </a:pPr>
            <a:r>
              <a:rPr lang="en-US" sz="1100" dirty="0">
                <a:solidFill>
                  <a:srgbClr val="6B7280"/>
                </a:solidFill>
                <a:latin typeface="Helvetica" pitchFamily="34" charset="0"/>
                <a:ea typeface="Helvetica" pitchFamily="34" charset="-122"/>
                <a:cs typeface="Helvetica" pitchFamily="34" charset="-120"/>
              </a:rPr>
              <a:t>2-3 ide cara menampilkan data biar gampang dipahami</a:t>
            </a:r>
            <a:endParaRPr lang="en-US" sz="1100" dirty="0"/>
          </a:p>
        </p:txBody>
      </p:sp>
      <p:sp>
        <p:nvSpPr>
          <p:cNvPr id="20" name="Shape 18"/>
          <p:cNvSpPr/>
          <p:nvPr/>
        </p:nvSpPr>
        <p:spPr>
          <a:xfrm>
            <a:off x="4288536" y="3840480"/>
            <a:ext cx="3630168" cy="1417320"/>
          </a:xfrm>
          <a:prstGeom prst="roundRect">
            <a:avLst>
              <a:gd name="adj" fmla="val 6452"/>
            </a:avLst>
          </a:prstGeom>
          <a:solidFill>
            <a:srgbClr val="F4F6FB"/>
          </a:solidFill>
          <a:ln w="12700">
            <a:solidFill>
              <a:srgbClr val="D6DCEB"/>
            </a:solidFill>
            <a:prstDash val="solid"/>
          </a:ln>
        </p:spPr>
      </p:sp>
      <p:sp>
        <p:nvSpPr>
          <p:cNvPr id="21" name="Text 19"/>
          <p:cNvSpPr/>
          <p:nvPr/>
        </p:nvSpPr>
        <p:spPr>
          <a:xfrm>
            <a:off x="4489704" y="4005072"/>
            <a:ext cx="3227832" cy="457200"/>
          </a:xfrm>
          <a:prstGeom prst="rect">
            <a:avLst/>
          </a:prstGeom>
          <a:noFill/>
          <a:ln/>
        </p:spPr>
        <p:txBody>
          <a:bodyPr wrap="square" lIns="0" tIns="0" rIns="0" bIns="0" rtlCol="0" anchor="ctr"/>
          <a:lstStyle/>
          <a:p>
            <a:pPr indent="0" marL="0">
              <a:lnSpc>
                <a:spcPct val="115000"/>
              </a:lnSpc>
              <a:buNone/>
            </a:pPr>
            <a:r>
              <a:rPr lang="en-US" sz="1250" b="1" dirty="0">
                <a:solidFill>
                  <a:srgbClr val="4B36C7"/>
                </a:solidFill>
                <a:latin typeface="Helvetica" pitchFamily="34" charset="0"/>
                <a:ea typeface="Helvetica" pitchFamily="34" charset="-122"/>
                <a:cs typeface="Helvetica" pitchFamily="34" charset="-120"/>
              </a:rPr>
              <a:t>Cek Ulang Hasil Analisis</a:t>
            </a:r>
            <a:endParaRPr lang="en-US" sz="1250" dirty="0"/>
          </a:p>
        </p:txBody>
      </p:sp>
      <p:sp>
        <p:nvSpPr>
          <p:cNvPr id="22" name="Text 20"/>
          <p:cNvSpPr/>
          <p:nvPr/>
        </p:nvSpPr>
        <p:spPr>
          <a:xfrm>
            <a:off x="4489704" y="4462272"/>
            <a:ext cx="3227832" cy="731520"/>
          </a:xfrm>
          <a:prstGeom prst="rect">
            <a:avLst/>
          </a:prstGeom>
          <a:noFill/>
          <a:ln/>
        </p:spPr>
        <p:txBody>
          <a:bodyPr wrap="square" lIns="0" tIns="0" rIns="0" bIns="0" rtlCol="0" anchor="ctr"/>
          <a:lstStyle/>
          <a:p>
            <a:pPr indent="0" marL="0">
              <a:lnSpc>
                <a:spcPct val="120000"/>
              </a:lnSpc>
              <a:buNone/>
            </a:pPr>
            <a:r>
              <a:rPr lang="en-US" sz="1100" dirty="0">
                <a:solidFill>
                  <a:srgbClr val="6B7280"/>
                </a:solidFill>
                <a:latin typeface="Helvetica" pitchFamily="34" charset="0"/>
                <a:ea typeface="Helvetica" pitchFamily="34" charset="-122"/>
                <a:cs typeface="Helvetica" pitchFamily="34" charset="-120"/>
              </a:rPr>
              <a:t>“Ada hal yang mungkin saya lewatkan?”</a:t>
            </a:r>
            <a:endParaRPr lang="en-US" sz="1100" dirty="0"/>
          </a:p>
        </p:txBody>
      </p:sp>
      <p:sp>
        <p:nvSpPr>
          <p:cNvPr id="23" name="Shape 21"/>
          <p:cNvSpPr/>
          <p:nvPr/>
        </p:nvSpPr>
        <p:spPr>
          <a:xfrm>
            <a:off x="8074152" y="3840480"/>
            <a:ext cx="3630168" cy="1417320"/>
          </a:xfrm>
          <a:prstGeom prst="roundRect">
            <a:avLst>
              <a:gd name="adj" fmla="val 6452"/>
            </a:avLst>
          </a:prstGeom>
          <a:solidFill>
            <a:srgbClr val="F4F6FB"/>
          </a:solidFill>
          <a:ln w="12700">
            <a:solidFill>
              <a:srgbClr val="D6DCEB"/>
            </a:solidFill>
            <a:prstDash val="solid"/>
          </a:ln>
        </p:spPr>
      </p:sp>
      <p:sp>
        <p:nvSpPr>
          <p:cNvPr id="24" name="Text 22"/>
          <p:cNvSpPr/>
          <p:nvPr/>
        </p:nvSpPr>
        <p:spPr>
          <a:xfrm>
            <a:off x="8275320" y="4005072"/>
            <a:ext cx="3227832" cy="457200"/>
          </a:xfrm>
          <a:prstGeom prst="rect">
            <a:avLst/>
          </a:prstGeom>
          <a:noFill/>
          <a:ln/>
        </p:spPr>
        <p:txBody>
          <a:bodyPr wrap="square" lIns="0" tIns="0" rIns="0" bIns="0" rtlCol="0" anchor="ctr"/>
          <a:lstStyle/>
          <a:p>
            <a:pPr indent="0" marL="0">
              <a:lnSpc>
                <a:spcPct val="115000"/>
              </a:lnSpc>
              <a:buNone/>
            </a:pPr>
            <a:r>
              <a:rPr lang="en-US" sz="1250" b="1" dirty="0">
                <a:solidFill>
                  <a:srgbClr val="4B36C7"/>
                </a:solidFill>
                <a:latin typeface="Helvetica" pitchFamily="34" charset="0"/>
                <a:ea typeface="Helvetica" pitchFamily="34" charset="-122"/>
                <a:cs typeface="Helvetica" pitchFamily="34" charset="-120"/>
              </a:rPr>
              <a:t>Ringkasan Eksekutif</a:t>
            </a:r>
            <a:endParaRPr lang="en-US" sz="1250" dirty="0"/>
          </a:p>
        </p:txBody>
      </p:sp>
      <p:sp>
        <p:nvSpPr>
          <p:cNvPr id="25" name="Text 23"/>
          <p:cNvSpPr/>
          <p:nvPr/>
        </p:nvSpPr>
        <p:spPr>
          <a:xfrm>
            <a:off x="8275320" y="4462272"/>
            <a:ext cx="3227832" cy="731520"/>
          </a:xfrm>
          <a:prstGeom prst="rect">
            <a:avLst/>
          </a:prstGeom>
          <a:noFill/>
          <a:ln/>
        </p:spPr>
        <p:txBody>
          <a:bodyPr wrap="square" lIns="0" tIns="0" rIns="0" bIns="0" rtlCol="0" anchor="ctr"/>
          <a:lstStyle/>
          <a:p>
            <a:pPr indent="0" marL="0">
              <a:lnSpc>
                <a:spcPct val="120000"/>
              </a:lnSpc>
              <a:buNone/>
            </a:pPr>
            <a:r>
              <a:rPr lang="en-US" sz="1100" dirty="0">
                <a:solidFill>
                  <a:srgbClr val="6B7280"/>
                </a:solidFill>
                <a:latin typeface="Helvetica" pitchFamily="34" charset="0"/>
                <a:ea typeface="Helvetica" pitchFamily="34" charset="-122"/>
                <a:cs typeface="Helvetica" pitchFamily="34" charset="-120"/>
              </a:rPr>
              <a:t>2 paragraf tanpa istilah teknis, siap kirim ke atasan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3 — Prompt yang Pas untuk Analisis Data</a:t>
            </a:r>
            <a:endParaRPr lang="en-US" sz="1250" dirty="0"/>
          </a:p>
        </p:txBody>
      </p:sp>
      <p:sp>
        <p:nvSpPr>
          <p:cNvPr id="6" name="Text 4"/>
          <p:cNvSpPr/>
          <p:nvPr/>
        </p:nvSpPr>
        <p:spPr>
          <a:xfrm>
            <a:off x="502920" y="1188720"/>
            <a:ext cx="1115568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Ringkasan Modul 3</a:t>
            </a:r>
            <a:endParaRPr lang="en-US" sz="2200" dirty="0"/>
          </a:p>
        </p:txBody>
      </p:sp>
      <p:sp>
        <p:nvSpPr>
          <p:cNvPr id="7" name="Shape 5"/>
          <p:cNvSpPr/>
          <p:nvPr/>
        </p:nvSpPr>
        <p:spPr>
          <a:xfrm>
            <a:off x="502920" y="1783080"/>
            <a:ext cx="11201400" cy="2148840"/>
          </a:xfrm>
          <a:prstGeom prst="roundRect">
            <a:avLst>
              <a:gd name="adj" fmla="val 5106"/>
            </a:avLst>
          </a:prstGeom>
          <a:solidFill>
            <a:srgbClr val="F3F0FF"/>
          </a:solidFill>
          <a:ln w="12700">
            <a:solidFill>
              <a:srgbClr val="DCD3FB"/>
            </a:solidFill>
            <a:prstDash val="solid"/>
          </a:ln>
        </p:spPr>
      </p:sp>
      <p:sp>
        <p:nvSpPr>
          <p:cNvPr id="8" name="Text 6"/>
          <p:cNvSpPr/>
          <p:nvPr/>
        </p:nvSpPr>
        <p:spPr>
          <a:xfrm>
            <a:off x="822960" y="2057400"/>
            <a:ext cx="10561320" cy="1600200"/>
          </a:xfrm>
          <a:prstGeom prst="rect">
            <a:avLst/>
          </a:prstGeom>
          <a:noFill/>
          <a:ln/>
        </p:spPr>
        <p:txBody>
          <a:bodyPr wrap="square" lIns="0" tIns="0" rIns="0" bIns="0" rtlCol="0" anchor="t"/>
          <a:lstStyle/>
          <a:p>
            <a:pPr marL="342900" indent="-342900">
              <a:lnSpc>
                <a:spcPct val="125000"/>
              </a:lnSpc>
              <a:spcAft>
                <a:spcPts val="1200"/>
              </a:spcAft>
              <a:buSzPct val="100000"/>
              <a:buChar char="●"/>
            </a:pPr>
            <a:r>
              <a:rPr lang="en-US" sz="1300" dirty="0">
                <a:solidFill>
                  <a:srgbClr val="23283A"/>
                </a:solidFill>
                <a:latin typeface="Helvetica" pitchFamily="34" charset="0"/>
                <a:ea typeface="Helvetica" pitchFamily="34" charset="-122"/>
                <a:cs typeface="Helvetica" pitchFamily="34" charset="-120"/>
              </a:rPr>
              <a:t>Pertanyaan yang terlalu umum ke data menghasilkan analisis yang generik</a:t>
            </a:r>
            <a:endParaRPr lang="en-US" sz="1300" dirty="0"/>
          </a:p>
          <a:p>
            <a:pPr marL="342900" indent="-342900">
              <a:lnSpc>
                <a:spcPct val="125000"/>
              </a:lnSpc>
              <a:spcAft>
                <a:spcPts val="1200"/>
              </a:spcAft>
              <a:buSzPct val="100000"/>
              <a:buChar char="●"/>
            </a:pPr>
            <a:r>
              <a:rPr lang="en-US" sz="1300" dirty="0">
                <a:solidFill>
                  <a:srgbClr val="23283A"/>
                </a:solidFill>
                <a:latin typeface="Helvetica" pitchFamily="34" charset="0"/>
                <a:ea typeface="Helvetica" pitchFamily="34" charset="-122"/>
                <a:cs typeface="Helvetica" pitchFamily="34" charset="-120"/>
              </a:rPr>
              <a:t>Framework K-P-I: Konteks Bisnis + Pertanyaan Spesifik + Jenis Insight</a:t>
            </a:r>
            <a:endParaRPr lang="en-US" sz="1300" dirty="0"/>
          </a:p>
          <a:p>
            <a:pPr marL="342900" indent="-342900">
              <a:lnSpc>
                <a:spcPct val="125000"/>
              </a:lnSpc>
              <a:spcAft>
                <a:spcPts val="1200"/>
              </a:spcAft>
              <a:buSzPct val="100000"/>
              <a:buChar char="●"/>
            </a:pPr>
            <a:r>
              <a:rPr lang="en-US" sz="1300" dirty="0">
                <a:solidFill>
                  <a:srgbClr val="23283A"/>
                </a:solidFill>
                <a:latin typeface="Helvetica" pitchFamily="34" charset="0"/>
                <a:ea typeface="Helvetica" pitchFamily="34" charset="-122"/>
                <a:cs typeface="Helvetica" pitchFamily="34" charset="-120"/>
              </a:rPr>
              <a:t>“Jenis Insight” nyambung ke 5 jenis analisis di Modul 1 — makin jelas jenisnya, makin tepat kedalaman jawaban Claude</a:t>
            </a:r>
            <a:endParaRPr lang="en-US" sz="1300" dirty="0"/>
          </a:p>
          <a:p>
            <a:pPr marL="342900" indent="-342900">
              <a:lnSpc>
                <a:spcPct val="125000"/>
              </a:lnSpc>
              <a:spcAft>
                <a:spcPts val="1200"/>
              </a:spcAft>
              <a:buSzPct val="100000"/>
              <a:buChar char="●"/>
            </a:pPr>
            <a:r>
              <a:rPr lang="en-US" sz="1300" dirty="0">
                <a:solidFill>
                  <a:srgbClr val="23283A"/>
                </a:solidFill>
                <a:latin typeface="Helvetica" pitchFamily="34" charset="0"/>
                <a:ea typeface="Helvetica" pitchFamily="34" charset="-122"/>
                <a:cs typeface="Helvetica" pitchFamily="34" charset="-120"/>
              </a:rPr>
              <a:t>Framework yang sama bisa dipakai untuk: ringkasan tren, bandingkan periode, cari pola, ide visualisasi, cek ulang analisis, ringkasan eksekutif</a:t>
            </a:r>
            <a:endParaRPr lang="en-US" sz="1300" dirty="0"/>
          </a:p>
        </p:txBody>
      </p:sp>
      <p:sp>
        <p:nvSpPr>
          <p:cNvPr id="9" name="Shape 7"/>
          <p:cNvSpPr/>
          <p:nvPr/>
        </p:nvSpPr>
        <p:spPr>
          <a:xfrm>
            <a:off x="502920" y="4206240"/>
            <a:ext cx="11201400" cy="868680"/>
          </a:xfrm>
          <a:prstGeom prst="roundRect">
            <a:avLst>
              <a:gd name="adj" fmla="val 8421"/>
            </a:avLst>
          </a:prstGeom>
          <a:solidFill>
            <a:srgbClr val="F4F6FB"/>
          </a:solidFill>
          <a:ln w="12700">
            <a:solidFill>
              <a:srgbClr val="D6DCEB"/>
            </a:solidFill>
            <a:prstDash val="solid"/>
          </a:ln>
        </p:spPr>
      </p:sp>
      <p:sp>
        <p:nvSpPr>
          <p:cNvPr id="10" name="Text 8"/>
          <p:cNvSpPr/>
          <p:nvPr/>
        </p:nvSpPr>
        <p:spPr>
          <a:xfrm>
            <a:off x="777240" y="4334256"/>
            <a:ext cx="10652760" cy="256032"/>
          </a:xfrm>
          <a:prstGeom prst="rect">
            <a:avLst/>
          </a:prstGeom>
          <a:noFill/>
          <a:ln/>
        </p:spPr>
        <p:txBody>
          <a:bodyPr wrap="square" lIns="0" tIns="0" rIns="0" bIns="0" rtlCol="0" anchor="ctr"/>
          <a:lstStyle/>
          <a:p>
            <a:pPr indent="0" marL="0">
              <a:buNone/>
            </a:pPr>
            <a:r>
              <a:rPr lang="en-US" sz="1100" b="1" spc="30" kern="0" dirty="0">
                <a:solidFill>
                  <a:srgbClr val="4B36C7"/>
                </a:solidFill>
                <a:latin typeface="Helvetica" pitchFamily="34" charset="0"/>
                <a:ea typeface="Helvetica" pitchFamily="34" charset="-122"/>
                <a:cs typeface="Helvetica" pitchFamily="34" charset="-120"/>
              </a:rPr>
              <a:t>◆ TIPS</a:t>
            </a:r>
            <a:endParaRPr lang="en-US" sz="1100" dirty="0"/>
          </a:p>
        </p:txBody>
      </p:sp>
      <p:sp>
        <p:nvSpPr>
          <p:cNvPr id="11" name="Text 9"/>
          <p:cNvSpPr/>
          <p:nvPr/>
        </p:nvSpPr>
        <p:spPr>
          <a:xfrm>
            <a:off x="777240" y="4590288"/>
            <a:ext cx="10652760" cy="374904"/>
          </a:xfrm>
          <a:prstGeom prst="rect">
            <a:avLst/>
          </a:prstGeom>
          <a:noFill/>
          <a:ln/>
        </p:spPr>
        <p:txBody>
          <a:bodyPr wrap="square" lIns="0" tIns="0" rIns="0" bIns="0" rtlCol="0" anchor="t"/>
          <a:lstStyle/>
          <a:p>
            <a:pPr indent="0" marL="0">
              <a:lnSpc>
                <a:spcPct val="120000"/>
              </a:lnSpc>
              <a:buNone/>
            </a:pPr>
            <a:r>
              <a:rPr lang="en-US" sz="1200" dirty="0">
                <a:solidFill>
                  <a:srgbClr val="23283A"/>
                </a:solidFill>
                <a:latin typeface="Helvetica" pitchFamily="34" charset="0"/>
                <a:ea typeface="Helvetica" pitchFamily="34" charset="-122"/>
                <a:cs typeface="Helvetica" pitchFamily="34" charset="-120"/>
              </a:rPr>
              <a:t>Kalau bingung mulai dari mana, mulai dari “jenis insight” dulu. Begitu kamu tahu kamu butuh angka, penyebab, atau rekomendasi, konteks dan pertanyaan spesifiknya biasanya lebih gampang nyusul.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3 — Prompt yang Pas untuk Analisis Data</a:t>
            </a:r>
            <a:endParaRPr lang="en-US" sz="1250" dirty="0"/>
          </a:p>
        </p:txBody>
      </p:sp>
      <p:sp>
        <p:nvSpPr>
          <p:cNvPr id="6" name="Text 4"/>
          <p:cNvSpPr/>
          <p:nvPr/>
        </p:nvSpPr>
        <p:spPr>
          <a:xfrm>
            <a:off x="502920" y="1188720"/>
            <a:ext cx="1115568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Latihan &amp; Output</a:t>
            </a:r>
            <a:endParaRPr lang="en-US" sz="2200" dirty="0"/>
          </a:p>
        </p:txBody>
      </p:sp>
      <p:sp>
        <p:nvSpPr>
          <p:cNvPr id="7" name="Shape 5"/>
          <p:cNvSpPr/>
          <p:nvPr/>
        </p:nvSpPr>
        <p:spPr>
          <a:xfrm>
            <a:off x="502920" y="1783080"/>
            <a:ext cx="11201400" cy="2514600"/>
          </a:xfrm>
          <a:prstGeom prst="roundRect">
            <a:avLst>
              <a:gd name="adj" fmla="val 3636"/>
            </a:avLst>
          </a:prstGeom>
          <a:solidFill>
            <a:srgbClr val="EAFAF0"/>
          </a:solidFill>
          <a:ln w="12700">
            <a:solidFill>
              <a:srgbClr val="B8E6C9"/>
            </a:solidFill>
            <a:prstDash val="solid"/>
          </a:ln>
        </p:spPr>
      </p:sp>
      <p:sp>
        <p:nvSpPr>
          <p:cNvPr id="8" name="Text 6"/>
          <p:cNvSpPr/>
          <p:nvPr/>
        </p:nvSpPr>
        <p:spPr>
          <a:xfrm>
            <a:off x="777240" y="1984248"/>
            <a:ext cx="4572000" cy="274320"/>
          </a:xfrm>
          <a:prstGeom prst="rect">
            <a:avLst/>
          </a:prstGeom>
          <a:noFill/>
          <a:ln/>
        </p:spPr>
        <p:txBody>
          <a:bodyPr wrap="square" lIns="0" tIns="0" rIns="0" bIns="0" rtlCol="0" anchor="ctr"/>
          <a:lstStyle/>
          <a:p>
            <a:pPr indent="0" marL="0">
              <a:buNone/>
            </a:pPr>
            <a:r>
              <a:rPr lang="en-US" sz="1250" b="1" spc="30" kern="0" dirty="0">
                <a:solidFill>
                  <a:srgbClr val="1A7A44"/>
                </a:solidFill>
                <a:latin typeface="Helvetica" pitchFamily="34" charset="0"/>
                <a:ea typeface="Helvetica" pitchFamily="34" charset="-122"/>
                <a:cs typeface="Helvetica" pitchFamily="34" charset="-120"/>
              </a:rPr>
              <a:t>■ LATIHAN</a:t>
            </a:r>
            <a:endParaRPr lang="en-US" sz="1250" dirty="0"/>
          </a:p>
        </p:txBody>
      </p:sp>
      <p:sp>
        <p:nvSpPr>
          <p:cNvPr id="9" name="Text 7"/>
          <p:cNvSpPr/>
          <p:nvPr/>
        </p:nvSpPr>
        <p:spPr>
          <a:xfrm>
            <a:off x="777240" y="2313432"/>
            <a:ext cx="10652760" cy="960120"/>
          </a:xfrm>
          <a:prstGeom prst="rect">
            <a:avLst/>
          </a:prstGeom>
          <a:noFill/>
          <a:ln/>
        </p:spPr>
        <p:txBody>
          <a:bodyPr wrap="square" lIns="0" tIns="0" rIns="0" bIns="0" rtlCol="0" anchor="ctr"/>
          <a:lstStyle/>
          <a:p>
            <a:pPr indent="0" marL="0">
              <a:lnSpc>
                <a:spcPct val="122000"/>
              </a:lnSpc>
              <a:buNone/>
            </a:pPr>
            <a:r>
              <a:rPr lang="en-US" sz="1200" b="1" dirty="0">
                <a:solidFill>
                  <a:srgbClr val="23283A"/>
                </a:solidFill>
                <a:latin typeface="Helvetica" pitchFamily="34" charset="0"/>
                <a:ea typeface="Helvetica" pitchFamily="34" charset="-122"/>
                <a:cs typeface="Helvetica" pitchFamily="34" charset="-120"/>
              </a:rPr>
              <a:t>Data contoh: </a:t>
            </a:r>
            <a:pPr indent="0" marL="0">
              <a:lnSpc>
                <a:spcPct val="122000"/>
              </a:lnSpc>
              <a:buNone/>
            </a:pPr>
            <a:r>
              <a:rPr lang="en-US" sz="1200" dirty="0">
                <a:solidFill>
                  <a:srgbClr val="23283A"/>
                </a:solidFill>
                <a:latin typeface="Helvetica" pitchFamily="34" charset="0"/>
                <a:ea typeface="Helvetica" pitchFamily="34" charset="-122"/>
                <a:cs typeface="Helvetica" pitchFamily="34" charset="-120"/>
              </a:rPr>
              <a:t>unduh analisis-data-m3-contoh-penjualan-mingguan.csv dari “Materi Unduhan” — penjualan mingguan 5 produk, Mei-Juni (8 minggu). Harga Roti Sobek Keju &amp; Brownies naik 15-18% mulai Minggu 3 Juni — keduanya mulai turun tepat di minggu itu, produk lain relatif stabil.</a:t>
            </a:r>
            <a:endParaRPr lang="en-US" sz="1200" dirty="0"/>
          </a:p>
        </p:txBody>
      </p:sp>
      <p:sp>
        <p:nvSpPr>
          <p:cNvPr id="10" name="Text 8"/>
          <p:cNvSpPr/>
          <p:nvPr/>
        </p:nvSpPr>
        <p:spPr>
          <a:xfrm>
            <a:off x="777240" y="3319272"/>
            <a:ext cx="10652760" cy="868680"/>
          </a:xfrm>
          <a:prstGeom prst="rect">
            <a:avLst/>
          </a:prstGeom>
          <a:noFill/>
          <a:ln/>
        </p:spPr>
        <p:txBody>
          <a:bodyPr wrap="square" lIns="0" tIns="0" rIns="0" bIns="0" rtlCol="0" anchor="ctr"/>
          <a:lstStyle/>
          <a:p>
            <a:pPr indent="0" marL="0">
              <a:lnSpc>
                <a:spcPct val="122000"/>
              </a:lnSpc>
              <a:buNone/>
            </a:pPr>
            <a:r>
              <a:rPr lang="en-US" sz="1200" dirty="0">
                <a:solidFill>
                  <a:srgbClr val="23283A"/>
                </a:solidFill>
                <a:latin typeface="Helvetica" pitchFamily="34" charset="0"/>
                <a:ea typeface="Helvetica" pitchFamily="34" charset="-122"/>
                <a:cs typeface="Helvetica" pitchFamily="34" charset="-120"/>
              </a:rPr>
              <a:t>Upload file CSV yang sudah kamu unduh ke Claude. Tulis ulang prompt buruk “Analisa data penjualan toko roti aku dong” pakai framework K-P-I. Konteksnya: penjualan Juni turun dibanding Mei, dan kamu sempat naikin harga beberapa produk di pertengahan bulan.</a:t>
            </a:r>
            <a:endParaRPr lang="en-US" sz="1200" dirty="0"/>
          </a:p>
        </p:txBody>
      </p:sp>
      <p:sp>
        <p:nvSpPr>
          <p:cNvPr id="11" name="Shape 9"/>
          <p:cNvSpPr/>
          <p:nvPr/>
        </p:nvSpPr>
        <p:spPr>
          <a:xfrm>
            <a:off x="502920" y="4553712"/>
            <a:ext cx="11201400" cy="914400"/>
          </a:xfrm>
          <a:prstGeom prst="roundRect">
            <a:avLst>
              <a:gd name="adj" fmla="val 8000"/>
            </a:avLst>
          </a:prstGeom>
          <a:solidFill>
            <a:srgbClr val="F3F0FF"/>
          </a:solidFill>
          <a:ln w="12700">
            <a:solidFill>
              <a:srgbClr val="DCD3FB"/>
            </a:solidFill>
            <a:prstDash val="solid"/>
          </a:ln>
        </p:spPr>
      </p:sp>
      <p:sp>
        <p:nvSpPr>
          <p:cNvPr id="12" name="Shape 10"/>
          <p:cNvSpPr/>
          <p:nvPr/>
        </p:nvSpPr>
        <p:spPr>
          <a:xfrm>
            <a:off x="731520" y="4782312"/>
            <a:ext cx="457200" cy="457200"/>
          </a:xfrm>
          <a:prstGeom prst="ellipse">
            <a:avLst/>
          </a:prstGeom>
          <a:solidFill>
            <a:srgbClr val="6849F6"/>
          </a:solidFill>
          <a:ln/>
        </p:spPr>
      </p:sp>
      <p:sp>
        <p:nvSpPr>
          <p:cNvPr id="13" name="Text 11"/>
          <p:cNvSpPr/>
          <p:nvPr/>
        </p:nvSpPr>
        <p:spPr>
          <a:xfrm>
            <a:off x="731520" y="478231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Helvetica" pitchFamily="34" charset="0"/>
                <a:ea typeface="Helvetica" pitchFamily="34" charset="-122"/>
                <a:cs typeface="Helvetica" pitchFamily="34" charset="-120"/>
              </a:rPr>
              <a:t>✓</a:t>
            </a:r>
            <a:endParaRPr lang="en-US" sz="1800" dirty="0"/>
          </a:p>
        </p:txBody>
      </p:sp>
      <p:sp>
        <p:nvSpPr>
          <p:cNvPr id="14" name="Text 12"/>
          <p:cNvSpPr/>
          <p:nvPr/>
        </p:nvSpPr>
        <p:spPr>
          <a:xfrm>
            <a:off x="1371600" y="4663440"/>
            <a:ext cx="10104120" cy="694944"/>
          </a:xfrm>
          <a:prstGeom prst="rect">
            <a:avLst/>
          </a:prstGeom>
          <a:noFill/>
          <a:ln/>
        </p:spPr>
        <p:txBody>
          <a:bodyPr wrap="square" lIns="0" tIns="0" rIns="0" bIns="0" rtlCol="0" anchor="t"/>
          <a:lstStyle/>
          <a:p>
            <a:pPr indent="0" marL="0">
              <a:lnSpc>
                <a:spcPct val="120000"/>
              </a:lnSpc>
              <a:buNone/>
            </a:pPr>
            <a:r>
              <a:rPr lang="en-US" sz="1200" b="1" dirty="0">
                <a:solidFill>
                  <a:srgbClr val="0D1321"/>
                </a:solidFill>
                <a:latin typeface="Helvetica" pitchFamily="34" charset="0"/>
                <a:ea typeface="Helvetica" pitchFamily="34" charset="-122"/>
                <a:cs typeface="Helvetica" pitchFamily="34" charset="-120"/>
              </a:rPr>
              <a:t>Output yang Diharapkan   </a:t>
            </a:r>
            <a:endParaRPr lang="en-US" sz="1200" dirty="0"/>
          </a:p>
          <a:p>
            <a:pPr indent="0" marL="0">
              <a:lnSpc>
                <a:spcPct val="120000"/>
              </a:lnSpc>
              <a:buNone/>
            </a:pPr>
            <a:r>
              <a:rPr lang="en-US" sz="1200" dirty="0">
                <a:solidFill>
                  <a:srgbClr val="6B7280"/>
                </a:solidFill>
                <a:latin typeface="Helvetica" pitchFamily="34" charset="0"/>
                <a:ea typeface="Helvetica" pitchFamily="34" charset="-122"/>
                <a:cs typeface="Helvetica" pitchFamily="34" charset="-120"/>
              </a:rPr>
              <a:t>1 prompt lengkap dengan 3 elemen K-P-I, dan 1 hasil analisis nyata dari Claude berdasarkan data yang kamu upload.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2026-08-24T09:21:07Z</dcterms:created>
  <dcterms:modified xsi:type="dcterms:W3CDTF">2026-08-24T09:21:07Z</dcterms:modified>
</cp:coreProperties>
</file>