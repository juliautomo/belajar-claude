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41D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692640" y="457200"/>
            <a:ext cx="1965960" cy="457200"/>
          </a:xfrm>
          <a:prstGeom prst="roundRect">
            <a:avLst>
              <a:gd name="adj" fmla="val 20000"/>
            </a:avLst>
          </a:prstGeom>
          <a:solidFill>
            <a:srgbClr val="6849F6"/>
          </a:solidFill>
          <a:ln/>
        </p:spPr>
      </p:sp>
      <p:sp>
        <p:nvSpPr>
          <p:cNvPr id="5" name="Text 3"/>
          <p:cNvSpPr/>
          <p:nvPr/>
        </p:nvSpPr>
        <p:spPr>
          <a:xfrm>
            <a:off x="9692640" y="4572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Mengolah &amp; Menyusun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Spreadsheet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B7C0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Kategorikan, rapikan, bikin rumus, dan gabungkan data — gratis lewat chat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" y="6263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Analisis Data &amp; Laporan · Studi Kasus Toko Roti Online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4 — Mengolah &amp; Menyusun Data Spreadsheet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Masalah Tambahan Sebelum Mulai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Sebelum lanjut ke kategorisasi dan agregasi, ada 2 masalah tambahan yang sering luput dicek khusus untuk data spreadsheet — kalau ketemu salah satunya, minta Claude beresin dulu pakai kebiasaan dari Modul 2.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60604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620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Cell Tergabung (Merged Cells)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77240" y="3429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Bikin Claude bingung baris mana yang punya nilai yang mana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2606040"/>
            <a:ext cx="5394960" cy="192024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8620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Baris Header Bertingkat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83680" y="3429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Usahakan baris 1 cuma berisi nama kolom, bukan 2-3 baris judul yang ditumpuk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4846320"/>
            <a:ext cx="11201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Kekuatan utama Claude di spreadsheet: membaca teks opini/review dan mengkategorikannya ke kolom baru — cukup lewat copy-paste ke chat biasa, nggak perlu paket berbayar.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4 — Mengolah &amp; Menyusun Data Spreadsheet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Kategorisasi Massal Otomatis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19656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 SKENARIO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075688"/>
            <a:ext cx="10652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Kamu punya 66 baris review pelanggan toko roti (dari Modul 1). Kamu butuh 3 kolom baru: Topik Utama, Sentimen, dan Tingkat Urgensi.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97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 KATEGORISASI MASSAL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3017520"/>
            <a:ext cx="11201400" cy="1371600"/>
          </a:xfrm>
          <a:prstGeom prst="roundRect">
            <a:avLst>
              <a:gd name="adj" fmla="val 5333"/>
            </a:avLst>
          </a:prstGeom>
          <a:solidFill>
            <a:srgbClr val="0D1321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017520"/>
            <a:ext cx="10744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Analisis data ulasan pelanggan roti berikut: [PASTE DATA]. Tambahkan 3 kolom baru: [Topik Utama]: Rasa &amp; Kualitas / Pengiriman / Harga / Pelayanan, [Sentimen]: Positif / Netral / Negatif, [Urgensi]: Tinggi / Rendah. Tampilkan dalam bentuk tabel yang bisa saya copy-paste balik ke spreadsheet.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617720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745736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◆ CATATAN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5001768"/>
            <a:ext cx="10652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Semua kategorisasi ini dilakukan lewat chat biasa — nggak butuh fitur atau paket berbayar apapun, cukup copy-paste hasil dari Claude ke spreadsheet kamu.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4 — Mengolah &amp; Menyusun Data Spreadsheet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Tabel Agregasi — Bahan Baku Laporan &amp; Grafik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Setelah tiap baris dikasih tag, langkah selanjutnya adalah merekapitulasi jadi 1 tabel ringkasan. Tabel ini nanti dipakai untuk Ringkasan Eksekutif (Modul 5) dan Grafik (Modul 6).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 RINGKASAN AGREGASI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2606040"/>
            <a:ext cx="11201400" cy="1051560"/>
          </a:xfrm>
          <a:prstGeom prst="roundRect">
            <a:avLst>
              <a:gd name="adj" fmla="val 6957"/>
            </a:avLst>
          </a:prstGeom>
          <a:solidFill>
            <a:srgbClr val="0D132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606040"/>
            <a:ext cx="10744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Berdasarkan data yang sudah diberi tag topik di atas, buatkan 1 tabel ringkasan agregat: Nama Topik, Jumlah Mentions, Persentase Sentimen Negatif, dan ringkasan singkat masalah utama. Urutkan dari topik yang paling banyak dikeluhkan.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3840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 hasil tabel agregasi: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206240"/>
          <a:ext cx="112014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1188720"/>
                <a:gridCol w="6903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Topik Utama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Mentions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% Negatif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Temuan/Masalah Utama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Pengiriman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6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67%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Kurir sering telat, kemasan penyok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Harga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4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75%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Rasa/porsi nggak sepadan sama kenaikan harga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Rasa &amp; Kualitas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5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20%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Mayoritas puas, favorit Croissant &amp; Roti Tawar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4 — Mengolah &amp; Menyusun Data Spreadsheet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3a. Rumus Otomatis dengan Kondisi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11201400" cy="1051560"/>
          </a:xfrm>
          <a:prstGeom prst="roundRect">
            <a:avLst>
              <a:gd name="adj" fmla="val 6957"/>
            </a:avLst>
          </a:prstGeom>
          <a:solidFill>
            <a:srgbClr val="0D132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03120"/>
            <a:ext cx="10744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Dari data review yang sudah ditag Topik Utama, buatkan rumus untuk hitung jumlah review per Topik Utama DAN persentase kontribusinya terhadap total keseluruhan. Rumusnya harus otomatis ter-update kalau saya tambah baris data baru.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3291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Contoh hasil (simulasi dari data 66 review Modul 1):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611880"/>
          <a:ext cx="731520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286000"/>
                <a:gridCol w="20116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Topik Utama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Jumlah Review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% Kontribusi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Rasa &amp; Kualitas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26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39.4%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Pengiriman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19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28.8%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Harga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14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21.2%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Pelayanan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7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10.6%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502920" y="5669280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5797296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KENAPA INI BERGUNA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" y="6053328"/>
            <a:ext cx="10652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Rumus otomatis berarti kamu nggak perlu minta Claude susun ulang setiap kali tambah data baru — tinggal refresh sheet-nya.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4 — Mengolah &amp; Menyusun Data Spreadsheet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3b. Tabel Silang + Deteksi Tren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11201400" cy="1051560"/>
          </a:xfrm>
          <a:prstGeom prst="roundRect">
            <a:avLst>
              <a:gd name="adj" fmla="val 6957"/>
            </a:avLst>
          </a:prstGeom>
          <a:solidFill>
            <a:srgbClr val="0D1321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03120"/>
            <a:ext cx="10744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Dari data review ini, buatkan tabel silang: baris = Topik Utama, kolom = Bulan, isinya jumlah komplain di tiap kombinasi. Habis itu, kasih tau topik mana yang trennya makin naik dari bulan ke bulan — ini yang paling perlu diprioritaskan.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337560"/>
          <a:ext cx="65836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  <a:gridCol w="1463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Topik Utama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Mei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Juni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Tren</a:t>
                      </a:r>
                      <a:endParaRPr lang="en-US" sz="120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3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Harga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5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9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Naik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Pengiriman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13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6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Turun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Rasa &amp; Kualitas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21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5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Turun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Pelayanan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5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2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3283A"/>
                          </a:solidFill>
                          <a:latin typeface="Helvetica" pitchFamily="34" charset="0"/>
                          <a:ea typeface="Helvetica" pitchFamily="34" charset="-122"/>
                          <a:cs typeface="Helvetica" pitchFamily="34" charset="-120"/>
                        </a:rPr>
                        <a:t>Turun</a:t>
                      </a:r>
                      <a:endParaRPr lang="en-US" sz="1150" dirty="0">
                        <a:latin typeface="Helvetica" charset="0"/>
                        <a:ea typeface="Helvetica" charset="0"/>
                        <a:cs typeface="Helvetica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315200" y="3337560"/>
            <a:ext cx="4389120" cy="2194560"/>
          </a:xfrm>
          <a:prstGeom prst="roundRect">
            <a:avLst>
              <a:gd name="adj" fmla="val 3333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589520" y="34655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◆ INSIGHT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589520" y="3721608"/>
            <a:ext cx="38404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Topik Harga naik dari 5 ke 9 review (Mei → Juni) — ini yang paling perlu diprioritaskan, bertepatan dengan kenaikan harga Roti Sobek Keju &amp; Brownies pertengahan Juni (Modul 3).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576072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contoh dari Modul 1 sudah mencakup tanggal Mei-Juni, jadi kamu punya 2 bulan asli buat dibandingkan di tabel silang ini.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4 — Mengolah &amp; Menyusun Data Spreadsheet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Menghubungkan ke Modul Selanjutnya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476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 Modul 5 (Laporan)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Ubah kolom “Temuan/Masalah Utama” jadi paragraf Situasi → Temuan → Rekomendasi untuk atasan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194767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 Modul 6 (Visualisasi)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37960" y="22860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Ambil kolom “Topik Utama” dan “Jumlah Mentions” buat dimasukkan ke Artifacts atau chart Google Sheets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246120"/>
            <a:ext cx="11201400" cy="685800"/>
          </a:xfrm>
          <a:prstGeom prst="roundRect">
            <a:avLst>
              <a:gd name="adj" fmla="val 10667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374136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◆ OPSIONAL, LEVEL LANJUT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630168"/>
            <a:ext cx="106527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Gabungkan hasil kategorisasi review dengan data penjualan untuk mencari korelasi — bukan cuma “review-nya negatif”, tapi “review negatif ini juga nyambung sama penjualan yang turun”. Butuh 2 file sekaligus.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4114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4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 (C) GABUNGKAN 2 SUMBER DATA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02920" y="4416552"/>
            <a:ext cx="11201400" cy="914400"/>
          </a:xfrm>
          <a:prstGeom prst="roundRect">
            <a:avLst>
              <a:gd name="adj" fmla="val 8000"/>
            </a:avLst>
          </a:prstGeom>
          <a:solidFill>
            <a:srgbClr val="0D132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416552"/>
            <a:ext cx="10744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Saya punya 2 data: review pelanggan (sudah ditag topik &amp; sentimen) dan data penjualan mingguan per produk. Gabungkan keduanya: apakah Roti Sobek Keju dan Brownies — yang penjualannya turun sejak kenaikan harga — juga produk yang paling banyak dikomplain soal harga? Tunjukkan buktinya.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4 — Mengolah &amp; Menyusun Data Spreadsheet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 Bonus: Tab Ringkasan Otomatis (Apps Script)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Opsional, untuk yang mau lebih hemat waktu jangka panjang: sekali setup, tab ringkasan di Google Sheets-mu bisa di-refresh otomatis kapan saja kamu tambah data baru.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377440"/>
            <a:ext cx="2688336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088" y="2578608"/>
            <a:ext cx="384048" cy="384048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4088" y="3063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Buka Google Sheet-mu, lalu Extensions → Apps Script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19272" y="2377440"/>
            <a:ext cx="2688336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2578608"/>
            <a:ext cx="384048" cy="384048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20440" y="3063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Hapus kode default, paste script dari file helper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35624" y="2377440"/>
            <a:ext cx="2688336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36792" y="2578608"/>
            <a:ext cx="384048" cy="384048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8" name="Text 16"/>
          <p:cNvSpPr/>
          <p:nvPr/>
        </p:nvSpPr>
        <p:spPr>
          <a:xfrm>
            <a:off x="6336792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36792" y="3063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Sesuaikan 4 baris KONFIGURASI dengan nama sheet &amp; kolom kamu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51976" y="2377440"/>
            <a:ext cx="2688336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53144" y="2578608"/>
            <a:ext cx="384048" cy="384048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22" name="Text 20"/>
          <p:cNvSpPr/>
          <p:nvPr/>
        </p:nvSpPr>
        <p:spPr>
          <a:xfrm>
            <a:off x="9153144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53144" y="30632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Klik Run — izinkan akses, tab “Ringkasan Otomatis” muncul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023360"/>
            <a:ext cx="11201400" cy="73152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151376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FILE PENDUKUNG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4407408"/>
            <a:ext cx="10652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Unduh ad-m4-ringkasan-otomatis-helper.txt dari “Materi Unduhan” — berisi script Apps Script siap pakai, plus contoh prompt untuk versi VBA kalau kamu pakai Excel.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892040"/>
            <a:ext cx="11201400" cy="822960"/>
          </a:xfrm>
          <a:prstGeom prst="roundRect">
            <a:avLst>
              <a:gd name="adj" fmla="val 8889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020056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◆ PAKAI EXCEL, BUKAN GOOGLE SHEETS?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77240" y="5276088"/>
            <a:ext cx="1065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Fitur setara Apps Script di Excel namanya VBA macro. Minta Claude generate kode VBA khusus untuk struktur datamu (sebutkan versi Excel yang kamu pakai) — contoh prompt-nya ada di file helper.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4 — Mengolah &amp; Menyusun Data Spreadsheet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Ringkasan Modul 4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11201400" cy="3246120"/>
          </a:xfrm>
          <a:prstGeom prst="roundRect">
            <a:avLst>
              <a:gd name="adj" fmla="val 3380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57400"/>
            <a:ext cx="105613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Cek 2 masalah tambahan sebelum kategorisasi: merged cells dan header bertingkat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Gunakan Claude buat menambahkan kolom kategori kualitatif (Topik, Sentimen, Urgensi) — cukup lewat chat, gratis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Buat Tabel Agregasi sebagai jembatan menuju Laporan (Modul 5) dan Grafik (Modul 6)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Level lanjut di data yang sama: rumus otomatis dengan kondisi, dan tabel silang + deteksi tren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Opsional: gabungkan dengan data penjualan (file kedua) untuk mencari korelasi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Bonus: Apps Script buat bikin tab “Ringkasan Otomatis” yang bisa di-refresh kapan saja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5303520"/>
            <a:ext cx="1120140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5431536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◆ TIPS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5687568"/>
            <a:ext cx="10652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Kalau daftar Topik Utama yang kamu tentukan ternyata nggak nangkep semua jenis komplain, minta Claude usul kategori tambahan dari pola yang dia lihat di data — jangan cuma dipaksa masuk ke kategori yang udah ada.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4 — Mengolah &amp; Menyusun Data Spreadsheet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&amp; Output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11201400" cy="3749040"/>
          </a:xfrm>
          <a:prstGeom prst="roundRect">
            <a:avLst>
              <a:gd name="adj" fmla="val 2439"/>
            </a:avLst>
          </a:prstGeom>
          <a:solidFill>
            <a:srgbClr val="EAFAF0"/>
          </a:solidFill>
          <a:ln w="12700">
            <a:solidFill>
              <a:srgbClr val="B8E6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■ LATIHAN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2167128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Data contoh: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unduh analisis-data-m1-contoh-review-roti.csv (sama dengan Modul 1). Semua langkah di bawah cukup pakai file ini saja.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2697480"/>
            <a:ext cx="10652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Upload file CSV yang sudah kamu unduh ke Claude.</a:t>
            </a:r>
            <a:endParaRPr lang="en-US" sz="1100" dirty="0"/>
          </a:p>
          <a:p>
            <a:pPr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Kirim Prompt Kategorisasi Massal untuk nambah kolom Topik Utama, Sentimen, dan Urgensi.</a:t>
            </a:r>
            <a:endParaRPr lang="en-US" sz="1100" dirty="0"/>
          </a:p>
          <a:p>
            <a:pPr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Di chat yang sama, kirim Prompt Ringkasan Agregasi untuk hasilkan 1 tabel ringkasan akhir per topik.</a:t>
            </a:r>
            <a:endParaRPr lang="en-US" sz="1100" dirty="0"/>
          </a:p>
          <a:p>
            <a:pPr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4. Coba Prompt (a) Rumus Otomatis untuk jumlah &amp; persentase kontribusi per Topik Utama.</a:t>
            </a:r>
            <a:endParaRPr lang="en-US" sz="1100" dirty="0"/>
          </a:p>
          <a:p>
            <a:pPr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5. Coba Prompt (b) Tabel Silang untuk lihat topik mana yang trennya naik dari Mei ke Juni.</a:t>
            </a:r>
            <a:endParaRPr lang="en-US" sz="1100" dirty="0"/>
          </a:p>
          <a:p>
            <a:pPr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6. Simpan tabel ringkasan dari langkah 3 — dipakai lagi di Modul 5 dan Modul 6.</a:t>
            </a:r>
            <a:endParaRPr lang="en-US" sz="1100" dirty="0"/>
          </a:p>
          <a:p>
            <a:pPr indent="0" marL="0">
              <a:lnSpc>
                <a:spcPct val="120000"/>
              </a:lnSpc>
              <a:spcAft>
                <a:spcPts val="700"/>
              </a:spcAft>
              <a:buNone/>
            </a:pPr>
            <a:r>
              <a:rPr lang="en-US" sz="11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7. (Opsional, level lanjut) Kalau punya data penjualan Modul 3, coba Prompt (c) untuk menggabungkan keduanya.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5641848"/>
            <a:ext cx="11201400" cy="868680"/>
          </a:xfrm>
          <a:prstGeom prst="roundRect">
            <a:avLst>
              <a:gd name="adj" fmla="val 8421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5847588"/>
            <a:ext cx="457200" cy="457200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58475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5751576"/>
            <a:ext cx="101041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Output yang Diharapkan   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tabel data yang sudah ditag (Topik/Sentimen/Urgensi) + 1 tabel agregasi siap pakai untuk laporan dan grafik.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2026-08-24T09:24:34Z</dcterms:created>
  <dcterms:modified xsi:type="dcterms:W3CDTF">2026-08-24T09:24:34Z</dcterms:modified>
</cp:coreProperties>
</file>