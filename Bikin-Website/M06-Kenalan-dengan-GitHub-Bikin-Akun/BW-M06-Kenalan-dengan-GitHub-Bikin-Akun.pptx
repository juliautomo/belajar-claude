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41D33"/>
          </a:solidFill>
          <a:ln/>
        </p:spPr>
      </p:sp>
      <p:sp>
        <p:nvSpPr>
          <p:cNvPr id="3" name="Text 1"/>
          <p:cNvSpPr txBox="1"/>
          <p:nvPr/>
        </p:nvSpPr>
        <p:spPr>
          <a:xfrm>
            <a:off x="640080" y="50292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9921240" y="502920"/>
            <a:ext cx="1691640" cy="420624"/>
          </a:xfrm>
          <a:prstGeom prst="roundRect">
            <a:avLst>
              <a:gd name="adj" fmla="val 21739"/>
            </a:avLst>
          </a:prstGeom>
          <a:solidFill>
            <a:srgbClr val="6849F6"/>
          </a:solidFill>
          <a:ln/>
        </p:spPr>
      </p:sp>
      <p:sp>
        <p:nvSpPr>
          <p:cNvPr id="5" name="Text 3"/>
          <p:cNvSpPr txBox="1"/>
          <p:nvPr/>
        </p:nvSpPr>
        <p:spPr>
          <a:xfrm>
            <a:off x="9921240" y="502920"/>
            <a:ext cx="169164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MODUL 6</a:t>
            </a:r>
            <a:endParaRPr lang="en-US" sz="1300" dirty="0"/>
          </a:p>
        </p:txBody>
      </p:sp>
      <p:sp>
        <p:nvSpPr>
          <p:cNvPr id="6" name="Text 4"/>
          <p:cNvSpPr txBox="1"/>
          <p:nvPr/>
        </p:nvSpPr>
        <p:spPr>
          <a:xfrm>
            <a:off x="640080" y="2697480"/>
            <a:ext cx="7132320" cy="1371600"/>
          </a:xfrm>
          <a:prstGeom prst="rect">
            <a:avLst/>
          </a:prstGeom>
          <a:noFill/>
          <a:ln/>
        </p:spPr>
        <p:txBody>
          <a:bodyPr wrap="square" lIns="0" tIns="0" rIns="0" bIns="0" rtlCol="0" anchor="b"/>
          <a:lstStyle/>
          <a:p>
            <a:pPr indent="0" marL="0">
              <a:lnSpc>
                <a:spcPts val="5000"/>
              </a:lnSpc>
              <a:buNone/>
            </a:pPr>
            <a:r>
              <a:rPr lang="en-US" sz="4400" b="1" dirty="0">
                <a:solidFill>
                  <a:srgbClr val="FFFFFF"/>
                </a:solidFill>
                <a:latin typeface="Helvetica" pitchFamily="34" charset="0"/>
                <a:ea typeface="Helvetica" pitchFamily="34" charset="-122"/>
                <a:cs typeface="Helvetica" pitchFamily="34" charset="-120"/>
              </a:rPr>
              <a:t>Kenalan dengan GitHub</a:t>
            </a:r>
            <a:endParaRPr lang="en-US" sz="4400" dirty="0"/>
          </a:p>
          <a:p>
            <a:pPr indent="0" marL="0">
              <a:lnSpc>
                <a:spcPts val="5000"/>
              </a:lnSpc>
              <a:buNone/>
            </a:pPr>
            <a:r>
              <a:rPr lang="en-US" sz="4400" b="1" dirty="0">
                <a:solidFill>
                  <a:srgbClr val="FFFFFF"/>
                </a:solidFill>
                <a:latin typeface="Helvetica" pitchFamily="34" charset="0"/>
                <a:ea typeface="Helvetica" pitchFamily="34" charset="-122"/>
                <a:cs typeface="Helvetica" pitchFamily="34" charset="-120"/>
              </a:rPr>
              <a:t>&amp; Bikin Akun</a:t>
            </a:r>
            <a:endParaRPr lang="en-US" sz="4400" dirty="0"/>
          </a:p>
        </p:txBody>
      </p:sp>
      <p:sp>
        <p:nvSpPr>
          <p:cNvPr id="7" name="Text 5"/>
          <p:cNvSpPr txBox="1"/>
          <p:nvPr/>
        </p:nvSpPr>
        <p:spPr>
          <a:xfrm>
            <a:off x="640080" y="4325112"/>
            <a:ext cx="6949440" cy="822960"/>
          </a:xfrm>
          <a:prstGeom prst="rect">
            <a:avLst/>
          </a:prstGeom>
          <a:noFill/>
          <a:ln/>
        </p:spPr>
        <p:txBody>
          <a:bodyPr wrap="square" lIns="0" tIns="0" rIns="0" bIns="0" rtlCol="0" anchor="ctr"/>
          <a:lstStyle/>
          <a:p>
            <a:pPr indent="0" marL="0">
              <a:lnSpc>
                <a:spcPct val="130000"/>
              </a:lnSpc>
              <a:buNone/>
            </a:pPr>
            <a:r>
              <a:rPr lang="en-US" sz="1550" dirty="0">
                <a:solidFill>
                  <a:srgbClr val="B7C0D8"/>
                </a:solidFill>
                <a:latin typeface="Helvetica" pitchFamily="34" charset="0"/>
                <a:ea typeface="Helvetica" pitchFamily="34" charset="-122"/>
                <a:cs typeface="Helvetica" pitchFamily="34" charset="-120"/>
              </a:rPr>
              <a:t>GitHub sebagai portfolio, bukan cuma tempat nyimpan file</a:t>
            </a:r>
            <a:endParaRPr lang="en-US" sz="1550" dirty="0"/>
          </a:p>
        </p:txBody>
      </p:sp>
      <p:sp>
        <p:nvSpPr>
          <p:cNvPr id="8" name="Text 6"/>
          <p:cNvSpPr txBox="1"/>
          <p:nvPr/>
        </p:nvSpPr>
        <p:spPr>
          <a:xfrm>
            <a:off x="640080" y="6263640"/>
            <a:ext cx="7315200" cy="365760"/>
          </a:xfrm>
          <a:prstGeom prst="rect">
            <a:avLst/>
          </a:prstGeom>
          <a:noFill/>
          <a:ln/>
        </p:spPr>
        <p:txBody>
          <a:bodyPr wrap="square" lIns="0" tIns="0" rIns="0" bIns="0" rtlCol="0" anchor="ctr"/>
          <a:lstStyle/>
          <a:p>
            <a:pPr indent="0" marL="0">
              <a:buNone/>
            </a:pPr>
            <a:r>
              <a:rPr lang="en-US" sz="1150" dirty="0">
                <a:solidFill>
                  <a:srgbClr val="9AA2B4"/>
                </a:solidFill>
                <a:latin typeface="Helvetica" pitchFamily="34" charset="0"/>
                <a:ea typeface="Helvetica" pitchFamily="34" charset="-122"/>
                <a:cs typeface="Helvetica" pitchFamily="34" charset="-120"/>
              </a:rPr>
              <a:t>Bikin Website Sendiri Tanpa Coding · Studi Kasus Katalog Toko Roti Online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Kenalan dengan GitHub &amp; Bikin Akun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Apa Itu GitHub, dan Kenapa Penting</a:t>
            </a:r>
            <a:endParaRPr lang="en-US" sz="2200" dirty="0"/>
          </a:p>
        </p:txBody>
      </p:sp>
      <p:sp>
        <p:nvSpPr>
          <p:cNvPr id="7" name="Text 5"/>
          <p:cNvSpPr txBox="1"/>
          <p:nvPr/>
        </p:nvSpPr>
        <p:spPr>
          <a:xfrm>
            <a:off x="502920" y="1828800"/>
            <a:ext cx="1115568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APA ITU GITHUB?</a:t>
            </a:r>
            <a:endParaRPr lang="en-US" sz="1250" dirty="0"/>
          </a:p>
        </p:txBody>
      </p:sp>
      <p:sp>
        <p:nvSpPr>
          <p:cNvPr id="8" name="Text 6"/>
          <p:cNvSpPr txBox="1"/>
          <p:nvPr/>
        </p:nvSpPr>
        <p:spPr>
          <a:xfrm>
            <a:off x="502920" y="2148840"/>
            <a:ext cx="11155680" cy="77724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GitHub adalah tempat menyimpan dan menampilkan project — bayangkan seperti Google Drive, tapi dirancang khusus untuk kode/file project, dan bisa dilihat publik. Setiap project yang kamu simpan disebut “repository” (repo).</a:t>
            </a:r>
            <a:endParaRPr lang="en-US" sz="1350" dirty="0"/>
          </a:p>
        </p:txBody>
      </p:sp>
      <p:sp>
        <p:nvSpPr>
          <p:cNvPr id="9" name="Text 7"/>
          <p:cNvSpPr txBox="1"/>
          <p:nvPr/>
        </p:nvSpPr>
        <p:spPr>
          <a:xfrm>
            <a:off x="502920" y="3063240"/>
            <a:ext cx="11155680" cy="274320"/>
          </a:xfrm>
          <a:prstGeom prst="rect">
            <a:avLst/>
          </a:prstGeom>
          <a:noFill/>
          <a:ln/>
        </p:spPr>
        <p:txBody>
          <a:bodyPr wrap="square" lIns="0" tIns="0" rIns="0" bIns="0" rtlCol="0" anchor="ctr"/>
          <a:lstStyle/>
          <a:p>
            <a:pPr indent="0" marL="0">
              <a:buNone/>
            </a:pPr>
            <a:r>
              <a:rPr lang="en-US" sz="1250" b="1" spc="40" kern="0" dirty="0">
                <a:solidFill>
                  <a:srgbClr val="4B36C7"/>
                </a:solidFill>
                <a:latin typeface="Helvetica" pitchFamily="34" charset="0"/>
                <a:ea typeface="Helvetica" pitchFamily="34" charset="-122"/>
                <a:cs typeface="Helvetica" pitchFamily="34" charset="-120"/>
              </a:rPr>
              <a:t>GITHUB SEBAGAI PORTFOLIO</a:t>
            </a:r>
            <a:endParaRPr lang="en-US" sz="1250" dirty="0"/>
          </a:p>
        </p:txBody>
      </p:sp>
      <p:sp>
        <p:nvSpPr>
          <p:cNvPr id="10" name="Text 8"/>
          <p:cNvSpPr txBox="1"/>
          <p:nvPr/>
        </p:nvSpPr>
        <p:spPr>
          <a:xfrm>
            <a:off x="502920" y="3383280"/>
            <a:ext cx="11155680" cy="86868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Ini yang sering dilewatkan pemula: profil GitHub publik dengan project-project nyata di dalamnya adalah bukti kerja yang bisa ditunjukkan ke calon klien. Ingat poin monetisasi di Modul 1 — repo katalog yang kamu bangun di kursus ini adalah bukti kerja pertamamu.</a:t>
            </a:r>
            <a:endParaRPr lang="en-US" sz="1350" dirty="0"/>
          </a:p>
        </p:txBody>
      </p:sp>
      <p:sp>
        <p:nvSpPr>
          <p:cNvPr id="11" name="Shape 9"/>
          <p:cNvSpPr/>
          <p:nvPr/>
        </p:nvSpPr>
        <p:spPr>
          <a:xfrm>
            <a:off x="502920" y="4434840"/>
            <a:ext cx="11183112" cy="1078357"/>
          </a:xfrm>
          <a:prstGeom prst="roundRect">
            <a:avLst>
              <a:gd name="adj" fmla="val 8480"/>
            </a:avLst>
          </a:prstGeom>
          <a:solidFill>
            <a:srgbClr val="F3F0FF"/>
          </a:solidFill>
          <a:ln w="12700">
            <a:solidFill>
              <a:srgbClr val="DCD3FB"/>
            </a:solidFill>
            <a:prstDash val="solid"/>
          </a:ln>
        </p:spPr>
      </p:sp>
      <p:sp>
        <p:nvSpPr>
          <p:cNvPr id="12" name="Text 10"/>
          <p:cNvSpPr txBox="1"/>
          <p:nvPr/>
        </p:nvSpPr>
        <p:spPr>
          <a:xfrm>
            <a:off x="704088" y="4599432"/>
            <a:ext cx="1078077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KENAPA INI PENTING</a:t>
            </a:r>
            <a:endParaRPr lang="en-US" sz="1150" dirty="0"/>
          </a:p>
        </p:txBody>
      </p:sp>
      <p:sp>
        <p:nvSpPr>
          <p:cNvPr id="13" name="Text 11"/>
          <p:cNvSpPr txBox="1"/>
          <p:nvPr/>
        </p:nvSpPr>
        <p:spPr>
          <a:xfrm>
            <a:off x="704088" y="4946904"/>
            <a:ext cx="10780776" cy="365125"/>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Kalau nanti kamu menawarkan jasa bikin situs ke UMKM lain, jauh lebih meyakinkan menunjukkan “ini contoh nyata yang saya buat, linknya bisa dicek langsung” dibanding cuma bilang “saya bisa bikin website.”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Kenalan dengan GitHub &amp; Bikin Akun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Bikin Akun &amp; Repo Pertama</a:t>
            </a:r>
            <a:endParaRPr lang="en-US" sz="2200" dirty="0"/>
          </a:p>
        </p:txBody>
      </p:sp>
      <p:sp>
        <p:nvSpPr>
          <p:cNvPr id="7" name="Text 5"/>
          <p:cNvSpPr txBox="1"/>
          <p:nvPr/>
        </p:nvSpPr>
        <p:spPr>
          <a:xfrm>
            <a:off x="502920" y="1828800"/>
            <a:ext cx="11155680" cy="411480"/>
          </a:xfrm>
          <a:prstGeom prst="rect">
            <a:avLst/>
          </a:prstGeom>
          <a:noFill/>
          <a:ln/>
        </p:spPr>
        <p:txBody>
          <a:bodyPr wrap="square" lIns="0" tIns="0" rIns="0" bIns="0" rtlCol="0" anchor="ctr"/>
          <a:lstStyle/>
          <a:p>
            <a:pPr indent="0" marL="0">
              <a:lnSpc>
                <a:spcPct val="125000"/>
              </a:lnSpc>
              <a:buNone/>
            </a:pPr>
            <a:r>
              <a:rPr lang="en-US" sz="1350" dirty="0">
                <a:solidFill>
                  <a:srgbClr val="23283A"/>
                </a:solidFill>
                <a:latin typeface="Helvetica" pitchFamily="34" charset="0"/>
                <a:ea typeface="Helvetica" pitchFamily="34" charset="-122"/>
                <a:cs typeface="Helvetica" pitchFamily="34" charset="-120"/>
              </a:rPr>
              <a:t>Semua langkah berikut dilakukan lewat web browser biasa — tidak butuh command line atau perintah git apapun.</a:t>
            </a:r>
            <a:endParaRPr lang="en-US" sz="1350" dirty="0"/>
          </a:p>
        </p:txBody>
      </p:sp>
      <p:sp>
        <p:nvSpPr>
          <p:cNvPr id="8" name="Shape 6"/>
          <p:cNvSpPr/>
          <p:nvPr/>
        </p:nvSpPr>
        <p:spPr>
          <a:xfrm>
            <a:off x="502920" y="2377440"/>
            <a:ext cx="2644902" cy="1136904"/>
          </a:xfrm>
          <a:prstGeom prst="roundRect">
            <a:avLst>
              <a:gd name="adj" fmla="val 8043"/>
            </a:avLst>
          </a:prstGeom>
          <a:solidFill>
            <a:srgbClr val="F4F6FB"/>
          </a:solidFill>
          <a:ln w="12700">
            <a:solidFill>
              <a:srgbClr val="D6DCEB"/>
            </a:solidFill>
            <a:prstDash val="solid"/>
          </a:ln>
        </p:spPr>
      </p:sp>
      <p:sp>
        <p:nvSpPr>
          <p:cNvPr id="9" name="Shape 7"/>
          <p:cNvSpPr/>
          <p:nvPr/>
        </p:nvSpPr>
        <p:spPr>
          <a:xfrm>
            <a:off x="667512" y="2523744"/>
            <a:ext cx="365760" cy="365760"/>
          </a:xfrm>
          <a:prstGeom prst="ellipse">
            <a:avLst/>
          </a:prstGeom>
          <a:solidFill>
            <a:srgbClr val="6849F6"/>
          </a:solidFill>
          <a:ln/>
        </p:spPr>
      </p:sp>
      <p:sp>
        <p:nvSpPr>
          <p:cNvPr id="10" name="Text 8"/>
          <p:cNvSpPr txBox="1"/>
          <p:nvPr/>
        </p:nvSpPr>
        <p:spPr>
          <a:xfrm>
            <a:off x="667512" y="2523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1</a:t>
            </a:r>
            <a:endParaRPr lang="en-US" sz="1500" dirty="0"/>
          </a:p>
        </p:txBody>
      </p:sp>
      <p:sp>
        <p:nvSpPr>
          <p:cNvPr id="11" name="Text 9"/>
          <p:cNvSpPr txBox="1"/>
          <p:nvPr/>
        </p:nvSpPr>
        <p:spPr>
          <a:xfrm>
            <a:off x="667512" y="2980944"/>
            <a:ext cx="2315718" cy="350520"/>
          </a:xfrm>
          <a:prstGeom prst="rect">
            <a:avLst/>
          </a:prstGeom>
          <a:noFill/>
          <a:ln/>
        </p:spPr>
        <p:txBody>
          <a:bodyPr wrap="square" lIns="0" tIns="0" rIns="0" bIns="0" rtlCol="0" anchor="ctr"/>
          <a:lstStyle/>
          <a:p>
            <a:pPr indent="0" marL="0">
              <a:lnSpc>
                <a:spcPct val="120000"/>
              </a:lnSpc>
              <a:buNone/>
            </a:pPr>
            <a:r>
              <a:rPr lang="en-US" sz="1150" dirty="0">
                <a:solidFill>
                  <a:srgbClr val="23283A"/>
                </a:solidFill>
                <a:latin typeface="Helvetica" pitchFamily="34" charset="0"/>
                <a:ea typeface="Helvetica" pitchFamily="34" charset="-122"/>
                <a:cs typeface="Helvetica" pitchFamily="34" charset="-120"/>
              </a:rPr>
              <a:t>Buat akun gratis di github.com</a:t>
            </a:r>
            <a:endParaRPr lang="en-US" sz="1150" dirty="0"/>
          </a:p>
        </p:txBody>
      </p:sp>
      <p:sp>
        <p:nvSpPr>
          <p:cNvPr id="12" name="Shape 10"/>
          <p:cNvSpPr/>
          <p:nvPr/>
        </p:nvSpPr>
        <p:spPr>
          <a:xfrm>
            <a:off x="3348990" y="2377440"/>
            <a:ext cx="2644902" cy="1136904"/>
          </a:xfrm>
          <a:prstGeom prst="roundRect">
            <a:avLst>
              <a:gd name="adj" fmla="val 8043"/>
            </a:avLst>
          </a:prstGeom>
          <a:solidFill>
            <a:srgbClr val="F4F6FB"/>
          </a:solidFill>
          <a:ln w="12700">
            <a:solidFill>
              <a:srgbClr val="D6DCEB"/>
            </a:solidFill>
            <a:prstDash val="solid"/>
          </a:ln>
        </p:spPr>
      </p:sp>
      <p:sp>
        <p:nvSpPr>
          <p:cNvPr id="13" name="Shape 11"/>
          <p:cNvSpPr/>
          <p:nvPr/>
        </p:nvSpPr>
        <p:spPr>
          <a:xfrm>
            <a:off x="3513582" y="2523744"/>
            <a:ext cx="365760" cy="365760"/>
          </a:xfrm>
          <a:prstGeom prst="ellipse">
            <a:avLst/>
          </a:prstGeom>
          <a:solidFill>
            <a:srgbClr val="6849F6"/>
          </a:solidFill>
          <a:ln/>
        </p:spPr>
      </p:sp>
      <p:sp>
        <p:nvSpPr>
          <p:cNvPr id="14" name="Text 12"/>
          <p:cNvSpPr txBox="1"/>
          <p:nvPr/>
        </p:nvSpPr>
        <p:spPr>
          <a:xfrm>
            <a:off x="3513582" y="2523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2</a:t>
            </a:r>
            <a:endParaRPr lang="en-US" sz="1500" dirty="0"/>
          </a:p>
        </p:txBody>
      </p:sp>
      <p:sp>
        <p:nvSpPr>
          <p:cNvPr id="15" name="Text 13"/>
          <p:cNvSpPr txBox="1"/>
          <p:nvPr/>
        </p:nvSpPr>
        <p:spPr>
          <a:xfrm>
            <a:off x="3513582" y="2980944"/>
            <a:ext cx="2315718" cy="350520"/>
          </a:xfrm>
          <a:prstGeom prst="rect">
            <a:avLst/>
          </a:prstGeom>
          <a:noFill/>
          <a:ln/>
        </p:spPr>
        <p:txBody>
          <a:bodyPr wrap="square" lIns="0" tIns="0" rIns="0" bIns="0" rtlCol="0" anchor="ctr"/>
          <a:lstStyle/>
          <a:p>
            <a:pPr indent="0" marL="0">
              <a:lnSpc>
                <a:spcPct val="120000"/>
              </a:lnSpc>
              <a:buNone/>
            </a:pPr>
            <a:r>
              <a:rPr lang="en-US" sz="1150" dirty="0">
                <a:solidFill>
                  <a:srgbClr val="23283A"/>
                </a:solidFill>
                <a:latin typeface="Helvetica" pitchFamily="34" charset="0"/>
                <a:ea typeface="Helvetica" pitchFamily="34" charset="-122"/>
                <a:cs typeface="Helvetica" pitchFamily="34" charset="-120"/>
              </a:rPr>
              <a:t>Klik “New repository”, beri nama (misalnya nama tokomu)</a:t>
            </a:r>
            <a:endParaRPr lang="en-US" sz="1150" dirty="0"/>
          </a:p>
        </p:txBody>
      </p:sp>
      <p:sp>
        <p:nvSpPr>
          <p:cNvPr id="16" name="Shape 14"/>
          <p:cNvSpPr/>
          <p:nvPr/>
        </p:nvSpPr>
        <p:spPr>
          <a:xfrm>
            <a:off x="6195060" y="2377440"/>
            <a:ext cx="2644902" cy="1136904"/>
          </a:xfrm>
          <a:prstGeom prst="roundRect">
            <a:avLst>
              <a:gd name="adj" fmla="val 8043"/>
            </a:avLst>
          </a:prstGeom>
          <a:solidFill>
            <a:srgbClr val="F4F6FB"/>
          </a:solidFill>
          <a:ln w="12700">
            <a:solidFill>
              <a:srgbClr val="D6DCEB"/>
            </a:solidFill>
            <a:prstDash val="solid"/>
          </a:ln>
        </p:spPr>
      </p:sp>
      <p:sp>
        <p:nvSpPr>
          <p:cNvPr id="17" name="Shape 15"/>
          <p:cNvSpPr/>
          <p:nvPr/>
        </p:nvSpPr>
        <p:spPr>
          <a:xfrm>
            <a:off x="6359652" y="2523744"/>
            <a:ext cx="365760" cy="365760"/>
          </a:xfrm>
          <a:prstGeom prst="ellipse">
            <a:avLst/>
          </a:prstGeom>
          <a:solidFill>
            <a:srgbClr val="6849F6"/>
          </a:solidFill>
          <a:ln/>
        </p:spPr>
      </p:sp>
      <p:sp>
        <p:nvSpPr>
          <p:cNvPr id="18" name="Text 16"/>
          <p:cNvSpPr txBox="1"/>
          <p:nvPr/>
        </p:nvSpPr>
        <p:spPr>
          <a:xfrm>
            <a:off x="6359652" y="2523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3</a:t>
            </a:r>
            <a:endParaRPr lang="en-US" sz="1500" dirty="0"/>
          </a:p>
        </p:txBody>
      </p:sp>
      <p:sp>
        <p:nvSpPr>
          <p:cNvPr id="19" name="Text 17"/>
          <p:cNvSpPr txBox="1"/>
          <p:nvPr/>
        </p:nvSpPr>
        <p:spPr>
          <a:xfrm>
            <a:off x="6359652" y="2980944"/>
            <a:ext cx="2315718" cy="350520"/>
          </a:xfrm>
          <a:prstGeom prst="rect">
            <a:avLst/>
          </a:prstGeom>
          <a:noFill/>
          <a:ln/>
        </p:spPr>
        <p:txBody>
          <a:bodyPr wrap="square" lIns="0" tIns="0" rIns="0" bIns="0" rtlCol="0" anchor="ctr"/>
          <a:lstStyle/>
          <a:p>
            <a:pPr indent="0" marL="0">
              <a:lnSpc>
                <a:spcPct val="120000"/>
              </a:lnSpc>
              <a:buNone/>
            </a:pPr>
            <a:r>
              <a:rPr lang="en-US" sz="1150" dirty="0">
                <a:solidFill>
                  <a:srgbClr val="23283A"/>
                </a:solidFill>
                <a:latin typeface="Helvetica" pitchFamily="34" charset="0"/>
                <a:ea typeface="Helvetica" pitchFamily="34" charset="-122"/>
                <a:cs typeface="Helvetica" pitchFamily="34" charset="-120"/>
              </a:rPr>
              <a:t>Upload file situsmu lewat tombol “Add file → Upload files”</a:t>
            </a:r>
            <a:endParaRPr lang="en-US" sz="1150" dirty="0"/>
          </a:p>
        </p:txBody>
      </p:sp>
      <p:sp>
        <p:nvSpPr>
          <p:cNvPr id="20" name="Shape 18"/>
          <p:cNvSpPr/>
          <p:nvPr/>
        </p:nvSpPr>
        <p:spPr>
          <a:xfrm>
            <a:off x="9041130" y="2377440"/>
            <a:ext cx="2644902" cy="1136904"/>
          </a:xfrm>
          <a:prstGeom prst="roundRect">
            <a:avLst>
              <a:gd name="adj" fmla="val 8043"/>
            </a:avLst>
          </a:prstGeom>
          <a:solidFill>
            <a:srgbClr val="F4F6FB"/>
          </a:solidFill>
          <a:ln w="12700">
            <a:solidFill>
              <a:srgbClr val="D6DCEB"/>
            </a:solidFill>
            <a:prstDash val="solid"/>
          </a:ln>
        </p:spPr>
      </p:sp>
      <p:sp>
        <p:nvSpPr>
          <p:cNvPr id="21" name="Shape 19"/>
          <p:cNvSpPr/>
          <p:nvPr/>
        </p:nvSpPr>
        <p:spPr>
          <a:xfrm>
            <a:off x="9205722" y="2523744"/>
            <a:ext cx="365760" cy="365760"/>
          </a:xfrm>
          <a:prstGeom prst="ellipse">
            <a:avLst/>
          </a:prstGeom>
          <a:solidFill>
            <a:srgbClr val="6849F6"/>
          </a:solidFill>
          <a:ln/>
        </p:spPr>
      </p:sp>
      <p:sp>
        <p:nvSpPr>
          <p:cNvPr id="22" name="Text 20"/>
          <p:cNvSpPr txBox="1"/>
          <p:nvPr/>
        </p:nvSpPr>
        <p:spPr>
          <a:xfrm>
            <a:off x="9205722" y="252374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Helvetica" pitchFamily="34" charset="0"/>
                <a:ea typeface="Helvetica" pitchFamily="34" charset="-122"/>
                <a:cs typeface="Helvetica" pitchFamily="34" charset="-120"/>
              </a:rPr>
              <a:t>4</a:t>
            </a:r>
            <a:endParaRPr lang="en-US" sz="1500" dirty="0"/>
          </a:p>
        </p:txBody>
      </p:sp>
      <p:sp>
        <p:nvSpPr>
          <p:cNvPr id="23" name="Text 21"/>
          <p:cNvSpPr txBox="1"/>
          <p:nvPr/>
        </p:nvSpPr>
        <p:spPr>
          <a:xfrm>
            <a:off x="9205722" y="2980944"/>
            <a:ext cx="2315718" cy="350520"/>
          </a:xfrm>
          <a:prstGeom prst="rect">
            <a:avLst/>
          </a:prstGeom>
          <a:noFill/>
          <a:ln/>
        </p:spPr>
        <p:txBody>
          <a:bodyPr wrap="square" lIns="0" tIns="0" rIns="0" bIns="0" rtlCol="0" anchor="ctr"/>
          <a:lstStyle/>
          <a:p>
            <a:pPr indent="0" marL="0">
              <a:lnSpc>
                <a:spcPct val="120000"/>
              </a:lnSpc>
              <a:buNone/>
            </a:pPr>
            <a:r>
              <a:rPr lang="en-US" sz="1150" dirty="0">
                <a:solidFill>
                  <a:srgbClr val="23283A"/>
                </a:solidFill>
                <a:latin typeface="Helvetica" pitchFamily="34" charset="0"/>
                <a:ea typeface="Helvetica" pitchFamily="34" charset="-122"/>
                <a:cs typeface="Helvetica" pitchFamily="34" charset="-120"/>
              </a:rPr>
              <a:t>Klik “Commit changes” untuk menyimpan</a:t>
            </a:r>
            <a:endParaRPr lang="en-US" sz="1150" dirty="0"/>
          </a:p>
        </p:txBody>
      </p:sp>
      <p:sp>
        <p:nvSpPr>
          <p:cNvPr id="24" name="Shape 22"/>
          <p:cNvSpPr/>
          <p:nvPr/>
        </p:nvSpPr>
        <p:spPr>
          <a:xfrm>
            <a:off x="502920" y="3742944"/>
            <a:ext cx="11183112" cy="1078357"/>
          </a:xfrm>
          <a:prstGeom prst="roundRect">
            <a:avLst>
              <a:gd name="adj" fmla="val 8480"/>
            </a:avLst>
          </a:prstGeom>
          <a:solidFill>
            <a:srgbClr val="F3F0FF"/>
          </a:solidFill>
          <a:ln w="12700">
            <a:solidFill>
              <a:srgbClr val="DCD3FB"/>
            </a:solidFill>
            <a:prstDash val="solid"/>
          </a:ln>
        </p:spPr>
      </p:sp>
      <p:sp>
        <p:nvSpPr>
          <p:cNvPr id="25" name="Text 23"/>
          <p:cNvSpPr txBox="1"/>
          <p:nvPr/>
        </p:nvSpPr>
        <p:spPr>
          <a:xfrm>
            <a:off x="704088" y="3907536"/>
            <a:ext cx="1078077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CATATAN</a:t>
            </a:r>
            <a:endParaRPr lang="en-US" sz="1150" dirty="0"/>
          </a:p>
        </p:txBody>
      </p:sp>
      <p:sp>
        <p:nvSpPr>
          <p:cNvPr id="26" name="Text 24"/>
          <p:cNvSpPr txBox="1"/>
          <p:nvPr/>
        </p:nvSpPr>
        <p:spPr>
          <a:xfrm>
            <a:off x="704088" y="4255008"/>
            <a:ext cx="10780776" cy="365125"/>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Kalau Claude membangun situsmu sebagai satu file HTML di Artifact, kamu perlu menyimpannya dulu jadi file (biasanya bernama index.html) sebelum upload — tanya Claude cara menyimpan Artifact-nya jadi file kalau belum tahu caranya.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Kenalan dengan GitHub &amp; Bikin Akun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Ringkasan Modul 6</a:t>
            </a:r>
            <a:endParaRPr lang="en-US" sz="2200" dirty="0"/>
          </a:p>
        </p:txBody>
      </p:sp>
      <p:sp>
        <p:nvSpPr>
          <p:cNvPr id="7" name="Text 5"/>
          <p:cNvSpPr txBox="1"/>
          <p:nvPr/>
        </p:nvSpPr>
        <p:spPr>
          <a:xfrm>
            <a:off x="502920" y="1828800"/>
            <a:ext cx="6949440" cy="2377440"/>
          </a:xfrm>
          <a:prstGeom prst="rect">
            <a:avLst/>
          </a:prstGeom>
          <a:noFill/>
          <a:ln/>
        </p:spPr>
        <p:txBody>
          <a:bodyPr wrap="square" lIns="0" tIns="0" rIns="0" bIns="0" rtlCol="0" anchor="ctr"/>
          <a:lstStyle/>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GitHub adalah tempat menyimpan dan menampilkan project, gratis untuk digunakan</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Profil dan repo publik di GitHub jadi portfolio nyata — relevan langsung ke poin monetisasi Modul 1</a:t>
            </a:r>
            <a:endParaRPr lang="en-US" sz="1300" dirty="0"/>
          </a:p>
          <a:p>
            <a:pPr marL="342900" indent="-342900">
              <a:lnSpc>
                <a:spcPct val="125000"/>
              </a:lnSpc>
              <a:spcAft>
                <a:spcPts val="800"/>
              </a:spcAft>
              <a:buSzPct val="100000"/>
              <a:buChar char="•"/>
            </a:pPr>
            <a:r>
              <a:rPr lang="en-US" sz="1300" dirty="0">
                <a:solidFill>
                  <a:srgbClr val="23283A"/>
                </a:solidFill>
                <a:latin typeface="Helvetica" pitchFamily="34" charset="0"/>
                <a:ea typeface="Helvetica" pitchFamily="34" charset="-122"/>
                <a:cs typeface="Helvetica" pitchFamily="34" charset="-120"/>
              </a:rPr>
              <a:t>Bikin akun, bikin repo, upload file — semua lewat web browser, tanpa command line</a:t>
            </a:r>
            <a:endParaRPr lang="en-US" sz="1300" dirty="0"/>
          </a:p>
        </p:txBody>
      </p:sp>
      <p:sp>
        <p:nvSpPr>
          <p:cNvPr id="8" name="Shape 6"/>
          <p:cNvSpPr/>
          <p:nvPr/>
        </p:nvSpPr>
        <p:spPr>
          <a:xfrm>
            <a:off x="7680960" y="1828800"/>
            <a:ext cx="4005072" cy="1260920"/>
          </a:xfrm>
          <a:prstGeom prst="roundRect">
            <a:avLst>
              <a:gd name="adj" fmla="val 7252"/>
            </a:avLst>
          </a:prstGeom>
          <a:solidFill>
            <a:srgbClr val="F3F0FF"/>
          </a:solidFill>
          <a:ln w="12700">
            <a:solidFill>
              <a:srgbClr val="DCD3FB"/>
            </a:solidFill>
            <a:prstDash val="solid"/>
          </a:ln>
        </p:spPr>
      </p:sp>
      <p:sp>
        <p:nvSpPr>
          <p:cNvPr id="9" name="Text 7"/>
          <p:cNvSpPr txBox="1"/>
          <p:nvPr/>
        </p:nvSpPr>
        <p:spPr>
          <a:xfrm>
            <a:off x="7882128" y="1993392"/>
            <a:ext cx="3602736" cy="256032"/>
          </a:xfrm>
          <a:prstGeom prst="rect">
            <a:avLst/>
          </a:prstGeom>
          <a:noFill/>
          <a:ln/>
        </p:spPr>
        <p:txBody>
          <a:bodyPr wrap="square" lIns="0" tIns="0" rIns="0" bIns="0" rtlCol="0" anchor="ctr"/>
          <a:lstStyle/>
          <a:p>
            <a:pPr indent="0" marL="0">
              <a:buNone/>
            </a:pPr>
            <a:r>
              <a:rPr lang="en-US" sz="1150" b="1" spc="30" kern="0" dirty="0">
                <a:solidFill>
                  <a:srgbClr val="4B36C7"/>
                </a:solidFill>
                <a:latin typeface="Helvetica" pitchFamily="34" charset="0"/>
                <a:ea typeface="Helvetica" pitchFamily="34" charset="-122"/>
                <a:cs typeface="Helvetica" pitchFamily="34" charset="-120"/>
              </a:rPr>
              <a:t>◆ TIPS</a:t>
            </a:r>
            <a:endParaRPr lang="en-US" sz="1150" dirty="0"/>
          </a:p>
        </p:txBody>
      </p:sp>
      <p:sp>
        <p:nvSpPr>
          <p:cNvPr id="10" name="Text 8"/>
          <p:cNvSpPr txBox="1"/>
          <p:nvPr/>
        </p:nvSpPr>
        <p:spPr>
          <a:xfrm>
            <a:off x="7882128" y="2340864"/>
            <a:ext cx="3602736" cy="547688"/>
          </a:xfrm>
          <a:prstGeom prst="rect">
            <a:avLst/>
          </a:prstGeom>
          <a:noFill/>
          <a:ln/>
        </p:spPr>
        <p:txBody>
          <a:bodyPr wrap="square" lIns="0" tIns="0" rIns="0" bIns="0" rtlCol="0" anchor="ctr"/>
          <a:lstStyle/>
          <a:p>
            <a:pPr indent="0" marL="0">
              <a:lnSpc>
                <a:spcPct val="125000"/>
              </a:lnSpc>
              <a:buNone/>
            </a:pPr>
            <a:r>
              <a:rPr lang="en-US" sz="1150" dirty="0">
                <a:solidFill>
                  <a:srgbClr val="23283A"/>
                </a:solidFill>
                <a:latin typeface="Helvetica" pitchFamily="34" charset="0"/>
                <a:ea typeface="Helvetica" pitchFamily="34" charset="-122"/>
                <a:cs typeface="Helvetica" pitchFamily="34" charset="-120"/>
              </a:rPr>
              <a:t>Beri nama repo yang jelas dan deskriptif (misalnya “katalog-roti-manis”) — memudahkan calon klien paham isinya sekilas.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txBox="1"/>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txBox="1"/>
          <p:nvPr/>
        </p:nvSpPr>
        <p:spPr>
          <a:xfrm>
            <a:off x="5029200" y="274320"/>
            <a:ext cx="66751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Kenalan dengan GitHub &amp; Bikin Akun</a:t>
            </a:r>
            <a:endParaRPr lang="en-US" sz="1250" dirty="0"/>
          </a:p>
        </p:txBody>
      </p:sp>
      <p:sp>
        <p:nvSpPr>
          <p:cNvPr id="6" name="Text 4"/>
          <p:cNvSpPr txBox="1"/>
          <p:nvPr/>
        </p:nvSpPr>
        <p:spPr>
          <a:xfrm>
            <a:off x="502920" y="123444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&amp; Output</a:t>
            </a:r>
            <a:endParaRPr lang="en-US" sz="2200" dirty="0"/>
          </a:p>
        </p:txBody>
      </p:sp>
      <p:sp>
        <p:nvSpPr>
          <p:cNvPr id="7" name="Shape 5"/>
          <p:cNvSpPr/>
          <p:nvPr/>
        </p:nvSpPr>
        <p:spPr>
          <a:xfrm>
            <a:off x="502920" y="1920240"/>
            <a:ext cx="11183112" cy="980440"/>
          </a:xfrm>
          <a:prstGeom prst="roundRect">
            <a:avLst>
              <a:gd name="adj" fmla="val 11192"/>
            </a:avLst>
          </a:prstGeom>
          <a:solidFill>
            <a:srgbClr val="EAFAF0"/>
          </a:solidFill>
          <a:ln w="12700">
            <a:solidFill>
              <a:srgbClr val="B8E6C9"/>
            </a:solidFill>
            <a:prstDash val="solid"/>
          </a:ln>
        </p:spPr>
      </p:sp>
      <p:sp>
        <p:nvSpPr>
          <p:cNvPr id="8" name="Text 6"/>
          <p:cNvSpPr txBox="1"/>
          <p:nvPr/>
        </p:nvSpPr>
        <p:spPr>
          <a:xfrm>
            <a:off x="740664" y="2103120"/>
            <a:ext cx="10707624" cy="274320"/>
          </a:xfrm>
          <a:prstGeom prst="rect">
            <a:avLst/>
          </a:prstGeom>
          <a:noFill/>
          <a:ln/>
        </p:spPr>
        <p:txBody>
          <a:bodyPr wrap="square" lIns="0" tIns="0" rIns="0" bIns="0" rtlCol="0" anchor="ctr"/>
          <a:lstStyle/>
          <a:p>
            <a:pPr indent="0" marL="0">
              <a:buNone/>
            </a:pPr>
            <a:r>
              <a:rPr lang="en-US" sz="1250" b="1" spc="30" kern="0" dirty="0">
                <a:solidFill>
                  <a:srgbClr val="1A7A44"/>
                </a:solidFill>
                <a:latin typeface="Helvetica" pitchFamily="34" charset="0"/>
                <a:ea typeface="Helvetica" pitchFamily="34" charset="-122"/>
                <a:cs typeface="Helvetica" pitchFamily="34" charset="-120"/>
              </a:rPr>
              <a:t>■ LATIHAN</a:t>
            </a:r>
            <a:endParaRPr lang="en-US" sz="1250" dirty="0"/>
          </a:p>
        </p:txBody>
      </p:sp>
      <p:sp>
        <p:nvSpPr>
          <p:cNvPr id="9" name="Text 7"/>
          <p:cNvSpPr txBox="1"/>
          <p:nvPr/>
        </p:nvSpPr>
        <p:spPr>
          <a:xfrm>
            <a:off x="740664" y="2468880"/>
            <a:ext cx="10707624" cy="203200"/>
          </a:xfrm>
          <a:prstGeom prst="rect">
            <a:avLst/>
          </a:prstGeom>
          <a:noFill/>
          <a:ln/>
        </p:spPr>
        <p:txBody>
          <a:bodyPr wrap="square" lIns="0" tIns="0" rIns="0" bIns="0" rtlCol="0" anchor="ctr"/>
          <a:lstStyle/>
          <a:p>
            <a:pPr indent="0" marL="0">
              <a:lnSpc>
                <a:spcPct val="128000"/>
              </a:lnSpc>
              <a:buNone/>
            </a:pPr>
            <a:r>
              <a:rPr lang="en-US" sz="1250" dirty="0">
                <a:solidFill>
                  <a:srgbClr val="23283A"/>
                </a:solidFill>
                <a:latin typeface="Helvetica" pitchFamily="34" charset="0"/>
                <a:ea typeface="Helvetica" pitchFamily="34" charset="-122"/>
                <a:cs typeface="Helvetica" pitchFamily="34" charset="-120"/>
              </a:rPr>
              <a:t>Simpan Artifact situsmu jadi file HTML, buat akun GitHub kalau belum punya, buat repo baru, dan upload file situsmu ke repo itu.</a:t>
            </a:r>
            <a:endParaRPr lang="en-US" sz="1250" dirty="0"/>
          </a:p>
        </p:txBody>
      </p:sp>
      <p:sp>
        <p:nvSpPr>
          <p:cNvPr id="10" name="Shape 8"/>
          <p:cNvSpPr/>
          <p:nvPr/>
        </p:nvSpPr>
        <p:spPr>
          <a:xfrm>
            <a:off x="502920" y="3129280"/>
            <a:ext cx="11183112" cy="1042099"/>
          </a:xfrm>
          <a:prstGeom prst="roundRect">
            <a:avLst>
              <a:gd name="adj" fmla="val 10530"/>
            </a:avLst>
          </a:prstGeom>
          <a:solidFill>
            <a:srgbClr val="F4F6FB"/>
          </a:solidFill>
          <a:ln w="12700">
            <a:solidFill>
              <a:srgbClr val="D6DCEB"/>
            </a:solidFill>
            <a:prstDash val="solid"/>
          </a:ln>
        </p:spPr>
      </p:sp>
      <p:sp>
        <p:nvSpPr>
          <p:cNvPr id="11" name="Shape 9"/>
          <p:cNvSpPr/>
          <p:nvPr/>
        </p:nvSpPr>
        <p:spPr>
          <a:xfrm>
            <a:off x="722376" y="3312160"/>
            <a:ext cx="365760" cy="365760"/>
          </a:xfrm>
          <a:prstGeom prst="ellipse">
            <a:avLst/>
          </a:prstGeom>
          <a:solidFill>
            <a:srgbClr val="6849F6"/>
          </a:solidFill>
          <a:ln/>
        </p:spPr>
      </p:sp>
      <p:sp>
        <p:nvSpPr>
          <p:cNvPr id="12" name="Text 10"/>
          <p:cNvSpPr txBox="1"/>
          <p:nvPr/>
        </p:nvSpPr>
        <p:spPr>
          <a:xfrm>
            <a:off x="722376" y="33121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Helvetica" pitchFamily="34" charset="0"/>
                <a:ea typeface="Helvetica" pitchFamily="34" charset="-122"/>
                <a:cs typeface="Helvetica" pitchFamily="34" charset="-120"/>
              </a:rPr>
              <a:t>✓</a:t>
            </a:r>
            <a:endParaRPr lang="en-US" sz="1600" dirty="0"/>
          </a:p>
        </p:txBody>
      </p:sp>
      <p:sp>
        <p:nvSpPr>
          <p:cNvPr id="13" name="Text 11"/>
          <p:cNvSpPr txBox="1"/>
          <p:nvPr/>
        </p:nvSpPr>
        <p:spPr>
          <a:xfrm>
            <a:off x="1234440" y="3385312"/>
            <a:ext cx="10268712" cy="274320"/>
          </a:xfrm>
          <a:prstGeom prst="rect">
            <a:avLst/>
          </a:prstGeom>
          <a:noFill/>
          <a:ln/>
        </p:spPr>
        <p:txBody>
          <a:bodyPr wrap="square" lIns="0" tIns="0" rIns="0" bIns="0" rtlCol="0" anchor="ctr"/>
          <a:lstStyle/>
          <a:p>
            <a:pPr indent="0" marL="0">
              <a:buNone/>
            </a:pPr>
            <a:r>
              <a:rPr lang="en-US" sz="1250" b="1" dirty="0">
                <a:solidFill>
                  <a:srgbClr val="23283A"/>
                </a:solidFill>
                <a:latin typeface="Helvetica" pitchFamily="34" charset="0"/>
                <a:ea typeface="Helvetica" pitchFamily="34" charset="-122"/>
                <a:cs typeface="Helvetica" pitchFamily="34" charset="-120"/>
              </a:rPr>
              <a:t>Output yang Diharapkan</a:t>
            </a:r>
            <a:endParaRPr lang="en-US" sz="1250" dirty="0"/>
          </a:p>
        </p:txBody>
      </p:sp>
      <p:sp>
        <p:nvSpPr>
          <p:cNvPr id="14" name="Text 12"/>
          <p:cNvSpPr txBox="1"/>
          <p:nvPr/>
        </p:nvSpPr>
        <p:spPr>
          <a:xfrm>
            <a:off x="722376" y="3787648"/>
            <a:ext cx="10744200" cy="182563"/>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Helvetica" pitchFamily="34" charset="0"/>
                <a:ea typeface="Helvetica" pitchFamily="34" charset="-122"/>
                <a:cs typeface="Helvetica" pitchFamily="34" charset="-120"/>
              </a:rPr>
              <a:t>Akun GitHub aktif dan repo pertama berisi file situsmu yang sudah diupload — portfolio piece pertamamu, bahkan sebelum situsnya live di internet.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2026-08-31T09:44:11Z</dcterms:created>
  <dcterms:modified xsi:type="dcterms:W3CDTF">2026-08-31T09:44:11Z</dcterms:modified>
</cp:coreProperties>
</file>