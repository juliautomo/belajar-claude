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txBox="1"/>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921240" y="502920"/>
            <a:ext cx="1691640" cy="420624"/>
          </a:xfrm>
          <a:prstGeom prst="roundRect">
            <a:avLst>
              <a:gd name="adj" fmla="val 21739"/>
            </a:avLst>
          </a:prstGeom>
          <a:solidFill>
            <a:srgbClr val="6849F6"/>
          </a:solidFill>
          <a:ln/>
        </p:spPr>
      </p:sp>
      <p:sp>
        <p:nvSpPr>
          <p:cNvPr id="5" name="Text 3"/>
          <p:cNvSpPr txBox="1"/>
          <p:nvPr/>
        </p:nvSpPr>
        <p:spPr>
          <a:xfrm>
            <a:off x="9921240" y="502920"/>
            <a:ext cx="16916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1</a:t>
            </a:r>
            <a:endParaRPr lang="en-US" sz="1300" dirty="0"/>
          </a:p>
        </p:txBody>
      </p:sp>
      <p:sp>
        <p:nvSpPr>
          <p:cNvPr id="6" name="Text 4"/>
          <p:cNvSpPr txBox="1"/>
          <p:nvPr/>
        </p:nvSpPr>
        <p:spPr>
          <a:xfrm>
            <a:off x="640080" y="2697480"/>
            <a:ext cx="7132320" cy="1371600"/>
          </a:xfrm>
          <a:prstGeom prst="rect">
            <a:avLst/>
          </a:prstGeom>
          <a:noFill/>
          <a:ln/>
        </p:spPr>
        <p:txBody>
          <a:bodyPr wrap="square" lIns="0" tIns="0" rIns="0" bIns="0" rtlCol="0" anchor="b"/>
          <a:lstStyle/>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Apa yang Akan</a:t>
            </a:r>
            <a:endParaRPr lang="en-US" sz="4400" dirty="0"/>
          </a:p>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Kita Bangun</a:t>
            </a:r>
            <a:endParaRPr lang="en-US" sz="4400" dirty="0"/>
          </a:p>
        </p:txBody>
      </p:sp>
      <p:sp>
        <p:nvSpPr>
          <p:cNvPr id="7" name="Text 5"/>
          <p:cNvSpPr txBox="1"/>
          <p:nvPr/>
        </p:nvSpPr>
        <p:spPr>
          <a:xfrm>
            <a:off x="640080" y="4325112"/>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Kenalan dengan fokus kursus ini — apa yang kita bangun, dan kenapa skill ini berharga</a:t>
            </a:r>
            <a:endParaRPr lang="en-US" sz="1550" dirty="0"/>
          </a:p>
        </p:txBody>
      </p:sp>
      <p:sp>
        <p:nvSpPr>
          <p:cNvPr id="8" name="Text 6"/>
          <p:cNvSpPr txBox="1"/>
          <p:nvPr/>
        </p:nvSpPr>
        <p:spPr>
          <a:xfrm>
            <a:off x="640080" y="6263640"/>
            <a:ext cx="7315200" cy="36576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Bikin Website Sendiri Tanpa Coding · Studi Kasus Katalog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1 — Apa yang Akan Kita Bangun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Fokus Kursus Ini</a:t>
            </a:r>
            <a:endParaRPr lang="en-US" sz="2200" dirty="0"/>
          </a:p>
        </p:txBody>
      </p:sp>
      <p:sp>
        <p:nvSpPr>
          <p:cNvPr id="7" name="Text 5"/>
          <p:cNvSpPr txBox="1"/>
          <p:nvPr/>
        </p:nvSpPr>
        <p:spPr>
          <a:xfrm>
            <a:off x="502920" y="1828800"/>
            <a:ext cx="11155680" cy="59436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Claude bisa membangun situs sungguhan tanpa satu baris kode pun — mulai dari katalog produk sampai portfolio pribadi. Penting jelas soal fokus kursus ini dari awal, supaya ekspektasi kamu tepat.</a:t>
            </a:r>
            <a:endParaRPr lang="en-US" sz="1350" dirty="0"/>
          </a:p>
        </p:txBody>
      </p:sp>
      <p:sp>
        <p:nvSpPr>
          <p:cNvPr id="8" name="Shape 6"/>
          <p:cNvSpPr/>
          <p:nvPr/>
        </p:nvSpPr>
        <p:spPr>
          <a:xfrm>
            <a:off x="502920" y="2606040"/>
            <a:ext cx="5454396" cy="1758696"/>
          </a:xfrm>
          <a:prstGeom prst="roundRect">
            <a:avLst>
              <a:gd name="adj" fmla="val 6239"/>
            </a:avLst>
          </a:prstGeom>
          <a:solidFill>
            <a:srgbClr val="F3F0FF"/>
          </a:solidFill>
          <a:ln w="12700">
            <a:solidFill>
              <a:srgbClr val="DCD3FB"/>
            </a:solidFill>
            <a:prstDash val="solid"/>
          </a:ln>
        </p:spPr>
      </p:sp>
      <p:sp>
        <p:nvSpPr>
          <p:cNvPr id="9" name="Text 7"/>
          <p:cNvSpPr txBox="1"/>
          <p:nvPr/>
        </p:nvSpPr>
        <p:spPr>
          <a:xfrm>
            <a:off x="722376" y="2788920"/>
            <a:ext cx="5015484" cy="320040"/>
          </a:xfrm>
          <a:prstGeom prst="rect">
            <a:avLst/>
          </a:prstGeom>
          <a:noFill/>
          <a:ln/>
        </p:spPr>
        <p:txBody>
          <a:bodyPr wrap="square" lIns="0" tIns="0" rIns="0" bIns="0" rtlCol="0" anchor="ctr"/>
          <a:lstStyle/>
          <a:p>
            <a:pPr indent="0" marL="0">
              <a:buNone/>
            </a:pPr>
            <a:r>
              <a:rPr lang="en-US" sz="1400" b="1" dirty="0">
                <a:solidFill>
                  <a:srgbClr val="4B36C7"/>
                </a:solidFill>
                <a:latin typeface="Helvetica" pitchFamily="34" charset="0"/>
                <a:ea typeface="Helvetica" pitchFamily="34" charset="-122"/>
                <a:cs typeface="Helvetica" pitchFamily="34" charset="-120"/>
              </a:rPr>
              <a:t>Fokus Kursus Ini</a:t>
            </a:r>
            <a:endParaRPr lang="en-US" sz="1400" dirty="0"/>
          </a:p>
        </p:txBody>
      </p:sp>
      <p:sp>
        <p:nvSpPr>
          <p:cNvPr id="10" name="Text 8"/>
          <p:cNvSpPr txBox="1"/>
          <p:nvPr/>
        </p:nvSpPr>
        <p:spPr>
          <a:xfrm>
            <a:off x="722376" y="3172968"/>
            <a:ext cx="5015484" cy="99060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Halaman katalog produk lengkap dengan kategori</a:t>
            </a:r>
            <a:endParaRPr lang="en-US" sz="1200" dirty="0"/>
          </a:p>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Portfolio pribadi (foto karya, CV singkat, kontak)</a:t>
            </a:r>
            <a:endParaRPr lang="en-US" sz="1200" dirty="0"/>
          </a:p>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Landing page bisnis satu halaman</a:t>
            </a:r>
            <a:endParaRPr lang="en-US" sz="1200" dirty="0"/>
          </a:p>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Order lewat link WhatsApp — tanpa checkout</a:t>
            </a:r>
            <a:endParaRPr lang="en-US" sz="1200" dirty="0"/>
          </a:p>
        </p:txBody>
      </p:sp>
      <p:sp>
        <p:nvSpPr>
          <p:cNvPr id="11" name="Shape 9"/>
          <p:cNvSpPr/>
          <p:nvPr/>
        </p:nvSpPr>
        <p:spPr>
          <a:xfrm>
            <a:off x="6231636" y="2606040"/>
            <a:ext cx="5454396" cy="1758696"/>
          </a:xfrm>
          <a:prstGeom prst="roundRect">
            <a:avLst>
              <a:gd name="adj" fmla="val 6239"/>
            </a:avLst>
          </a:prstGeom>
          <a:solidFill>
            <a:srgbClr val="F4F6FB"/>
          </a:solidFill>
          <a:ln w="12700">
            <a:solidFill>
              <a:srgbClr val="D6DCEB"/>
            </a:solidFill>
            <a:prstDash val="solid"/>
          </a:ln>
        </p:spPr>
      </p:sp>
      <p:sp>
        <p:nvSpPr>
          <p:cNvPr id="12" name="Text 10"/>
          <p:cNvSpPr txBox="1"/>
          <p:nvPr/>
        </p:nvSpPr>
        <p:spPr>
          <a:xfrm>
            <a:off x="6451092" y="2788920"/>
            <a:ext cx="5015484" cy="320040"/>
          </a:xfrm>
          <a:prstGeom prst="rect">
            <a:avLst/>
          </a:prstGeom>
          <a:noFill/>
          <a:ln/>
        </p:spPr>
        <p:txBody>
          <a:bodyPr wrap="square" lIns="0" tIns="0" rIns="0" bIns="0" rtlCol="0" anchor="ctr"/>
          <a:lstStyle/>
          <a:p>
            <a:pPr indent="0" marL="0">
              <a:buNone/>
            </a:pPr>
            <a:r>
              <a:rPr lang="en-US" sz="1400" b="1" dirty="0">
                <a:solidFill>
                  <a:srgbClr val="23283A"/>
                </a:solidFill>
                <a:latin typeface="Helvetica" pitchFamily="34" charset="0"/>
                <a:ea typeface="Helvetica" pitchFamily="34" charset="-122"/>
                <a:cs typeface="Helvetica" pitchFamily="34" charset="-120"/>
              </a:rPr>
              <a:t>Bahasan Kursus Lanjutan</a:t>
            </a:r>
            <a:endParaRPr lang="en-US" sz="1400" dirty="0"/>
          </a:p>
        </p:txBody>
      </p:sp>
      <p:sp>
        <p:nvSpPr>
          <p:cNvPr id="13" name="Text 11"/>
          <p:cNvSpPr txBox="1"/>
          <p:nvPr/>
        </p:nvSpPr>
        <p:spPr>
          <a:xfrm>
            <a:off x="6451092" y="3172968"/>
            <a:ext cx="5015484" cy="990600"/>
          </a:xfrm>
          <a:prstGeom prst="rect">
            <a:avLst/>
          </a:prstGeom>
          <a:noFill/>
          <a:ln/>
        </p:spPr>
        <p:txBody>
          <a:bodyPr wrap="square" lIns="0" tIns="0" rIns="0" bIns="0" rtlCol="0" anchor="ctr"/>
          <a:lstStyle/>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Sistem checkout &amp; pembayaran online</a:t>
            </a:r>
            <a:endParaRPr lang="en-US" sz="1200" dirty="0"/>
          </a:p>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Akun/login untuk pelanggan</a:t>
            </a:r>
            <a:endParaRPr lang="en-US" sz="1200" dirty="0"/>
          </a:p>
          <a:p>
            <a:pPr marL="342900" indent="-342900">
              <a:lnSpc>
                <a:spcPct val="125000"/>
              </a:lnSpc>
              <a:spcAft>
                <a:spcPts val="600"/>
              </a:spcAft>
              <a:buSzPct val="100000"/>
              <a:buChar char="•"/>
            </a:pPr>
            <a:r>
              <a:rPr lang="en-US" sz="1200" dirty="0">
                <a:solidFill>
                  <a:srgbClr val="23283A"/>
                </a:solidFill>
                <a:latin typeface="Helvetica" pitchFamily="34" charset="0"/>
                <a:ea typeface="Helvetica" pitchFamily="34" charset="-122"/>
                <a:cs typeface="Helvetica" pitchFamily="34" charset="-120"/>
              </a:rPr>
              <a:t>Inventori &amp; harga yang update otomatis dari database</a:t>
            </a:r>
            <a:endParaRPr lang="en-US" sz="1200" dirty="0"/>
          </a:p>
        </p:txBody>
      </p:sp>
      <p:sp>
        <p:nvSpPr>
          <p:cNvPr id="14" name="Shape 12"/>
          <p:cNvSpPr/>
          <p:nvPr/>
        </p:nvSpPr>
        <p:spPr>
          <a:xfrm>
            <a:off x="502920" y="4593336"/>
            <a:ext cx="11183112" cy="1078357"/>
          </a:xfrm>
          <a:prstGeom prst="roundRect">
            <a:avLst>
              <a:gd name="adj" fmla="val 8480"/>
            </a:avLst>
          </a:prstGeom>
          <a:solidFill>
            <a:srgbClr val="F3F0FF"/>
          </a:solidFill>
          <a:ln w="12700">
            <a:solidFill>
              <a:srgbClr val="DCD3FB"/>
            </a:solidFill>
            <a:prstDash val="solid"/>
          </a:ln>
        </p:spPr>
      </p:sp>
      <p:sp>
        <p:nvSpPr>
          <p:cNvPr id="15" name="Text 13"/>
          <p:cNvSpPr txBox="1"/>
          <p:nvPr/>
        </p:nvSpPr>
        <p:spPr>
          <a:xfrm>
            <a:off x="704088" y="4757928"/>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KENAPA FOKUS KE SITUS STATIS</a:t>
            </a:r>
            <a:endParaRPr lang="en-US" sz="1150" dirty="0"/>
          </a:p>
        </p:txBody>
      </p:sp>
      <p:sp>
        <p:nvSpPr>
          <p:cNvPr id="16" name="Text 14"/>
          <p:cNvSpPr txBox="1"/>
          <p:nvPr/>
        </p:nvSpPr>
        <p:spPr>
          <a:xfrm>
            <a:off x="704088" y="5105400"/>
            <a:ext cx="10780776" cy="365125"/>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Fitur di kolom kanan butuh “backend” — server &amp; database yang menyimpan data secara live. Claude bisa bantu bangun itu juga, tapi topiknya lebih teknis dan sengaja disimpan untuk kursus lanjutan. Situs statis: cepat dibangun, gratis di-hosting, cukup untuk kebutuhan UMKM kebanyakan.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1 — Apa yang Akan Kita Bangun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Apa yang Claude Bisa Bantu</a:t>
            </a:r>
            <a:endParaRPr lang="en-US" sz="2200" dirty="0"/>
          </a:p>
        </p:txBody>
      </p:sp>
      <p:sp>
        <p:nvSpPr>
          <p:cNvPr id="7" name="Text 5"/>
          <p:cNvSpPr txBox="1"/>
          <p:nvPr/>
        </p:nvSpPr>
        <p:spPr>
          <a:xfrm>
            <a:off x="502920" y="1828800"/>
            <a:ext cx="11155680" cy="50292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Claude bukan cuma “asisten nulis” — Claude yang benar-benar membangun situsnya. Ini peran-peran yang akan dia pegang sepanjang kursus:</a:t>
            </a:r>
            <a:endParaRPr lang="en-US" sz="1350" dirty="0"/>
          </a:p>
        </p:txBody>
      </p:sp>
      <p:sp>
        <p:nvSpPr>
          <p:cNvPr id="8" name="Shape 6"/>
          <p:cNvSpPr/>
          <p:nvPr/>
        </p:nvSpPr>
        <p:spPr>
          <a:xfrm>
            <a:off x="502920" y="2423160"/>
            <a:ext cx="5477256" cy="1194816"/>
          </a:xfrm>
          <a:prstGeom prst="roundRect">
            <a:avLst>
              <a:gd name="adj" fmla="val 7653"/>
            </a:avLst>
          </a:prstGeom>
          <a:solidFill>
            <a:srgbClr val="F4F6FB"/>
          </a:solidFill>
          <a:ln w="12700">
            <a:solidFill>
              <a:srgbClr val="D6DCEB"/>
            </a:solidFill>
            <a:prstDash val="solid"/>
          </a:ln>
        </p:spPr>
      </p:sp>
      <p:sp>
        <p:nvSpPr>
          <p:cNvPr id="9" name="Shape 7"/>
          <p:cNvSpPr/>
          <p:nvPr/>
        </p:nvSpPr>
        <p:spPr>
          <a:xfrm>
            <a:off x="685800" y="2606040"/>
            <a:ext cx="402336" cy="402336"/>
          </a:xfrm>
          <a:prstGeom prst="ellipse">
            <a:avLst/>
          </a:prstGeom>
          <a:solidFill>
            <a:srgbClr val="6849F6"/>
          </a:solidFill>
          <a:ln/>
        </p:spPr>
      </p:sp>
      <p:sp>
        <p:nvSpPr>
          <p:cNvPr id="10" name="Text 8"/>
          <p:cNvSpPr txBox="1"/>
          <p:nvPr/>
        </p:nvSpPr>
        <p:spPr>
          <a:xfrm>
            <a:off x="685800" y="26060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B</a:t>
            </a:r>
            <a:endParaRPr lang="en-US" sz="1600" dirty="0"/>
          </a:p>
        </p:txBody>
      </p:sp>
      <p:sp>
        <p:nvSpPr>
          <p:cNvPr id="11" name="Text 9"/>
          <p:cNvSpPr txBox="1"/>
          <p:nvPr/>
        </p:nvSpPr>
        <p:spPr>
          <a:xfrm>
            <a:off x="1225296" y="2606040"/>
            <a:ext cx="4590288"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Brainstorming Struktur &amp; Konten</a:t>
            </a:r>
            <a:endParaRPr lang="en-US" sz="1300" dirty="0"/>
          </a:p>
        </p:txBody>
      </p:sp>
      <p:sp>
        <p:nvSpPr>
          <p:cNvPr id="12" name="Text 10"/>
          <p:cNvSpPr txBox="1"/>
          <p:nvPr/>
        </p:nvSpPr>
        <p:spPr>
          <a:xfrm>
            <a:off x="685800" y="3118104"/>
            <a:ext cx="5111496" cy="33528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Bantu susun halaman apa saja yang dibutuhkan, bahkan menuliskan draft copy-nya</a:t>
            </a:r>
            <a:endParaRPr lang="en-US" sz="1100" dirty="0"/>
          </a:p>
        </p:txBody>
      </p:sp>
      <p:sp>
        <p:nvSpPr>
          <p:cNvPr id="13" name="Shape 11"/>
          <p:cNvSpPr/>
          <p:nvPr/>
        </p:nvSpPr>
        <p:spPr>
          <a:xfrm>
            <a:off x="6208776" y="2423160"/>
            <a:ext cx="5477256" cy="1194816"/>
          </a:xfrm>
          <a:prstGeom prst="roundRect">
            <a:avLst>
              <a:gd name="adj" fmla="val 7653"/>
            </a:avLst>
          </a:prstGeom>
          <a:solidFill>
            <a:srgbClr val="F4F6FB"/>
          </a:solidFill>
          <a:ln w="12700">
            <a:solidFill>
              <a:srgbClr val="D6DCEB"/>
            </a:solidFill>
            <a:prstDash val="solid"/>
          </a:ln>
        </p:spPr>
      </p:sp>
      <p:sp>
        <p:nvSpPr>
          <p:cNvPr id="14" name="Shape 12"/>
          <p:cNvSpPr/>
          <p:nvPr/>
        </p:nvSpPr>
        <p:spPr>
          <a:xfrm>
            <a:off x="6391656" y="2606040"/>
            <a:ext cx="402336" cy="402336"/>
          </a:xfrm>
          <a:prstGeom prst="ellipse">
            <a:avLst/>
          </a:prstGeom>
          <a:solidFill>
            <a:srgbClr val="6849F6"/>
          </a:solidFill>
          <a:ln/>
        </p:spPr>
      </p:sp>
      <p:sp>
        <p:nvSpPr>
          <p:cNvPr id="15" name="Text 13"/>
          <p:cNvSpPr txBox="1"/>
          <p:nvPr/>
        </p:nvSpPr>
        <p:spPr>
          <a:xfrm>
            <a:off x="6391656" y="260604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D</a:t>
            </a:r>
            <a:endParaRPr lang="en-US" sz="1600" dirty="0"/>
          </a:p>
        </p:txBody>
      </p:sp>
      <p:sp>
        <p:nvSpPr>
          <p:cNvPr id="16" name="Text 14"/>
          <p:cNvSpPr txBox="1"/>
          <p:nvPr/>
        </p:nvSpPr>
        <p:spPr>
          <a:xfrm>
            <a:off x="6931152" y="2606040"/>
            <a:ext cx="4590288"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Desain &amp; Layout</a:t>
            </a:r>
            <a:endParaRPr lang="en-US" sz="1300" dirty="0"/>
          </a:p>
        </p:txBody>
      </p:sp>
      <p:sp>
        <p:nvSpPr>
          <p:cNvPr id="17" name="Text 15"/>
          <p:cNvSpPr txBox="1"/>
          <p:nvPr/>
        </p:nvSpPr>
        <p:spPr>
          <a:xfrm>
            <a:off x="6391656" y="3118104"/>
            <a:ext cx="5111496" cy="33528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Bikin tampilan lengkap dari deskripsi kamu — atau dari gambar referensi yang kamu kasih</a:t>
            </a:r>
            <a:endParaRPr lang="en-US" sz="1100" dirty="0"/>
          </a:p>
        </p:txBody>
      </p:sp>
      <p:sp>
        <p:nvSpPr>
          <p:cNvPr id="18" name="Shape 16"/>
          <p:cNvSpPr/>
          <p:nvPr/>
        </p:nvSpPr>
        <p:spPr>
          <a:xfrm>
            <a:off x="502920" y="3846576"/>
            <a:ext cx="5477256" cy="1194816"/>
          </a:xfrm>
          <a:prstGeom prst="roundRect">
            <a:avLst>
              <a:gd name="adj" fmla="val 7653"/>
            </a:avLst>
          </a:prstGeom>
          <a:solidFill>
            <a:srgbClr val="F4F6FB"/>
          </a:solidFill>
          <a:ln w="12700">
            <a:solidFill>
              <a:srgbClr val="D6DCEB"/>
            </a:solidFill>
            <a:prstDash val="solid"/>
          </a:ln>
        </p:spPr>
      </p:sp>
      <p:sp>
        <p:nvSpPr>
          <p:cNvPr id="19" name="Shape 17"/>
          <p:cNvSpPr/>
          <p:nvPr/>
        </p:nvSpPr>
        <p:spPr>
          <a:xfrm>
            <a:off x="685800" y="4029456"/>
            <a:ext cx="402336" cy="402336"/>
          </a:xfrm>
          <a:prstGeom prst="ellipse">
            <a:avLst/>
          </a:prstGeom>
          <a:solidFill>
            <a:srgbClr val="6849F6"/>
          </a:solidFill>
          <a:ln/>
        </p:spPr>
      </p:sp>
      <p:sp>
        <p:nvSpPr>
          <p:cNvPr id="20" name="Text 18"/>
          <p:cNvSpPr txBox="1"/>
          <p:nvPr/>
        </p:nvSpPr>
        <p:spPr>
          <a:xfrm>
            <a:off x="685800" y="40294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K</a:t>
            </a:r>
            <a:endParaRPr lang="en-US" sz="1600" dirty="0"/>
          </a:p>
        </p:txBody>
      </p:sp>
      <p:sp>
        <p:nvSpPr>
          <p:cNvPr id="21" name="Text 19"/>
          <p:cNvSpPr txBox="1"/>
          <p:nvPr/>
        </p:nvSpPr>
        <p:spPr>
          <a:xfrm>
            <a:off x="1225296" y="4029456"/>
            <a:ext cx="4590288"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Membangun Kode Artifact</a:t>
            </a:r>
            <a:endParaRPr lang="en-US" sz="1300" dirty="0"/>
          </a:p>
        </p:txBody>
      </p:sp>
      <p:sp>
        <p:nvSpPr>
          <p:cNvPr id="22" name="Text 20"/>
          <p:cNvSpPr txBox="1"/>
          <p:nvPr/>
        </p:nvSpPr>
        <p:spPr>
          <a:xfrm>
            <a:off x="685800" y="4541520"/>
            <a:ext cx="5111496" cy="33528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Menulis HTML/CSS-nya langsung, kamu nggak perlu ngoding manual sama sekali</a:t>
            </a:r>
            <a:endParaRPr lang="en-US" sz="1100" dirty="0"/>
          </a:p>
        </p:txBody>
      </p:sp>
      <p:sp>
        <p:nvSpPr>
          <p:cNvPr id="23" name="Shape 21"/>
          <p:cNvSpPr/>
          <p:nvPr/>
        </p:nvSpPr>
        <p:spPr>
          <a:xfrm>
            <a:off x="6208776" y="3846576"/>
            <a:ext cx="5477256" cy="1194816"/>
          </a:xfrm>
          <a:prstGeom prst="roundRect">
            <a:avLst>
              <a:gd name="adj" fmla="val 7653"/>
            </a:avLst>
          </a:prstGeom>
          <a:solidFill>
            <a:srgbClr val="F4F6FB"/>
          </a:solidFill>
          <a:ln w="12700">
            <a:solidFill>
              <a:srgbClr val="D6DCEB"/>
            </a:solidFill>
            <a:prstDash val="solid"/>
          </a:ln>
        </p:spPr>
      </p:sp>
      <p:sp>
        <p:nvSpPr>
          <p:cNvPr id="24" name="Shape 22"/>
          <p:cNvSpPr/>
          <p:nvPr/>
        </p:nvSpPr>
        <p:spPr>
          <a:xfrm>
            <a:off x="6391656" y="4029456"/>
            <a:ext cx="402336" cy="402336"/>
          </a:xfrm>
          <a:prstGeom prst="ellipse">
            <a:avLst/>
          </a:prstGeom>
          <a:solidFill>
            <a:srgbClr val="6849F6"/>
          </a:solidFill>
          <a:ln/>
        </p:spPr>
      </p:sp>
      <p:sp>
        <p:nvSpPr>
          <p:cNvPr id="25" name="Text 23"/>
          <p:cNvSpPr txBox="1"/>
          <p:nvPr/>
        </p:nvSpPr>
        <p:spPr>
          <a:xfrm>
            <a:off x="6391656" y="40294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T</a:t>
            </a:r>
            <a:endParaRPr lang="en-US" sz="1600" dirty="0"/>
          </a:p>
        </p:txBody>
      </p:sp>
      <p:sp>
        <p:nvSpPr>
          <p:cNvPr id="26" name="Text 24"/>
          <p:cNvSpPr txBox="1"/>
          <p:nvPr/>
        </p:nvSpPr>
        <p:spPr>
          <a:xfrm>
            <a:off x="6931152" y="4029456"/>
            <a:ext cx="4590288" cy="402336"/>
          </a:xfrm>
          <a:prstGeom prst="rect">
            <a:avLst/>
          </a:prstGeom>
          <a:noFill/>
          <a:ln/>
        </p:spPr>
        <p:txBody>
          <a:bodyPr wrap="square" lIns="0" tIns="0" rIns="0" bIns="0" rtlCol="0" anchor="ctr"/>
          <a:lstStyle/>
          <a:p>
            <a:pPr algn="l" indent="0" marL="0">
              <a:buNone/>
            </a:pPr>
            <a:r>
              <a:rPr lang="en-US" sz="1300" b="1" dirty="0">
                <a:solidFill>
                  <a:srgbClr val="23283A"/>
                </a:solidFill>
                <a:latin typeface="Helvetica" pitchFamily="34" charset="0"/>
                <a:ea typeface="Helvetica" pitchFamily="34" charset="-122"/>
                <a:cs typeface="Helvetica" pitchFamily="34" charset="-120"/>
              </a:rPr>
              <a:t>Troubleshooting</a:t>
            </a:r>
            <a:endParaRPr lang="en-US" sz="1300" dirty="0"/>
          </a:p>
        </p:txBody>
      </p:sp>
      <p:sp>
        <p:nvSpPr>
          <p:cNvPr id="27" name="Text 25"/>
          <p:cNvSpPr txBox="1"/>
          <p:nvPr/>
        </p:nvSpPr>
        <p:spPr>
          <a:xfrm>
            <a:off x="6391656" y="4541520"/>
            <a:ext cx="5111496" cy="33528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Helvetica" pitchFamily="34" charset="0"/>
                <a:ea typeface="Helvetica" pitchFamily="34" charset="-122"/>
                <a:cs typeface="Helvetica" pitchFamily="34" charset="-120"/>
              </a:rPr>
              <a:t>Bantu perbaiki kalau ada yang error atau nyangkut, termasuk pas proses publish</a:t>
            </a:r>
            <a:endParaRPr lang="en-US" sz="1100" dirty="0"/>
          </a:p>
        </p:txBody>
      </p:sp>
      <p:sp>
        <p:nvSpPr>
          <p:cNvPr id="28" name="Shape 26"/>
          <p:cNvSpPr/>
          <p:nvPr/>
        </p:nvSpPr>
        <p:spPr>
          <a:xfrm>
            <a:off x="502920" y="5269992"/>
            <a:ext cx="11183112" cy="1078357"/>
          </a:xfrm>
          <a:prstGeom prst="roundRect">
            <a:avLst>
              <a:gd name="adj" fmla="val 8480"/>
            </a:avLst>
          </a:prstGeom>
          <a:solidFill>
            <a:srgbClr val="F3F0FF"/>
          </a:solidFill>
          <a:ln w="12700">
            <a:solidFill>
              <a:srgbClr val="DCD3FB"/>
            </a:solidFill>
            <a:prstDash val="solid"/>
          </a:ln>
        </p:spPr>
      </p:sp>
      <p:sp>
        <p:nvSpPr>
          <p:cNvPr id="29" name="Text 27"/>
          <p:cNvSpPr txBox="1"/>
          <p:nvPr/>
        </p:nvSpPr>
        <p:spPr>
          <a:xfrm>
            <a:off x="704088" y="5434584"/>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INTINYA</a:t>
            </a:r>
            <a:endParaRPr lang="en-US" sz="1150" dirty="0"/>
          </a:p>
        </p:txBody>
      </p:sp>
      <p:sp>
        <p:nvSpPr>
          <p:cNvPr id="30" name="Text 28"/>
          <p:cNvSpPr txBox="1"/>
          <p:nvPr/>
        </p:nvSpPr>
        <p:spPr>
          <a:xfrm>
            <a:off x="704088" y="5782056"/>
            <a:ext cx="10780776" cy="365125"/>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Claude yang membangun, kamu yang mengarahkan dan mereview. Tugasmu: tahu apa yang kamu mau, mendeskripsikannya dengan jelas, dan mengecek hasilnya — bukan menulis kode sendiri.</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1 — Apa yang Akan Kita Bangun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Kenapa Skill Ini Berharga</a:t>
            </a:r>
            <a:endParaRPr lang="en-US" sz="2200" dirty="0"/>
          </a:p>
        </p:txBody>
      </p:sp>
      <p:sp>
        <p:nvSpPr>
          <p:cNvPr id="7" name="Text 5"/>
          <p:cNvSpPr txBox="1"/>
          <p:nvPr/>
        </p:nvSpPr>
        <p:spPr>
          <a:xfrm>
            <a:off x="502920" y="1874520"/>
            <a:ext cx="1115568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BISA JADI JASA YANG KAMU TAWARKAN</a:t>
            </a:r>
            <a:endParaRPr lang="en-US" sz="1250" dirty="0"/>
          </a:p>
        </p:txBody>
      </p:sp>
      <p:sp>
        <p:nvSpPr>
          <p:cNvPr id="8" name="Text 6"/>
          <p:cNvSpPr txBox="1"/>
          <p:nvPr/>
        </p:nvSpPr>
        <p:spPr>
          <a:xfrm>
            <a:off x="502920" y="2194560"/>
            <a:ext cx="11155680" cy="100584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Banyak UMKM di sekitar kamu — warung, jasa titip, katering rumahan, jasa kerajinan — belum punya website sama sekali, cuma jualan lewat story WhatsApp/Instagram. Begitu kamu selesai kursus ini, kamu bisa menawarkan jasa serupa ke mereka, dengan bukti kerja nyata yang bisa kamu tunjukkan (lihat Modul 6 soal GitHub sebagai portfolio).</a:t>
            </a:r>
            <a:endParaRPr lang="en-US" sz="1350" dirty="0"/>
          </a:p>
        </p:txBody>
      </p:sp>
      <p:sp>
        <p:nvSpPr>
          <p:cNvPr id="9" name="Text 7"/>
          <p:cNvSpPr txBox="1"/>
          <p:nvPr/>
        </p:nvSpPr>
        <p:spPr>
          <a:xfrm>
            <a:off x="502920" y="3429000"/>
            <a:ext cx="1115568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FLEKSIBEL: KATALOG ATAU PORTFOLIO?</a:t>
            </a:r>
            <a:endParaRPr lang="en-US" sz="1250" dirty="0"/>
          </a:p>
        </p:txBody>
      </p:sp>
      <p:sp>
        <p:nvSpPr>
          <p:cNvPr id="10" name="Text 8"/>
          <p:cNvSpPr txBox="1"/>
          <p:nvPr/>
        </p:nvSpPr>
        <p:spPr>
          <a:xfrm>
            <a:off x="502920" y="3749040"/>
            <a:ext cx="11155680" cy="100584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Kursus ini berjalan dengan studi kasus katalog toko roti online. Tapi metodenya — rancang struktur, desain, bangun, publish — sama persis kalau yang kamu butuhkan adalah portfolio pribadi, landing page bisnis, atau situs satu-tujuan lainnya. Ikuti saja tiap modul pakai kontenmu sendiri.</a:t>
            </a:r>
            <a:endParaRPr lang="en-US" sz="1350" dirty="0"/>
          </a:p>
        </p:txBody>
      </p:sp>
      <p:sp>
        <p:nvSpPr>
          <p:cNvPr id="11" name="Shape 9"/>
          <p:cNvSpPr/>
          <p:nvPr/>
        </p:nvSpPr>
        <p:spPr>
          <a:xfrm>
            <a:off x="502920" y="5074920"/>
            <a:ext cx="11183112" cy="1078357"/>
          </a:xfrm>
          <a:prstGeom prst="roundRect">
            <a:avLst>
              <a:gd name="adj" fmla="val 8480"/>
            </a:avLst>
          </a:prstGeom>
          <a:solidFill>
            <a:srgbClr val="F3F0FF"/>
          </a:solidFill>
          <a:ln w="12700">
            <a:solidFill>
              <a:srgbClr val="DCD3FB"/>
            </a:solidFill>
            <a:prstDash val="solid"/>
          </a:ln>
        </p:spPr>
      </p:sp>
      <p:sp>
        <p:nvSpPr>
          <p:cNvPr id="12" name="Text 10"/>
          <p:cNvSpPr txBox="1"/>
          <p:nvPr/>
        </p:nvSpPr>
        <p:spPr>
          <a:xfrm>
            <a:off x="704088" y="5239512"/>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ANALOGI</a:t>
            </a:r>
            <a:endParaRPr lang="en-US" sz="1150" dirty="0"/>
          </a:p>
        </p:txBody>
      </p:sp>
      <p:sp>
        <p:nvSpPr>
          <p:cNvPr id="13" name="Text 11"/>
          <p:cNvSpPr txBox="1"/>
          <p:nvPr/>
        </p:nvSpPr>
        <p:spPr>
          <a:xfrm>
            <a:off x="704088" y="5586984"/>
            <a:ext cx="10780776" cy="365125"/>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Rancang struktur → desain → bangun → publish itu resep yang sama, cuma isinya beda. Katalog roti, portfolio desainer, atau landing page jasa cuci motor — langkahnya identik.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1 — Apa yang Akan Kita Bangun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1</a:t>
            </a:r>
            <a:endParaRPr lang="en-US" sz="2200" dirty="0"/>
          </a:p>
        </p:txBody>
      </p:sp>
      <p:sp>
        <p:nvSpPr>
          <p:cNvPr id="7" name="Text 5"/>
          <p:cNvSpPr txBox="1"/>
          <p:nvPr/>
        </p:nvSpPr>
        <p:spPr>
          <a:xfrm>
            <a:off x="502920" y="1828800"/>
            <a:ext cx="6949440" cy="356616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Situs statis (katalog, portfolio, landing page) bisa dibangun tanpa coding dan tanpa backend</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Checkout, login pelanggan, dan database live belum dibahas di kursus ini — itu topik kursus lanjutan</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Claude memegang peran membangun: struktur, desain, kode, dan troubleshooting — kamu yang mengarahkan</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Skill ini bisa dimonetisasi: tawarkan sebagai jasa ke UMKM lain yang belum punya website</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Studi kasusnya katalog toko roti, tapi metodenya berlaku sama untuk portfolio atau situs lain</a:t>
            </a:r>
            <a:endParaRPr lang="en-US" sz="1300" dirty="0"/>
          </a:p>
        </p:txBody>
      </p:sp>
      <p:sp>
        <p:nvSpPr>
          <p:cNvPr id="8" name="Shape 6"/>
          <p:cNvSpPr/>
          <p:nvPr/>
        </p:nvSpPr>
        <p:spPr>
          <a:xfrm>
            <a:off x="7680960" y="1828800"/>
            <a:ext cx="4005072" cy="1260920"/>
          </a:xfrm>
          <a:prstGeom prst="roundRect">
            <a:avLst>
              <a:gd name="adj" fmla="val 7252"/>
            </a:avLst>
          </a:prstGeom>
          <a:solidFill>
            <a:srgbClr val="F3F0FF"/>
          </a:solidFill>
          <a:ln w="12700">
            <a:solidFill>
              <a:srgbClr val="DCD3FB"/>
            </a:solidFill>
            <a:prstDash val="solid"/>
          </a:ln>
        </p:spPr>
      </p:sp>
      <p:sp>
        <p:nvSpPr>
          <p:cNvPr id="9" name="Text 7"/>
          <p:cNvSpPr txBox="1"/>
          <p:nvPr/>
        </p:nvSpPr>
        <p:spPr>
          <a:xfrm>
            <a:off x="7882128" y="1993392"/>
            <a:ext cx="360273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TIPS</a:t>
            </a:r>
            <a:endParaRPr lang="en-US" sz="1150" dirty="0"/>
          </a:p>
        </p:txBody>
      </p:sp>
      <p:sp>
        <p:nvSpPr>
          <p:cNvPr id="10" name="Text 8"/>
          <p:cNvSpPr txBox="1"/>
          <p:nvPr/>
        </p:nvSpPr>
        <p:spPr>
          <a:xfrm>
            <a:off x="7882128" y="2340864"/>
            <a:ext cx="3602736" cy="547688"/>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Tentukan dulu jenis situs yang mau kamu bangun sebelum masuk Modul 2 — keputusan ini kamu pakai di semua modul berikutnya.</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1 — Apa yang Akan Kita Bangun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920240"/>
            <a:ext cx="11183112" cy="1386840"/>
          </a:xfrm>
          <a:prstGeom prst="roundRect">
            <a:avLst>
              <a:gd name="adj" fmla="val 7912"/>
            </a:avLst>
          </a:prstGeom>
          <a:solidFill>
            <a:srgbClr val="EAFAF0"/>
          </a:solidFill>
          <a:ln w="12700">
            <a:solidFill>
              <a:srgbClr val="B8E6C9"/>
            </a:solidFill>
            <a:prstDash val="solid"/>
          </a:ln>
        </p:spPr>
      </p:sp>
      <p:sp>
        <p:nvSpPr>
          <p:cNvPr id="8" name="Text 6"/>
          <p:cNvSpPr txBox="1"/>
          <p:nvPr/>
        </p:nvSpPr>
        <p:spPr>
          <a:xfrm>
            <a:off x="740664" y="2103120"/>
            <a:ext cx="10707624"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txBox="1"/>
          <p:nvPr/>
        </p:nvSpPr>
        <p:spPr>
          <a:xfrm>
            <a:off x="740664" y="2468880"/>
            <a:ext cx="10707624" cy="609600"/>
          </a:xfrm>
          <a:prstGeom prst="rect">
            <a:avLst/>
          </a:prstGeom>
          <a:noFill/>
          <a:ln/>
        </p:spPr>
        <p:txBody>
          <a:bodyPr wrap="square" lIns="0" tIns="0" rIns="0" bIns="0" rtlCol="0" anchor="ctr"/>
          <a:lstStyle/>
          <a:p>
            <a:pPr indent="0" marL="0">
              <a:lnSpc>
                <a:spcPct val="128000"/>
              </a:lnSpc>
              <a:buNone/>
            </a:pPr>
            <a:r>
              <a:rPr lang="en-US" sz="1250" dirty="0">
                <a:solidFill>
                  <a:srgbClr val="23283A"/>
                </a:solidFill>
                <a:latin typeface="Helvetica" pitchFamily="34" charset="0"/>
                <a:ea typeface="Helvetica" pitchFamily="34" charset="-122"/>
                <a:cs typeface="Helvetica" pitchFamily="34" charset="-120"/>
              </a:rPr>
              <a:t>Tentukan dulu: kalau kamu mau ikut studi kasus katalog toko, siapkan jenis produk yang mau dikatalogkan. Kalau kamu mau bikin portfolio atau situs lain, tentukan tujuannya sekarang. Lalu minta Claude membantumu memikirkan halaman apa saja yang dibutuhkan, berdasarkan jenis situs, gambaran singkat, dan target pengunjungnya.</a:t>
            </a:r>
            <a:endParaRPr lang="en-US" sz="1250" dirty="0"/>
          </a:p>
        </p:txBody>
      </p:sp>
      <p:sp>
        <p:nvSpPr>
          <p:cNvPr id="10" name="Shape 8"/>
          <p:cNvSpPr/>
          <p:nvPr/>
        </p:nvSpPr>
        <p:spPr>
          <a:xfrm>
            <a:off x="502920" y="3535680"/>
            <a:ext cx="11183112" cy="1042099"/>
          </a:xfrm>
          <a:prstGeom prst="roundRect">
            <a:avLst>
              <a:gd name="adj" fmla="val 10530"/>
            </a:avLst>
          </a:prstGeom>
          <a:solidFill>
            <a:srgbClr val="F4F6FB"/>
          </a:solidFill>
          <a:ln w="12700">
            <a:solidFill>
              <a:srgbClr val="D6DCEB"/>
            </a:solidFill>
            <a:prstDash val="solid"/>
          </a:ln>
        </p:spPr>
      </p:sp>
      <p:sp>
        <p:nvSpPr>
          <p:cNvPr id="11" name="Shape 9"/>
          <p:cNvSpPr/>
          <p:nvPr/>
        </p:nvSpPr>
        <p:spPr>
          <a:xfrm>
            <a:off x="722376" y="3718560"/>
            <a:ext cx="365760" cy="365760"/>
          </a:xfrm>
          <a:prstGeom prst="ellipse">
            <a:avLst/>
          </a:prstGeom>
          <a:solidFill>
            <a:srgbClr val="6849F6"/>
          </a:solidFill>
          <a:ln/>
        </p:spPr>
      </p:sp>
      <p:sp>
        <p:nvSpPr>
          <p:cNvPr id="12" name="Text 10"/>
          <p:cNvSpPr txBox="1"/>
          <p:nvPr/>
        </p:nvSpPr>
        <p:spPr>
          <a:xfrm>
            <a:off x="722376" y="3718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a:t>
            </a:r>
            <a:endParaRPr lang="en-US" sz="1600" dirty="0"/>
          </a:p>
        </p:txBody>
      </p:sp>
      <p:sp>
        <p:nvSpPr>
          <p:cNvPr id="13" name="Text 11"/>
          <p:cNvSpPr txBox="1"/>
          <p:nvPr/>
        </p:nvSpPr>
        <p:spPr>
          <a:xfrm>
            <a:off x="1234440" y="3791712"/>
            <a:ext cx="10268712" cy="274320"/>
          </a:xfrm>
          <a:prstGeom prst="rect">
            <a:avLst/>
          </a:prstGeom>
          <a:noFill/>
          <a:ln/>
        </p:spPr>
        <p:txBody>
          <a:bodyPr wrap="square" lIns="0" tIns="0" rIns="0" bIns="0" rtlCol="0" anchor="ctr"/>
          <a:lstStyle/>
          <a:p>
            <a:pPr indent="0" marL="0">
              <a:buNone/>
            </a:pPr>
            <a:r>
              <a:rPr lang="en-US" sz="1250" b="1" dirty="0">
                <a:solidFill>
                  <a:srgbClr val="23283A"/>
                </a:solidFill>
                <a:latin typeface="Helvetica" pitchFamily="34" charset="0"/>
                <a:ea typeface="Helvetica" pitchFamily="34" charset="-122"/>
                <a:cs typeface="Helvetica" pitchFamily="34" charset="-120"/>
              </a:rPr>
              <a:t>Output yang Diharapkan</a:t>
            </a:r>
            <a:endParaRPr lang="en-US" sz="1250" dirty="0"/>
          </a:p>
        </p:txBody>
      </p:sp>
      <p:sp>
        <p:nvSpPr>
          <p:cNvPr id="14" name="Text 12"/>
          <p:cNvSpPr txBox="1"/>
          <p:nvPr/>
        </p:nvSpPr>
        <p:spPr>
          <a:xfrm>
            <a:off x="722376" y="4194048"/>
            <a:ext cx="10744200" cy="182563"/>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Satu brief singkat: jenis situs yang mau kamu bangun, target pengunjung, dan draft daftar halaman yang dibutuhkan. Ini jadi fondasi buat Modul 2.</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2026-08-31T09:44:11Z</dcterms:created>
  <dcterms:modified xsi:type="dcterms:W3CDTF">2026-08-31T09:44:11Z</dcterms:modified>
</cp:coreProperties>
</file>