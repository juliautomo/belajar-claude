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2" r:id="rId13"/>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0" d="100"/>
          <a:sy n="90" d="100"/>
        </p:scale>
        <p:origin x="84" y="2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45460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a:effectLst/>
      </p:bgPr>
    </p:bg>
    <p:spTree>
      <p:nvGrpSpPr>
        <p:cNvPr id="1" name=""/>
        <p:cNvGrpSpPr/>
        <p:nvPr/>
      </p:nvGrpSpPr>
      <p:grpSpPr>
        <a:xfrm>
          <a:off x="0" y="0"/>
          <a:ext cx="0" cy="0"/>
          <a:chOff x="0" y="0"/>
          <a:chExt cx="0" cy="0"/>
        </a:xfrm>
      </p:grpSpPr>
      <p:sp>
        <p:nvSpPr>
          <p:cNvPr id="2" name="Shape 0"/>
          <p:cNvSpPr/>
          <p:nvPr/>
        </p:nvSpPr>
        <p:spPr>
          <a:xfrm>
            <a:off x="8138160" y="0"/>
            <a:ext cx="4053535" cy="6858000"/>
          </a:xfrm>
          <a:prstGeom prst="rect">
            <a:avLst/>
          </a:prstGeom>
          <a:solidFill>
            <a:srgbClr val="141D33"/>
          </a:solidFill>
          <a:ln/>
        </p:spPr>
        <p:txBody>
          <a:bodyPr/>
          <a:lstStyle/>
          <a:p>
            <a:endParaRPr lang="en-ID"/>
          </a:p>
        </p:txBody>
      </p:sp>
      <p:sp>
        <p:nvSpPr>
          <p:cNvPr id="3" name="Text 1"/>
          <p:cNvSpPr txBox="1"/>
          <p:nvPr/>
        </p:nvSpPr>
        <p:spPr>
          <a:xfrm>
            <a:off x="640080" y="502920"/>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9921240" y="502920"/>
            <a:ext cx="1691640" cy="420624"/>
          </a:xfrm>
          <a:prstGeom prst="roundRect">
            <a:avLst>
              <a:gd name="adj" fmla="val 21739"/>
            </a:avLst>
          </a:prstGeom>
          <a:solidFill>
            <a:srgbClr val="6849F6"/>
          </a:solidFill>
          <a:ln/>
        </p:spPr>
        <p:txBody>
          <a:bodyPr/>
          <a:lstStyle/>
          <a:p>
            <a:endParaRPr lang="en-ID"/>
          </a:p>
        </p:txBody>
      </p:sp>
      <p:sp>
        <p:nvSpPr>
          <p:cNvPr id="5" name="Text 3"/>
          <p:cNvSpPr txBox="1"/>
          <p:nvPr/>
        </p:nvSpPr>
        <p:spPr>
          <a:xfrm>
            <a:off x="9921240" y="502920"/>
            <a:ext cx="1691640"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Helvetica" pitchFamily="34" charset="0"/>
                <a:ea typeface="Helvetica" pitchFamily="34" charset="-122"/>
                <a:cs typeface="Helvetica" pitchFamily="34" charset="-120"/>
              </a:rPr>
              <a:t>MODUL 1</a:t>
            </a:r>
            <a:endParaRPr lang="en-US" sz="1300" dirty="0"/>
          </a:p>
        </p:txBody>
      </p:sp>
      <p:sp>
        <p:nvSpPr>
          <p:cNvPr id="6" name="Text 4"/>
          <p:cNvSpPr txBox="1"/>
          <p:nvPr/>
        </p:nvSpPr>
        <p:spPr>
          <a:xfrm>
            <a:off x="640080" y="2697480"/>
            <a:ext cx="7132320" cy="1371600"/>
          </a:xfrm>
          <a:prstGeom prst="rect">
            <a:avLst/>
          </a:prstGeom>
          <a:noFill/>
          <a:ln/>
        </p:spPr>
        <p:txBody>
          <a:bodyPr wrap="square" lIns="0" tIns="0" rIns="0" bIns="0" rtlCol="0" anchor="b"/>
          <a:lstStyle/>
          <a:p>
            <a:pPr marL="0" indent="0">
              <a:lnSpc>
                <a:spcPts val="5000"/>
              </a:lnSpc>
              <a:buNone/>
            </a:pPr>
            <a:r>
              <a:rPr lang="en-US" sz="4400" b="1" dirty="0">
                <a:solidFill>
                  <a:srgbClr val="FFFFFF"/>
                </a:solidFill>
                <a:latin typeface="Helvetica" pitchFamily="34" charset="0"/>
                <a:ea typeface="Helvetica" pitchFamily="34" charset="-122"/>
                <a:cs typeface="Helvetica" pitchFamily="34" charset="-120"/>
              </a:rPr>
              <a:t>Apa yang Akan</a:t>
            </a:r>
            <a:endParaRPr lang="en-US" sz="4400" dirty="0"/>
          </a:p>
          <a:p>
            <a:pPr marL="0" indent="0">
              <a:lnSpc>
                <a:spcPts val="5000"/>
              </a:lnSpc>
              <a:buNone/>
            </a:pPr>
            <a:r>
              <a:rPr lang="en-US" sz="4400" b="1" dirty="0">
                <a:solidFill>
                  <a:srgbClr val="FFFFFF"/>
                </a:solidFill>
                <a:latin typeface="Helvetica" pitchFamily="34" charset="0"/>
                <a:ea typeface="Helvetica" pitchFamily="34" charset="-122"/>
                <a:cs typeface="Helvetica" pitchFamily="34" charset="-120"/>
              </a:rPr>
              <a:t>Kita Bangun</a:t>
            </a:r>
            <a:endParaRPr lang="en-US" sz="4400" dirty="0"/>
          </a:p>
        </p:txBody>
      </p:sp>
      <p:sp>
        <p:nvSpPr>
          <p:cNvPr id="7" name="Text 5"/>
          <p:cNvSpPr txBox="1"/>
          <p:nvPr/>
        </p:nvSpPr>
        <p:spPr>
          <a:xfrm>
            <a:off x="640080" y="4325112"/>
            <a:ext cx="6949440" cy="822960"/>
          </a:xfrm>
          <a:prstGeom prst="rect">
            <a:avLst/>
          </a:prstGeom>
          <a:noFill/>
          <a:ln/>
        </p:spPr>
        <p:txBody>
          <a:bodyPr wrap="square" lIns="0" tIns="0" rIns="0" bIns="0" rtlCol="0" anchor="ctr"/>
          <a:lstStyle/>
          <a:p>
            <a:pPr marL="0" indent="0">
              <a:lnSpc>
                <a:spcPct val="130000"/>
              </a:lnSpc>
              <a:buNone/>
            </a:pPr>
            <a:r>
              <a:rPr lang="en-US" sz="1550" dirty="0">
                <a:solidFill>
                  <a:srgbClr val="B7C0D8"/>
                </a:solidFill>
                <a:latin typeface="Helvetica" pitchFamily="34" charset="0"/>
                <a:ea typeface="Helvetica" pitchFamily="34" charset="-122"/>
                <a:cs typeface="Helvetica" pitchFamily="34" charset="-120"/>
              </a:rPr>
              <a:t>Kenalan dengan fokus kursus ini — apa yang kita bangun, dan kenapa skill ini berharga</a:t>
            </a:r>
            <a:endParaRPr lang="en-US" sz="1550" dirty="0"/>
          </a:p>
        </p:txBody>
      </p:sp>
      <p:sp>
        <p:nvSpPr>
          <p:cNvPr id="8" name="Text 6"/>
          <p:cNvSpPr txBox="1"/>
          <p:nvPr/>
        </p:nvSpPr>
        <p:spPr>
          <a:xfrm>
            <a:off x="640080" y="6263640"/>
            <a:ext cx="7315200" cy="365760"/>
          </a:xfrm>
          <a:prstGeom prst="rect">
            <a:avLst/>
          </a:prstGeom>
          <a:noFill/>
          <a:ln/>
        </p:spPr>
        <p:txBody>
          <a:bodyPr wrap="square" lIns="0" tIns="0" rIns="0" bIns="0" rtlCol="0" anchor="ctr"/>
          <a:lstStyle/>
          <a:p>
            <a:pPr marL="0" indent="0">
              <a:buNone/>
            </a:pPr>
            <a:r>
              <a:rPr lang="en-US" sz="1150" dirty="0">
                <a:solidFill>
                  <a:srgbClr val="9AA2B4"/>
                </a:solidFill>
                <a:latin typeface="Helvetica" pitchFamily="34" charset="0"/>
                <a:ea typeface="Helvetica" pitchFamily="34" charset="-122"/>
                <a:cs typeface="Helvetica" pitchFamily="34" charset="-120"/>
              </a:rPr>
              <a:t>Bikin Website Sendiri Tanpa Coding · Studi Kasus Katalog Toko Roti Online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Fokus Kursus Ini</a:t>
            </a:r>
            <a:endParaRPr lang="en-US" sz="2200" dirty="0"/>
          </a:p>
        </p:txBody>
      </p:sp>
      <p:sp>
        <p:nvSpPr>
          <p:cNvPr id="7" name="Text 5"/>
          <p:cNvSpPr txBox="1"/>
          <p:nvPr/>
        </p:nvSpPr>
        <p:spPr>
          <a:xfrm>
            <a:off x="502920" y="1828800"/>
            <a:ext cx="11155680" cy="59436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Claude bisa membangun situs sungguhan tanpa satu baris kode pun — mulai dari katalog produk sampai portfolio pribadi. Penting jelas soal fokus kursus ini dari awal, supaya ekspektasi kamu tepat.</a:t>
            </a:r>
            <a:endParaRPr lang="en-US" sz="1350" dirty="0"/>
          </a:p>
        </p:txBody>
      </p:sp>
      <p:sp>
        <p:nvSpPr>
          <p:cNvPr id="8" name="Shape 6"/>
          <p:cNvSpPr/>
          <p:nvPr/>
        </p:nvSpPr>
        <p:spPr>
          <a:xfrm>
            <a:off x="502920" y="2606040"/>
            <a:ext cx="5454396" cy="1758696"/>
          </a:xfrm>
          <a:prstGeom prst="roundRect">
            <a:avLst>
              <a:gd name="adj" fmla="val 6239"/>
            </a:avLst>
          </a:prstGeom>
          <a:solidFill>
            <a:srgbClr val="F3F0FF"/>
          </a:solidFill>
          <a:ln w="12700">
            <a:solidFill>
              <a:srgbClr val="DCD3FB"/>
            </a:solidFill>
            <a:prstDash val="solid"/>
          </a:ln>
        </p:spPr>
        <p:txBody>
          <a:bodyPr/>
          <a:lstStyle/>
          <a:p>
            <a:endParaRPr lang="en-ID"/>
          </a:p>
        </p:txBody>
      </p:sp>
      <p:sp>
        <p:nvSpPr>
          <p:cNvPr id="9" name="Text 7"/>
          <p:cNvSpPr txBox="1"/>
          <p:nvPr/>
        </p:nvSpPr>
        <p:spPr>
          <a:xfrm>
            <a:off x="722376" y="2788920"/>
            <a:ext cx="5015484" cy="320040"/>
          </a:xfrm>
          <a:prstGeom prst="rect">
            <a:avLst/>
          </a:prstGeom>
          <a:noFill/>
          <a:ln/>
        </p:spPr>
        <p:txBody>
          <a:bodyPr wrap="square" lIns="0" tIns="0" rIns="0" bIns="0" rtlCol="0" anchor="ctr"/>
          <a:lstStyle/>
          <a:p>
            <a:pPr marL="0" indent="0">
              <a:buNone/>
            </a:pPr>
            <a:r>
              <a:rPr lang="en-US" sz="1400" b="1" dirty="0">
                <a:solidFill>
                  <a:srgbClr val="4B36C7"/>
                </a:solidFill>
                <a:latin typeface="Helvetica" pitchFamily="34" charset="0"/>
                <a:ea typeface="Helvetica" pitchFamily="34" charset="-122"/>
                <a:cs typeface="Helvetica" pitchFamily="34" charset="-120"/>
              </a:rPr>
              <a:t>Fokus Kursus Ini</a:t>
            </a:r>
            <a:endParaRPr lang="en-US" sz="1400" dirty="0"/>
          </a:p>
        </p:txBody>
      </p:sp>
      <p:sp>
        <p:nvSpPr>
          <p:cNvPr id="10" name="Text 8"/>
          <p:cNvSpPr txBox="1"/>
          <p:nvPr/>
        </p:nvSpPr>
        <p:spPr>
          <a:xfrm>
            <a:off x="722376" y="3172968"/>
            <a:ext cx="5015484" cy="990600"/>
          </a:xfrm>
          <a:prstGeom prst="rect">
            <a:avLst/>
          </a:prstGeom>
          <a:noFill/>
          <a:ln/>
        </p:spPr>
        <p:txBody>
          <a:bodyPr wrap="square" lIns="0" tIns="0" rIns="0" bIns="0" rtlCol="0" anchor="ctr"/>
          <a:lstStyle/>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Halaman katalog produk lengkap dengan kategori</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Portfolio pribadi (foto karya, CV singkat, kontak)</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Landing page bisnis satu halaman</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Order lewat link WhatsApp — tanpa checkout</a:t>
            </a:r>
            <a:endParaRPr lang="en-US" sz="1200" dirty="0"/>
          </a:p>
        </p:txBody>
      </p:sp>
      <p:sp>
        <p:nvSpPr>
          <p:cNvPr id="11" name="Shape 9"/>
          <p:cNvSpPr/>
          <p:nvPr/>
        </p:nvSpPr>
        <p:spPr>
          <a:xfrm>
            <a:off x="6231636" y="2606040"/>
            <a:ext cx="5454396" cy="1758696"/>
          </a:xfrm>
          <a:prstGeom prst="roundRect">
            <a:avLst>
              <a:gd name="adj" fmla="val 6239"/>
            </a:avLst>
          </a:prstGeom>
          <a:solidFill>
            <a:srgbClr val="F4F6FB"/>
          </a:solidFill>
          <a:ln w="12700">
            <a:solidFill>
              <a:srgbClr val="D6DCEB"/>
            </a:solidFill>
            <a:prstDash val="solid"/>
          </a:ln>
        </p:spPr>
        <p:txBody>
          <a:bodyPr/>
          <a:lstStyle/>
          <a:p>
            <a:endParaRPr lang="en-ID"/>
          </a:p>
        </p:txBody>
      </p:sp>
      <p:sp>
        <p:nvSpPr>
          <p:cNvPr id="12" name="Text 10"/>
          <p:cNvSpPr txBox="1"/>
          <p:nvPr/>
        </p:nvSpPr>
        <p:spPr>
          <a:xfrm>
            <a:off x="6451092" y="2788920"/>
            <a:ext cx="5015484" cy="320040"/>
          </a:xfrm>
          <a:prstGeom prst="rect">
            <a:avLst/>
          </a:prstGeom>
          <a:noFill/>
          <a:ln/>
        </p:spPr>
        <p:txBody>
          <a:bodyPr wrap="square" lIns="0" tIns="0" rIns="0" bIns="0" rtlCol="0" anchor="ctr"/>
          <a:lstStyle/>
          <a:p>
            <a:pPr marL="0" indent="0">
              <a:buNone/>
            </a:pPr>
            <a:r>
              <a:rPr lang="en-US" sz="1400" b="1" dirty="0">
                <a:solidFill>
                  <a:srgbClr val="23283A"/>
                </a:solidFill>
                <a:latin typeface="Helvetica" pitchFamily="34" charset="0"/>
                <a:ea typeface="Helvetica" pitchFamily="34" charset="-122"/>
                <a:cs typeface="Helvetica" pitchFamily="34" charset="-120"/>
              </a:rPr>
              <a:t>Bahasan Kursus Lanjutan</a:t>
            </a:r>
            <a:endParaRPr lang="en-US" sz="1400" dirty="0"/>
          </a:p>
        </p:txBody>
      </p:sp>
      <p:sp>
        <p:nvSpPr>
          <p:cNvPr id="13" name="Text 11"/>
          <p:cNvSpPr txBox="1"/>
          <p:nvPr/>
        </p:nvSpPr>
        <p:spPr>
          <a:xfrm>
            <a:off x="6451092" y="3172968"/>
            <a:ext cx="5015484" cy="990600"/>
          </a:xfrm>
          <a:prstGeom prst="rect">
            <a:avLst/>
          </a:prstGeom>
          <a:noFill/>
          <a:ln/>
        </p:spPr>
        <p:txBody>
          <a:bodyPr wrap="square" lIns="0" tIns="0" rIns="0" bIns="0" rtlCol="0" anchor="ctr"/>
          <a:lstStyle/>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Sistem checkout &amp; pembayaran online</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Akun/login untuk pelanggan</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Inventori &amp; harga yang update otomatis dari database</a:t>
            </a:r>
            <a:endParaRPr lang="en-US" sz="1200" dirty="0"/>
          </a:p>
        </p:txBody>
      </p:sp>
      <p:sp>
        <p:nvSpPr>
          <p:cNvPr id="14" name="Shape 12"/>
          <p:cNvSpPr/>
          <p:nvPr/>
        </p:nvSpPr>
        <p:spPr>
          <a:xfrm>
            <a:off x="502920" y="4593336"/>
            <a:ext cx="11183112" cy="1078357"/>
          </a:xfrm>
          <a:prstGeom prst="roundRect">
            <a:avLst>
              <a:gd name="adj" fmla="val 8480"/>
            </a:avLst>
          </a:prstGeom>
          <a:solidFill>
            <a:srgbClr val="F3F0FF"/>
          </a:solidFill>
          <a:ln w="12700">
            <a:solidFill>
              <a:srgbClr val="DCD3FB"/>
            </a:solidFill>
            <a:prstDash val="solid"/>
          </a:ln>
        </p:spPr>
        <p:txBody>
          <a:bodyPr/>
          <a:lstStyle/>
          <a:p>
            <a:endParaRPr lang="en-ID"/>
          </a:p>
        </p:txBody>
      </p:sp>
      <p:sp>
        <p:nvSpPr>
          <p:cNvPr id="15" name="Text 13"/>
          <p:cNvSpPr txBox="1"/>
          <p:nvPr/>
        </p:nvSpPr>
        <p:spPr>
          <a:xfrm>
            <a:off x="704088" y="4757928"/>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KENAPA FOKUS KE SITUS STATIS</a:t>
            </a:r>
            <a:endParaRPr lang="en-US" sz="1150" dirty="0"/>
          </a:p>
        </p:txBody>
      </p:sp>
      <p:sp>
        <p:nvSpPr>
          <p:cNvPr id="16" name="Text 14"/>
          <p:cNvSpPr txBox="1"/>
          <p:nvPr/>
        </p:nvSpPr>
        <p:spPr>
          <a:xfrm>
            <a:off x="704088" y="5105400"/>
            <a:ext cx="10780776" cy="365125"/>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Fitur di kolom kanan butuh “backend” — server &amp; database yang menyimpan data secara live. Claude bisa bantu bangun itu juga, tapi topiknya lebih teknis dan sengaja disimpan untuk kursus lanjutan. Situs statis: cepat dibangun, gratis di-hosting, cukup untuk kebutuhan UMKM kebanyakan.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Apa yang Claude Bisa Bantu</a:t>
            </a:r>
            <a:endParaRPr lang="en-US" sz="2200" dirty="0"/>
          </a:p>
        </p:txBody>
      </p:sp>
      <p:sp>
        <p:nvSpPr>
          <p:cNvPr id="7" name="Text 5"/>
          <p:cNvSpPr txBox="1"/>
          <p:nvPr/>
        </p:nvSpPr>
        <p:spPr>
          <a:xfrm>
            <a:off x="502920" y="1828800"/>
            <a:ext cx="11155680" cy="50292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Claude bukan cuma “asisten nulis” — Claude yang benar-benar membangun situsnya. Ini peran-peran yang akan dia pegang sepanjang kursus:</a:t>
            </a:r>
            <a:endParaRPr lang="en-US" sz="1350" dirty="0"/>
          </a:p>
        </p:txBody>
      </p:sp>
      <p:sp>
        <p:nvSpPr>
          <p:cNvPr id="8" name="Shape 6"/>
          <p:cNvSpPr/>
          <p:nvPr/>
        </p:nvSpPr>
        <p:spPr>
          <a:xfrm>
            <a:off x="502920" y="2423160"/>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11" name="Text 9"/>
          <p:cNvSpPr txBox="1"/>
          <p:nvPr/>
        </p:nvSpPr>
        <p:spPr>
          <a:xfrm>
            <a:off x="683034" y="2606040"/>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Brainstorming Struktur &amp; Konten</a:t>
            </a:r>
            <a:endParaRPr lang="en-US" sz="1300" dirty="0"/>
          </a:p>
        </p:txBody>
      </p:sp>
      <p:sp>
        <p:nvSpPr>
          <p:cNvPr id="12" name="Text 10"/>
          <p:cNvSpPr txBox="1"/>
          <p:nvPr/>
        </p:nvSpPr>
        <p:spPr>
          <a:xfrm>
            <a:off x="685800" y="3118104"/>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Bantu susun halaman apa saja yang dibutuhkan, bahkan menuliskan draft copy-nya</a:t>
            </a:r>
            <a:endParaRPr lang="en-US" sz="1100" dirty="0"/>
          </a:p>
        </p:txBody>
      </p:sp>
      <p:sp>
        <p:nvSpPr>
          <p:cNvPr id="13" name="Shape 11"/>
          <p:cNvSpPr/>
          <p:nvPr/>
        </p:nvSpPr>
        <p:spPr>
          <a:xfrm>
            <a:off x="6208776" y="2423160"/>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16" name="Text 14"/>
          <p:cNvSpPr txBox="1"/>
          <p:nvPr/>
        </p:nvSpPr>
        <p:spPr>
          <a:xfrm>
            <a:off x="6388890" y="2606040"/>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Desain &amp; Layout</a:t>
            </a:r>
            <a:endParaRPr lang="en-US" sz="1300" dirty="0"/>
          </a:p>
        </p:txBody>
      </p:sp>
      <p:sp>
        <p:nvSpPr>
          <p:cNvPr id="17" name="Text 15"/>
          <p:cNvSpPr txBox="1"/>
          <p:nvPr/>
        </p:nvSpPr>
        <p:spPr>
          <a:xfrm>
            <a:off x="6391656" y="3118104"/>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Bikin tampilan lengkap dari deskripsi kamu — atau dari gambar referensi yang kamu kasih</a:t>
            </a:r>
            <a:endParaRPr lang="en-US" sz="1100" dirty="0"/>
          </a:p>
        </p:txBody>
      </p:sp>
      <p:sp>
        <p:nvSpPr>
          <p:cNvPr id="18" name="Shape 16"/>
          <p:cNvSpPr/>
          <p:nvPr/>
        </p:nvSpPr>
        <p:spPr>
          <a:xfrm>
            <a:off x="502920" y="3846576"/>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21" name="Text 19"/>
          <p:cNvSpPr txBox="1"/>
          <p:nvPr/>
        </p:nvSpPr>
        <p:spPr>
          <a:xfrm>
            <a:off x="683034" y="4029456"/>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Membangun Kode Artifact</a:t>
            </a:r>
            <a:endParaRPr lang="en-US" sz="1300" dirty="0"/>
          </a:p>
        </p:txBody>
      </p:sp>
      <p:sp>
        <p:nvSpPr>
          <p:cNvPr id="22" name="Text 20"/>
          <p:cNvSpPr txBox="1"/>
          <p:nvPr/>
        </p:nvSpPr>
        <p:spPr>
          <a:xfrm>
            <a:off x="685800" y="4541520"/>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Menulis HTML/CSS-nya langsung, kamu nggak perlu ngoding manual sama sekali</a:t>
            </a:r>
            <a:endParaRPr lang="en-US" sz="1100" dirty="0"/>
          </a:p>
        </p:txBody>
      </p:sp>
      <p:sp>
        <p:nvSpPr>
          <p:cNvPr id="23" name="Shape 21"/>
          <p:cNvSpPr/>
          <p:nvPr/>
        </p:nvSpPr>
        <p:spPr>
          <a:xfrm>
            <a:off x="6208776" y="3846576"/>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26" name="Text 24"/>
          <p:cNvSpPr txBox="1"/>
          <p:nvPr/>
        </p:nvSpPr>
        <p:spPr>
          <a:xfrm>
            <a:off x="6388890" y="4029456"/>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Troubleshooting</a:t>
            </a:r>
            <a:endParaRPr lang="en-US" sz="1300" dirty="0"/>
          </a:p>
        </p:txBody>
      </p:sp>
      <p:sp>
        <p:nvSpPr>
          <p:cNvPr id="27" name="Text 25"/>
          <p:cNvSpPr txBox="1"/>
          <p:nvPr/>
        </p:nvSpPr>
        <p:spPr>
          <a:xfrm>
            <a:off x="6391656" y="4541520"/>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Bantu perbaiki kalau ada yang error atau nyangkut, termasuk pas proses publish</a:t>
            </a:r>
            <a:endParaRPr lang="en-US" sz="1100" dirty="0"/>
          </a:p>
        </p:txBody>
      </p:sp>
      <p:sp>
        <p:nvSpPr>
          <p:cNvPr id="28" name="Shape 26"/>
          <p:cNvSpPr/>
          <p:nvPr/>
        </p:nvSpPr>
        <p:spPr>
          <a:xfrm>
            <a:off x="502920" y="5269992"/>
            <a:ext cx="11183112" cy="1078357"/>
          </a:xfrm>
          <a:prstGeom prst="roundRect">
            <a:avLst>
              <a:gd name="adj" fmla="val 8480"/>
            </a:avLst>
          </a:prstGeom>
          <a:solidFill>
            <a:srgbClr val="F3F0FF"/>
          </a:solidFill>
          <a:ln w="12700">
            <a:solidFill>
              <a:srgbClr val="DCD3FB"/>
            </a:solidFill>
            <a:prstDash val="solid"/>
          </a:ln>
        </p:spPr>
        <p:txBody>
          <a:bodyPr/>
          <a:lstStyle/>
          <a:p>
            <a:endParaRPr lang="en-ID"/>
          </a:p>
        </p:txBody>
      </p:sp>
      <p:sp>
        <p:nvSpPr>
          <p:cNvPr id="29" name="Text 27"/>
          <p:cNvSpPr txBox="1"/>
          <p:nvPr/>
        </p:nvSpPr>
        <p:spPr>
          <a:xfrm>
            <a:off x="704088" y="5434584"/>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INTINYA</a:t>
            </a:r>
            <a:endParaRPr lang="en-US" sz="1150" dirty="0"/>
          </a:p>
        </p:txBody>
      </p:sp>
      <p:sp>
        <p:nvSpPr>
          <p:cNvPr id="30" name="Text 28"/>
          <p:cNvSpPr txBox="1"/>
          <p:nvPr/>
        </p:nvSpPr>
        <p:spPr>
          <a:xfrm>
            <a:off x="704088" y="5782056"/>
            <a:ext cx="10780776" cy="365125"/>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Claude yang membangun, kamu yang mengarahkan dan mereview. Tugasmu: tahu apa yang kamu mau, mendeskripsikannya dengan jelas, dan mengecek hasilnya — bukan menulis kode sendiri.</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Kenapa Skill Ini Berharga</a:t>
            </a:r>
            <a:endParaRPr lang="en-US" sz="2200" dirty="0"/>
          </a:p>
        </p:txBody>
      </p:sp>
      <p:sp>
        <p:nvSpPr>
          <p:cNvPr id="7" name="Text 5"/>
          <p:cNvSpPr txBox="1"/>
          <p:nvPr/>
        </p:nvSpPr>
        <p:spPr>
          <a:xfrm>
            <a:off x="502920" y="1874520"/>
            <a:ext cx="1115568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BISA JADI JASA YANG KAMU TAWARKAN</a:t>
            </a:r>
            <a:endParaRPr lang="en-US" sz="1250" dirty="0"/>
          </a:p>
        </p:txBody>
      </p:sp>
      <p:sp>
        <p:nvSpPr>
          <p:cNvPr id="8" name="Text 6"/>
          <p:cNvSpPr txBox="1"/>
          <p:nvPr/>
        </p:nvSpPr>
        <p:spPr>
          <a:xfrm>
            <a:off x="502920" y="2194560"/>
            <a:ext cx="11155680" cy="100584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Banyak UMKM di sekitar kamu — warung, jasa titip, katering rumahan, jasa kerajinan — belum punya website sama sekali, cuma jualan lewat story WhatsApp/Instagram. Begitu kamu selesai kursus ini, kamu bisa menawarkan jasa serupa ke mereka, dengan bukti kerja nyata yang bisa kamu tunjukkan (lihat Modul 6 soal GitHub sebagai portfolio).</a:t>
            </a:r>
            <a:endParaRPr lang="en-US" sz="1350" dirty="0"/>
          </a:p>
        </p:txBody>
      </p:sp>
      <p:sp>
        <p:nvSpPr>
          <p:cNvPr id="9" name="Text 7"/>
          <p:cNvSpPr txBox="1"/>
          <p:nvPr/>
        </p:nvSpPr>
        <p:spPr>
          <a:xfrm>
            <a:off x="502920" y="3429000"/>
            <a:ext cx="1115568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FLEKSIBEL: KATALOG ATAU PORTFOLIO?</a:t>
            </a:r>
            <a:endParaRPr lang="en-US" sz="1250" dirty="0"/>
          </a:p>
        </p:txBody>
      </p:sp>
      <p:sp>
        <p:nvSpPr>
          <p:cNvPr id="10" name="Text 8"/>
          <p:cNvSpPr txBox="1"/>
          <p:nvPr/>
        </p:nvSpPr>
        <p:spPr>
          <a:xfrm>
            <a:off x="502920" y="3749040"/>
            <a:ext cx="11155680" cy="100584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Kursus ini berjalan dengan studi kasus katalog toko roti online. Tapi metodenya — rancang struktur, desain, bangun, publish — sama persis kalau yang kamu butuhkan adalah portfolio pribadi, landing page bisnis, atau situs satu-tujuan lainnya. Ikuti saja tiap modul pakai kontenmu sendiri.</a:t>
            </a:r>
            <a:endParaRPr lang="en-US" sz="1350" dirty="0"/>
          </a:p>
        </p:txBody>
      </p:sp>
      <p:sp>
        <p:nvSpPr>
          <p:cNvPr id="11" name="Shape 9"/>
          <p:cNvSpPr/>
          <p:nvPr/>
        </p:nvSpPr>
        <p:spPr>
          <a:xfrm>
            <a:off x="502920" y="5074920"/>
            <a:ext cx="11183112" cy="1078357"/>
          </a:xfrm>
          <a:prstGeom prst="roundRect">
            <a:avLst>
              <a:gd name="adj" fmla="val 8480"/>
            </a:avLst>
          </a:prstGeom>
          <a:solidFill>
            <a:srgbClr val="F3F0FF"/>
          </a:solidFill>
          <a:ln w="12700">
            <a:solidFill>
              <a:srgbClr val="DCD3FB"/>
            </a:solidFill>
            <a:prstDash val="solid"/>
          </a:ln>
        </p:spPr>
        <p:txBody>
          <a:bodyPr/>
          <a:lstStyle/>
          <a:p>
            <a:endParaRPr lang="en-ID"/>
          </a:p>
        </p:txBody>
      </p:sp>
      <p:sp>
        <p:nvSpPr>
          <p:cNvPr id="12" name="Text 10"/>
          <p:cNvSpPr txBox="1"/>
          <p:nvPr/>
        </p:nvSpPr>
        <p:spPr>
          <a:xfrm>
            <a:off x="704088" y="5239512"/>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ANALOGI</a:t>
            </a:r>
            <a:endParaRPr lang="en-US" sz="1150" dirty="0"/>
          </a:p>
        </p:txBody>
      </p:sp>
      <p:sp>
        <p:nvSpPr>
          <p:cNvPr id="13" name="Text 11"/>
          <p:cNvSpPr txBox="1"/>
          <p:nvPr/>
        </p:nvSpPr>
        <p:spPr>
          <a:xfrm>
            <a:off x="704088" y="5586984"/>
            <a:ext cx="10780776" cy="365125"/>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Rancang struktur → desain → bangun → publish itu resep yang sama, cuma isinya beda. Katalog roti, portfolio desainer, atau landing page jasa cuci motor — langkahnya identik.</a:t>
            </a:r>
            <a:endParaRPr lang="en-US" sz="115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Siapkan Claude Project Sebelum Mulai</a:t>
            </a:r>
            <a:endParaRPr lang="en-US" sz="2200" dirty="0"/>
          </a:p>
        </p:txBody>
      </p:sp>
      <p:sp>
        <p:nvSpPr>
          <p:cNvPr id="8" name="Text 6"/>
          <p:cNvSpPr txBox="1"/>
          <p:nvPr/>
        </p:nvSpPr>
        <p:spPr>
          <a:xfrm>
            <a:off x="502920" y="1965960"/>
            <a:ext cx="11155680" cy="642937"/>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Kursus ini berjalan lintas beberapa modul, dan tiap modul memakai hasil dari modul sebelumnya — sitemap dari Modul 2, kerangka desain dari Modul 3, dan seterusnya. Supaya semuanya nggak tercecer di chat yang berbeda-beda, buat satu Project di Claude khusus untuk situsmu (misalnya “Katalog Toko Roti”) sebelum mulai Modul 2.</a:t>
            </a:r>
            <a:endParaRPr lang="en-US" sz="1350" dirty="0"/>
          </a:p>
        </p:txBody>
      </p:sp>
      <p:sp>
        <p:nvSpPr>
          <p:cNvPr id="11" name="Shape 9"/>
          <p:cNvSpPr/>
          <p:nvPr/>
        </p:nvSpPr>
        <p:spPr>
          <a:xfrm>
            <a:off x="502920" y="4378260"/>
            <a:ext cx="11183112" cy="1260919"/>
          </a:xfrm>
          <a:prstGeom prst="roundRect">
            <a:avLst>
              <a:gd name="adj" fmla="val 7252"/>
            </a:avLst>
          </a:prstGeom>
          <a:solidFill>
            <a:srgbClr val="F3F0FF"/>
          </a:solidFill>
          <a:ln w="12700">
            <a:solidFill>
              <a:srgbClr val="DCD3FB"/>
            </a:solidFill>
            <a:prstDash val="solid"/>
          </a:ln>
        </p:spPr>
        <p:txBody>
          <a:bodyPr/>
          <a:lstStyle/>
          <a:p>
            <a:endParaRPr lang="en-ID"/>
          </a:p>
        </p:txBody>
      </p:sp>
      <p:sp>
        <p:nvSpPr>
          <p:cNvPr id="12" name="Text 10"/>
          <p:cNvSpPr txBox="1"/>
          <p:nvPr/>
        </p:nvSpPr>
        <p:spPr>
          <a:xfrm>
            <a:off x="704088" y="4542852"/>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KENAPA PROJECT, BUKAN CHAT BIASA</a:t>
            </a:r>
            <a:endParaRPr lang="en-US" sz="1150" dirty="0"/>
          </a:p>
        </p:txBody>
      </p:sp>
      <p:sp>
        <p:nvSpPr>
          <p:cNvPr id="13" name="Text 11"/>
          <p:cNvSpPr txBox="1"/>
          <p:nvPr/>
        </p:nvSpPr>
        <p:spPr>
          <a:xfrm>
            <a:off x="704088" y="4890324"/>
            <a:ext cx="10780776" cy="547687"/>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Project memberi kamu satu tempat untuk menyimpan file referensi (sitemap, daftar produk) yang bisa diakses Claude di percakapan manapun di project itu — gratis, tanpa paket berbayar. Kerjakan semua modul dalam satu percakapan yang sama di dalam Project itu, supaya Claude tetap ingat kerangka desain dan datamu.</a:t>
            </a:r>
            <a:endParaRPr lang="en-US" sz="1150" dirty="0"/>
          </a:p>
        </p:txBody>
      </p:sp>
      <p:sp>
        <p:nvSpPr>
          <p:cNvPr id="14" name="Rounded Rectangle 13"/>
          <p:cNvSpPr/>
          <p:nvPr/>
        </p:nvSpPr>
        <p:spPr>
          <a:xfrm>
            <a:off x="502920" y="2837497"/>
            <a:ext cx="2638044" cy="1312163"/>
          </a:xfrm>
          <a:prstGeom prst="roundRect">
            <a:avLst>
              <a:gd name="adj" fmla="val 6969"/>
            </a:avLst>
          </a:prstGeom>
          <a:solidFill>
            <a:srgbClr val="F4F6FB"/>
          </a:solidFill>
          <a:ln w="12700">
            <a:solidFill>
              <a:srgbClr val="D6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67512" y="2983801"/>
            <a:ext cx="365760" cy="365760"/>
          </a:xfrm>
          <a:prstGeom prst="ellipse">
            <a:avLst/>
          </a:prstGeom>
          <a:solidFill>
            <a:srgbClr val="684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2983801"/>
            <a:ext cx="365760" cy="365760"/>
          </a:xfrm>
          <a:prstGeom prst="rect">
            <a:avLst/>
          </a:prstGeom>
          <a:noFill/>
        </p:spPr>
        <p:txBody>
          <a:bodyPr wrap="square" lIns="0" rIns="0" tIns="0" bIns="0" anchor="ctr">
            <a:spAutoFit/>
          </a:bodyPr>
          <a:lstStyle/>
          <a:p>
            <a:pPr algn="ctr"/>
            <a:r>
              <a:rPr sz="1500" b="1">
                <a:solidFill>
                  <a:srgbClr val="FFFFFF"/>
                </a:solidFill>
                <a:latin typeface="Helvetica"/>
              </a:rPr>
              <a:t>1</a:t>
            </a:r>
          </a:p>
        </p:txBody>
      </p:sp>
      <p:sp>
        <p:nvSpPr>
          <p:cNvPr id="17" name="TextBox 16"/>
          <p:cNvSpPr txBox="1"/>
          <p:nvPr/>
        </p:nvSpPr>
        <p:spPr>
          <a:xfrm>
            <a:off x="667512" y="3441001"/>
            <a:ext cx="2308860" cy="525780"/>
          </a:xfrm>
          <a:prstGeom prst="rect">
            <a:avLst/>
          </a:prstGeom>
          <a:noFill/>
        </p:spPr>
        <p:txBody>
          <a:bodyPr wrap="square" lIns="0" rIns="0" tIns="0" bIns="0">
            <a:spAutoFit/>
          </a:bodyPr>
          <a:lstStyle/>
          <a:p>
            <a:pPr>
              <a:lnSpc>
                <a:spcPct val="120000"/>
              </a:lnSpc>
            </a:pPr>
            <a:r>
              <a:rPr sz="1150" b="0">
                <a:solidFill>
                  <a:srgbClr val="23283A"/>
                </a:solidFill>
                <a:latin typeface="Helvetica"/>
              </a:rPr>
              <a:t>Buka claude.ai, klik "Projects" di sidebar, lalu "+ New Project"</a:t>
            </a:r>
          </a:p>
        </p:txBody>
      </p:sp>
      <p:sp>
        <p:nvSpPr>
          <p:cNvPr id="18" name="Rounded Rectangle 17"/>
          <p:cNvSpPr/>
          <p:nvPr/>
        </p:nvSpPr>
        <p:spPr>
          <a:xfrm>
            <a:off x="3342132" y="2837497"/>
            <a:ext cx="2638044" cy="1312163"/>
          </a:xfrm>
          <a:prstGeom prst="roundRect">
            <a:avLst>
              <a:gd name="adj" fmla="val 6969"/>
            </a:avLst>
          </a:prstGeom>
          <a:solidFill>
            <a:srgbClr val="F4F6FB"/>
          </a:solidFill>
          <a:ln w="12700">
            <a:solidFill>
              <a:srgbClr val="D6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506724" y="2983801"/>
            <a:ext cx="365760" cy="365760"/>
          </a:xfrm>
          <a:prstGeom prst="ellipse">
            <a:avLst/>
          </a:prstGeom>
          <a:solidFill>
            <a:srgbClr val="684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6724" y="2983801"/>
            <a:ext cx="365760" cy="365760"/>
          </a:xfrm>
          <a:prstGeom prst="rect">
            <a:avLst/>
          </a:prstGeom>
          <a:noFill/>
        </p:spPr>
        <p:txBody>
          <a:bodyPr wrap="square" lIns="0" rIns="0" tIns="0" bIns="0" anchor="ctr">
            <a:spAutoFit/>
          </a:bodyPr>
          <a:lstStyle/>
          <a:p>
            <a:pPr algn="ctr"/>
            <a:r>
              <a:rPr sz="1500" b="1">
                <a:solidFill>
                  <a:srgbClr val="FFFFFF"/>
                </a:solidFill>
                <a:latin typeface="Helvetica"/>
              </a:rPr>
              <a:t>2</a:t>
            </a:r>
          </a:p>
        </p:txBody>
      </p:sp>
      <p:sp>
        <p:nvSpPr>
          <p:cNvPr id="21" name="TextBox 20"/>
          <p:cNvSpPr txBox="1"/>
          <p:nvPr/>
        </p:nvSpPr>
        <p:spPr>
          <a:xfrm>
            <a:off x="3506724" y="3441001"/>
            <a:ext cx="2308860" cy="525780"/>
          </a:xfrm>
          <a:prstGeom prst="rect">
            <a:avLst/>
          </a:prstGeom>
          <a:noFill/>
        </p:spPr>
        <p:txBody>
          <a:bodyPr wrap="square" lIns="0" rIns="0" tIns="0" bIns="0">
            <a:spAutoFit/>
          </a:bodyPr>
          <a:lstStyle/>
          <a:p>
            <a:pPr>
              <a:lnSpc>
                <a:spcPct val="120000"/>
              </a:lnSpc>
            </a:pPr>
            <a:r>
              <a:rPr sz="1150" b="0">
                <a:solidFill>
                  <a:srgbClr val="23283A"/>
                </a:solidFill>
                <a:latin typeface="Helvetica"/>
              </a:rPr>
              <a:t>Kasih nama, misalnya "Katalog Toko Roti"</a:t>
            </a:r>
          </a:p>
        </p:txBody>
      </p:sp>
      <p:sp>
        <p:nvSpPr>
          <p:cNvPr id="22" name="Rounded Rectangle 21"/>
          <p:cNvSpPr/>
          <p:nvPr/>
        </p:nvSpPr>
        <p:spPr>
          <a:xfrm>
            <a:off x="6181344" y="2837497"/>
            <a:ext cx="2638044" cy="1312163"/>
          </a:xfrm>
          <a:prstGeom prst="roundRect">
            <a:avLst>
              <a:gd name="adj" fmla="val 6969"/>
            </a:avLst>
          </a:prstGeom>
          <a:solidFill>
            <a:srgbClr val="F4F6FB"/>
          </a:solidFill>
          <a:ln w="12700">
            <a:solidFill>
              <a:srgbClr val="D6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983801"/>
            <a:ext cx="365760" cy="365760"/>
          </a:xfrm>
          <a:prstGeom prst="ellipse">
            <a:avLst/>
          </a:prstGeom>
          <a:solidFill>
            <a:srgbClr val="684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5936" y="2983801"/>
            <a:ext cx="365760" cy="365760"/>
          </a:xfrm>
          <a:prstGeom prst="rect">
            <a:avLst/>
          </a:prstGeom>
          <a:noFill/>
        </p:spPr>
        <p:txBody>
          <a:bodyPr wrap="square" lIns="0" rIns="0" tIns="0" bIns="0" anchor="ctr">
            <a:spAutoFit/>
          </a:bodyPr>
          <a:lstStyle/>
          <a:p>
            <a:pPr algn="ctr"/>
            <a:r>
              <a:rPr sz="1500" b="1">
                <a:solidFill>
                  <a:srgbClr val="FFFFFF"/>
                </a:solidFill>
                <a:latin typeface="Helvetica"/>
              </a:rPr>
              <a:t>3</a:t>
            </a:r>
          </a:p>
        </p:txBody>
      </p:sp>
      <p:sp>
        <p:nvSpPr>
          <p:cNvPr id="25" name="TextBox 24"/>
          <p:cNvSpPr txBox="1"/>
          <p:nvPr/>
        </p:nvSpPr>
        <p:spPr>
          <a:xfrm>
            <a:off x="6345936" y="3441001"/>
            <a:ext cx="2308860" cy="525780"/>
          </a:xfrm>
          <a:prstGeom prst="rect">
            <a:avLst/>
          </a:prstGeom>
          <a:noFill/>
        </p:spPr>
        <p:txBody>
          <a:bodyPr wrap="square" lIns="0" rIns="0" tIns="0" bIns="0">
            <a:spAutoFit/>
          </a:bodyPr>
          <a:lstStyle/>
          <a:p>
            <a:pPr>
              <a:lnSpc>
                <a:spcPct val="120000"/>
              </a:lnSpc>
            </a:pPr>
            <a:r>
              <a:rPr sz="1150" b="0">
                <a:solidFill>
                  <a:srgbClr val="23283A"/>
                </a:solidFill>
                <a:latin typeface="Helvetica"/>
              </a:rPr>
              <a:t>Mulai chat baru di dalam project itu — pakai chat ini untuk semua modul</a:t>
            </a:r>
          </a:p>
        </p:txBody>
      </p:sp>
      <p:sp>
        <p:nvSpPr>
          <p:cNvPr id="26" name="Rounded Rectangle 25"/>
          <p:cNvSpPr/>
          <p:nvPr/>
        </p:nvSpPr>
        <p:spPr>
          <a:xfrm>
            <a:off x="9020556" y="2837497"/>
            <a:ext cx="2638044" cy="1312163"/>
          </a:xfrm>
          <a:prstGeom prst="roundRect">
            <a:avLst>
              <a:gd name="adj" fmla="val 6969"/>
            </a:avLst>
          </a:prstGeom>
          <a:solidFill>
            <a:srgbClr val="F4F6FB"/>
          </a:solidFill>
          <a:ln w="12700">
            <a:solidFill>
              <a:srgbClr val="D6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85148" y="2983801"/>
            <a:ext cx="365760" cy="365760"/>
          </a:xfrm>
          <a:prstGeom prst="ellipse">
            <a:avLst/>
          </a:prstGeom>
          <a:solidFill>
            <a:srgbClr val="684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85148" y="2983801"/>
            <a:ext cx="365760" cy="365760"/>
          </a:xfrm>
          <a:prstGeom prst="rect">
            <a:avLst/>
          </a:prstGeom>
          <a:noFill/>
        </p:spPr>
        <p:txBody>
          <a:bodyPr wrap="square" lIns="0" rIns="0" tIns="0" bIns="0" anchor="ctr">
            <a:spAutoFit/>
          </a:bodyPr>
          <a:lstStyle/>
          <a:p>
            <a:pPr algn="ctr"/>
            <a:r>
              <a:rPr sz="1500" b="1">
                <a:solidFill>
                  <a:srgbClr val="FFFFFF"/>
                </a:solidFill>
                <a:latin typeface="Helvetica"/>
              </a:rPr>
              <a:t>4</a:t>
            </a:r>
          </a:p>
        </p:txBody>
      </p:sp>
      <p:sp>
        <p:nvSpPr>
          <p:cNvPr id="29" name="TextBox 28"/>
          <p:cNvSpPr txBox="1"/>
          <p:nvPr/>
        </p:nvSpPr>
        <p:spPr>
          <a:xfrm>
            <a:off x="9185148" y="3441001"/>
            <a:ext cx="2308860" cy="525780"/>
          </a:xfrm>
          <a:prstGeom prst="rect">
            <a:avLst/>
          </a:prstGeom>
          <a:noFill/>
        </p:spPr>
        <p:txBody>
          <a:bodyPr wrap="square" lIns="0" rIns="0" tIns="0" bIns="0">
            <a:spAutoFit/>
          </a:bodyPr>
          <a:lstStyle/>
          <a:p>
            <a:pPr>
              <a:lnSpc>
                <a:spcPct val="120000"/>
              </a:lnSpc>
            </a:pPr>
            <a:r>
              <a:rPr sz="1150" b="0">
                <a:solidFill>
                  <a:srgbClr val="23283A"/>
                </a:solidFill>
                <a:latin typeface="Helvetica"/>
              </a:rPr>
              <a:t>Nanti, upload sitemap/data produkmu ke project sebagai referensi (opsional)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Ringkasan Modul 1</a:t>
            </a:r>
            <a:endParaRPr lang="en-US" sz="2200" dirty="0"/>
          </a:p>
        </p:txBody>
      </p:sp>
      <p:sp>
        <p:nvSpPr>
          <p:cNvPr id="7" name="Text 5"/>
          <p:cNvSpPr txBox="1"/>
          <p:nvPr/>
        </p:nvSpPr>
        <p:spPr>
          <a:xfrm>
            <a:off x="502920" y="1828800"/>
            <a:ext cx="6949440" cy="3566160"/>
          </a:xfrm>
          <a:prstGeom prst="rect">
            <a:avLst/>
          </a:prstGeom>
          <a:noFill/>
          <a:ln/>
        </p:spPr>
        <p:txBody>
          <a:bodyPr wrap="square" lIns="0" tIns="0" rIns="0" bIns="0" rtlCol="0" anchor="ctr"/>
          <a:lstStyle/>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Situs statis (katalog, portfolio, landing page) bisa dibangun tanpa coding dan tanpa backend</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Checkout, login pelanggan, dan database live belum dibahas di kursus ini — itu topik kursus lanjutan</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Claude memegang peran membangun: struktur, desain, kode, dan troubleshooting — kamu yang mengarahkan</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Skill ini bisa dimonetisasi: tawarkan sebagai jasa ke UMKM lain yang belum punya website</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Studi kasusnya katalog toko roti, tapi metodenya berlaku sama untuk portfolio atau situs lain</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Buat satu Claude Project khusus untuk situsmu sebelum mulai Modul 2 — gratis, dan menjaga semua modul tetap nyambung</a:t>
            </a:r>
            <a:endParaRPr lang="en-US" sz="1300" dirty="0"/>
          </a:p>
        </p:txBody>
      </p:sp>
      <p:sp>
        <p:nvSpPr>
          <p:cNvPr id="8" name="Shape 6"/>
          <p:cNvSpPr/>
          <p:nvPr/>
        </p:nvSpPr>
        <p:spPr>
          <a:xfrm>
            <a:off x="7680960" y="1828800"/>
            <a:ext cx="4005072" cy="1260920"/>
          </a:xfrm>
          <a:prstGeom prst="roundRect">
            <a:avLst>
              <a:gd name="adj" fmla="val 7252"/>
            </a:avLst>
          </a:prstGeom>
          <a:solidFill>
            <a:srgbClr val="F3F0FF"/>
          </a:solidFill>
          <a:ln w="12700">
            <a:solidFill>
              <a:srgbClr val="DCD3FB"/>
            </a:solidFill>
            <a:prstDash val="solid"/>
          </a:ln>
        </p:spPr>
        <p:txBody>
          <a:bodyPr/>
          <a:lstStyle/>
          <a:p>
            <a:endParaRPr lang="en-ID"/>
          </a:p>
        </p:txBody>
      </p:sp>
      <p:sp>
        <p:nvSpPr>
          <p:cNvPr id="9" name="Text 7"/>
          <p:cNvSpPr txBox="1"/>
          <p:nvPr/>
        </p:nvSpPr>
        <p:spPr>
          <a:xfrm>
            <a:off x="7882128" y="1993392"/>
            <a:ext cx="360273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TIPS</a:t>
            </a:r>
            <a:endParaRPr lang="en-US" sz="1150" dirty="0"/>
          </a:p>
        </p:txBody>
      </p:sp>
      <p:sp>
        <p:nvSpPr>
          <p:cNvPr id="10" name="Text 8"/>
          <p:cNvSpPr txBox="1"/>
          <p:nvPr/>
        </p:nvSpPr>
        <p:spPr>
          <a:xfrm>
            <a:off x="7882128" y="2340864"/>
            <a:ext cx="3602736" cy="547688"/>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Tentukan dulu jenis situs yang mau kamu bangun sebelum masuk Modul 2 — keputusan ini kamu pakai di semua modul berikutnya.</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Latihan &amp; Output</a:t>
            </a:r>
            <a:endParaRPr lang="en-US" sz="2200" dirty="0"/>
          </a:p>
        </p:txBody>
      </p:sp>
      <p:sp>
        <p:nvSpPr>
          <p:cNvPr id="7" name="Text 5"/>
          <p:cNvSpPr txBox="1"/>
          <p:nvPr/>
        </p:nvSpPr>
        <p:spPr>
          <a:xfrm>
            <a:off x="502920" y="1920240"/>
            <a:ext cx="11183112"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CONTOH PROMPT UNTUK MEMULAI</a:t>
            </a:r>
            <a:endParaRPr lang="en-US" sz="1250" dirty="0"/>
          </a:p>
        </p:txBody>
      </p:sp>
      <p:sp>
        <p:nvSpPr>
          <p:cNvPr id="8" name="Shape 6"/>
          <p:cNvSpPr/>
          <p:nvPr/>
        </p:nvSpPr>
        <p:spPr>
          <a:xfrm>
            <a:off x="502920" y="2231136"/>
            <a:ext cx="11183112" cy="1021461"/>
          </a:xfrm>
          <a:prstGeom prst="roundRect">
            <a:avLst>
              <a:gd name="adj" fmla="val 7162"/>
            </a:avLst>
          </a:prstGeom>
          <a:solidFill>
            <a:srgbClr val="0D1321"/>
          </a:solidFill>
          <a:ln/>
        </p:spPr>
        <p:txBody>
          <a:bodyPr/>
          <a:lstStyle/>
          <a:p>
            <a:endParaRPr lang="en-ID"/>
          </a:p>
        </p:txBody>
      </p:sp>
      <p:sp>
        <p:nvSpPr>
          <p:cNvPr id="9" name="Text 7"/>
          <p:cNvSpPr txBox="1"/>
          <p:nvPr/>
        </p:nvSpPr>
        <p:spPr>
          <a:xfrm>
            <a:off x="731520" y="2432304"/>
            <a:ext cx="10725912" cy="619125"/>
          </a:xfrm>
          <a:prstGeom prst="rect">
            <a:avLst/>
          </a:prstGeom>
          <a:noFill/>
          <a:ln/>
        </p:spPr>
        <p:txBody>
          <a:bodyPr wrap="square" lIns="0" tIns="0" rIns="0" bIns="0" rtlCol="0" anchor="ctr"/>
          <a:lstStyle/>
          <a:p>
            <a:pPr marL="0" indent="0">
              <a:lnSpc>
                <a:spcPct val="130000"/>
              </a:lnSpc>
              <a:buNone/>
            </a:pPr>
            <a:r>
              <a:rPr lang="en-US" sz="1250" i="1" dirty="0">
                <a:solidFill>
                  <a:srgbClr val="FFFFFF"/>
                </a:solidFill>
                <a:latin typeface="Helvetica" pitchFamily="34" charset="0"/>
                <a:ea typeface="Helvetica" pitchFamily="34" charset="-122"/>
                <a:cs typeface="Helvetica" pitchFamily="34" charset="-120"/>
              </a:rPr>
              <a:t>Saya mau bikin [katalog online untuk toko saya / portfolio pribadi / landing page bisnis]. Ini gambaran singkatnya: [jelaskan jenis produk/jasa, atau jenis portfolio yang kamu mau]. Target pengunjungnya adalah [siapa]. Bantu saya pikirkan: halaman apa saja yang kira-kira saya butuhkan?</a:t>
            </a:r>
            <a:endParaRPr lang="en-US" sz="1250" dirty="0"/>
          </a:p>
        </p:txBody>
      </p:sp>
      <p:sp>
        <p:nvSpPr>
          <p:cNvPr id="10" name="Shape 8"/>
          <p:cNvSpPr/>
          <p:nvPr/>
        </p:nvSpPr>
        <p:spPr>
          <a:xfrm>
            <a:off x="502920" y="3481197"/>
            <a:ext cx="11183112" cy="1183640"/>
          </a:xfrm>
          <a:prstGeom prst="roundRect">
            <a:avLst>
              <a:gd name="adj" fmla="val 9270"/>
            </a:avLst>
          </a:prstGeom>
          <a:solidFill>
            <a:srgbClr val="EAFAF0"/>
          </a:solidFill>
          <a:ln w="12700">
            <a:solidFill>
              <a:srgbClr val="B8E6C9"/>
            </a:solidFill>
            <a:prstDash val="solid"/>
          </a:ln>
        </p:spPr>
        <p:txBody>
          <a:bodyPr/>
          <a:lstStyle/>
          <a:p>
            <a:endParaRPr lang="en-ID"/>
          </a:p>
        </p:txBody>
      </p:sp>
      <p:sp>
        <p:nvSpPr>
          <p:cNvPr id="11" name="Text 9"/>
          <p:cNvSpPr txBox="1"/>
          <p:nvPr/>
        </p:nvSpPr>
        <p:spPr>
          <a:xfrm>
            <a:off x="740664" y="3664077"/>
            <a:ext cx="10707624" cy="274320"/>
          </a:xfrm>
          <a:prstGeom prst="rect">
            <a:avLst/>
          </a:prstGeom>
          <a:noFill/>
          <a:ln/>
        </p:spPr>
        <p:txBody>
          <a:bodyPr wrap="square" lIns="0" tIns="0" rIns="0" bIns="0" rtlCol="0" anchor="ctr"/>
          <a:lstStyle/>
          <a:p>
            <a:pPr marL="0" indent="0">
              <a:buNone/>
            </a:pPr>
            <a:r>
              <a:rPr lang="en-US" sz="1250" b="1" kern="0" spc="30" dirty="0">
                <a:solidFill>
                  <a:srgbClr val="1A7A44"/>
                </a:solidFill>
                <a:latin typeface="Helvetica" pitchFamily="34" charset="0"/>
                <a:ea typeface="Helvetica" pitchFamily="34" charset="-122"/>
                <a:cs typeface="Helvetica" pitchFamily="34" charset="-120"/>
              </a:rPr>
              <a:t>■ LATIHAN</a:t>
            </a:r>
            <a:endParaRPr lang="en-US" sz="1250" dirty="0"/>
          </a:p>
        </p:txBody>
      </p:sp>
      <p:sp>
        <p:nvSpPr>
          <p:cNvPr id="12" name="Text 10"/>
          <p:cNvSpPr txBox="1"/>
          <p:nvPr/>
        </p:nvSpPr>
        <p:spPr>
          <a:xfrm>
            <a:off x="740664" y="4029837"/>
            <a:ext cx="10707624" cy="406400"/>
          </a:xfrm>
          <a:prstGeom prst="rect">
            <a:avLst/>
          </a:prstGeom>
          <a:noFill/>
          <a:ln/>
        </p:spPr>
        <p:txBody>
          <a:bodyPr wrap="square" lIns="0" tIns="0" rIns="0" bIns="0" rtlCol="0" anchor="ctr"/>
          <a:lstStyle/>
          <a:p>
            <a:pPr marL="0" indent="0">
              <a:lnSpc>
                <a:spcPct val="128000"/>
              </a:lnSpc>
              <a:buNone/>
            </a:pPr>
            <a:r>
              <a:rPr lang="en-US" sz="1250" dirty="0">
                <a:solidFill>
                  <a:srgbClr val="23283A"/>
                </a:solidFill>
                <a:latin typeface="Helvetica" pitchFamily="34" charset="0"/>
                <a:ea typeface="Helvetica" pitchFamily="34" charset="-122"/>
                <a:cs typeface="Helvetica" pitchFamily="34" charset="-120"/>
              </a:rPr>
              <a:t>Tentukan dulu: kalau kamu mau ikut studi kasus katalog toko, siapkan jenis produk yang mau dikatalogkan. Kalau kamu mau bikin portfolio atau situs lain, tentukan tujuannya sekarang. Lalu kirim prompt di atas ke Claude (isi bagian dalam kurung siku sesuai situasimu).</a:t>
            </a:r>
            <a:endParaRPr lang="en-US" sz="1250" dirty="0"/>
          </a:p>
        </p:txBody>
      </p:sp>
      <p:sp>
        <p:nvSpPr>
          <p:cNvPr id="13" name="Shape 11"/>
          <p:cNvSpPr/>
          <p:nvPr/>
        </p:nvSpPr>
        <p:spPr>
          <a:xfrm>
            <a:off x="502920" y="4893437"/>
            <a:ext cx="11183112" cy="1042099"/>
          </a:xfrm>
          <a:prstGeom prst="roundRect">
            <a:avLst>
              <a:gd name="adj" fmla="val 10530"/>
            </a:avLst>
          </a:prstGeom>
          <a:solidFill>
            <a:srgbClr val="F4F6FB"/>
          </a:solidFill>
          <a:ln w="12700">
            <a:solidFill>
              <a:srgbClr val="D6DCEB"/>
            </a:solidFill>
            <a:prstDash val="solid"/>
          </a:ln>
        </p:spPr>
        <p:txBody>
          <a:bodyPr/>
          <a:lstStyle/>
          <a:p>
            <a:endParaRPr lang="en-ID"/>
          </a:p>
        </p:txBody>
      </p:sp>
      <p:sp>
        <p:nvSpPr>
          <p:cNvPr id="14" name="Shape 12"/>
          <p:cNvSpPr/>
          <p:nvPr/>
        </p:nvSpPr>
        <p:spPr>
          <a:xfrm>
            <a:off x="722376" y="5076317"/>
            <a:ext cx="365760" cy="365760"/>
          </a:xfrm>
          <a:prstGeom prst="ellipse">
            <a:avLst/>
          </a:prstGeom>
          <a:solidFill>
            <a:srgbClr val="6849F6"/>
          </a:solidFill>
          <a:ln/>
        </p:spPr>
        <p:txBody>
          <a:bodyPr/>
          <a:lstStyle/>
          <a:p>
            <a:endParaRPr lang="en-ID"/>
          </a:p>
        </p:txBody>
      </p:sp>
      <p:sp>
        <p:nvSpPr>
          <p:cNvPr id="15" name="Text 13"/>
          <p:cNvSpPr txBox="1"/>
          <p:nvPr/>
        </p:nvSpPr>
        <p:spPr>
          <a:xfrm>
            <a:off x="722376" y="5076317"/>
            <a:ext cx="36576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Helvetica" pitchFamily="34" charset="0"/>
                <a:ea typeface="Helvetica" pitchFamily="34" charset="-122"/>
                <a:cs typeface="Helvetica" pitchFamily="34" charset="-120"/>
              </a:rPr>
              <a:t>✓</a:t>
            </a:r>
            <a:endParaRPr lang="en-US" sz="1600" dirty="0"/>
          </a:p>
        </p:txBody>
      </p:sp>
      <p:sp>
        <p:nvSpPr>
          <p:cNvPr id="16" name="Text 14"/>
          <p:cNvSpPr txBox="1"/>
          <p:nvPr/>
        </p:nvSpPr>
        <p:spPr>
          <a:xfrm>
            <a:off x="1234440" y="5149469"/>
            <a:ext cx="10268712" cy="274320"/>
          </a:xfrm>
          <a:prstGeom prst="rect">
            <a:avLst/>
          </a:prstGeom>
          <a:noFill/>
          <a:ln/>
        </p:spPr>
        <p:txBody>
          <a:bodyPr wrap="square" lIns="0" tIns="0" rIns="0" bIns="0" rtlCol="0" anchor="ctr"/>
          <a:lstStyle/>
          <a:p>
            <a:pPr marL="0" indent="0">
              <a:buNone/>
            </a:pPr>
            <a:r>
              <a:rPr lang="en-US" sz="1250" b="1" dirty="0">
                <a:solidFill>
                  <a:srgbClr val="23283A"/>
                </a:solidFill>
                <a:latin typeface="Helvetica" pitchFamily="34" charset="0"/>
                <a:ea typeface="Helvetica" pitchFamily="34" charset="-122"/>
                <a:cs typeface="Helvetica" pitchFamily="34" charset="-120"/>
              </a:rPr>
              <a:t>Output yang Diharapkan</a:t>
            </a:r>
            <a:endParaRPr lang="en-US" sz="1250" dirty="0"/>
          </a:p>
        </p:txBody>
      </p:sp>
      <p:sp>
        <p:nvSpPr>
          <p:cNvPr id="17" name="Text 15"/>
          <p:cNvSpPr txBox="1"/>
          <p:nvPr/>
        </p:nvSpPr>
        <p:spPr>
          <a:xfrm>
            <a:off x="722376" y="5551805"/>
            <a:ext cx="10744200" cy="182563"/>
          </a:xfrm>
          <a:prstGeom prst="rect">
            <a:avLst/>
          </a:prstGeom>
          <a:noFill/>
          <a:ln/>
        </p:spPr>
        <p:txBody>
          <a:bodyPr wrap="square" lIns="0" tIns="0" rIns="0" bIns="0" rtlCol="0" anchor="ctr"/>
          <a:lstStyle/>
          <a:p>
            <a:pPr marL="0" indent="0">
              <a:lnSpc>
                <a:spcPct val="125000"/>
              </a:lnSpc>
              <a:buNone/>
            </a:pPr>
            <a:r>
              <a:rPr lang="en-US" sz="1150" dirty="0">
                <a:solidFill>
                  <a:srgbClr val="6B7280"/>
                </a:solidFill>
                <a:latin typeface="Helvetica" pitchFamily="34" charset="0"/>
                <a:ea typeface="Helvetica" pitchFamily="34" charset="-122"/>
                <a:cs typeface="Helvetica" pitchFamily="34" charset="-120"/>
              </a:rPr>
              <a:t>Satu brief singkat: jenis situs yang mau kamu bangun, target pengunjung, dan draft daftar halaman yang dibutuhkan. Ini jadi fondasi buat Modul 2.</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771</Words>
  <Application>Microsoft Office PowerPoint</Application>
  <PresentationFormat>Widescreen</PresentationFormat>
  <Paragraphs>70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 Utomo</cp:lastModifiedBy>
  <cp:revision>2</cp:revision>
  <dcterms:created xsi:type="dcterms:W3CDTF">2026-08-31T11:15:31Z</dcterms:created>
  <dcterms:modified xsi:type="dcterms:W3CDTF">2026-09-01T06:09:31Z</dcterms:modified>
</cp:coreProperties>
</file>