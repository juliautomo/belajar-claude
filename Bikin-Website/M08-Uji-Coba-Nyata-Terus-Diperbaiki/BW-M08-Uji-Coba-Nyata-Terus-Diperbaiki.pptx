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321"/>
        </a:solidFill>
      </p:bgPr>
    </p:bg>
    <p:spTree>
      <p:nvGrpSpPr>
        <p:cNvPr id="1" name=""/>
        <p:cNvGrpSpPr/>
        <p:nvPr/>
      </p:nvGrpSpPr>
      <p:grpSpPr>
        <a:xfrm>
          <a:off x="0" y="0"/>
          <a:ext cx="0" cy="0"/>
          <a:chOff x="0" y="0"/>
          <a:chExt cx="0" cy="0"/>
        </a:xfrm>
      </p:grpSpPr>
      <p:sp>
        <p:nvSpPr>
          <p:cNvPr id="2" name="Shape 0"/>
          <p:cNvSpPr/>
          <p:nvPr/>
        </p:nvSpPr>
        <p:spPr>
          <a:xfrm>
            <a:off x="8138160" y="0"/>
            <a:ext cx="4053535" cy="6858000"/>
          </a:xfrm>
          <a:prstGeom prst="rect">
            <a:avLst/>
          </a:prstGeom>
          <a:solidFill>
            <a:srgbClr val="141D33"/>
          </a:solidFill>
          <a:ln/>
        </p:spPr>
      </p:sp>
      <p:sp>
        <p:nvSpPr>
          <p:cNvPr id="3" name="Text 1"/>
          <p:cNvSpPr txBox="1"/>
          <p:nvPr/>
        </p:nvSpPr>
        <p:spPr>
          <a:xfrm>
            <a:off x="640080" y="502920"/>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4" name="Shape 2"/>
          <p:cNvSpPr/>
          <p:nvPr/>
        </p:nvSpPr>
        <p:spPr>
          <a:xfrm>
            <a:off x="9921240" y="502920"/>
            <a:ext cx="1691640" cy="420624"/>
          </a:xfrm>
          <a:prstGeom prst="roundRect">
            <a:avLst>
              <a:gd name="adj" fmla="val 21739"/>
            </a:avLst>
          </a:prstGeom>
          <a:solidFill>
            <a:srgbClr val="6849F6"/>
          </a:solidFill>
          <a:ln/>
        </p:spPr>
      </p:sp>
      <p:sp>
        <p:nvSpPr>
          <p:cNvPr id="5" name="Text 3"/>
          <p:cNvSpPr txBox="1"/>
          <p:nvPr/>
        </p:nvSpPr>
        <p:spPr>
          <a:xfrm>
            <a:off x="9921240" y="502920"/>
            <a:ext cx="1691640"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Helvetica" pitchFamily="34" charset="0"/>
                <a:ea typeface="Helvetica" pitchFamily="34" charset="-122"/>
                <a:cs typeface="Helvetica" pitchFamily="34" charset="-120"/>
              </a:rPr>
              <a:t>MODUL 8</a:t>
            </a:r>
            <a:endParaRPr lang="en-US" sz="1300" dirty="0"/>
          </a:p>
        </p:txBody>
      </p:sp>
      <p:sp>
        <p:nvSpPr>
          <p:cNvPr id="6" name="Text 4"/>
          <p:cNvSpPr txBox="1"/>
          <p:nvPr/>
        </p:nvSpPr>
        <p:spPr>
          <a:xfrm>
            <a:off x="640080" y="2697480"/>
            <a:ext cx="7132320" cy="1371600"/>
          </a:xfrm>
          <a:prstGeom prst="rect">
            <a:avLst/>
          </a:prstGeom>
          <a:noFill/>
          <a:ln/>
        </p:spPr>
        <p:txBody>
          <a:bodyPr wrap="square" lIns="0" tIns="0" rIns="0" bIns="0" rtlCol="0" anchor="b"/>
          <a:lstStyle/>
          <a:p>
            <a:pPr indent="0" marL="0">
              <a:lnSpc>
                <a:spcPts val="5000"/>
              </a:lnSpc>
              <a:buNone/>
            </a:pPr>
            <a:r>
              <a:rPr lang="en-US" sz="4400" b="1" dirty="0">
                <a:solidFill>
                  <a:srgbClr val="FFFFFF"/>
                </a:solidFill>
                <a:latin typeface="Helvetica" pitchFamily="34" charset="0"/>
                <a:ea typeface="Helvetica" pitchFamily="34" charset="-122"/>
                <a:cs typeface="Helvetica" pitchFamily="34" charset="-120"/>
              </a:rPr>
              <a:t>Uji Coba Nyata &amp;</a:t>
            </a:r>
            <a:endParaRPr lang="en-US" sz="4400" dirty="0"/>
          </a:p>
          <a:p>
            <a:pPr indent="0" marL="0">
              <a:lnSpc>
                <a:spcPts val="5000"/>
              </a:lnSpc>
              <a:buNone/>
            </a:pPr>
            <a:r>
              <a:rPr lang="en-US" sz="4400" b="1" dirty="0">
                <a:solidFill>
                  <a:srgbClr val="FFFFFF"/>
                </a:solidFill>
                <a:latin typeface="Helvetica" pitchFamily="34" charset="0"/>
                <a:ea typeface="Helvetica" pitchFamily="34" charset="-122"/>
                <a:cs typeface="Helvetica" pitchFamily="34" charset="-120"/>
              </a:rPr>
              <a:t>Terus Diperbaiki</a:t>
            </a:r>
            <a:endParaRPr lang="en-US" sz="4400" dirty="0"/>
          </a:p>
        </p:txBody>
      </p:sp>
      <p:sp>
        <p:nvSpPr>
          <p:cNvPr id="7" name="Text 5"/>
          <p:cNvSpPr txBox="1"/>
          <p:nvPr/>
        </p:nvSpPr>
        <p:spPr>
          <a:xfrm>
            <a:off x="640080" y="4325112"/>
            <a:ext cx="6949440" cy="822960"/>
          </a:xfrm>
          <a:prstGeom prst="rect">
            <a:avLst/>
          </a:prstGeom>
          <a:noFill/>
          <a:ln/>
        </p:spPr>
        <p:txBody>
          <a:bodyPr wrap="square" lIns="0" tIns="0" rIns="0" bIns="0" rtlCol="0" anchor="ctr"/>
          <a:lstStyle/>
          <a:p>
            <a:pPr indent="0" marL="0">
              <a:lnSpc>
                <a:spcPct val="130000"/>
              </a:lnSpc>
              <a:buNone/>
            </a:pPr>
            <a:r>
              <a:rPr lang="en-US" sz="1550" dirty="0">
                <a:solidFill>
                  <a:srgbClr val="B7C0D8"/>
                </a:solidFill>
                <a:latin typeface="Helvetica" pitchFamily="34" charset="0"/>
                <a:ea typeface="Helvetica" pitchFamily="34" charset="-122"/>
                <a:cs typeface="Helvetica" pitchFamily="34" charset="-120"/>
              </a:rPr>
              <a:t>Cek langsung di HP asli, minta orang lain coba, sapu bersih, dan rencana ke depan</a:t>
            </a:r>
            <a:endParaRPr lang="en-US" sz="1550" dirty="0"/>
          </a:p>
        </p:txBody>
      </p:sp>
      <p:sp>
        <p:nvSpPr>
          <p:cNvPr id="8" name="Text 6"/>
          <p:cNvSpPr txBox="1"/>
          <p:nvPr/>
        </p:nvSpPr>
        <p:spPr>
          <a:xfrm>
            <a:off x="640080" y="6263640"/>
            <a:ext cx="7315200" cy="365760"/>
          </a:xfrm>
          <a:prstGeom prst="rect">
            <a:avLst/>
          </a:prstGeom>
          <a:noFill/>
          <a:ln/>
        </p:spPr>
        <p:txBody>
          <a:bodyPr wrap="square" lIns="0" tIns="0" rIns="0" bIns="0" rtlCol="0" anchor="ctr"/>
          <a:lstStyle/>
          <a:p>
            <a:pPr indent="0" marL="0">
              <a:buNone/>
            </a:pPr>
            <a:r>
              <a:rPr lang="en-US" sz="1150" dirty="0">
                <a:solidFill>
                  <a:srgbClr val="9AA2B4"/>
                </a:solidFill>
                <a:latin typeface="Helvetica" pitchFamily="34" charset="0"/>
                <a:ea typeface="Helvetica" pitchFamily="34" charset="-122"/>
                <a:cs typeface="Helvetica" pitchFamily="34" charset="-120"/>
              </a:rPr>
              <a:t>Bikin Website Sendiri Tanpa Coding · Studi Kasus Katalog Toko Roti Online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8 — Uji Coba Nyata &amp; Terus Diperbaiki</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Cek di HP Asli &amp; Sapu Bersih Terakhir</a:t>
            </a:r>
            <a:endParaRPr lang="en-US" sz="2200" dirty="0"/>
          </a:p>
        </p:txBody>
      </p:sp>
      <p:sp>
        <p:nvSpPr>
          <p:cNvPr id="7" name="Text 5"/>
          <p:cNvSpPr txBox="1"/>
          <p:nvPr/>
        </p:nvSpPr>
        <p:spPr>
          <a:xfrm>
            <a:off x="502920" y="1828800"/>
            <a:ext cx="1115568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CEK DI HP ASLI</a:t>
            </a:r>
            <a:endParaRPr lang="en-US" sz="1250" dirty="0"/>
          </a:p>
        </p:txBody>
      </p:sp>
      <p:sp>
        <p:nvSpPr>
          <p:cNvPr id="8" name="Text 6"/>
          <p:cNvSpPr txBox="1"/>
          <p:nvPr/>
        </p:nvSpPr>
        <p:spPr>
          <a:xfrm>
            <a:off x="502920" y="2148840"/>
            <a:ext cx="11155680" cy="914400"/>
          </a:xfrm>
          <a:prstGeom prst="rect">
            <a:avLst/>
          </a:prstGeom>
          <a:noFill/>
          <a:ln/>
        </p:spPr>
        <p:txBody>
          <a:bodyPr wrap="square" lIns="0" tIns="0" rIns="0" bIns="0" rtlCol="0" anchor="ctr"/>
          <a:lstStyle/>
          <a:p>
            <a:pPr indent="0" marL="0">
              <a:lnSpc>
                <a:spcPct val="125000"/>
              </a:lnSpc>
              <a:buNone/>
            </a:pPr>
            <a:r>
              <a:rPr lang="en-US" sz="1350" dirty="0">
                <a:solidFill>
                  <a:srgbClr val="23283A"/>
                </a:solidFill>
                <a:latin typeface="Helvetica" pitchFamily="34" charset="0"/>
                <a:ea typeface="Helvetica" pitchFamily="34" charset="-122"/>
                <a:cs typeface="Helvetica" pitchFamily="34" charset="-120"/>
              </a:rPr>
              <a:t>Sekarang situsmu sudah punya URL sungguhan — buka langsung dari HP-mu sendiri. Ini baru benar-benar tes tampilan mobile, bukan sekadar preview di Artifact. Perhatikan teks yang kepotong, tombol yang kekecilan, atau grid produk yang berantakan di layar sempit.</a:t>
            </a:r>
            <a:endParaRPr lang="en-US" sz="1350" dirty="0"/>
          </a:p>
        </p:txBody>
      </p:sp>
      <p:sp>
        <p:nvSpPr>
          <p:cNvPr id="9" name="Text 7"/>
          <p:cNvSpPr txBox="1"/>
          <p:nvPr/>
        </p:nvSpPr>
        <p:spPr>
          <a:xfrm>
            <a:off x="502920" y="3200400"/>
            <a:ext cx="11155680"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SAPU BERSIH TERAKHIR</a:t>
            </a:r>
            <a:endParaRPr lang="en-US" sz="1250" dirty="0"/>
          </a:p>
        </p:txBody>
      </p:sp>
      <p:sp>
        <p:nvSpPr>
          <p:cNvPr id="10" name="Text 8"/>
          <p:cNvSpPr txBox="1"/>
          <p:nvPr/>
        </p:nvSpPr>
        <p:spPr>
          <a:xfrm>
            <a:off x="502920" y="3502152"/>
            <a:ext cx="11155680" cy="274320"/>
          </a:xfrm>
          <a:prstGeom prst="rect">
            <a:avLst/>
          </a:prstGeom>
          <a:noFill/>
          <a:ln/>
        </p:spPr>
        <p:txBody>
          <a:bodyPr wrap="square" lIns="0" tIns="0" rIns="0" bIns="0" rtlCol="0" anchor="ctr"/>
          <a:lstStyle/>
          <a:p>
            <a:pPr indent="0" marL="0">
              <a:lnSpc>
                <a:spcPct val="125000"/>
              </a:lnSpc>
              <a:buNone/>
            </a:pPr>
            <a:r>
              <a:rPr lang="en-US" sz="1350" dirty="0">
                <a:solidFill>
                  <a:srgbClr val="23283A"/>
                </a:solidFill>
                <a:latin typeface="Helvetica" pitchFamily="34" charset="0"/>
                <a:ea typeface="Helvetica" pitchFamily="34" charset="-122"/>
                <a:cs typeface="Helvetica" pitchFamily="34" charset="-120"/>
              </a:rPr>
              <a:t>Cek satu per satu langsung di situs yang sudah live:</a:t>
            </a:r>
            <a:endParaRPr lang="en-US" sz="1350" dirty="0"/>
          </a:p>
        </p:txBody>
      </p:sp>
      <p:sp>
        <p:nvSpPr>
          <p:cNvPr id="11" name="Shape 9"/>
          <p:cNvSpPr/>
          <p:nvPr/>
        </p:nvSpPr>
        <p:spPr>
          <a:xfrm>
            <a:off x="502920" y="3840480"/>
            <a:ext cx="2644902" cy="1312164"/>
          </a:xfrm>
          <a:prstGeom prst="roundRect">
            <a:avLst>
              <a:gd name="adj" fmla="val 6969"/>
            </a:avLst>
          </a:prstGeom>
          <a:solidFill>
            <a:srgbClr val="F4F6FB"/>
          </a:solidFill>
          <a:ln w="12700">
            <a:solidFill>
              <a:srgbClr val="D6DCEB"/>
            </a:solidFill>
            <a:prstDash val="solid"/>
          </a:ln>
        </p:spPr>
      </p:sp>
      <p:sp>
        <p:nvSpPr>
          <p:cNvPr id="12" name="Shape 10"/>
          <p:cNvSpPr/>
          <p:nvPr/>
        </p:nvSpPr>
        <p:spPr>
          <a:xfrm>
            <a:off x="667512" y="3986784"/>
            <a:ext cx="365760" cy="365760"/>
          </a:xfrm>
          <a:prstGeom prst="ellipse">
            <a:avLst/>
          </a:prstGeom>
          <a:solidFill>
            <a:srgbClr val="6849F6"/>
          </a:solidFill>
          <a:ln/>
        </p:spPr>
      </p:sp>
      <p:sp>
        <p:nvSpPr>
          <p:cNvPr id="13" name="Text 11"/>
          <p:cNvSpPr txBox="1"/>
          <p:nvPr/>
        </p:nvSpPr>
        <p:spPr>
          <a:xfrm>
            <a:off x="667512" y="398678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Helvetica" pitchFamily="34" charset="0"/>
                <a:ea typeface="Helvetica" pitchFamily="34" charset="-122"/>
                <a:cs typeface="Helvetica" pitchFamily="34" charset="-120"/>
              </a:rPr>
              <a:t>1</a:t>
            </a:r>
            <a:endParaRPr lang="en-US" sz="1500" dirty="0"/>
          </a:p>
        </p:txBody>
      </p:sp>
      <p:sp>
        <p:nvSpPr>
          <p:cNvPr id="14" name="Text 12"/>
          <p:cNvSpPr txBox="1"/>
          <p:nvPr/>
        </p:nvSpPr>
        <p:spPr>
          <a:xfrm>
            <a:off x="667512" y="4443984"/>
            <a:ext cx="2315718" cy="525780"/>
          </a:xfrm>
          <a:prstGeom prst="rect">
            <a:avLst/>
          </a:prstGeom>
          <a:noFill/>
          <a:ln/>
        </p:spPr>
        <p:txBody>
          <a:bodyPr wrap="square" lIns="0" tIns="0" rIns="0" bIns="0" rtlCol="0" anchor="ctr"/>
          <a:lstStyle/>
          <a:p>
            <a:pPr indent="0" marL="0">
              <a:lnSpc>
                <a:spcPct val="120000"/>
              </a:lnSpc>
              <a:buNone/>
            </a:pPr>
            <a:r>
              <a:rPr lang="en-US" sz="1150" dirty="0">
                <a:solidFill>
                  <a:srgbClr val="23283A"/>
                </a:solidFill>
                <a:latin typeface="Helvetica" pitchFamily="34" charset="0"/>
                <a:ea typeface="Helvetica" pitchFamily="34" charset="-122"/>
                <a:cs typeface="Helvetica" pitchFamily="34" charset="-120"/>
              </a:rPr>
              <a:t>Link WhatsApp salah nomor — pengunjung order tapi pesannya nyasar</a:t>
            </a:r>
            <a:endParaRPr lang="en-US" sz="1150" dirty="0"/>
          </a:p>
        </p:txBody>
      </p:sp>
      <p:sp>
        <p:nvSpPr>
          <p:cNvPr id="15" name="Shape 13"/>
          <p:cNvSpPr/>
          <p:nvPr/>
        </p:nvSpPr>
        <p:spPr>
          <a:xfrm>
            <a:off x="3348990" y="3840480"/>
            <a:ext cx="2644902" cy="1312164"/>
          </a:xfrm>
          <a:prstGeom prst="roundRect">
            <a:avLst>
              <a:gd name="adj" fmla="val 6969"/>
            </a:avLst>
          </a:prstGeom>
          <a:solidFill>
            <a:srgbClr val="F4F6FB"/>
          </a:solidFill>
          <a:ln w="12700">
            <a:solidFill>
              <a:srgbClr val="D6DCEB"/>
            </a:solidFill>
            <a:prstDash val="solid"/>
          </a:ln>
        </p:spPr>
      </p:sp>
      <p:sp>
        <p:nvSpPr>
          <p:cNvPr id="16" name="Shape 14"/>
          <p:cNvSpPr/>
          <p:nvPr/>
        </p:nvSpPr>
        <p:spPr>
          <a:xfrm>
            <a:off x="3513582" y="3986784"/>
            <a:ext cx="365760" cy="365760"/>
          </a:xfrm>
          <a:prstGeom prst="ellipse">
            <a:avLst/>
          </a:prstGeom>
          <a:solidFill>
            <a:srgbClr val="6849F6"/>
          </a:solidFill>
          <a:ln/>
        </p:spPr>
      </p:sp>
      <p:sp>
        <p:nvSpPr>
          <p:cNvPr id="17" name="Text 15"/>
          <p:cNvSpPr txBox="1"/>
          <p:nvPr/>
        </p:nvSpPr>
        <p:spPr>
          <a:xfrm>
            <a:off x="3513582" y="398678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Helvetica" pitchFamily="34" charset="0"/>
                <a:ea typeface="Helvetica" pitchFamily="34" charset="-122"/>
                <a:cs typeface="Helvetica" pitchFamily="34" charset="-120"/>
              </a:rPr>
              <a:t>2</a:t>
            </a:r>
            <a:endParaRPr lang="en-US" sz="1500" dirty="0"/>
          </a:p>
        </p:txBody>
      </p:sp>
      <p:sp>
        <p:nvSpPr>
          <p:cNvPr id="18" name="Text 16"/>
          <p:cNvSpPr txBox="1"/>
          <p:nvPr/>
        </p:nvSpPr>
        <p:spPr>
          <a:xfrm>
            <a:off x="3513582" y="4443984"/>
            <a:ext cx="2315718" cy="525780"/>
          </a:xfrm>
          <a:prstGeom prst="rect">
            <a:avLst/>
          </a:prstGeom>
          <a:noFill/>
          <a:ln/>
        </p:spPr>
        <p:txBody>
          <a:bodyPr wrap="square" lIns="0" tIns="0" rIns="0" bIns="0" rtlCol="0" anchor="ctr"/>
          <a:lstStyle/>
          <a:p>
            <a:pPr indent="0" marL="0">
              <a:lnSpc>
                <a:spcPct val="120000"/>
              </a:lnSpc>
              <a:buNone/>
            </a:pPr>
            <a:r>
              <a:rPr lang="en-US" sz="1150" dirty="0">
                <a:solidFill>
                  <a:srgbClr val="23283A"/>
                </a:solidFill>
                <a:latin typeface="Helvetica" pitchFamily="34" charset="0"/>
                <a:ea typeface="Helvetica" pitchFamily="34" charset="-122"/>
                <a:cs typeface="Helvetica" pitchFamily="34" charset="-120"/>
              </a:rPr>
              <a:t>Harga belum diisi atau salah ketik — bikin bingung calon pembeli</a:t>
            </a:r>
            <a:endParaRPr lang="en-US" sz="1150" dirty="0"/>
          </a:p>
        </p:txBody>
      </p:sp>
      <p:sp>
        <p:nvSpPr>
          <p:cNvPr id="19" name="Shape 17"/>
          <p:cNvSpPr/>
          <p:nvPr/>
        </p:nvSpPr>
        <p:spPr>
          <a:xfrm>
            <a:off x="6195060" y="3840480"/>
            <a:ext cx="2644902" cy="1312164"/>
          </a:xfrm>
          <a:prstGeom prst="roundRect">
            <a:avLst>
              <a:gd name="adj" fmla="val 6969"/>
            </a:avLst>
          </a:prstGeom>
          <a:solidFill>
            <a:srgbClr val="F4F6FB"/>
          </a:solidFill>
          <a:ln w="12700">
            <a:solidFill>
              <a:srgbClr val="D6DCEB"/>
            </a:solidFill>
            <a:prstDash val="solid"/>
          </a:ln>
        </p:spPr>
      </p:sp>
      <p:sp>
        <p:nvSpPr>
          <p:cNvPr id="20" name="Shape 18"/>
          <p:cNvSpPr/>
          <p:nvPr/>
        </p:nvSpPr>
        <p:spPr>
          <a:xfrm>
            <a:off x="6359652" y="3986784"/>
            <a:ext cx="365760" cy="365760"/>
          </a:xfrm>
          <a:prstGeom prst="ellipse">
            <a:avLst/>
          </a:prstGeom>
          <a:solidFill>
            <a:srgbClr val="6849F6"/>
          </a:solidFill>
          <a:ln/>
        </p:spPr>
      </p:sp>
      <p:sp>
        <p:nvSpPr>
          <p:cNvPr id="21" name="Text 19"/>
          <p:cNvSpPr txBox="1"/>
          <p:nvPr/>
        </p:nvSpPr>
        <p:spPr>
          <a:xfrm>
            <a:off x="6359652" y="398678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Helvetica" pitchFamily="34" charset="0"/>
                <a:ea typeface="Helvetica" pitchFamily="34" charset="-122"/>
                <a:cs typeface="Helvetica" pitchFamily="34" charset="-120"/>
              </a:rPr>
              <a:t>3</a:t>
            </a:r>
            <a:endParaRPr lang="en-US" sz="1500" dirty="0"/>
          </a:p>
        </p:txBody>
      </p:sp>
      <p:sp>
        <p:nvSpPr>
          <p:cNvPr id="22" name="Text 20"/>
          <p:cNvSpPr txBox="1"/>
          <p:nvPr/>
        </p:nvSpPr>
        <p:spPr>
          <a:xfrm>
            <a:off x="6359652" y="4443984"/>
            <a:ext cx="2315718" cy="525780"/>
          </a:xfrm>
          <a:prstGeom prst="rect">
            <a:avLst/>
          </a:prstGeom>
          <a:noFill/>
          <a:ln/>
        </p:spPr>
        <p:txBody>
          <a:bodyPr wrap="square" lIns="0" tIns="0" rIns="0" bIns="0" rtlCol="0" anchor="ctr"/>
          <a:lstStyle/>
          <a:p>
            <a:pPr indent="0" marL="0">
              <a:lnSpc>
                <a:spcPct val="120000"/>
              </a:lnSpc>
              <a:buNone/>
            </a:pPr>
            <a:r>
              <a:rPr lang="en-US" sz="1150" dirty="0">
                <a:solidFill>
                  <a:srgbClr val="23283A"/>
                </a:solidFill>
                <a:latin typeface="Helvetica" pitchFamily="34" charset="0"/>
                <a:ea typeface="Helvetica" pitchFamily="34" charset="-122"/>
                <a:cs typeface="Helvetica" pitchFamily="34" charset="-120"/>
              </a:rPr>
              <a:t>Foto tidak muncul — biasanya karena link gambar yang salah/rusak</a:t>
            </a:r>
            <a:endParaRPr lang="en-US" sz="1150" dirty="0"/>
          </a:p>
        </p:txBody>
      </p:sp>
      <p:sp>
        <p:nvSpPr>
          <p:cNvPr id="23" name="Shape 21"/>
          <p:cNvSpPr/>
          <p:nvPr/>
        </p:nvSpPr>
        <p:spPr>
          <a:xfrm>
            <a:off x="9041130" y="3840480"/>
            <a:ext cx="2644902" cy="1312164"/>
          </a:xfrm>
          <a:prstGeom prst="roundRect">
            <a:avLst>
              <a:gd name="adj" fmla="val 6969"/>
            </a:avLst>
          </a:prstGeom>
          <a:solidFill>
            <a:srgbClr val="F4F6FB"/>
          </a:solidFill>
          <a:ln w="12700">
            <a:solidFill>
              <a:srgbClr val="D6DCEB"/>
            </a:solidFill>
            <a:prstDash val="solid"/>
          </a:ln>
        </p:spPr>
      </p:sp>
      <p:sp>
        <p:nvSpPr>
          <p:cNvPr id="24" name="Shape 22"/>
          <p:cNvSpPr/>
          <p:nvPr/>
        </p:nvSpPr>
        <p:spPr>
          <a:xfrm>
            <a:off x="9205722" y="3986784"/>
            <a:ext cx="365760" cy="365760"/>
          </a:xfrm>
          <a:prstGeom prst="ellipse">
            <a:avLst/>
          </a:prstGeom>
          <a:solidFill>
            <a:srgbClr val="6849F6"/>
          </a:solidFill>
          <a:ln/>
        </p:spPr>
      </p:sp>
      <p:sp>
        <p:nvSpPr>
          <p:cNvPr id="25" name="Text 23"/>
          <p:cNvSpPr txBox="1"/>
          <p:nvPr/>
        </p:nvSpPr>
        <p:spPr>
          <a:xfrm>
            <a:off x="9205722" y="398678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Helvetica" pitchFamily="34" charset="0"/>
                <a:ea typeface="Helvetica" pitchFamily="34" charset="-122"/>
                <a:cs typeface="Helvetica" pitchFamily="34" charset="-120"/>
              </a:rPr>
              <a:t>4</a:t>
            </a:r>
            <a:endParaRPr lang="en-US" sz="1500" dirty="0"/>
          </a:p>
        </p:txBody>
      </p:sp>
      <p:sp>
        <p:nvSpPr>
          <p:cNvPr id="26" name="Text 24"/>
          <p:cNvSpPr txBox="1"/>
          <p:nvPr/>
        </p:nvSpPr>
        <p:spPr>
          <a:xfrm>
            <a:off x="9205722" y="4443984"/>
            <a:ext cx="2315718" cy="525780"/>
          </a:xfrm>
          <a:prstGeom prst="rect">
            <a:avLst/>
          </a:prstGeom>
          <a:noFill/>
          <a:ln/>
        </p:spPr>
        <p:txBody>
          <a:bodyPr wrap="square" lIns="0" tIns="0" rIns="0" bIns="0" rtlCol="0" anchor="ctr"/>
          <a:lstStyle/>
          <a:p>
            <a:pPr indent="0" marL="0">
              <a:lnSpc>
                <a:spcPct val="120000"/>
              </a:lnSpc>
              <a:buNone/>
            </a:pPr>
            <a:r>
              <a:rPr lang="en-US" sz="1150" dirty="0">
                <a:solidFill>
                  <a:srgbClr val="23283A"/>
                </a:solidFill>
                <a:latin typeface="Helvetica" pitchFamily="34" charset="0"/>
                <a:ea typeface="Helvetica" pitchFamily="34" charset="-122"/>
                <a:cs typeface="Helvetica" pitchFamily="34" charset="-120"/>
              </a:rPr>
              <a:t>Nama kategori tidak konsisten — bikin filter kategori tidak berfungsi</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8 — Uji Coba Nyata &amp; Terus Diperbaiki</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Minta Orang Lain Coba (User Testing)</a:t>
            </a:r>
            <a:endParaRPr lang="en-US" sz="2200" dirty="0"/>
          </a:p>
        </p:txBody>
      </p:sp>
      <p:sp>
        <p:nvSpPr>
          <p:cNvPr id="7" name="Text 5"/>
          <p:cNvSpPr txBox="1"/>
          <p:nvPr/>
        </p:nvSpPr>
        <p:spPr>
          <a:xfrm>
            <a:off x="502920" y="1828800"/>
            <a:ext cx="11155680" cy="868680"/>
          </a:xfrm>
          <a:prstGeom prst="rect">
            <a:avLst/>
          </a:prstGeom>
          <a:noFill/>
          <a:ln/>
        </p:spPr>
        <p:txBody>
          <a:bodyPr wrap="square" lIns="0" tIns="0" rIns="0" bIns="0" rtlCol="0" anchor="ctr"/>
          <a:lstStyle/>
          <a:p>
            <a:pPr indent="0" marL="0">
              <a:lnSpc>
                <a:spcPct val="125000"/>
              </a:lnSpc>
              <a:buNone/>
            </a:pPr>
            <a:r>
              <a:rPr lang="en-US" sz="1350" dirty="0">
                <a:solidFill>
                  <a:srgbClr val="23283A"/>
                </a:solidFill>
                <a:latin typeface="Helvetica" pitchFamily="34" charset="0"/>
                <a:ea typeface="Helvetica" pitchFamily="34" charset="-122"/>
                <a:cs typeface="Helvetica" pitchFamily="34" charset="-120"/>
              </a:rPr>
              <a:t>Kamu sudah terlalu hafal situsmu sendiri untuk melihat bagian yang membingungkan — testing paling jujur datang dari orang yang belum pernah lihat situsnya sama sekali. Tim developer profesional pun selalu minta orang lain mencoba produknya sebelum dianggap selesai.</a:t>
            </a:r>
            <a:endParaRPr lang="en-US" sz="1350" dirty="0"/>
          </a:p>
        </p:txBody>
      </p:sp>
      <p:sp>
        <p:nvSpPr>
          <p:cNvPr id="8" name="Shape 6"/>
          <p:cNvSpPr/>
          <p:nvPr/>
        </p:nvSpPr>
        <p:spPr>
          <a:xfrm>
            <a:off x="502920" y="2834640"/>
            <a:ext cx="2644902" cy="1136904"/>
          </a:xfrm>
          <a:prstGeom prst="roundRect">
            <a:avLst>
              <a:gd name="adj" fmla="val 8043"/>
            </a:avLst>
          </a:prstGeom>
          <a:solidFill>
            <a:srgbClr val="F4F6FB"/>
          </a:solidFill>
          <a:ln w="12700">
            <a:solidFill>
              <a:srgbClr val="D6DCEB"/>
            </a:solidFill>
            <a:prstDash val="solid"/>
          </a:ln>
        </p:spPr>
      </p:sp>
      <p:sp>
        <p:nvSpPr>
          <p:cNvPr id="9" name="Shape 7"/>
          <p:cNvSpPr/>
          <p:nvPr/>
        </p:nvSpPr>
        <p:spPr>
          <a:xfrm>
            <a:off x="667512" y="2980944"/>
            <a:ext cx="365760" cy="365760"/>
          </a:xfrm>
          <a:prstGeom prst="ellipse">
            <a:avLst/>
          </a:prstGeom>
          <a:solidFill>
            <a:srgbClr val="6849F6"/>
          </a:solidFill>
          <a:ln/>
        </p:spPr>
      </p:sp>
      <p:sp>
        <p:nvSpPr>
          <p:cNvPr id="10" name="Text 8"/>
          <p:cNvSpPr txBox="1"/>
          <p:nvPr/>
        </p:nvSpPr>
        <p:spPr>
          <a:xfrm>
            <a:off x="667512" y="29809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Helvetica" pitchFamily="34" charset="0"/>
                <a:ea typeface="Helvetica" pitchFamily="34" charset="-122"/>
                <a:cs typeface="Helvetica" pitchFamily="34" charset="-120"/>
              </a:rPr>
              <a:t>1</a:t>
            </a:r>
            <a:endParaRPr lang="en-US" sz="1500" dirty="0"/>
          </a:p>
        </p:txBody>
      </p:sp>
      <p:sp>
        <p:nvSpPr>
          <p:cNvPr id="11" name="Text 9"/>
          <p:cNvSpPr txBox="1"/>
          <p:nvPr/>
        </p:nvSpPr>
        <p:spPr>
          <a:xfrm>
            <a:off x="667512" y="3438144"/>
            <a:ext cx="2315718" cy="350520"/>
          </a:xfrm>
          <a:prstGeom prst="rect">
            <a:avLst/>
          </a:prstGeom>
          <a:noFill/>
          <a:ln/>
        </p:spPr>
        <p:txBody>
          <a:bodyPr wrap="square" lIns="0" tIns="0" rIns="0" bIns="0" rtlCol="0" anchor="ctr"/>
          <a:lstStyle/>
          <a:p>
            <a:pPr indent="0" marL="0">
              <a:lnSpc>
                <a:spcPct val="120000"/>
              </a:lnSpc>
              <a:buNone/>
            </a:pPr>
            <a:r>
              <a:rPr lang="en-US" sz="1150" dirty="0">
                <a:solidFill>
                  <a:srgbClr val="23283A"/>
                </a:solidFill>
                <a:latin typeface="Helvetica" pitchFamily="34" charset="0"/>
                <a:ea typeface="Helvetica" pitchFamily="34" charset="-122"/>
                <a:cs typeface="Helvetica" pitchFamily="34" charset="-120"/>
              </a:rPr>
              <a:t>Kirim link situsmu ke 2-3 orang di luar dirimu</a:t>
            </a:r>
            <a:endParaRPr lang="en-US" sz="1150" dirty="0"/>
          </a:p>
        </p:txBody>
      </p:sp>
      <p:sp>
        <p:nvSpPr>
          <p:cNvPr id="12" name="Shape 10"/>
          <p:cNvSpPr/>
          <p:nvPr/>
        </p:nvSpPr>
        <p:spPr>
          <a:xfrm>
            <a:off x="3348990" y="2834640"/>
            <a:ext cx="2644902" cy="1136904"/>
          </a:xfrm>
          <a:prstGeom prst="roundRect">
            <a:avLst>
              <a:gd name="adj" fmla="val 8043"/>
            </a:avLst>
          </a:prstGeom>
          <a:solidFill>
            <a:srgbClr val="F4F6FB"/>
          </a:solidFill>
          <a:ln w="12700">
            <a:solidFill>
              <a:srgbClr val="D6DCEB"/>
            </a:solidFill>
            <a:prstDash val="solid"/>
          </a:ln>
        </p:spPr>
      </p:sp>
      <p:sp>
        <p:nvSpPr>
          <p:cNvPr id="13" name="Shape 11"/>
          <p:cNvSpPr/>
          <p:nvPr/>
        </p:nvSpPr>
        <p:spPr>
          <a:xfrm>
            <a:off x="3513582" y="2980944"/>
            <a:ext cx="365760" cy="365760"/>
          </a:xfrm>
          <a:prstGeom prst="ellipse">
            <a:avLst/>
          </a:prstGeom>
          <a:solidFill>
            <a:srgbClr val="6849F6"/>
          </a:solidFill>
          <a:ln/>
        </p:spPr>
      </p:sp>
      <p:sp>
        <p:nvSpPr>
          <p:cNvPr id="14" name="Text 12"/>
          <p:cNvSpPr txBox="1"/>
          <p:nvPr/>
        </p:nvSpPr>
        <p:spPr>
          <a:xfrm>
            <a:off x="3513582" y="29809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Helvetica" pitchFamily="34" charset="0"/>
                <a:ea typeface="Helvetica" pitchFamily="34" charset="-122"/>
                <a:cs typeface="Helvetica" pitchFamily="34" charset="-120"/>
              </a:rPr>
              <a:t>2</a:t>
            </a:r>
            <a:endParaRPr lang="en-US" sz="1500" dirty="0"/>
          </a:p>
        </p:txBody>
      </p:sp>
      <p:sp>
        <p:nvSpPr>
          <p:cNvPr id="15" name="Text 13"/>
          <p:cNvSpPr txBox="1"/>
          <p:nvPr/>
        </p:nvSpPr>
        <p:spPr>
          <a:xfrm>
            <a:off x="3513582" y="3438144"/>
            <a:ext cx="2315718" cy="350520"/>
          </a:xfrm>
          <a:prstGeom prst="rect">
            <a:avLst/>
          </a:prstGeom>
          <a:noFill/>
          <a:ln/>
        </p:spPr>
        <p:txBody>
          <a:bodyPr wrap="square" lIns="0" tIns="0" rIns="0" bIns="0" rtlCol="0" anchor="ctr"/>
          <a:lstStyle/>
          <a:p>
            <a:pPr indent="0" marL="0">
              <a:lnSpc>
                <a:spcPct val="120000"/>
              </a:lnSpc>
              <a:buNone/>
            </a:pPr>
            <a:r>
              <a:rPr lang="en-US" sz="1150" dirty="0">
                <a:solidFill>
                  <a:srgbClr val="23283A"/>
                </a:solidFill>
                <a:latin typeface="Helvetica" pitchFamily="34" charset="0"/>
                <a:ea typeface="Helvetica" pitchFamily="34" charset="-122"/>
                <a:cs typeface="Helvetica" pitchFamily="34" charset="-120"/>
              </a:rPr>
              <a:t>Kasih satu tugas spesifik, jangan kasih tahu caranya</a:t>
            </a:r>
            <a:endParaRPr lang="en-US" sz="1150" dirty="0"/>
          </a:p>
        </p:txBody>
      </p:sp>
      <p:sp>
        <p:nvSpPr>
          <p:cNvPr id="16" name="Shape 14"/>
          <p:cNvSpPr/>
          <p:nvPr/>
        </p:nvSpPr>
        <p:spPr>
          <a:xfrm>
            <a:off x="6195060" y="2834640"/>
            <a:ext cx="2644902" cy="1136904"/>
          </a:xfrm>
          <a:prstGeom prst="roundRect">
            <a:avLst>
              <a:gd name="adj" fmla="val 8043"/>
            </a:avLst>
          </a:prstGeom>
          <a:solidFill>
            <a:srgbClr val="F4F6FB"/>
          </a:solidFill>
          <a:ln w="12700">
            <a:solidFill>
              <a:srgbClr val="D6DCEB"/>
            </a:solidFill>
            <a:prstDash val="solid"/>
          </a:ln>
        </p:spPr>
      </p:sp>
      <p:sp>
        <p:nvSpPr>
          <p:cNvPr id="17" name="Shape 15"/>
          <p:cNvSpPr/>
          <p:nvPr/>
        </p:nvSpPr>
        <p:spPr>
          <a:xfrm>
            <a:off x="6359652" y="2980944"/>
            <a:ext cx="365760" cy="365760"/>
          </a:xfrm>
          <a:prstGeom prst="ellipse">
            <a:avLst/>
          </a:prstGeom>
          <a:solidFill>
            <a:srgbClr val="6849F6"/>
          </a:solidFill>
          <a:ln/>
        </p:spPr>
      </p:sp>
      <p:sp>
        <p:nvSpPr>
          <p:cNvPr id="18" name="Text 16"/>
          <p:cNvSpPr txBox="1"/>
          <p:nvPr/>
        </p:nvSpPr>
        <p:spPr>
          <a:xfrm>
            <a:off x="6359652" y="29809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Helvetica" pitchFamily="34" charset="0"/>
                <a:ea typeface="Helvetica" pitchFamily="34" charset="-122"/>
                <a:cs typeface="Helvetica" pitchFamily="34" charset="-120"/>
              </a:rPr>
              <a:t>3</a:t>
            </a:r>
            <a:endParaRPr lang="en-US" sz="1500" dirty="0"/>
          </a:p>
        </p:txBody>
      </p:sp>
      <p:sp>
        <p:nvSpPr>
          <p:cNvPr id="19" name="Text 17"/>
          <p:cNvSpPr txBox="1"/>
          <p:nvPr/>
        </p:nvSpPr>
        <p:spPr>
          <a:xfrm>
            <a:off x="6359652" y="3438144"/>
            <a:ext cx="2315718" cy="350520"/>
          </a:xfrm>
          <a:prstGeom prst="rect">
            <a:avLst/>
          </a:prstGeom>
          <a:noFill/>
          <a:ln/>
        </p:spPr>
        <p:txBody>
          <a:bodyPr wrap="square" lIns="0" tIns="0" rIns="0" bIns="0" rtlCol="0" anchor="ctr"/>
          <a:lstStyle/>
          <a:p>
            <a:pPr indent="0" marL="0">
              <a:lnSpc>
                <a:spcPct val="120000"/>
              </a:lnSpc>
              <a:buNone/>
            </a:pPr>
            <a:r>
              <a:rPr lang="en-US" sz="1150" dirty="0">
                <a:solidFill>
                  <a:srgbClr val="23283A"/>
                </a:solidFill>
                <a:latin typeface="Helvetica" pitchFamily="34" charset="0"/>
                <a:ea typeface="Helvetica" pitchFamily="34" charset="-122"/>
                <a:cs typeface="Helvetica" pitchFamily="34" charset="-120"/>
              </a:rPr>
              <a:t>Perhatikan di mana mereka berhenti atau salah klik</a:t>
            </a:r>
            <a:endParaRPr lang="en-US" sz="1150" dirty="0"/>
          </a:p>
        </p:txBody>
      </p:sp>
      <p:sp>
        <p:nvSpPr>
          <p:cNvPr id="20" name="Shape 18"/>
          <p:cNvSpPr/>
          <p:nvPr/>
        </p:nvSpPr>
        <p:spPr>
          <a:xfrm>
            <a:off x="9041130" y="2834640"/>
            <a:ext cx="2644902" cy="1136904"/>
          </a:xfrm>
          <a:prstGeom prst="roundRect">
            <a:avLst>
              <a:gd name="adj" fmla="val 8043"/>
            </a:avLst>
          </a:prstGeom>
          <a:solidFill>
            <a:srgbClr val="F4F6FB"/>
          </a:solidFill>
          <a:ln w="12700">
            <a:solidFill>
              <a:srgbClr val="D6DCEB"/>
            </a:solidFill>
            <a:prstDash val="solid"/>
          </a:ln>
        </p:spPr>
      </p:sp>
      <p:sp>
        <p:nvSpPr>
          <p:cNvPr id="21" name="Shape 19"/>
          <p:cNvSpPr/>
          <p:nvPr/>
        </p:nvSpPr>
        <p:spPr>
          <a:xfrm>
            <a:off x="9205722" y="2980944"/>
            <a:ext cx="365760" cy="365760"/>
          </a:xfrm>
          <a:prstGeom prst="ellipse">
            <a:avLst/>
          </a:prstGeom>
          <a:solidFill>
            <a:srgbClr val="6849F6"/>
          </a:solidFill>
          <a:ln/>
        </p:spPr>
      </p:sp>
      <p:sp>
        <p:nvSpPr>
          <p:cNvPr id="22" name="Text 20"/>
          <p:cNvSpPr txBox="1"/>
          <p:nvPr/>
        </p:nvSpPr>
        <p:spPr>
          <a:xfrm>
            <a:off x="9205722" y="29809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Helvetica" pitchFamily="34" charset="0"/>
                <a:ea typeface="Helvetica" pitchFamily="34" charset="-122"/>
                <a:cs typeface="Helvetica" pitchFamily="34" charset="-120"/>
              </a:rPr>
              <a:t>4</a:t>
            </a:r>
            <a:endParaRPr lang="en-US" sz="1500" dirty="0"/>
          </a:p>
        </p:txBody>
      </p:sp>
      <p:sp>
        <p:nvSpPr>
          <p:cNvPr id="23" name="Text 21"/>
          <p:cNvSpPr txBox="1"/>
          <p:nvPr/>
        </p:nvSpPr>
        <p:spPr>
          <a:xfrm>
            <a:off x="9205722" y="3438144"/>
            <a:ext cx="2315718" cy="350520"/>
          </a:xfrm>
          <a:prstGeom prst="rect">
            <a:avLst/>
          </a:prstGeom>
          <a:noFill/>
          <a:ln/>
        </p:spPr>
        <p:txBody>
          <a:bodyPr wrap="square" lIns="0" tIns="0" rIns="0" bIns="0" rtlCol="0" anchor="ctr"/>
          <a:lstStyle/>
          <a:p>
            <a:pPr indent="0" marL="0">
              <a:lnSpc>
                <a:spcPct val="120000"/>
              </a:lnSpc>
              <a:buNone/>
            </a:pPr>
            <a:r>
              <a:rPr lang="en-US" sz="1150" dirty="0">
                <a:solidFill>
                  <a:srgbClr val="23283A"/>
                </a:solidFill>
                <a:latin typeface="Helvetica" pitchFamily="34" charset="0"/>
                <a:ea typeface="Helvetica" pitchFamily="34" charset="-122"/>
                <a:cs typeface="Helvetica" pitchFamily="34" charset="-120"/>
              </a:rPr>
              <a:t>Tanya kesan pertama: apa yang bikin ragu</a:t>
            </a:r>
            <a:endParaRPr lang="en-US" sz="1150" dirty="0"/>
          </a:p>
        </p:txBody>
      </p:sp>
      <p:sp>
        <p:nvSpPr>
          <p:cNvPr id="24" name="Shape 22"/>
          <p:cNvSpPr/>
          <p:nvPr/>
        </p:nvSpPr>
        <p:spPr>
          <a:xfrm>
            <a:off x="502920" y="4200144"/>
            <a:ext cx="11183112" cy="1078357"/>
          </a:xfrm>
          <a:prstGeom prst="roundRect">
            <a:avLst>
              <a:gd name="adj" fmla="val 8480"/>
            </a:avLst>
          </a:prstGeom>
          <a:solidFill>
            <a:srgbClr val="F3F0FF"/>
          </a:solidFill>
          <a:ln w="12700">
            <a:solidFill>
              <a:srgbClr val="DCD3FB"/>
            </a:solidFill>
            <a:prstDash val="solid"/>
          </a:ln>
        </p:spPr>
      </p:sp>
      <p:sp>
        <p:nvSpPr>
          <p:cNvPr id="25" name="Text 23"/>
          <p:cNvSpPr txBox="1"/>
          <p:nvPr/>
        </p:nvSpPr>
        <p:spPr>
          <a:xfrm>
            <a:off x="704088" y="4364736"/>
            <a:ext cx="10780776" cy="256032"/>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 KENAPA INI PENTING</a:t>
            </a:r>
            <a:endParaRPr lang="en-US" sz="1150" dirty="0"/>
          </a:p>
        </p:txBody>
      </p:sp>
      <p:sp>
        <p:nvSpPr>
          <p:cNvPr id="26" name="Text 24"/>
          <p:cNvSpPr txBox="1"/>
          <p:nvPr/>
        </p:nvSpPr>
        <p:spPr>
          <a:xfrm>
            <a:off x="704088" y="4712208"/>
            <a:ext cx="10780776" cy="365125"/>
          </a:xfrm>
          <a:prstGeom prst="rect">
            <a:avLst/>
          </a:prstGeom>
          <a:noFill/>
          <a:ln/>
        </p:spPr>
        <p:txBody>
          <a:bodyPr wrap="square" lIns="0" tIns="0" rIns="0" bIns="0" rtlCol="0" anchor="ctr"/>
          <a:lstStyle/>
          <a:p>
            <a:pPr indent="0" marL="0">
              <a:lnSpc>
                <a:spcPct val="125000"/>
              </a:lnSpc>
              <a:buNone/>
            </a:pPr>
            <a:r>
              <a:rPr lang="en-US" sz="1150" dirty="0">
                <a:solidFill>
                  <a:srgbClr val="23283A"/>
                </a:solidFill>
                <a:latin typeface="Helvetica" pitchFamily="34" charset="0"/>
                <a:ea typeface="Helvetica" pitchFamily="34" charset="-122"/>
                <a:cs typeface="Helvetica" pitchFamily="34" charset="-120"/>
              </a:rPr>
              <a:t>Testing bukan cuma soal nemuin bug teknis — kadang situsnya berfungsi sempurna, tapi orang tetap bingung harus klik ke mana. Feedback jujur dari orang yang belum tahu apa-apa jauh lebih berharga daripada kamu cek sendiri berkali-kali.</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8 — Uji Coba Nyata &amp; Terus Diperbaiki</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Cara Update Situs Kapan Saja</a:t>
            </a:r>
            <a:endParaRPr lang="en-US" sz="2200" dirty="0"/>
          </a:p>
        </p:txBody>
      </p:sp>
      <p:sp>
        <p:nvSpPr>
          <p:cNvPr id="7" name="Text 5"/>
          <p:cNvSpPr txBox="1"/>
          <p:nvPr/>
        </p:nvSpPr>
        <p:spPr>
          <a:xfrm>
            <a:off x="502920" y="1828800"/>
            <a:ext cx="11155680" cy="685800"/>
          </a:xfrm>
          <a:prstGeom prst="rect">
            <a:avLst/>
          </a:prstGeom>
          <a:noFill/>
          <a:ln/>
        </p:spPr>
        <p:txBody>
          <a:bodyPr wrap="square" lIns="0" tIns="0" rIns="0" bIns="0" rtlCol="0" anchor="ctr"/>
          <a:lstStyle/>
          <a:p>
            <a:pPr indent="0" marL="0">
              <a:lnSpc>
                <a:spcPct val="125000"/>
              </a:lnSpc>
              <a:buNone/>
            </a:pPr>
            <a:r>
              <a:rPr lang="en-US" sz="1350" dirty="0">
                <a:solidFill>
                  <a:srgbClr val="23283A"/>
                </a:solidFill>
                <a:latin typeface="Helvetica" pitchFamily="34" charset="0"/>
                <a:ea typeface="Helvetica" pitchFamily="34" charset="-122"/>
                <a:cs typeface="Helvetica" pitchFamily="34" charset="-120"/>
              </a:rPr>
              <a:t>Baik dari hasil testing, atau kapan pun nanti kamu mau tambah produk baru, ubah harga, atau ganti sesuatu di desain — alurnya selalu sama, dan kamu nggak perlu mengulang dari nol.</a:t>
            </a:r>
            <a:endParaRPr lang="en-US" sz="1350" dirty="0"/>
          </a:p>
        </p:txBody>
      </p:sp>
      <p:sp>
        <p:nvSpPr>
          <p:cNvPr id="8" name="Shape 6"/>
          <p:cNvSpPr/>
          <p:nvPr/>
        </p:nvSpPr>
        <p:spPr>
          <a:xfrm>
            <a:off x="502920" y="2651760"/>
            <a:ext cx="2644902" cy="1136904"/>
          </a:xfrm>
          <a:prstGeom prst="roundRect">
            <a:avLst>
              <a:gd name="adj" fmla="val 8043"/>
            </a:avLst>
          </a:prstGeom>
          <a:solidFill>
            <a:srgbClr val="F4F6FB"/>
          </a:solidFill>
          <a:ln w="12700">
            <a:solidFill>
              <a:srgbClr val="D6DCEB"/>
            </a:solidFill>
            <a:prstDash val="solid"/>
          </a:ln>
        </p:spPr>
      </p:sp>
      <p:sp>
        <p:nvSpPr>
          <p:cNvPr id="9" name="Shape 7"/>
          <p:cNvSpPr/>
          <p:nvPr/>
        </p:nvSpPr>
        <p:spPr>
          <a:xfrm>
            <a:off x="667512" y="2798064"/>
            <a:ext cx="365760" cy="365760"/>
          </a:xfrm>
          <a:prstGeom prst="ellipse">
            <a:avLst/>
          </a:prstGeom>
          <a:solidFill>
            <a:srgbClr val="6849F6"/>
          </a:solidFill>
          <a:ln/>
        </p:spPr>
      </p:sp>
      <p:sp>
        <p:nvSpPr>
          <p:cNvPr id="10" name="Text 8"/>
          <p:cNvSpPr txBox="1"/>
          <p:nvPr/>
        </p:nvSpPr>
        <p:spPr>
          <a:xfrm>
            <a:off x="667512" y="27980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Helvetica" pitchFamily="34" charset="0"/>
                <a:ea typeface="Helvetica" pitchFamily="34" charset="-122"/>
                <a:cs typeface="Helvetica" pitchFamily="34" charset="-120"/>
              </a:rPr>
              <a:t>1</a:t>
            </a:r>
            <a:endParaRPr lang="en-US" sz="1500" dirty="0"/>
          </a:p>
        </p:txBody>
      </p:sp>
      <p:sp>
        <p:nvSpPr>
          <p:cNvPr id="11" name="Text 9"/>
          <p:cNvSpPr txBox="1"/>
          <p:nvPr/>
        </p:nvSpPr>
        <p:spPr>
          <a:xfrm>
            <a:off x="667512" y="3255264"/>
            <a:ext cx="2315718" cy="350520"/>
          </a:xfrm>
          <a:prstGeom prst="rect">
            <a:avLst/>
          </a:prstGeom>
          <a:noFill/>
          <a:ln/>
        </p:spPr>
        <p:txBody>
          <a:bodyPr wrap="square" lIns="0" tIns="0" rIns="0" bIns="0" rtlCol="0" anchor="ctr"/>
          <a:lstStyle/>
          <a:p>
            <a:pPr indent="0" marL="0">
              <a:lnSpc>
                <a:spcPct val="120000"/>
              </a:lnSpc>
              <a:buNone/>
            </a:pPr>
            <a:r>
              <a:rPr lang="en-US" sz="1150" dirty="0">
                <a:solidFill>
                  <a:srgbClr val="23283A"/>
                </a:solidFill>
                <a:latin typeface="Helvetica" pitchFamily="34" charset="0"/>
                <a:ea typeface="Helvetica" pitchFamily="34" charset="-122"/>
                <a:cs typeface="Helvetica" pitchFamily="34" charset="-120"/>
              </a:rPr>
              <a:t>Jelaskan perubahan yang kamu mau ke Claude</a:t>
            </a:r>
            <a:endParaRPr lang="en-US" sz="1150" dirty="0"/>
          </a:p>
        </p:txBody>
      </p:sp>
      <p:sp>
        <p:nvSpPr>
          <p:cNvPr id="12" name="Shape 10"/>
          <p:cNvSpPr/>
          <p:nvPr/>
        </p:nvSpPr>
        <p:spPr>
          <a:xfrm>
            <a:off x="3348990" y="2651760"/>
            <a:ext cx="2644902" cy="1136904"/>
          </a:xfrm>
          <a:prstGeom prst="roundRect">
            <a:avLst>
              <a:gd name="adj" fmla="val 8043"/>
            </a:avLst>
          </a:prstGeom>
          <a:solidFill>
            <a:srgbClr val="F4F6FB"/>
          </a:solidFill>
          <a:ln w="12700">
            <a:solidFill>
              <a:srgbClr val="D6DCEB"/>
            </a:solidFill>
            <a:prstDash val="solid"/>
          </a:ln>
        </p:spPr>
      </p:sp>
      <p:sp>
        <p:nvSpPr>
          <p:cNvPr id="13" name="Shape 11"/>
          <p:cNvSpPr/>
          <p:nvPr/>
        </p:nvSpPr>
        <p:spPr>
          <a:xfrm>
            <a:off x="3513582" y="2798064"/>
            <a:ext cx="365760" cy="365760"/>
          </a:xfrm>
          <a:prstGeom prst="ellipse">
            <a:avLst/>
          </a:prstGeom>
          <a:solidFill>
            <a:srgbClr val="6849F6"/>
          </a:solidFill>
          <a:ln/>
        </p:spPr>
      </p:sp>
      <p:sp>
        <p:nvSpPr>
          <p:cNvPr id="14" name="Text 12"/>
          <p:cNvSpPr txBox="1"/>
          <p:nvPr/>
        </p:nvSpPr>
        <p:spPr>
          <a:xfrm>
            <a:off x="3513582" y="27980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Helvetica" pitchFamily="34" charset="0"/>
                <a:ea typeface="Helvetica" pitchFamily="34" charset="-122"/>
                <a:cs typeface="Helvetica" pitchFamily="34" charset="-120"/>
              </a:rPr>
              <a:t>2</a:t>
            </a:r>
            <a:endParaRPr lang="en-US" sz="1500" dirty="0"/>
          </a:p>
        </p:txBody>
      </p:sp>
      <p:sp>
        <p:nvSpPr>
          <p:cNvPr id="15" name="Text 13"/>
          <p:cNvSpPr txBox="1"/>
          <p:nvPr/>
        </p:nvSpPr>
        <p:spPr>
          <a:xfrm>
            <a:off x="3513582" y="3255264"/>
            <a:ext cx="2315718" cy="350520"/>
          </a:xfrm>
          <a:prstGeom prst="rect">
            <a:avLst/>
          </a:prstGeom>
          <a:noFill/>
          <a:ln/>
        </p:spPr>
        <p:txBody>
          <a:bodyPr wrap="square" lIns="0" tIns="0" rIns="0" bIns="0" rtlCol="0" anchor="ctr"/>
          <a:lstStyle/>
          <a:p>
            <a:pPr indent="0" marL="0">
              <a:lnSpc>
                <a:spcPct val="120000"/>
              </a:lnSpc>
              <a:buNone/>
            </a:pPr>
            <a:r>
              <a:rPr lang="en-US" sz="1150" dirty="0">
                <a:solidFill>
                  <a:srgbClr val="23283A"/>
                </a:solidFill>
                <a:latin typeface="Helvetica" pitchFamily="34" charset="0"/>
                <a:ea typeface="Helvetica" pitchFamily="34" charset="-122"/>
                <a:cs typeface="Helvetica" pitchFamily="34" charset="-120"/>
              </a:rPr>
              <a:t>Simpan ulang jadi HTML, timpa file index.html lama</a:t>
            </a:r>
            <a:endParaRPr lang="en-US" sz="1150" dirty="0"/>
          </a:p>
        </p:txBody>
      </p:sp>
      <p:sp>
        <p:nvSpPr>
          <p:cNvPr id="16" name="Shape 14"/>
          <p:cNvSpPr/>
          <p:nvPr/>
        </p:nvSpPr>
        <p:spPr>
          <a:xfrm>
            <a:off x="6195060" y="2651760"/>
            <a:ext cx="2644902" cy="1136904"/>
          </a:xfrm>
          <a:prstGeom prst="roundRect">
            <a:avLst>
              <a:gd name="adj" fmla="val 8043"/>
            </a:avLst>
          </a:prstGeom>
          <a:solidFill>
            <a:srgbClr val="F4F6FB"/>
          </a:solidFill>
          <a:ln w="12700">
            <a:solidFill>
              <a:srgbClr val="D6DCEB"/>
            </a:solidFill>
            <a:prstDash val="solid"/>
          </a:ln>
        </p:spPr>
      </p:sp>
      <p:sp>
        <p:nvSpPr>
          <p:cNvPr id="17" name="Shape 15"/>
          <p:cNvSpPr/>
          <p:nvPr/>
        </p:nvSpPr>
        <p:spPr>
          <a:xfrm>
            <a:off x="6359652" y="2798064"/>
            <a:ext cx="365760" cy="365760"/>
          </a:xfrm>
          <a:prstGeom prst="ellipse">
            <a:avLst/>
          </a:prstGeom>
          <a:solidFill>
            <a:srgbClr val="6849F6"/>
          </a:solidFill>
          <a:ln/>
        </p:spPr>
      </p:sp>
      <p:sp>
        <p:nvSpPr>
          <p:cNvPr id="18" name="Text 16"/>
          <p:cNvSpPr txBox="1"/>
          <p:nvPr/>
        </p:nvSpPr>
        <p:spPr>
          <a:xfrm>
            <a:off x="6359652" y="27980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Helvetica" pitchFamily="34" charset="0"/>
                <a:ea typeface="Helvetica" pitchFamily="34" charset="-122"/>
                <a:cs typeface="Helvetica" pitchFamily="34" charset="-120"/>
              </a:rPr>
              <a:t>3</a:t>
            </a:r>
            <a:endParaRPr lang="en-US" sz="1500" dirty="0"/>
          </a:p>
        </p:txBody>
      </p:sp>
      <p:sp>
        <p:nvSpPr>
          <p:cNvPr id="19" name="Text 17"/>
          <p:cNvSpPr txBox="1"/>
          <p:nvPr/>
        </p:nvSpPr>
        <p:spPr>
          <a:xfrm>
            <a:off x="6359652" y="3255264"/>
            <a:ext cx="2315718" cy="350520"/>
          </a:xfrm>
          <a:prstGeom prst="rect">
            <a:avLst/>
          </a:prstGeom>
          <a:noFill/>
          <a:ln/>
        </p:spPr>
        <p:txBody>
          <a:bodyPr wrap="square" lIns="0" tIns="0" rIns="0" bIns="0" rtlCol="0" anchor="ctr"/>
          <a:lstStyle/>
          <a:p>
            <a:pPr indent="0" marL="0">
              <a:lnSpc>
                <a:spcPct val="120000"/>
              </a:lnSpc>
              <a:buNone/>
            </a:pPr>
            <a:r>
              <a:rPr lang="en-US" sz="1150" dirty="0">
                <a:solidFill>
                  <a:srgbClr val="23283A"/>
                </a:solidFill>
                <a:latin typeface="Helvetica" pitchFamily="34" charset="0"/>
                <a:ea typeface="Helvetica" pitchFamily="34" charset="-122"/>
                <a:cs typeface="Helvetica" pitchFamily="34" charset="-120"/>
              </a:rPr>
              <a:t>Upload file yang diperbarui ke repo GitHub, lalu Commit changes</a:t>
            </a:r>
            <a:endParaRPr lang="en-US" sz="1150" dirty="0"/>
          </a:p>
        </p:txBody>
      </p:sp>
      <p:sp>
        <p:nvSpPr>
          <p:cNvPr id="20" name="Shape 18"/>
          <p:cNvSpPr/>
          <p:nvPr/>
        </p:nvSpPr>
        <p:spPr>
          <a:xfrm>
            <a:off x="9041130" y="2651760"/>
            <a:ext cx="2644902" cy="1136904"/>
          </a:xfrm>
          <a:prstGeom prst="roundRect">
            <a:avLst>
              <a:gd name="adj" fmla="val 8043"/>
            </a:avLst>
          </a:prstGeom>
          <a:solidFill>
            <a:srgbClr val="F4F6FB"/>
          </a:solidFill>
          <a:ln w="12700">
            <a:solidFill>
              <a:srgbClr val="D6DCEB"/>
            </a:solidFill>
            <a:prstDash val="solid"/>
          </a:ln>
        </p:spPr>
      </p:sp>
      <p:sp>
        <p:nvSpPr>
          <p:cNvPr id="21" name="Shape 19"/>
          <p:cNvSpPr/>
          <p:nvPr/>
        </p:nvSpPr>
        <p:spPr>
          <a:xfrm>
            <a:off x="9205722" y="2798064"/>
            <a:ext cx="365760" cy="365760"/>
          </a:xfrm>
          <a:prstGeom prst="ellipse">
            <a:avLst/>
          </a:prstGeom>
          <a:solidFill>
            <a:srgbClr val="6849F6"/>
          </a:solidFill>
          <a:ln/>
        </p:spPr>
      </p:sp>
      <p:sp>
        <p:nvSpPr>
          <p:cNvPr id="22" name="Text 20"/>
          <p:cNvSpPr txBox="1"/>
          <p:nvPr/>
        </p:nvSpPr>
        <p:spPr>
          <a:xfrm>
            <a:off x="9205722" y="279806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Helvetica" pitchFamily="34" charset="0"/>
                <a:ea typeface="Helvetica" pitchFamily="34" charset="-122"/>
                <a:cs typeface="Helvetica" pitchFamily="34" charset="-120"/>
              </a:rPr>
              <a:t>4</a:t>
            </a:r>
            <a:endParaRPr lang="en-US" sz="1500" dirty="0"/>
          </a:p>
        </p:txBody>
      </p:sp>
      <p:sp>
        <p:nvSpPr>
          <p:cNvPr id="23" name="Text 21"/>
          <p:cNvSpPr txBox="1"/>
          <p:nvPr/>
        </p:nvSpPr>
        <p:spPr>
          <a:xfrm>
            <a:off x="9205722" y="3255264"/>
            <a:ext cx="2315718" cy="350520"/>
          </a:xfrm>
          <a:prstGeom prst="rect">
            <a:avLst/>
          </a:prstGeom>
          <a:noFill/>
          <a:ln/>
        </p:spPr>
        <p:txBody>
          <a:bodyPr wrap="square" lIns="0" tIns="0" rIns="0" bIns="0" rtlCol="0" anchor="ctr"/>
          <a:lstStyle/>
          <a:p>
            <a:pPr indent="0" marL="0">
              <a:lnSpc>
                <a:spcPct val="120000"/>
              </a:lnSpc>
              <a:buNone/>
            </a:pPr>
            <a:r>
              <a:rPr lang="en-US" sz="1150" dirty="0">
                <a:solidFill>
                  <a:srgbClr val="23283A"/>
                </a:solidFill>
                <a:latin typeface="Helvetica" pitchFamily="34" charset="0"/>
                <a:ea typeface="Helvetica" pitchFamily="34" charset="-122"/>
                <a:cs typeface="Helvetica" pitchFamily="34" charset="-120"/>
              </a:rPr>
              <a:t>Tunggu sebentar — Vercel otomatis publish ulang</a:t>
            </a:r>
            <a:endParaRPr lang="en-US" sz="1150" dirty="0"/>
          </a:p>
        </p:txBody>
      </p:sp>
      <p:sp>
        <p:nvSpPr>
          <p:cNvPr id="24" name="Shape 22"/>
          <p:cNvSpPr/>
          <p:nvPr/>
        </p:nvSpPr>
        <p:spPr>
          <a:xfrm>
            <a:off x="502920" y="4017264"/>
            <a:ext cx="11183112" cy="1078357"/>
          </a:xfrm>
          <a:prstGeom prst="roundRect">
            <a:avLst>
              <a:gd name="adj" fmla="val 8480"/>
            </a:avLst>
          </a:prstGeom>
          <a:solidFill>
            <a:srgbClr val="F3F0FF"/>
          </a:solidFill>
          <a:ln w="12700">
            <a:solidFill>
              <a:srgbClr val="DCD3FB"/>
            </a:solidFill>
            <a:prstDash val="solid"/>
          </a:ln>
        </p:spPr>
      </p:sp>
      <p:sp>
        <p:nvSpPr>
          <p:cNvPr id="25" name="Text 23"/>
          <p:cNvSpPr txBox="1"/>
          <p:nvPr/>
        </p:nvSpPr>
        <p:spPr>
          <a:xfrm>
            <a:off x="704088" y="4181856"/>
            <a:ext cx="10780776" cy="256032"/>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 NGGAK PERLU ULANG DARI MODUL 6-7</a:t>
            </a:r>
            <a:endParaRPr lang="en-US" sz="1150" dirty="0"/>
          </a:p>
        </p:txBody>
      </p:sp>
      <p:sp>
        <p:nvSpPr>
          <p:cNvPr id="26" name="Text 24"/>
          <p:cNvSpPr txBox="1"/>
          <p:nvPr/>
        </p:nvSpPr>
        <p:spPr>
          <a:xfrm>
            <a:off x="704088" y="4529328"/>
            <a:ext cx="10780776" cy="365125"/>
          </a:xfrm>
          <a:prstGeom prst="rect">
            <a:avLst/>
          </a:prstGeom>
          <a:noFill/>
          <a:ln/>
        </p:spPr>
        <p:txBody>
          <a:bodyPr wrap="square" lIns="0" tIns="0" rIns="0" bIns="0" rtlCol="0" anchor="ctr"/>
          <a:lstStyle/>
          <a:p>
            <a:pPr indent="0" marL="0">
              <a:lnSpc>
                <a:spcPct val="125000"/>
              </a:lnSpc>
              <a:buNone/>
            </a:pPr>
            <a:r>
              <a:rPr lang="en-US" sz="1150" dirty="0">
                <a:solidFill>
                  <a:srgbClr val="23283A"/>
                </a:solidFill>
                <a:latin typeface="Helvetica" pitchFamily="34" charset="0"/>
                <a:ea typeface="Helvetica" pitchFamily="34" charset="-122"/>
                <a:cs typeface="Helvetica" pitchFamily="34" charset="-120"/>
              </a:rPr>
              <a:t>Repo GitHub dan project Vercel yang sudah kamu buat tetap dipakai selamanya — kamu cuma upload file yang sudah diperbarui ke repo yang sama, bukan bikin repo atau project baru setiap kali ada perubahan.</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8 — Uji Coba Nyata &amp; Terus Diperbaiki</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Ringkasan Modul 8</a:t>
            </a:r>
            <a:endParaRPr lang="en-US" sz="2200" dirty="0"/>
          </a:p>
        </p:txBody>
      </p:sp>
      <p:sp>
        <p:nvSpPr>
          <p:cNvPr id="7" name="Text 5"/>
          <p:cNvSpPr txBox="1"/>
          <p:nvPr/>
        </p:nvSpPr>
        <p:spPr>
          <a:xfrm>
            <a:off x="502920" y="1828800"/>
            <a:ext cx="11183112" cy="2468880"/>
          </a:xfrm>
          <a:prstGeom prst="rect">
            <a:avLst/>
          </a:prstGeom>
          <a:noFill/>
          <a:ln/>
        </p:spPr>
        <p:txBody>
          <a:bodyPr wrap="square" lIns="0" tIns="0" rIns="0" bIns="0" rtlCol="0" anchor="ctr"/>
          <a:lstStyle/>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Situs sudah live — sekarang saatnya cek beneran di HP asli, bukan cuma preview</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Sapu bersih terakhir: link WhatsApp, harga, foto, konsistensi nama kategori</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Minta 2-3 orang lain coba situsmu — mereka akan lihat kebingungan yang kamu sendiri sudah nggak sadari</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Update kapan saja: minta Claude, upload ke GitHub, Vercel otomatis publish ulang</a:t>
            </a:r>
            <a:endParaRPr lang="en-US" sz="1300" dirty="0"/>
          </a:p>
          <a:p>
            <a:pPr marL="342900" indent="-342900">
              <a:lnSpc>
                <a:spcPct val="125000"/>
              </a:lnSpc>
              <a:spcAft>
                <a:spcPts val="800"/>
              </a:spcAft>
              <a:buSzPct val="100000"/>
              <a:buChar char="•"/>
            </a:pPr>
            <a:r>
              <a:rPr lang="en-US" sz="1300" dirty="0">
                <a:solidFill>
                  <a:srgbClr val="23283A"/>
                </a:solidFill>
                <a:latin typeface="Helvetica" pitchFamily="34" charset="0"/>
                <a:ea typeface="Helvetica" pitchFamily="34" charset="-122"/>
                <a:cs typeface="Helvetica" pitchFamily="34" charset="-120"/>
              </a:rPr>
              <a:t>Situs live + repo GitHub adalah bukti kerja nyata untuk menawarkan jasa ke UMKM lain</a:t>
            </a:r>
            <a:endParaRPr lang="en-US" sz="1300" dirty="0"/>
          </a:p>
        </p:txBody>
      </p:sp>
      <p:sp>
        <p:nvSpPr>
          <p:cNvPr id="8" name="Shape 6"/>
          <p:cNvSpPr/>
          <p:nvPr/>
        </p:nvSpPr>
        <p:spPr>
          <a:xfrm>
            <a:off x="502920" y="4434840"/>
            <a:ext cx="11183112" cy="1260920"/>
          </a:xfrm>
          <a:prstGeom prst="roundRect">
            <a:avLst>
              <a:gd name="adj" fmla="val 7252"/>
            </a:avLst>
          </a:prstGeom>
          <a:solidFill>
            <a:srgbClr val="F3F0FF"/>
          </a:solidFill>
          <a:ln w="12700">
            <a:solidFill>
              <a:srgbClr val="DCD3FB"/>
            </a:solidFill>
            <a:prstDash val="solid"/>
          </a:ln>
        </p:spPr>
      </p:sp>
      <p:sp>
        <p:nvSpPr>
          <p:cNvPr id="9" name="Text 7"/>
          <p:cNvSpPr txBox="1"/>
          <p:nvPr/>
        </p:nvSpPr>
        <p:spPr>
          <a:xfrm>
            <a:off x="704088" y="4599432"/>
            <a:ext cx="10780776" cy="256032"/>
          </a:xfrm>
          <a:prstGeom prst="rect">
            <a:avLst/>
          </a:prstGeom>
          <a:noFill/>
          <a:ln/>
        </p:spPr>
        <p:txBody>
          <a:bodyPr wrap="square" lIns="0" tIns="0" rIns="0" bIns="0" rtlCol="0" anchor="ctr"/>
          <a:lstStyle/>
          <a:p>
            <a:pPr indent="0" marL="0">
              <a:buNone/>
            </a:pPr>
            <a:r>
              <a:rPr lang="en-US" sz="1150" b="1" spc="30" kern="0" dirty="0">
                <a:solidFill>
                  <a:srgbClr val="4B36C7"/>
                </a:solidFill>
                <a:latin typeface="Helvetica" pitchFamily="34" charset="0"/>
                <a:ea typeface="Helvetica" pitchFamily="34" charset="-122"/>
                <a:cs typeface="Helvetica" pitchFamily="34" charset="-120"/>
              </a:rPr>
              <a:t>◆ PENUTUP — MONETISASI &amp; LANGKAH SELANJUTNYA</a:t>
            </a:r>
            <a:endParaRPr lang="en-US" sz="1150" dirty="0"/>
          </a:p>
        </p:txBody>
      </p:sp>
      <p:sp>
        <p:nvSpPr>
          <p:cNvPr id="10" name="Text 8"/>
          <p:cNvSpPr txBox="1"/>
          <p:nvPr/>
        </p:nvSpPr>
        <p:spPr>
          <a:xfrm>
            <a:off x="704088" y="4946904"/>
            <a:ext cx="10780776" cy="547688"/>
          </a:xfrm>
          <a:prstGeom prst="rect">
            <a:avLst/>
          </a:prstGeom>
          <a:noFill/>
          <a:ln/>
        </p:spPr>
        <p:txBody>
          <a:bodyPr wrap="square" lIns="0" tIns="0" rIns="0" bIns="0" rtlCol="0" anchor="ctr"/>
          <a:lstStyle/>
          <a:p>
            <a:pPr indent="0" marL="0">
              <a:lnSpc>
                <a:spcPct val="125000"/>
              </a:lnSpc>
              <a:buNone/>
            </a:pPr>
            <a:r>
              <a:rPr lang="en-US" sz="1150" dirty="0">
                <a:solidFill>
                  <a:srgbClr val="23283A"/>
                </a:solidFill>
                <a:latin typeface="Helvetica" pitchFamily="34" charset="0"/>
                <a:ea typeface="Helvetica" pitchFamily="34" charset="-122"/>
                <a:cs typeface="Helvetica" pitchFamily="34" charset="-120"/>
              </a:rPr>
              <a:t>Repo GitHub dan situs live ini sekarang jadi bukti kerja nyata yang bisa kamu tunjukkan ke UMKM lain yang butuh jasa serupa. Kamu tidak perlu menunggu “jago” dulu — satu contoh nyata yang berfungsi sudah cukup untuk mulai menawarkan jasa. (Bonus opsional: Claude Code, Cowork, dan GitHub connector untuk workflow yang lebih hands-off — tidak wajib untuk selesai kursus.)</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60120"/>
          </a:xfrm>
          <a:prstGeom prst="rect">
            <a:avLst/>
          </a:prstGeom>
          <a:solidFill>
            <a:srgbClr val="0D1321"/>
          </a:solidFill>
          <a:ln/>
        </p:spPr>
      </p:sp>
      <p:sp>
        <p:nvSpPr>
          <p:cNvPr id="3" name="Shape 1"/>
          <p:cNvSpPr/>
          <p:nvPr/>
        </p:nvSpPr>
        <p:spPr>
          <a:xfrm>
            <a:off x="0" y="960120"/>
            <a:ext cx="12191695" cy="41148"/>
          </a:xfrm>
          <a:prstGeom prst="rect">
            <a:avLst/>
          </a:prstGeom>
          <a:solidFill>
            <a:srgbClr val="6849F6"/>
          </a:solidFill>
          <a:ln/>
        </p:spPr>
      </p:sp>
      <p:sp>
        <p:nvSpPr>
          <p:cNvPr id="4" name="Text 2"/>
          <p:cNvSpPr txBox="1"/>
          <p:nvPr/>
        </p:nvSpPr>
        <p:spPr>
          <a:xfrm>
            <a:off x="502920" y="256032"/>
            <a:ext cx="3657600" cy="457200"/>
          </a:xfrm>
          <a:prstGeom prst="rect">
            <a:avLst/>
          </a:prstGeom>
          <a:noFill/>
          <a:ln/>
        </p:spPr>
        <p:txBody>
          <a:bodyPr wrap="square" lIns="0" tIns="0" rIns="0" bIns="0" rtlCol="0" anchor="ctr"/>
          <a:lstStyle/>
          <a:p>
            <a:pPr indent="0" marL="0">
              <a:buNone/>
            </a:pPr>
            <a:r>
              <a:rPr lang="en-US" sz="2000" b="1" dirty="0">
                <a:solidFill>
                  <a:srgbClr val="FFFFFF"/>
                </a:solidFill>
                <a:latin typeface="Helvetica" pitchFamily="34" charset="0"/>
                <a:ea typeface="Helvetica" pitchFamily="34" charset="-122"/>
                <a:cs typeface="Helvetica" pitchFamily="34" charset="-120"/>
              </a:rPr>
              <a:t>belajar</a:t>
            </a:r>
            <a:pPr indent="0" marL="0">
              <a:buNone/>
            </a:pPr>
            <a:r>
              <a:rPr lang="en-US" sz="2000" b="1" dirty="0">
                <a:solidFill>
                  <a:srgbClr val="8B7CF6"/>
                </a:solidFill>
                <a:latin typeface="Helvetica" pitchFamily="34" charset="0"/>
                <a:ea typeface="Helvetica" pitchFamily="34" charset="-122"/>
                <a:cs typeface="Helvetica" pitchFamily="34" charset="-120"/>
              </a:rPr>
              <a:t>claude</a:t>
            </a:r>
            <a:endParaRPr lang="en-US" sz="2000" dirty="0"/>
          </a:p>
        </p:txBody>
      </p:sp>
      <p:sp>
        <p:nvSpPr>
          <p:cNvPr id="5" name="Text 3"/>
          <p:cNvSpPr txBox="1"/>
          <p:nvPr/>
        </p:nvSpPr>
        <p:spPr>
          <a:xfrm>
            <a:off x="5029200" y="274320"/>
            <a:ext cx="6675120" cy="411480"/>
          </a:xfrm>
          <a:prstGeom prst="rect">
            <a:avLst/>
          </a:prstGeom>
          <a:noFill/>
          <a:ln/>
        </p:spPr>
        <p:txBody>
          <a:bodyPr wrap="square" lIns="0" tIns="0" rIns="0" bIns="0" rtlCol="0" anchor="ctr"/>
          <a:lstStyle/>
          <a:p>
            <a:pPr algn="r" indent="0" marL="0">
              <a:buNone/>
            </a:pPr>
            <a:r>
              <a:rPr lang="en-US" sz="1250" dirty="0">
                <a:solidFill>
                  <a:srgbClr val="9AA2B4"/>
                </a:solidFill>
                <a:latin typeface="Helvetica" pitchFamily="34" charset="0"/>
                <a:ea typeface="Helvetica" pitchFamily="34" charset="-122"/>
                <a:cs typeface="Helvetica" pitchFamily="34" charset="-120"/>
              </a:rPr>
              <a:t>Modul 8 — Uji Coba Nyata &amp; Terus Diperbaiki</a:t>
            </a:r>
            <a:endParaRPr lang="en-US" sz="1250" dirty="0"/>
          </a:p>
        </p:txBody>
      </p:sp>
      <p:sp>
        <p:nvSpPr>
          <p:cNvPr id="6" name="Text 4"/>
          <p:cNvSpPr txBox="1"/>
          <p:nvPr/>
        </p:nvSpPr>
        <p:spPr>
          <a:xfrm>
            <a:off x="502920" y="1234440"/>
            <a:ext cx="11155680" cy="502920"/>
          </a:xfrm>
          <a:prstGeom prst="rect">
            <a:avLst/>
          </a:prstGeom>
          <a:noFill/>
          <a:ln/>
        </p:spPr>
        <p:txBody>
          <a:bodyPr wrap="square" lIns="0" tIns="0" rIns="0" bIns="0" rtlCol="0" anchor="ctr"/>
          <a:lstStyle/>
          <a:p>
            <a:pPr indent="0" marL="0">
              <a:buNone/>
            </a:pPr>
            <a:r>
              <a:rPr lang="en-US" sz="2200" b="1" dirty="0">
                <a:solidFill>
                  <a:srgbClr val="0D1321"/>
                </a:solidFill>
                <a:latin typeface="Helvetica" pitchFamily="34" charset="0"/>
                <a:ea typeface="Helvetica" pitchFamily="34" charset="-122"/>
                <a:cs typeface="Helvetica" pitchFamily="34" charset="-120"/>
              </a:rPr>
              <a:t>Latihan &amp; Output</a:t>
            </a:r>
            <a:endParaRPr lang="en-US" sz="2200" dirty="0"/>
          </a:p>
        </p:txBody>
      </p:sp>
      <p:sp>
        <p:nvSpPr>
          <p:cNvPr id="7" name="Text 5"/>
          <p:cNvSpPr txBox="1"/>
          <p:nvPr/>
        </p:nvSpPr>
        <p:spPr>
          <a:xfrm>
            <a:off x="502920" y="1920240"/>
            <a:ext cx="11183112" cy="274320"/>
          </a:xfrm>
          <a:prstGeom prst="rect">
            <a:avLst/>
          </a:prstGeom>
          <a:noFill/>
          <a:ln/>
        </p:spPr>
        <p:txBody>
          <a:bodyPr wrap="square" lIns="0" tIns="0" rIns="0" bIns="0" rtlCol="0" anchor="ctr"/>
          <a:lstStyle/>
          <a:p>
            <a:pPr indent="0" marL="0">
              <a:buNone/>
            </a:pPr>
            <a:r>
              <a:rPr lang="en-US" sz="1250" b="1" spc="40" kern="0" dirty="0">
                <a:solidFill>
                  <a:srgbClr val="4B36C7"/>
                </a:solidFill>
                <a:latin typeface="Helvetica" pitchFamily="34" charset="0"/>
                <a:ea typeface="Helvetica" pitchFamily="34" charset="-122"/>
                <a:cs typeface="Helvetica" pitchFamily="34" charset="-120"/>
              </a:rPr>
              <a:t>CONTOH PROMPT SUSUN USER TESTING</a:t>
            </a:r>
            <a:endParaRPr lang="en-US" sz="1250" dirty="0"/>
          </a:p>
        </p:txBody>
      </p:sp>
      <p:sp>
        <p:nvSpPr>
          <p:cNvPr id="8" name="Shape 6"/>
          <p:cNvSpPr/>
          <p:nvPr/>
        </p:nvSpPr>
        <p:spPr>
          <a:xfrm>
            <a:off x="502920" y="2231136"/>
            <a:ext cx="11183112" cy="815086"/>
          </a:xfrm>
          <a:prstGeom prst="roundRect">
            <a:avLst>
              <a:gd name="adj" fmla="val 8975"/>
            </a:avLst>
          </a:prstGeom>
          <a:solidFill>
            <a:srgbClr val="0D1321"/>
          </a:solidFill>
          <a:ln/>
        </p:spPr>
      </p:sp>
      <p:sp>
        <p:nvSpPr>
          <p:cNvPr id="9" name="Text 7"/>
          <p:cNvSpPr txBox="1"/>
          <p:nvPr/>
        </p:nvSpPr>
        <p:spPr>
          <a:xfrm>
            <a:off x="731520" y="2432304"/>
            <a:ext cx="10725912" cy="412750"/>
          </a:xfrm>
          <a:prstGeom prst="rect">
            <a:avLst/>
          </a:prstGeom>
          <a:noFill/>
          <a:ln/>
        </p:spPr>
        <p:txBody>
          <a:bodyPr wrap="square" lIns="0" tIns="0" rIns="0" bIns="0" rtlCol="0" anchor="ctr"/>
          <a:lstStyle/>
          <a:p>
            <a:pPr indent="0" marL="0">
              <a:lnSpc>
                <a:spcPct val="130000"/>
              </a:lnSpc>
              <a:buNone/>
            </a:pPr>
            <a:r>
              <a:rPr lang="en-US" sz="1250" i="1" dirty="0">
                <a:solidFill>
                  <a:srgbClr val="FFFFFF"/>
                </a:solidFill>
                <a:latin typeface="Helvetica" pitchFamily="34" charset="0"/>
                <a:ea typeface="Helvetica" pitchFamily="34" charset="-122"/>
                <a:cs typeface="Helvetica" pitchFamily="34" charset="-120"/>
              </a:rPr>
              <a:t>Saya mau minta 2-3 orang mencoba katalog online saya sebelum benar-benar dipakai. Bantu saya susun: (1) satu tugas spesifik yang saya minta mereka lakukan, dan (2) 3-4 pertanyaan simpel untuk ditanya setelahnya soal pengalaman mereka.</a:t>
            </a:r>
            <a:endParaRPr lang="en-US" sz="1250" dirty="0"/>
          </a:p>
        </p:txBody>
      </p:sp>
      <p:sp>
        <p:nvSpPr>
          <p:cNvPr id="10" name="Shape 8"/>
          <p:cNvSpPr/>
          <p:nvPr/>
        </p:nvSpPr>
        <p:spPr>
          <a:xfrm>
            <a:off x="502920" y="3274822"/>
            <a:ext cx="11183112" cy="1386840"/>
          </a:xfrm>
          <a:prstGeom prst="roundRect">
            <a:avLst>
              <a:gd name="adj" fmla="val 7912"/>
            </a:avLst>
          </a:prstGeom>
          <a:solidFill>
            <a:srgbClr val="EAFAF0"/>
          </a:solidFill>
          <a:ln w="12700">
            <a:solidFill>
              <a:srgbClr val="B8E6C9"/>
            </a:solidFill>
            <a:prstDash val="solid"/>
          </a:ln>
        </p:spPr>
      </p:sp>
      <p:sp>
        <p:nvSpPr>
          <p:cNvPr id="11" name="Text 9"/>
          <p:cNvSpPr txBox="1"/>
          <p:nvPr/>
        </p:nvSpPr>
        <p:spPr>
          <a:xfrm>
            <a:off x="740664" y="3457702"/>
            <a:ext cx="10707624" cy="274320"/>
          </a:xfrm>
          <a:prstGeom prst="rect">
            <a:avLst/>
          </a:prstGeom>
          <a:noFill/>
          <a:ln/>
        </p:spPr>
        <p:txBody>
          <a:bodyPr wrap="square" lIns="0" tIns="0" rIns="0" bIns="0" rtlCol="0" anchor="ctr"/>
          <a:lstStyle/>
          <a:p>
            <a:pPr indent="0" marL="0">
              <a:buNone/>
            </a:pPr>
            <a:r>
              <a:rPr lang="en-US" sz="1250" b="1" spc="30" kern="0" dirty="0">
                <a:solidFill>
                  <a:srgbClr val="1A7A44"/>
                </a:solidFill>
                <a:latin typeface="Helvetica" pitchFamily="34" charset="0"/>
                <a:ea typeface="Helvetica" pitchFamily="34" charset="-122"/>
                <a:cs typeface="Helvetica" pitchFamily="34" charset="-120"/>
              </a:rPr>
              <a:t>■ LATIHAN</a:t>
            </a:r>
            <a:endParaRPr lang="en-US" sz="1250" dirty="0"/>
          </a:p>
        </p:txBody>
      </p:sp>
      <p:sp>
        <p:nvSpPr>
          <p:cNvPr id="12" name="Text 10"/>
          <p:cNvSpPr txBox="1"/>
          <p:nvPr/>
        </p:nvSpPr>
        <p:spPr>
          <a:xfrm>
            <a:off x="740664" y="3823462"/>
            <a:ext cx="10707624" cy="609600"/>
          </a:xfrm>
          <a:prstGeom prst="rect">
            <a:avLst/>
          </a:prstGeom>
          <a:noFill/>
          <a:ln/>
        </p:spPr>
        <p:txBody>
          <a:bodyPr wrap="square" lIns="0" tIns="0" rIns="0" bIns="0" rtlCol="0" anchor="ctr"/>
          <a:lstStyle/>
          <a:p>
            <a:pPr indent="0" marL="0">
              <a:lnSpc>
                <a:spcPct val="128000"/>
              </a:lnSpc>
              <a:buNone/>
            </a:pPr>
            <a:r>
              <a:rPr lang="en-US" sz="1250" dirty="0">
                <a:solidFill>
                  <a:srgbClr val="23283A"/>
                </a:solidFill>
                <a:latin typeface="Helvetica" pitchFamily="34" charset="0"/>
                <a:ea typeface="Helvetica" pitchFamily="34" charset="-122"/>
                <a:cs typeface="Helvetica" pitchFamily="34" charset="-120"/>
              </a:rPr>
              <a:t>Buka URL live-mu langsung dari HP, jalankan checklist sapu bersih satu per satu, dan perbaiki (lalu upload ulang) kalau ada yang kurang pas. Lalu kirim prompt di atas ke Claude untuk menyusun rencana testingnya, kirim link-nya ke minimal 2 orang, dan catat di mana mereka bingung atau berhenti.</a:t>
            </a:r>
            <a:endParaRPr lang="en-US" sz="1250" dirty="0"/>
          </a:p>
        </p:txBody>
      </p:sp>
      <p:sp>
        <p:nvSpPr>
          <p:cNvPr id="13" name="Shape 11"/>
          <p:cNvSpPr/>
          <p:nvPr/>
        </p:nvSpPr>
        <p:spPr>
          <a:xfrm>
            <a:off x="502920" y="4890262"/>
            <a:ext cx="11183112" cy="1224661"/>
          </a:xfrm>
          <a:prstGeom prst="roundRect">
            <a:avLst>
              <a:gd name="adj" fmla="val 8960"/>
            </a:avLst>
          </a:prstGeom>
          <a:solidFill>
            <a:srgbClr val="F4F6FB"/>
          </a:solidFill>
          <a:ln w="12700">
            <a:solidFill>
              <a:srgbClr val="D6DCEB"/>
            </a:solidFill>
            <a:prstDash val="solid"/>
          </a:ln>
        </p:spPr>
      </p:sp>
      <p:sp>
        <p:nvSpPr>
          <p:cNvPr id="14" name="Shape 12"/>
          <p:cNvSpPr/>
          <p:nvPr/>
        </p:nvSpPr>
        <p:spPr>
          <a:xfrm>
            <a:off x="722376" y="5073142"/>
            <a:ext cx="365760" cy="365760"/>
          </a:xfrm>
          <a:prstGeom prst="ellipse">
            <a:avLst/>
          </a:prstGeom>
          <a:solidFill>
            <a:srgbClr val="6849F6"/>
          </a:solidFill>
          <a:ln/>
        </p:spPr>
      </p:sp>
      <p:sp>
        <p:nvSpPr>
          <p:cNvPr id="15" name="Text 13"/>
          <p:cNvSpPr txBox="1"/>
          <p:nvPr/>
        </p:nvSpPr>
        <p:spPr>
          <a:xfrm>
            <a:off x="722376" y="5073142"/>
            <a:ext cx="36576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Helvetica" pitchFamily="34" charset="0"/>
                <a:ea typeface="Helvetica" pitchFamily="34" charset="-122"/>
                <a:cs typeface="Helvetica" pitchFamily="34" charset="-120"/>
              </a:rPr>
              <a:t>✓</a:t>
            </a:r>
            <a:endParaRPr lang="en-US" sz="1600" dirty="0"/>
          </a:p>
        </p:txBody>
      </p:sp>
      <p:sp>
        <p:nvSpPr>
          <p:cNvPr id="16" name="Text 14"/>
          <p:cNvSpPr txBox="1"/>
          <p:nvPr/>
        </p:nvSpPr>
        <p:spPr>
          <a:xfrm>
            <a:off x="1234440" y="5146294"/>
            <a:ext cx="10268712" cy="274320"/>
          </a:xfrm>
          <a:prstGeom prst="rect">
            <a:avLst/>
          </a:prstGeom>
          <a:noFill/>
          <a:ln/>
        </p:spPr>
        <p:txBody>
          <a:bodyPr wrap="square" lIns="0" tIns="0" rIns="0" bIns="0" rtlCol="0" anchor="ctr"/>
          <a:lstStyle/>
          <a:p>
            <a:pPr indent="0" marL="0">
              <a:buNone/>
            </a:pPr>
            <a:r>
              <a:rPr lang="en-US" sz="1250" b="1" dirty="0">
                <a:solidFill>
                  <a:srgbClr val="23283A"/>
                </a:solidFill>
                <a:latin typeface="Helvetica" pitchFamily="34" charset="0"/>
                <a:ea typeface="Helvetica" pitchFamily="34" charset="-122"/>
                <a:cs typeface="Helvetica" pitchFamily="34" charset="-120"/>
              </a:rPr>
              <a:t>Output yang Diharapkan</a:t>
            </a:r>
            <a:endParaRPr lang="en-US" sz="1250" dirty="0"/>
          </a:p>
        </p:txBody>
      </p:sp>
      <p:sp>
        <p:nvSpPr>
          <p:cNvPr id="17" name="Text 15"/>
          <p:cNvSpPr txBox="1"/>
          <p:nvPr/>
        </p:nvSpPr>
        <p:spPr>
          <a:xfrm>
            <a:off x="722376" y="5548630"/>
            <a:ext cx="10744200" cy="365125"/>
          </a:xfrm>
          <a:prstGeom prst="rect">
            <a:avLst/>
          </a:prstGeom>
          <a:noFill/>
          <a:ln/>
        </p:spPr>
        <p:txBody>
          <a:bodyPr wrap="square" lIns="0" tIns="0" rIns="0" bIns="0" rtlCol="0" anchor="ctr"/>
          <a:lstStyle/>
          <a:p>
            <a:pPr indent="0" marL="0">
              <a:lnSpc>
                <a:spcPct val="125000"/>
              </a:lnSpc>
              <a:buNone/>
            </a:pPr>
            <a:r>
              <a:rPr lang="en-US" sz="1150" dirty="0">
                <a:solidFill>
                  <a:srgbClr val="6B7280"/>
                </a:solidFill>
                <a:latin typeface="Helvetica" pitchFamily="34" charset="0"/>
                <a:ea typeface="Helvetica" pitchFamily="34" charset="-122"/>
                <a:cs typeface="Helvetica" pitchFamily="34" charset="-120"/>
              </a:rPr>
              <a:t>Situs yang sudah dicek langsung dari HP asli, bebas dari kesalahan-kesalahan umum, dan sudah dicoba minimal 2 orang lain — siap dipakai sebagai bukti kerja nyata.</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2026-08-31T11:15:31Z</dcterms:created>
  <dcterms:modified xsi:type="dcterms:W3CDTF">2026-08-31T11:15:31Z</dcterms:modified>
</cp:coreProperties>
</file>