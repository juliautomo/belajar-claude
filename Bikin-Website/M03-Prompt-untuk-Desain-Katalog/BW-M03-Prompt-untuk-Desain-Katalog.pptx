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txBox="1"/>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921240" y="502920"/>
            <a:ext cx="1691640" cy="420624"/>
          </a:xfrm>
          <a:prstGeom prst="roundRect">
            <a:avLst>
              <a:gd name="adj" fmla="val 21739"/>
            </a:avLst>
          </a:prstGeom>
          <a:solidFill>
            <a:srgbClr val="6849F6"/>
          </a:solidFill>
          <a:ln/>
        </p:spPr>
      </p:sp>
      <p:sp>
        <p:nvSpPr>
          <p:cNvPr id="5" name="Text 3"/>
          <p:cNvSpPr txBox="1"/>
          <p:nvPr/>
        </p:nvSpPr>
        <p:spPr>
          <a:xfrm>
            <a:off x="9921240" y="502920"/>
            <a:ext cx="16916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3</a:t>
            </a:r>
            <a:endParaRPr lang="en-US" sz="1300" dirty="0"/>
          </a:p>
        </p:txBody>
      </p:sp>
      <p:sp>
        <p:nvSpPr>
          <p:cNvPr id="6" name="Text 4"/>
          <p:cNvSpPr txBox="1"/>
          <p:nvPr/>
        </p:nvSpPr>
        <p:spPr>
          <a:xfrm>
            <a:off x="640080" y="2697480"/>
            <a:ext cx="7132320" cy="1371600"/>
          </a:xfrm>
          <a:prstGeom prst="rect">
            <a:avLst/>
          </a:prstGeom>
          <a:noFill/>
          <a:ln/>
        </p:spPr>
        <p:txBody>
          <a:bodyPr wrap="square" lIns="0" tIns="0" rIns="0" bIns="0" rtlCol="0" anchor="b"/>
          <a:lstStyle/>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Prompt untuk</a:t>
            </a:r>
            <a:endParaRPr lang="en-US" sz="4400" dirty="0"/>
          </a:p>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Desain Katalog</a:t>
            </a:r>
            <a:endParaRPr lang="en-US" sz="4400" dirty="0"/>
          </a:p>
        </p:txBody>
      </p:sp>
      <p:sp>
        <p:nvSpPr>
          <p:cNvPr id="7" name="Text 5"/>
          <p:cNvSpPr txBox="1"/>
          <p:nvPr/>
        </p:nvSpPr>
        <p:spPr>
          <a:xfrm>
            <a:off x="640080" y="4325112"/>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Cari inspirasi dulu, baru minta Claude bikin kerangka visualnya</a:t>
            </a:r>
            <a:endParaRPr lang="en-US" sz="1550" dirty="0"/>
          </a:p>
        </p:txBody>
      </p:sp>
      <p:sp>
        <p:nvSpPr>
          <p:cNvPr id="8" name="Text 6"/>
          <p:cNvSpPr txBox="1"/>
          <p:nvPr/>
        </p:nvSpPr>
        <p:spPr>
          <a:xfrm>
            <a:off x="640080" y="6263640"/>
            <a:ext cx="7315200" cy="36576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Bikin Website Sendiri Tanpa Coding · Studi Kasus Katalog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untuk Desain Katalog</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Cari Inspirasi Dulu, Sebelum Menulis Prompt</a:t>
            </a:r>
            <a:endParaRPr lang="en-US" sz="2200" dirty="0"/>
          </a:p>
        </p:txBody>
      </p:sp>
      <p:sp>
        <p:nvSpPr>
          <p:cNvPr id="7" name="Text 5"/>
          <p:cNvSpPr txBox="1"/>
          <p:nvPr/>
        </p:nvSpPr>
        <p:spPr>
          <a:xfrm>
            <a:off x="502920" y="1828800"/>
            <a:ext cx="11155680" cy="59436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Prompt desain paling sering gagal karena satu alasan: kita mendeskripsikan tampilan dari kosong, padahal susah menjelaskan sesuatu yang belum pernah kita lihat.</a:t>
            </a:r>
            <a:endParaRPr lang="en-US" sz="1350" dirty="0"/>
          </a:p>
        </p:txBody>
      </p:sp>
      <p:sp>
        <p:nvSpPr>
          <p:cNvPr id="8" name="Text 6"/>
          <p:cNvSpPr txBox="1"/>
          <p:nvPr/>
        </p:nvSpPr>
        <p:spPr>
          <a:xfrm>
            <a:off x="502920" y="2514600"/>
            <a:ext cx="11155680" cy="82296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Lihat 2-3 contoh situs atau katalog yang kamu suka tampilannya — bisa dari Pinterest, Dribbble, atau langsung situs kompetitor/UMKM lain yang sudah punya website bagus. Kamu tidak perlu mendeskripsikan desain dari nol.</a:t>
            </a:r>
            <a:endParaRPr lang="en-US" sz="1350" dirty="0"/>
          </a:p>
        </p:txBody>
      </p:sp>
      <p:sp>
        <p:nvSpPr>
          <p:cNvPr id="9" name="Shape 7"/>
          <p:cNvSpPr/>
          <p:nvPr/>
        </p:nvSpPr>
        <p:spPr>
          <a:xfrm>
            <a:off x="502920" y="3520440"/>
            <a:ext cx="11183112" cy="1260920"/>
          </a:xfrm>
          <a:prstGeom prst="roundRect">
            <a:avLst>
              <a:gd name="adj" fmla="val 7252"/>
            </a:avLst>
          </a:prstGeom>
          <a:solidFill>
            <a:srgbClr val="F3F0FF"/>
          </a:solidFill>
          <a:ln w="12700">
            <a:solidFill>
              <a:srgbClr val="DCD3FB"/>
            </a:solidFill>
            <a:prstDash val="solid"/>
          </a:ln>
        </p:spPr>
      </p:sp>
      <p:sp>
        <p:nvSpPr>
          <p:cNvPr id="10" name="Text 8"/>
          <p:cNvSpPr txBox="1"/>
          <p:nvPr/>
        </p:nvSpPr>
        <p:spPr>
          <a:xfrm>
            <a:off x="704088" y="3685032"/>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KASIH REFERENSINYA LANGSUNG KE CLAUDE</a:t>
            </a:r>
            <a:endParaRPr lang="en-US" sz="1150" dirty="0"/>
          </a:p>
        </p:txBody>
      </p:sp>
      <p:sp>
        <p:nvSpPr>
          <p:cNvPr id="11" name="Text 9"/>
          <p:cNvSpPr txBox="1"/>
          <p:nvPr/>
        </p:nvSpPr>
        <p:spPr>
          <a:xfrm>
            <a:off x="704088" y="4032504"/>
            <a:ext cx="10780776" cy="547688"/>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Upload screenshot referensi yang kamu suka langsung ke chat, lalu bilang misalnya “buat desain kayak gambar ini tapi untuk katalog produk saya.” Claude bisa membaca gambar yang kamu upload dan menangkap gaya visualnya — warna, layout, mood — jauh lebih akurat dibanding mendeskripsikannya dengan kata-kata dari nol.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untuk Desain Katalog</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Elemen Katalog yang Perlu Disebutkan</a:t>
            </a:r>
            <a:endParaRPr lang="en-US" sz="2200" dirty="0"/>
          </a:p>
        </p:txBody>
      </p:sp>
      <p:sp>
        <p:nvSpPr>
          <p:cNvPr id="7" name="Text 5"/>
          <p:cNvSpPr txBox="1"/>
          <p:nvPr/>
        </p:nvSpPr>
        <p:spPr>
          <a:xfrm>
            <a:off x="502920" y="1828800"/>
            <a:ext cx="11155680" cy="41148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Waktu menulis prompt desain, sebutkan elemen-elemen spesifik katalog supaya hasilnya lebih terarah:</a:t>
            </a:r>
            <a:endParaRPr lang="en-US" sz="1350" dirty="0"/>
          </a:p>
        </p:txBody>
      </p:sp>
      <p:sp>
        <p:nvSpPr>
          <p:cNvPr id="8" name="Shape 6"/>
          <p:cNvSpPr/>
          <p:nvPr/>
        </p:nvSpPr>
        <p:spPr>
          <a:xfrm>
            <a:off x="502920" y="2331720"/>
            <a:ext cx="5490972" cy="1027176"/>
          </a:xfrm>
          <a:prstGeom prst="roundRect">
            <a:avLst>
              <a:gd name="adj" fmla="val 8902"/>
            </a:avLst>
          </a:prstGeom>
          <a:solidFill>
            <a:srgbClr val="F4F6FB"/>
          </a:solidFill>
          <a:ln w="12700">
            <a:solidFill>
              <a:srgbClr val="D6DCEB"/>
            </a:solidFill>
            <a:prstDash val="solid"/>
          </a:ln>
        </p:spPr>
      </p:sp>
      <p:sp>
        <p:nvSpPr>
          <p:cNvPr id="9" name="Shape 7"/>
          <p:cNvSpPr/>
          <p:nvPr/>
        </p:nvSpPr>
        <p:spPr>
          <a:xfrm>
            <a:off x="685800" y="2514600"/>
            <a:ext cx="402336" cy="402336"/>
          </a:xfrm>
          <a:prstGeom prst="ellipse">
            <a:avLst/>
          </a:prstGeom>
          <a:solidFill>
            <a:srgbClr val="6849F6"/>
          </a:solidFill>
          <a:ln/>
        </p:spPr>
      </p:sp>
      <p:sp>
        <p:nvSpPr>
          <p:cNvPr id="10" name="Text 8"/>
          <p:cNvSpPr txBox="1"/>
          <p:nvPr/>
        </p:nvSpPr>
        <p:spPr>
          <a:xfrm>
            <a:off x="685800" y="25146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H</a:t>
            </a:r>
            <a:endParaRPr lang="en-US" sz="1600" dirty="0"/>
          </a:p>
        </p:txBody>
      </p:sp>
      <p:sp>
        <p:nvSpPr>
          <p:cNvPr id="11" name="Text 9"/>
          <p:cNvSpPr txBox="1"/>
          <p:nvPr/>
        </p:nvSpPr>
        <p:spPr>
          <a:xfrm>
            <a:off x="1225296" y="2514600"/>
            <a:ext cx="4604004"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Hero Section</a:t>
            </a:r>
            <a:endParaRPr lang="en-US" sz="1300" dirty="0"/>
          </a:p>
        </p:txBody>
      </p:sp>
      <p:sp>
        <p:nvSpPr>
          <p:cNvPr id="12" name="Text 10"/>
          <p:cNvSpPr txBox="1"/>
          <p:nvPr/>
        </p:nvSpPr>
        <p:spPr>
          <a:xfrm>
            <a:off x="685800" y="3026664"/>
            <a:ext cx="5125212" cy="1676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Bagian paling atas — nama toko, tagline singkat, mungkin 1 foto andalan</a:t>
            </a:r>
            <a:endParaRPr lang="en-US" sz="1100" dirty="0"/>
          </a:p>
        </p:txBody>
      </p:sp>
      <p:sp>
        <p:nvSpPr>
          <p:cNvPr id="13" name="Shape 11"/>
          <p:cNvSpPr/>
          <p:nvPr/>
        </p:nvSpPr>
        <p:spPr>
          <a:xfrm>
            <a:off x="6195060" y="2331720"/>
            <a:ext cx="5490972" cy="1027176"/>
          </a:xfrm>
          <a:prstGeom prst="roundRect">
            <a:avLst>
              <a:gd name="adj" fmla="val 8902"/>
            </a:avLst>
          </a:prstGeom>
          <a:solidFill>
            <a:srgbClr val="F4F6FB"/>
          </a:solidFill>
          <a:ln w="12700">
            <a:solidFill>
              <a:srgbClr val="D6DCEB"/>
            </a:solidFill>
            <a:prstDash val="solid"/>
          </a:ln>
        </p:spPr>
      </p:sp>
      <p:sp>
        <p:nvSpPr>
          <p:cNvPr id="14" name="Shape 12"/>
          <p:cNvSpPr/>
          <p:nvPr/>
        </p:nvSpPr>
        <p:spPr>
          <a:xfrm>
            <a:off x="6377940" y="2514600"/>
            <a:ext cx="402336" cy="402336"/>
          </a:xfrm>
          <a:prstGeom prst="ellipse">
            <a:avLst/>
          </a:prstGeom>
          <a:solidFill>
            <a:srgbClr val="6849F6"/>
          </a:solidFill>
          <a:ln/>
        </p:spPr>
      </p:sp>
      <p:sp>
        <p:nvSpPr>
          <p:cNvPr id="15" name="Text 13"/>
          <p:cNvSpPr txBox="1"/>
          <p:nvPr/>
        </p:nvSpPr>
        <p:spPr>
          <a:xfrm>
            <a:off x="6377940" y="25146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T</a:t>
            </a:r>
            <a:endParaRPr lang="en-US" sz="1600" dirty="0"/>
          </a:p>
        </p:txBody>
      </p:sp>
      <p:sp>
        <p:nvSpPr>
          <p:cNvPr id="16" name="Text 14"/>
          <p:cNvSpPr txBox="1"/>
          <p:nvPr/>
        </p:nvSpPr>
        <p:spPr>
          <a:xfrm>
            <a:off x="6917436" y="2514600"/>
            <a:ext cx="4604004"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Tab Kategori</a:t>
            </a:r>
            <a:endParaRPr lang="en-US" sz="1300" dirty="0"/>
          </a:p>
        </p:txBody>
      </p:sp>
      <p:sp>
        <p:nvSpPr>
          <p:cNvPr id="17" name="Text 15"/>
          <p:cNvSpPr txBox="1"/>
          <p:nvPr/>
        </p:nvSpPr>
        <p:spPr>
          <a:xfrm>
            <a:off x="6377940" y="3026664"/>
            <a:ext cx="5125212" cy="1676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Tombol untuk beralih antar kategori produk</a:t>
            </a:r>
            <a:endParaRPr lang="en-US" sz="1100" dirty="0"/>
          </a:p>
        </p:txBody>
      </p:sp>
      <p:sp>
        <p:nvSpPr>
          <p:cNvPr id="18" name="Shape 16"/>
          <p:cNvSpPr/>
          <p:nvPr/>
        </p:nvSpPr>
        <p:spPr>
          <a:xfrm>
            <a:off x="502920" y="3560064"/>
            <a:ext cx="5490972" cy="1027176"/>
          </a:xfrm>
          <a:prstGeom prst="roundRect">
            <a:avLst>
              <a:gd name="adj" fmla="val 8902"/>
            </a:avLst>
          </a:prstGeom>
          <a:solidFill>
            <a:srgbClr val="F4F6FB"/>
          </a:solidFill>
          <a:ln w="12700">
            <a:solidFill>
              <a:srgbClr val="D6DCEB"/>
            </a:solidFill>
            <a:prstDash val="solid"/>
          </a:ln>
        </p:spPr>
      </p:sp>
      <p:sp>
        <p:nvSpPr>
          <p:cNvPr id="19" name="Shape 17"/>
          <p:cNvSpPr/>
          <p:nvPr/>
        </p:nvSpPr>
        <p:spPr>
          <a:xfrm>
            <a:off x="685800" y="3742944"/>
            <a:ext cx="402336" cy="402336"/>
          </a:xfrm>
          <a:prstGeom prst="ellipse">
            <a:avLst/>
          </a:prstGeom>
          <a:solidFill>
            <a:srgbClr val="6849F6"/>
          </a:solidFill>
          <a:ln/>
        </p:spPr>
      </p:sp>
      <p:sp>
        <p:nvSpPr>
          <p:cNvPr id="20" name="Text 18"/>
          <p:cNvSpPr txBox="1"/>
          <p:nvPr/>
        </p:nvSpPr>
        <p:spPr>
          <a:xfrm>
            <a:off x="685800" y="374294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G</a:t>
            </a:r>
            <a:endParaRPr lang="en-US" sz="1600" dirty="0"/>
          </a:p>
        </p:txBody>
      </p:sp>
      <p:sp>
        <p:nvSpPr>
          <p:cNvPr id="21" name="Text 19"/>
          <p:cNvSpPr txBox="1"/>
          <p:nvPr/>
        </p:nvSpPr>
        <p:spPr>
          <a:xfrm>
            <a:off x="1225296" y="3742944"/>
            <a:ext cx="4604004"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Grid Produk</a:t>
            </a:r>
            <a:endParaRPr lang="en-US" sz="1300" dirty="0"/>
          </a:p>
        </p:txBody>
      </p:sp>
      <p:sp>
        <p:nvSpPr>
          <p:cNvPr id="22" name="Text 20"/>
          <p:cNvSpPr txBox="1"/>
          <p:nvPr/>
        </p:nvSpPr>
        <p:spPr>
          <a:xfrm>
            <a:off x="685800" y="4255008"/>
            <a:ext cx="5125212" cy="1676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Kartu-kartu produk tersusun rapi, biasanya 2-3 kolom</a:t>
            </a:r>
            <a:endParaRPr lang="en-US" sz="1100" dirty="0"/>
          </a:p>
        </p:txBody>
      </p:sp>
      <p:sp>
        <p:nvSpPr>
          <p:cNvPr id="23" name="Shape 21"/>
          <p:cNvSpPr/>
          <p:nvPr/>
        </p:nvSpPr>
        <p:spPr>
          <a:xfrm>
            <a:off x="6195060" y="3560064"/>
            <a:ext cx="5490972" cy="1027176"/>
          </a:xfrm>
          <a:prstGeom prst="roundRect">
            <a:avLst>
              <a:gd name="adj" fmla="val 8902"/>
            </a:avLst>
          </a:prstGeom>
          <a:solidFill>
            <a:srgbClr val="F4F6FB"/>
          </a:solidFill>
          <a:ln w="12700">
            <a:solidFill>
              <a:srgbClr val="D6DCEB"/>
            </a:solidFill>
            <a:prstDash val="solid"/>
          </a:ln>
        </p:spPr>
      </p:sp>
      <p:sp>
        <p:nvSpPr>
          <p:cNvPr id="24" name="Shape 22"/>
          <p:cNvSpPr/>
          <p:nvPr/>
        </p:nvSpPr>
        <p:spPr>
          <a:xfrm>
            <a:off x="6377940" y="3742944"/>
            <a:ext cx="402336" cy="402336"/>
          </a:xfrm>
          <a:prstGeom prst="ellipse">
            <a:avLst/>
          </a:prstGeom>
          <a:solidFill>
            <a:srgbClr val="6849F6"/>
          </a:solidFill>
          <a:ln/>
        </p:spPr>
      </p:sp>
      <p:sp>
        <p:nvSpPr>
          <p:cNvPr id="25" name="Text 23"/>
          <p:cNvSpPr txBox="1"/>
          <p:nvPr/>
        </p:nvSpPr>
        <p:spPr>
          <a:xfrm>
            <a:off x="6377940" y="374294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K</a:t>
            </a:r>
            <a:endParaRPr lang="en-US" sz="1600" dirty="0"/>
          </a:p>
        </p:txBody>
      </p:sp>
      <p:sp>
        <p:nvSpPr>
          <p:cNvPr id="26" name="Text 24"/>
          <p:cNvSpPr txBox="1"/>
          <p:nvPr/>
        </p:nvSpPr>
        <p:spPr>
          <a:xfrm>
            <a:off x="6917436" y="3742944"/>
            <a:ext cx="4604004"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Kartu Produk</a:t>
            </a:r>
            <a:endParaRPr lang="en-US" sz="1300" dirty="0"/>
          </a:p>
        </p:txBody>
      </p:sp>
      <p:sp>
        <p:nvSpPr>
          <p:cNvPr id="27" name="Text 25"/>
          <p:cNvSpPr txBox="1"/>
          <p:nvPr/>
        </p:nvSpPr>
        <p:spPr>
          <a:xfrm>
            <a:off x="6377940" y="4255008"/>
            <a:ext cx="5125212" cy="1676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Foto, nama, harga — dan nanti tombol order di Modul 5</a:t>
            </a:r>
            <a:endParaRPr lang="en-US" sz="1100" dirty="0"/>
          </a:p>
        </p:txBody>
      </p:sp>
      <p:sp>
        <p:nvSpPr>
          <p:cNvPr id="28" name="Shape 26"/>
          <p:cNvSpPr/>
          <p:nvPr/>
        </p:nvSpPr>
        <p:spPr>
          <a:xfrm>
            <a:off x="502920" y="4815840"/>
            <a:ext cx="11183112" cy="895795"/>
          </a:xfrm>
          <a:prstGeom prst="roundRect">
            <a:avLst>
              <a:gd name="adj" fmla="val 10208"/>
            </a:avLst>
          </a:prstGeom>
          <a:solidFill>
            <a:srgbClr val="F3F0FF"/>
          </a:solidFill>
          <a:ln w="12700">
            <a:solidFill>
              <a:srgbClr val="DCD3FB"/>
            </a:solidFill>
            <a:prstDash val="solid"/>
          </a:ln>
        </p:spPr>
      </p:sp>
      <p:sp>
        <p:nvSpPr>
          <p:cNvPr id="29" name="Text 27"/>
          <p:cNvSpPr txBox="1"/>
          <p:nvPr/>
        </p:nvSpPr>
        <p:spPr>
          <a:xfrm>
            <a:off x="704088" y="4980432"/>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CATATAN</a:t>
            </a:r>
            <a:endParaRPr lang="en-US" sz="1150" dirty="0"/>
          </a:p>
        </p:txBody>
      </p:sp>
      <p:sp>
        <p:nvSpPr>
          <p:cNvPr id="30" name="Text 28"/>
          <p:cNvSpPr txBox="1"/>
          <p:nvPr/>
        </p:nvSpPr>
        <p:spPr>
          <a:xfrm>
            <a:off x="704088" y="5327904"/>
            <a:ext cx="10780776" cy="182563"/>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Artifact yang dihasilkan di modul ini murni kerangka visual — layout dan gaya. Belum diisi data produk asli, itu bagian Modul 4.</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untuk Desain Katalog</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3</a:t>
            </a:r>
            <a:endParaRPr lang="en-US" sz="2200" dirty="0"/>
          </a:p>
        </p:txBody>
      </p:sp>
      <p:sp>
        <p:nvSpPr>
          <p:cNvPr id="7" name="Text 5"/>
          <p:cNvSpPr txBox="1"/>
          <p:nvPr/>
        </p:nvSpPr>
        <p:spPr>
          <a:xfrm>
            <a:off x="502920" y="1828800"/>
            <a:ext cx="6949440" cy="301752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Cari 2-3 referensi visual dulu sebelum menulis prompt desain — jangan dari kosong</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Upload screenshot referensi langsung ke Claude, jauh lebih akurat daripada mendeskripsikan dari kata-kata</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Sebutkan elemen katalog spesifik: hero, tab kategori, grid produk, kartu produk</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Hasil di modul ini adalah kerangka layout — belum diisi konten asli</a:t>
            </a:r>
            <a:endParaRPr lang="en-US" sz="1300" dirty="0"/>
          </a:p>
        </p:txBody>
      </p:sp>
      <p:sp>
        <p:nvSpPr>
          <p:cNvPr id="8" name="Shape 6"/>
          <p:cNvSpPr/>
          <p:nvPr/>
        </p:nvSpPr>
        <p:spPr>
          <a:xfrm>
            <a:off x="7680960" y="1828800"/>
            <a:ext cx="4005072" cy="1260920"/>
          </a:xfrm>
          <a:prstGeom prst="roundRect">
            <a:avLst>
              <a:gd name="adj" fmla="val 7252"/>
            </a:avLst>
          </a:prstGeom>
          <a:solidFill>
            <a:srgbClr val="F3F0FF"/>
          </a:solidFill>
          <a:ln w="12700">
            <a:solidFill>
              <a:srgbClr val="DCD3FB"/>
            </a:solidFill>
            <a:prstDash val="solid"/>
          </a:ln>
        </p:spPr>
      </p:sp>
      <p:sp>
        <p:nvSpPr>
          <p:cNvPr id="9" name="Text 7"/>
          <p:cNvSpPr txBox="1"/>
          <p:nvPr/>
        </p:nvSpPr>
        <p:spPr>
          <a:xfrm>
            <a:off x="7882128" y="1993392"/>
            <a:ext cx="360273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TIPS</a:t>
            </a:r>
            <a:endParaRPr lang="en-US" sz="1150" dirty="0"/>
          </a:p>
        </p:txBody>
      </p:sp>
      <p:sp>
        <p:nvSpPr>
          <p:cNvPr id="10" name="Text 8"/>
          <p:cNvSpPr txBox="1"/>
          <p:nvPr/>
        </p:nvSpPr>
        <p:spPr>
          <a:xfrm>
            <a:off x="7882128" y="2340864"/>
            <a:ext cx="3602736" cy="547688"/>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Nggak punya referensi? Coba deskripsikan mood-nya (“clean”, “hangat”, “minimalis”) — Claude tetap bisa bantu mulai.</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3 — Prompt untuk Desain Katalog</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920240"/>
            <a:ext cx="11183112" cy="1386840"/>
          </a:xfrm>
          <a:prstGeom prst="roundRect">
            <a:avLst>
              <a:gd name="adj" fmla="val 7912"/>
            </a:avLst>
          </a:prstGeom>
          <a:solidFill>
            <a:srgbClr val="EAFAF0"/>
          </a:solidFill>
          <a:ln w="12700">
            <a:solidFill>
              <a:srgbClr val="B8E6C9"/>
            </a:solidFill>
            <a:prstDash val="solid"/>
          </a:ln>
        </p:spPr>
      </p:sp>
      <p:sp>
        <p:nvSpPr>
          <p:cNvPr id="8" name="Text 6"/>
          <p:cNvSpPr txBox="1"/>
          <p:nvPr/>
        </p:nvSpPr>
        <p:spPr>
          <a:xfrm>
            <a:off x="740664" y="2103120"/>
            <a:ext cx="10707624"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txBox="1"/>
          <p:nvPr/>
        </p:nvSpPr>
        <p:spPr>
          <a:xfrm>
            <a:off x="740664" y="2468880"/>
            <a:ext cx="10707624" cy="609600"/>
          </a:xfrm>
          <a:prstGeom prst="rect">
            <a:avLst/>
          </a:prstGeom>
          <a:noFill/>
          <a:ln/>
        </p:spPr>
        <p:txBody>
          <a:bodyPr wrap="square" lIns="0" tIns="0" rIns="0" bIns="0" rtlCol="0" anchor="ctr"/>
          <a:lstStyle/>
          <a:p>
            <a:pPr indent="0" marL="0">
              <a:lnSpc>
                <a:spcPct val="128000"/>
              </a:lnSpc>
              <a:buNone/>
            </a:pPr>
            <a:r>
              <a:rPr lang="en-US" sz="1250" dirty="0">
                <a:solidFill>
                  <a:srgbClr val="23283A"/>
                </a:solidFill>
                <a:latin typeface="Helvetica" pitchFamily="34" charset="0"/>
                <a:ea typeface="Helvetica" pitchFamily="34" charset="-122"/>
                <a:cs typeface="Helvetica" pitchFamily="34" charset="-120"/>
              </a:rPr>
              <a:t>Cari 2-3 referensi visual yang kamu suka (screenshot atau link), lalu buat kerangka layout katalog pertamamu di Artifact, memakai referensi itu. Upload referensi yang sudah kamu kumpulkan ke Claude, jelaskan gaya yang kamu suka, lalu minta kerangka layout katalog sesuai elemen-elemen di atas.</a:t>
            </a:r>
            <a:endParaRPr lang="en-US" sz="1250" dirty="0"/>
          </a:p>
        </p:txBody>
      </p:sp>
      <p:sp>
        <p:nvSpPr>
          <p:cNvPr id="10" name="Shape 8"/>
          <p:cNvSpPr/>
          <p:nvPr/>
        </p:nvSpPr>
        <p:spPr>
          <a:xfrm>
            <a:off x="502920" y="3535680"/>
            <a:ext cx="11183112" cy="1021461"/>
          </a:xfrm>
          <a:prstGeom prst="roundRect">
            <a:avLst>
              <a:gd name="adj" fmla="val 7162"/>
            </a:avLst>
          </a:prstGeom>
          <a:solidFill>
            <a:srgbClr val="0D1321"/>
          </a:solidFill>
          <a:ln/>
        </p:spPr>
      </p:sp>
      <p:sp>
        <p:nvSpPr>
          <p:cNvPr id="11" name="Text 9"/>
          <p:cNvSpPr txBox="1"/>
          <p:nvPr/>
        </p:nvSpPr>
        <p:spPr>
          <a:xfrm>
            <a:off x="731520" y="3736848"/>
            <a:ext cx="10725912" cy="619125"/>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Helvetica" pitchFamily="34" charset="0"/>
                <a:ea typeface="Helvetica" pitchFamily="34" charset="-122"/>
                <a:cs typeface="Helvetica" pitchFamily="34" charset="-120"/>
              </a:rPr>
              <a:t>[upload screenshot referensi yang kamu suka] Saya suka gaya visual di gambar ini — warnanya soft, kartu produknya rapi dengan foto besar di atas. Bikinkan kerangka layout katalog produk dengan gaya serupa: grid 3 kolom, tab kategori di atas, tiap kartu produk ada foto + nama + harga.</a:t>
            </a:r>
            <a:endParaRPr lang="en-US" sz="1250" dirty="0"/>
          </a:p>
        </p:txBody>
      </p:sp>
      <p:sp>
        <p:nvSpPr>
          <p:cNvPr id="12" name="Shape 10"/>
          <p:cNvSpPr/>
          <p:nvPr/>
        </p:nvSpPr>
        <p:spPr>
          <a:xfrm>
            <a:off x="502920" y="4785741"/>
            <a:ext cx="11183112" cy="1042099"/>
          </a:xfrm>
          <a:prstGeom prst="roundRect">
            <a:avLst>
              <a:gd name="adj" fmla="val 10530"/>
            </a:avLst>
          </a:prstGeom>
          <a:solidFill>
            <a:srgbClr val="F4F6FB"/>
          </a:solidFill>
          <a:ln w="12700">
            <a:solidFill>
              <a:srgbClr val="D6DCEB"/>
            </a:solidFill>
            <a:prstDash val="solid"/>
          </a:ln>
        </p:spPr>
      </p:sp>
      <p:sp>
        <p:nvSpPr>
          <p:cNvPr id="13" name="Shape 11"/>
          <p:cNvSpPr/>
          <p:nvPr/>
        </p:nvSpPr>
        <p:spPr>
          <a:xfrm>
            <a:off x="722376" y="4968621"/>
            <a:ext cx="365760" cy="365760"/>
          </a:xfrm>
          <a:prstGeom prst="ellipse">
            <a:avLst/>
          </a:prstGeom>
          <a:solidFill>
            <a:srgbClr val="6849F6"/>
          </a:solidFill>
          <a:ln/>
        </p:spPr>
      </p:sp>
      <p:sp>
        <p:nvSpPr>
          <p:cNvPr id="14" name="Text 12"/>
          <p:cNvSpPr txBox="1"/>
          <p:nvPr/>
        </p:nvSpPr>
        <p:spPr>
          <a:xfrm>
            <a:off x="722376" y="4968621"/>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a:t>
            </a:r>
            <a:endParaRPr lang="en-US" sz="1600" dirty="0"/>
          </a:p>
        </p:txBody>
      </p:sp>
      <p:sp>
        <p:nvSpPr>
          <p:cNvPr id="15" name="Text 13"/>
          <p:cNvSpPr txBox="1"/>
          <p:nvPr/>
        </p:nvSpPr>
        <p:spPr>
          <a:xfrm>
            <a:off x="1234440" y="5041773"/>
            <a:ext cx="10268712" cy="274320"/>
          </a:xfrm>
          <a:prstGeom prst="rect">
            <a:avLst/>
          </a:prstGeom>
          <a:noFill/>
          <a:ln/>
        </p:spPr>
        <p:txBody>
          <a:bodyPr wrap="square" lIns="0" tIns="0" rIns="0" bIns="0" rtlCol="0" anchor="ctr"/>
          <a:lstStyle/>
          <a:p>
            <a:pPr indent="0" marL="0">
              <a:buNone/>
            </a:pPr>
            <a:r>
              <a:rPr lang="en-US" sz="1250" b="1" dirty="0">
                <a:solidFill>
                  <a:srgbClr val="23283A"/>
                </a:solidFill>
                <a:latin typeface="Helvetica" pitchFamily="34" charset="0"/>
                <a:ea typeface="Helvetica" pitchFamily="34" charset="-122"/>
                <a:cs typeface="Helvetica" pitchFamily="34" charset="-120"/>
              </a:rPr>
              <a:t>Output yang Diharapkan</a:t>
            </a:r>
            <a:endParaRPr lang="en-US" sz="1250" dirty="0"/>
          </a:p>
        </p:txBody>
      </p:sp>
      <p:sp>
        <p:nvSpPr>
          <p:cNvPr id="16" name="Text 14"/>
          <p:cNvSpPr txBox="1"/>
          <p:nvPr/>
        </p:nvSpPr>
        <p:spPr>
          <a:xfrm>
            <a:off x="722376" y="5444109"/>
            <a:ext cx="10744200" cy="182563"/>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Artifact pertama: kerangka layout visual katalog (grid, kartu produk, tab kategori) — belum diisi data asli.</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2026-09-01T06:14:01Z</dcterms:created>
  <dcterms:modified xsi:type="dcterms:W3CDTF">2026-09-01T06:14:01Z</dcterms:modified>
</cp:coreProperties>
</file>