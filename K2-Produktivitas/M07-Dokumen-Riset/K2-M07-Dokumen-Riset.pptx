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38160" y="0"/>
            <a:ext cx="4050791" cy="6858000"/>
          </a:xfrm>
          <a:prstGeom prst="rect">
            <a:avLst/>
          </a:prstGeom>
          <a:solidFill>
            <a:srgbClr val="14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3657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belajar</a:t>
            </a:r>
            <a:r>
              <a:rPr sz="2200" b="1" i="0">
                <a:solidFill>
                  <a:srgbClr val="6849F6"/>
                </a:solidFill>
                <a:latin typeface="Arial"/>
              </a:rPr>
              <a:t>claude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29800" y="347472"/>
            <a:ext cx="1965960" cy="420624"/>
          </a:xfrm>
          <a:prstGeom prst="roundRect">
            <a:avLst>
              <a:gd name="adj" fmla="val 22000"/>
            </a:avLst>
          </a:prstGeom>
          <a:solidFill>
            <a:srgbClr val="684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29800" y="347472"/>
            <a:ext cx="19659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MODUL 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286000"/>
            <a:ext cx="76809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Dokumen &amp; Riset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B7C0D8"/>
                </a:solidFill>
                <a:latin typeface="Arial"/>
              </a:rPr>
              <a:t>Meeting notes, ringkasan, SWOT, SOP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5720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AA2B4"/>
                </a:solidFill>
                <a:latin typeface="Arial"/>
              </a:rPr>
              <a:t>Produktivitas Kantor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36576"/>
          </a:xfrm>
          <a:prstGeom prst="rect">
            <a:avLst/>
          </a:prstGeom>
          <a:solidFill>
            <a:srgbClr val="684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belajar</a:t>
            </a:r>
            <a:r>
              <a:rPr sz="2000" b="1" i="0">
                <a:solidFill>
                  <a:srgbClr val="6849F6"/>
                </a:solidFill>
                <a:latin typeface="Arial"/>
              </a:rPr>
              <a:t>claude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0" y="274320"/>
            <a:ext cx="6035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9AA2B4"/>
                </a:solidFill>
                <a:latin typeface="Arial"/>
              </a:rPr>
              <a:t>Modul 07 — Dokumen &amp; Riset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97280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23283A"/>
                </a:solidFill>
                <a:latin typeface="Arial"/>
              </a:rPr>
              <a:t>4 Skill dalam Modul 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11155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B36C7"/>
                </a:solidFill>
                <a:latin typeface="Arial"/>
              </a:rPr>
              <a:t>PEKERJAAN “BERPIKIR” YANG SERING MENYITA WAKTU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03120"/>
            <a:ext cx="2686050" cy="3520440"/>
          </a:xfrm>
          <a:prstGeom prst="roundRect">
            <a:avLst>
              <a:gd name="adj" fmla="val 4000"/>
            </a:avLst>
          </a:prstGeom>
          <a:solidFill>
            <a:srgbClr val="F3F0FF"/>
          </a:solidFill>
          <a:ln w="12700">
            <a:solidFill>
              <a:srgbClr val="DCD3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08200" y="2359152"/>
            <a:ext cx="475488" cy="475488"/>
          </a:xfrm>
          <a:prstGeom prst="ellipse">
            <a:avLst/>
          </a:prstGeom>
          <a:solidFill>
            <a:srgbClr val="684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08200" y="2359152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999232"/>
            <a:ext cx="24665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4B36C7"/>
                </a:solidFill>
                <a:latin typeface="Arial"/>
              </a:rPr>
              <a:t>MEETING NOTES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3429000"/>
            <a:ext cx="246659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  <a:latin typeface="Arial"/>
              </a:rPr>
              <a:t>Jadi action items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" y="3840479"/>
            <a:ext cx="2466594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3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886200"/>
            <a:ext cx="232029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3283A"/>
                </a:solidFill>
                <a:latin typeface="Arial"/>
              </a:rPr>
              <a:t>Catatan rapat berantakan → ringkasan keputusan + tabel siapa/apa/kapan, siap dishare dalam hitungan menit.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26130" y="2103120"/>
            <a:ext cx="2686050" cy="3520440"/>
          </a:xfrm>
          <a:prstGeom prst="roundRect">
            <a:avLst>
              <a:gd name="adj" fmla="val 4000"/>
            </a:avLst>
          </a:prstGeom>
          <a:solidFill>
            <a:srgbClr val="F3F0FF"/>
          </a:solidFill>
          <a:ln w="12700">
            <a:solidFill>
              <a:srgbClr val="DCD3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431411" y="2359152"/>
            <a:ext cx="475488" cy="475488"/>
          </a:xfrm>
          <a:prstGeom prst="ellipse">
            <a:avLst/>
          </a:prstGeom>
          <a:solidFill>
            <a:srgbClr val="684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1411" y="2359152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35858" y="2999232"/>
            <a:ext cx="24665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4B36C7"/>
                </a:solidFill>
                <a:latin typeface="Arial"/>
              </a:rPr>
              <a:t>SUMMARIZING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35858" y="3429000"/>
            <a:ext cx="246659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  <a:latin typeface="Arial"/>
              </a:rPr>
              <a:t>Dokumen panjang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35858" y="3840479"/>
            <a:ext cx="2466594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3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09010" y="3886200"/>
            <a:ext cx="232029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3283A"/>
                </a:solidFill>
                <a:latin typeface="Arial"/>
              </a:rPr>
              <a:t>Proposal, kontrak, laporan panjang → ringkasan sesuai keputusan yang perlu kamu buat, bukan ringkasan generik.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9340" y="2103120"/>
            <a:ext cx="2686050" cy="3520440"/>
          </a:xfrm>
          <a:prstGeom prst="roundRect">
            <a:avLst>
              <a:gd name="adj" fmla="val 4000"/>
            </a:avLst>
          </a:prstGeom>
          <a:solidFill>
            <a:srgbClr val="F3F0FF"/>
          </a:solidFill>
          <a:ln w="12700">
            <a:solidFill>
              <a:srgbClr val="DCD3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254621" y="2359152"/>
            <a:ext cx="475488" cy="475488"/>
          </a:xfrm>
          <a:prstGeom prst="ellipse">
            <a:avLst/>
          </a:prstGeom>
          <a:solidFill>
            <a:srgbClr val="684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4621" y="2359152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068" y="2999232"/>
            <a:ext cx="24665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4B36C7"/>
                </a:solidFill>
                <a:latin typeface="Arial"/>
              </a:rPr>
              <a:t>SWOT &amp; RISET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3429000"/>
            <a:ext cx="246659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  <a:latin typeface="Arial"/>
              </a:rPr>
              <a:t>Analisis keputusan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59068" y="3840479"/>
            <a:ext cx="2466594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3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32220" y="3886200"/>
            <a:ext cx="232029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3283A"/>
                </a:solidFill>
                <a:latin typeface="Arial"/>
              </a:rPr>
              <a:t>Observasi kompetitor dan pasar yang kamu punya → SWOT terstruktur untuk keputusan bisnis konkret.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72550" y="2103120"/>
            <a:ext cx="2686050" cy="3520440"/>
          </a:xfrm>
          <a:prstGeom prst="roundRect">
            <a:avLst>
              <a:gd name="adj" fmla="val 4000"/>
            </a:avLst>
          </a:prstGeom>
          <a:solidFill>
            <a:srgbClr val="F3F0FF"/>
          </a:solidFill>
          <a:ln w="12700">
            <a:solidFill>
              <a:srgbClr val="DCD3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077831" y="2359152"/>
            <a:ext cx="475488" cy="475488"/>
          </a:xfrm>
          <a:prstGeom prst="ellipse">
            <a:avLst/>
          </a:prstGeom>
          <a:solidFill>
            <a:srgbClr val="684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77831" y="2359152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82278" y="2999232"/>
            <a:ext cx="24665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4B36C7"/>
                </a:solidFill>
                <a:latin typeface="Arial"/>
              </a:rPr>
              <a:t>SOP WRITING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82278" y="3429000"/>
            <a:ext cx="246659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  <a:latin typeface="Arial"/>
              </a:rPr>
              <a:t>Dokumentasi proses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82278" y="3840479"/>
            <a:ext cx="2466594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3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55430" y="3886200"/>
            <a:ext cx="2320290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3283A"/>
                </a:solidFill>
                <a:latin typeface="Arial"/>
              </a:rPr>
              <a:t>Proses kerja yang selama ini hanya di kepala → SOP tertulis yang bisa dibaca pegawai baru tanpa penjelasan lisan.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58064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6B7280"/>
                </a:solidFill>
                <a:latin typeface="Arial"/>
              </a:rPr>
              <a:t>Semua 3x lebih cepat: </a:t>
            </a:r>
            <a:r>
              <a:rPr sz="1150" b="0" i="0">
                <a:solidFill>
                  <a:srgbClr val="6B7280"/>
                </a:solidFill>
                <a:latin typeface="Arial"/>
              </a:rPr>
              <a:t>bukan karena Claude berpikir untuk kamu, tapi karena Claude membantu menstrukturkan dan mengeksekusi prosesnya.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36576"/>
          </a:xfrm>
          <a:prstGeom prst="rect">
            <a:avLst/>
          </a:prstGeom>
          <a:solidFill>
            <a:srgbClr val="684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belajar</a:t>
            </a:r>
            <a:r>
              <a:rPr sz="2000" b="1" i="0">
                <a:solidFill>
                  <a:srgbClr val="6849F6"/>
                </a:solidFill>
                <a:latin typeface="Arial"/>
              </a:rPr>
              <a:t>claude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0" y="274320"/>
            <a:ext cx="6035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9AA2B4"/>
                </a:solidFill>
                <a:latin typeface="Arial"/>
              </a:rPr>
              <a:t>Modul 07 — Dokumen &amp; Riset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97280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23283A"/>
                </a:solidFill>
                <a:latin typeface="Arial"/>
              </a:rPr>
              <a:t>Meeting Notes → Action Items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11155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B36C7"/>
                </a:solidFill>
                <a:latin typeface="Arial"/>
              </a:rPr>
              <a:t>DARI CATATAN BERANTAKAN KE TABEL SIAP KIRIM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48840"/>
            <a:ext cx="3474719" cy="502920"/>
          </a:xfrm>
          <a:prstGeom prst="roundRect">
            <a:avLst>
              <a:gd name="adj" fmla="val 22000"/>
            </a:avLst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148840"/>
            <a:ext cx="3474719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4B36C7"/>
                </a:solidFill>
                <a:latin typeface="Arial"/>
              </a:rPr>
              <a:t>Catatan Berantakan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77639" y="2148840"/>
            <a:ext cx="365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6849F6"/>
                </a:solidFill>
                <a:latin typeface="Arial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148840"/>
            <a:ext cx="3474719" cy="502920"/>
          </a:xfrm>
          <a:prstGeom prst="roundRect">
            <a:avLst>
              <a:gd name="adj" fmla="val 22000"/>
            </a:avLst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400" y="2148840"/>
            <a:ext cx="3474719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4B36C7"/>
                </a:solidFill>
                <a:latin typeface="Arial"/>
              </a:rPr>
              <a:t>Claude Proses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19" y="2148840"/>
            <a:ext cx="365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6849F6"/>
                </a:solidFill>
                <a:latin typeface="Arial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79" y="2148840"/>
            <a:ext cx="3474719" cy="502920"/>
          </a:xfrm>
          <a:prstGeom prst="roundRect">
            <a:avLst>
              <a:gd name="adj" fmla="val 22000"/>
            </a:avLst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79" y="2148840"/>
            <a:ext cx="3474719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4B36C7"/>
                </a:solidFill>
                <a:latin typeface="Arial"/>
              </a:rPr>
              <a:t>Ringkasan + Action Items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971800"/>
            <a:ext cx="11155680" cy="1691640"/>
          </a:xfrm>
          <a:prstGeom prst="roundRect">
            <a:avLst>
              <a:gd name="adj" fmla="val 6000"/>
            </a:avLst>
          </a:prstGeom>
          <a:solidFill>
            <a:srgbClr val="0D1321"/>
          </a:solidFill>
          <a:ln w="12700">
            <a:solidFill>
              <a:srgbClr val="6849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172968"/>
            <a:ext cx="1371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6849F6"/>
                </a:solidFill>
                <a:latin typeface="Arial"/>
              </a:rPr>
              <a:t>PROMPT: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3172968"/>
            <a:ext cx="9189719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Arial"/>
              </a:rPr>
              <a:t>"Ini catatan meeting saya: [paste]. Buat: (1) ringkasan keputusan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575304"/>
            <a:ext cx="1371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6849F6"/>
                </a:solidFill>
                <a:latin typeface="Arial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3575304"/>
            <a:ext cx="9189719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Arial"/>
              </a:rPr>
              <a:t>maks 5 poin, (2) action items tabel Siapa|Apa|Deadline, (3) pertanyaan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3977640"/>
            <a:ext cx="1371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6849F6"/>
                </a:solidFill>
                <a:latin typeface="Arial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3977640"/>
            <a:ext cx="9189719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Arial"/>
              </a:rPr>
              <a:t>yang belum terjawab."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846320"/>
            <a:ext cx="11155680" cy="1508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1520" y="5047488"/>
            <a:ext cx="1737360" cy="347472"/>
          </a:xfrm>
          <a:prstGeom prst="roundRect">
            <a:avLst>
              <a:gd name="adj" fmla="val 22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5047488"/>
            <a:ext cx="17373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6B7280"/>
                </a:solidFill>
                <a:latin typeface="Arial"/>
              </a:rPr>
              <a:t>TIPS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596127"/>
            <a:ext cx="10698480" cy="576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40000"/>
              </a:lnSpc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23283A"/>
                </a:solidFill>
                <a:latin typeface="Arial"/>
              </a:rPr>
              <a:t>Tidak perlu catatan rapi — poin acak, singkatan, bahkan typo tetap bisa diproses</a:t>
            </a:r>
          </a:p>
          <a:p>
            <a:pPr marL="228600" indent="-228600">
              <a:lnSpc>
                <a:spcPct val="140000"/>
              </a:lnSpc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23283A"/>
                </a:solidFill>
                <a:latin typeface="Arial"/>
              </a:rPr>
              <a:t>Kalau rapat direkam, transkrip audio dulu → paste hasilnya ke Claude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36576"/>
          </a:xfrm>
          <a:prstGeom prst="rect">
            <a:avLst/>
          </a:prstGeom>
          <a:solidFill>
            <a:srgbClr val="684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belajar</a:t>
            </a:r>
            <a:r>
              <a:rPr sz="2000" b="1" i="0">
                <a:solidFill>
                  <a:srgbClr val="6849F6"/>
                </a:solidFill>
                <a:latin typeface="Arial"/>
              </a:rPr>
              <a:t>claude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0" y="274320"/>
            <a:ext cx="6035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9AA2B4"/>
                </a:solidFill>
                <a:latin typeface="Arial"/>
              </a:rPr>
              <a:t>Modul 07 — Dokumen &amp; Riset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97280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23283A"/>
                </a:solidFill>
                <a:latin typeface="Arial"/>
              </a:rPr>
              <a:t>Summarizing Documents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11155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B36C7"/>
                </a:solidFill>
                <a:latin typeface="Arial"/>
              </a:rPr>
              <a:t>BACA 10 HALAMAN DALAM 1 RINGKASAN TERARAH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103120"/>
            <a:ext cx="11155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3283A"/>
                </a:solidFill>
                <a:latin typeface="Arial"/>
              </a:rPr>
              <a:t>Paste dokumen ke Claude → tentukan sudut pandang (untuk membalas? presentasi? memutuskan?) → minta output sesuai keputusan yang perlu dibuat.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834640"/>
            <a:ext cx="2686050" cy="2788920"/>
          </a:xfrm>
          <a:prstGeom prst="roundRect">
            <a:avLst>
              <a:gd name="adj" fmla="val 4000"/>
            </a:avLst>
          </a:prstGeom>
          <a:solidFill>
            <a:srgbClr val="F3F0FF"/>
          </a:solidFill>
          <a:ln w="12700">
            <a:solidFill>
              <a:srgbClr val="DCD3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08200" y="3090672"/>
            <a:ext cx="475488" cy="475488"/>
          </a:xfrm>
          <a:prstGeom prst="ellipse">
            <a:avLst/>
          </a:prstGeom>
          <a:solidFill>
            <a:srgbClr val="684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08200" y="3090672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3730752"/>
            <a:ext cx="24665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4B36C7"/>
                </a:solidFill>
                <a:latin typeface="Arial"/>
              </a:rPr>
              <a:t>LAPORAN KEUANGAN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4160520"/>
            <a:ext cx="246659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" y="4572000"/>
            <a:ext cx="2466594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3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617720"/>
            <a:ext cx="2320290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3283A"/>
                </a:solidFill>
                <a:latin typeface="Arial"/>
              </a:rPr>
              <a:t>"Highlight 3 angka paling penting dan jelaskan artinya untuk kondisi bisnis saya."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26130" y="2834640"/>
            <a:ext cx="2686050" cy="2788920"/>
          </a:xfrm>
          <a:prstGeom prst="roundRect">
            <a:avLst>
              <a:gd name="adj" fmla="val 4000"/>
            </a:avLst>
          </a:prstGeom>
          <a:solidFill>
            <a:srgbClr val="F3F0FF"/>
          </a:solidFill>
          <a:ln w="12700">
            <a:solidFill>
              <a:srgbClr val="DCD3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31411" y="3090672"/>
            <a:ext cx="475488" cy="475488"/>
          </a:xfrm>
          <a:prstGeom prst="ellipse">
            <a:avLst/>
          </a:prstGeom>
          <a:solidFill>
            <a:srgbClr val="684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1411" y="3090672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35858" y="3730752"/>
            <a:ext cx="24665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4B36C7"/>
                </a:solidFill>
                <a:latin typeface="Arial"/>
              </a:rPr>
              <a:t>KONTRAK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35858" y="4160520"/>
            <a:ext cx="246659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35858" y="4572000"/>
            <a:ext cx="2466594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3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09010" y="4617720"/>
            <a:ext cx="2320290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3283A"/>
                </a:solidFill>
                <a:latin typeface="Arial"/>
              </a:rPr>
              <a:t>"Apa klausul yang tidak biasa atau perlu saya perhatikan sebelum tanda tangan?"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49340" y="2834640"/>
            <a:ext cx="2686050" cy="2788920"/>
          </a:xfrm>
          <a:prstGeom prst="roundRect">
            <a:avLst>
              <a:gd name="adj" fmla="val 4000"/>
            </a:avLst>
          </a:prstGeom>
          <a:solidFill>
            <a:srgbClr val="F3F0FF"/>
          </a:solidFill>
          <a:ln w="12700">
            <a:solidFill>
              <a:srgbClr val="DCD3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254621" y="3090672"/>
            <a:ext cx="475488" cy="475488"/>
          </a:xfrm>
          <a:prstGeom prst="ellipse">
            <a:avLst/>
          </a:prstGeom>
          <a:solidFill>
            <a:srgbClr val="684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54621" y="3090672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3730752"/>
            <a:ext cx="24665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4B36C7"/>
                </a:solidFill>
                <a:latin typeface="Arial"/>
              </a:rPr>
              <a:t>ARTIKEL / RISET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9068" y="4160520"/>
            <a:ext cx="246659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59068" y="4572000"/>
            <a:ext cx="2466594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3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32220" y="4617720"/>
            <a:ext cx="2320290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3283A"/>
                </a:solidFill>
                <a:latin typeface="Arial"/>
              </a:rPr>
              <a:t>"Ringkas ide utama dalam 5 kalimat. Apa yang relevan untuk bisnis saya?"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72550" y="2834640"/>
            <a:ext cx="2686050" cy="2788920"/>
          </a:xfrm>
          <a:prstGeom prst="roundRect">
            <a:avLst>
              <a:gd name="adj" fmla="val 4000"/>
            </a:avLst>
          </a:prstGeom>
          <a:solidFill>
            <a:srgbClr val="F3F0FF"/>
          </a:solidFill>
          <a:ln w="12700">
            <a:solidFill>
              <a:srgbClr val="DCD3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77831" y="3090672"/>
            <a:ext cx="475488" cy="475488"/>
          </a:xfrm>
          <a:prstGeom prst="ellipse">
            <a:avLst/>
          </a:prstGeom>
          <a:solidFill>
            <a:srgbClr val="684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77831" y="3090672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82278" y="3730752"/>
            <a:ext cx="24665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4B36C7"/>
                </a:solidFill>
                <a:latin typeface="Arial"/>
              </a:rPr>
              <a:t>EMAIL THREAD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82278" y="4160520"/>
            <a:ext cx="246659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82278" y="4572000"/>
            <a:ext cx="2466594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3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55430" y="4617720"/>
            <a:ext cx="2320290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3283A"/>
                </a:solidFill>
                <a:latin typeface="Arial"/>
              </a:rPr>
              <a:t>"Apa inti permasalahan dalam thread ini dan keputusan apa yang sudah disepakati?"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58064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6B7280"/>
                </a:solidFill>
                <a:latin typeface="Arial"/>
              </a:rPr>
              <a:t>Output: </a:t>
            </a:r>
            <a:r>
              <a:rPr sz="1150" b="0" i="0">
                <a:solidFill>
                  <a:srgbClr val="6B7280"/>
                </a:solidFill>
                <a:latin typeface="Arial"/>
              </a:rPr>
              <a:t>ringkasan 1 halaman atau kurang — cukup untuk ambil keputusan atau membalas dengan percaya diri.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36576"/>
          </a:xfrm>
          <a:prstGeom prst="rect">
            <a:avLst/>
          </a:prstGeom>
          <a:solidFill>
            <a:srgbClr val="684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belajar</a:t>
            </a:r>
            <a:r>
              <a:rPr sz="2000" b="1" i="0">
                <a:solidFill>
                  <a:srgbClr val="6849F6"/>
                </a:solidFill>
                <a:latin typeface="Arial"/>
              </a:rPr>
              <a:t>claude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0" y="274320"/>
            <a:ext cx="6035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9AA2B4"/>
                </a:solidFill>
                <a:latin typeface="Arial"/>
              </a:rPr>
              <a:t>Modul 07 — Dokumen &amp; Riset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97280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23283A"/>
                </a:solidFill>
                <a:latin typeface="Arial"/>
              </a:rPr>
              <a:t>Riset SWOT &amp; SOP Writing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11155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B36C7"/>
                </a:solidFill>
                <a:latin typeface="Arial"/>
              </a:rPr>
              <a:t>DUA SKILL UNTUK KEPUTUSAN DAN DOKUMENTASI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03120"/>
            <a:ext cx="5440680" cy="3794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3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2304288"/>
            <a:ext cx="1828800" cy="347472"/>
          </a:xfrm>
          <a:prstGeom prst="roundRect">
            <a:avLst>
              <a:gd name="adj" fmla="val 22000"/>
            </a:avLst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304288"/>
            <a:ext cx="18288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4B36C7"/>
                </a:solidFill>
                <a:latin typeface="Arial"/>
              </a:rPr>
              <a:t>RISET &amp; SWOT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52928"/>
            <a:ext cx="4983480" cy="2862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40000"/>
              </a:lnSpc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23283A"/>
                </a:solidFill>
                <a:latin typeface="Arial"/>
              </a:rPr>
              <a:t>Claude tidak browsing internet real-time — kamu bawa observasi, Claude bantu menganalisis dan menyusun</a:t>
            </a:r>
          </a:p>
          <a:p>
            <a:pPr marL="228600" indent="-228600">
              <a:lnSpc>
                <a:spcPct val="140000"/>
              </a:lnSpc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23283A"/>
                </a:solidFill>
                <a:latin typeface="Arial"/>
              </a:rPr>
              <a:t>Prompt: "Yang sudah saya observasi: [kompetitor, tren, modal]. Buatkan SWOT — tiap kuadran 3-4 poin konkret."</a:t>
            </a:r>
          </a:p>
          <a:p>
            <a:pPr marL="228600" indent="-228600">
              <a:lnSpc>
                <a:spcPct val="140000"/>
              </a:lnSpc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23283A"/>
                </a:solidFill>
                <a:latin typeface="Arial"/>
              </a:rPr>
              <a:t>Bisa juga: competitive brief dari deskripsi kompetitor yang kamu lihat langsung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2103120"/>
            <a:ext cx="5440680" cy="3794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73952" y="2304288"/>
            <a:ext cx="1554480" cy="347472"/>
          </a:xfrm>
          <a:prstGeom prst="roundRect">
            <a:avLst>
              <a:gd name="adj" fmla="val 22000"/>
            </a:avLst>
          </a:prstGeom>
          <a:solidFill>
            <a:srgbClr val="EAF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304288"/>
            <a:ext cx="155448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1A7A44"/>
                </a:solidFill>
                <a:latin typeface="Arial"/>
              </a:rPr>
              <a:t>SOP WRITING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2852928"/>
            <a:ext cx="4983480" cy="2862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40000"/>
              </a:lnSpc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23283A"/>
                </a:solidFill>
                <a:latin typeface="Arial"/>
              </a:rPr>
              <a:t>Ceritakan prosesnya ke Claude — boleh tidak berurutan, boleh campur detail kecil</a:t>
            </a:r>
          </a:p>
          <a:p>
            <a:pPr marL="228600" indent="-228600">
              <a:lnSpc>
                <a:spcPct val="140000"/>
              </a:lnSpc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23283A"/>
                </a:solidFill>
                <a:latin typeface="Arial"/>
              </a:rPr>
              <a:t>Prompt: "Dokumentasikan proses [X]. Format: tujuan, alat, langkah bernomor, checklist, kesalahan umum."</a:t>
            </a:r>
          </a:p>
          <a:p>
            <a:pPr marL="228600" indent="-228600">
              <a:lnSpc>
                <a:spcPct val="140000"/>
              </a:lnSpc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23283A"/>
                </a:solidFill>
                <a:latin typeface="Arial"/>
              </a:rPr>
              <a:t>Review dan tambahkan yang kurang — SOP siap untuk pegawai baru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36576"/>
          </a:xfrm>
          <a:prstGeom prst="rect">
            <a:avLst/>
          </a:prstGeom>
          <a:solidFill>
            <a:srgbClr val="684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belajar</a:t>
            </a:r>
            <a:r>
              <a:rPr sz="2000" b="1" i="0">
                <a:solidFill>
                  <a:srgbClr val="6849F6"/>
                </a:solidFill>
                <a:latin typeface="Arial"/>
              </a:rPr>
              <a:t>claude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0" y="274320"/>
            <a:ext cx="6035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9AA2B4"/>
                </a:solidFill>
                <a:latin typeface="Arial"/>
              </a:rPr>
              <a:t>Modul 07 — Dokumen &amp; Riset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97280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23283A"/>
                </a:solidFill>
                <a:latin typeface="Arial"/>
              </a:rPr>
              <a:t>Latihan &amp; Output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11155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B36C7"/>
                </a:solidFill>
                <a:latin typeface="Arial"/>
              </a:rPr>
              <a:t>PRAKTIKKAN KEEMPAT SKILL DI KERJAANMU SENDIRI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03120"/>
            <a:ext cx="11155680" cy="1920240"/>
          </a:xfrm>
          <a:prstGeom prst="roundRect">
            <a:avLst>
              <a:gd name="adj" fmla="val 6000"/>
            </a:avLst>
          </a:prstGeom>
          <a:solidFill>
            <a:srgbClr val="EAFAF0"/>
          </a:solidFill>
          <a:ln w="12700">
            <a:solidFill>
              <a:srgbClr val="B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267712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7A44"/>
                </a:solidFill>
                <a:latin typeface="Arial"/>
              </a:rPr>
              <a:t>■  LATIHAN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633472"/>
            <a:ext cx="106527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3283A"/>
                </a:solidFill>
                <a:latin typeface="Arial"/>
              </a:rPr>
              <a:t>Ambil 1 catatan rapat terakhir → minta action items. Pilih 1 dokumen yang “menunggu” dibaca → minta ringkasan sesuai keputusan yang perlu kamu buat. Jelaskan 1 keputusan bisnis yang dipertimbangkan → minta SWOT. Ceritakan 1 proses kerja → minta SOP.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206240"/>
            <a:ext cx="11155680" cy="1005840"/>
          </a:xfrm>
          <a:prstGeom prst="roundRect">
            <a:avLst>
              <a:gd name="adj" fmla="val 6000"/>
            </a:avLst>
          </a:prstGeom>
          <a:solidFill>
            <a:srgbClr val="F3F0FF"/>
          </a:solidFill>
          <a:ln w="12700">
            <a:solidFill>
              <a:srgbClr val="DCD3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4334256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B36C7"/>
                </a:solidFill>
                <a:latin typeface="Arial"/>
              </a:rPr>
              <a:t>■ 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645152"/>
            <a:ext cx="10652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3283A"/>
                </a:solidFill>
                <a:latin typeface="Arial"/>
              </a:rPr>
              <a:t>4 output siap pakai: tabel action items, ringkasan dokumen, SWOT 1 halaman, dan 1 SOP untuk pegawai baru.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