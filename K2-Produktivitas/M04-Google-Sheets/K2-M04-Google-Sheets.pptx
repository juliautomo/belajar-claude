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321"/>
        </a:solidFill>
      </p:bgPr>
    </p:bg>
    <p:spTree>
      <p:nvGrpSpPr>
        <p:cNvPr id="1" name=""/>
        <p:cNvGrpSpPr/>
        <p:nvPr/>
      </p:nvGrpSpPr>
      <p:grpSpPr>
        <a:xfrm>
          <a:off x="0" y="0"/>
          <a:ext cx="0" cy="0"/>
          <a:chOff x="0" y="0"/>
          <a:chExt cx="0" cy="0"/>
        </a:xfrm>
      </p:grpSpPr>
      <p:sp>
        <p:nvSpPr>
          <p:cNvPr id="2" name="Shape 0"/>
          <p:cNvSpPr/>
          <p:nvPr/>
        </p:nvSpPr>
        <p:spPr>
          <a:xfrm>
            <a:off x="7558851" y="0"/>
            <a:ext cx="4632844" cy="6858000"/>
          </a:xfrm>
          <a:prstGeom prst="rect">
            <a:avLst/>
          </a:prstGeom>
          <a:solidFill>
            <a:srgbClr val="141D33"/>
          </a:solidFill>
          <a:ln/>
        </p:spPr>
      </p:sp>
      <p:sp>
        <p:nvSpPr>
          <p:cNvPr id="3" name="Text 1"/>
          <p:cNvSpPr/>
          <p:nvPr/>
        </p:nvSpPr>
        <p:spPr>
          <a:xfrm>
            <a:off x="548640" y="457200"/>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4" name="Shape 2"/>
          <p:cNvSpPr/>
          <p:nvPr/>
        </p:nvSpPr>
        <p:spPr>
          <a:xfrm>
            <a:off x="10618927" y="384048"/>
            <a:ext cx="1024128" cy="384048"/>
          </a:xfrm>
          <a:prstGeom prst="roundRect">
            <a:avLst>
              <a:gd name="adj" fmla="val 23810"/>
            </a:avLst>
          </a:prstGeom>
          <a:solidFill>
            <a:srgbClr val="6849F6"/>
          </a:solidFill>
          <a:ln/>
        </p:spPr>
      </p:sp>
      <p:sp>
        <p:nvSpPr>
          <p:cNvPr id="5" name="Text 3"/>
          <p:cNvSpPr/>
          <p:nvPr/>
        </p:nvSpPr>
        <p:spPr>
          <a:xfrm>
            <a:off x="10618927" y="384048"/>
            <a:ext cx="102412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Helvetica" pitchFamily="34" charset="0"/>
                <a:ea typeface="Helvetica" pitchFamily="34" charset="-122"/>
                <a:cs typeface="Helvetica" pitchFamily="34" charset="-120"/>
              </a:rPr>
              <a:t>MODUL 4</a:t>
            </a:r>
            <a:endParaRPr lang="en-US" sz="1250" dirty="0"/>
          </a:p>
        </p:txBody>
      </p:sp>
      <p:sp>
        <p:nvSpPr>
          <p:cNvPr id="6" name="Text 4"/>
          <p:cNvSpPr/>
          <p:nvPr/>
        </p:nvSpPr>
        <p:spPr>
          <a:xfrm>
            <a:off x="548640" y="2331720"/>
            <a:ext cx="7772400" cy="320040"/>
          </a:xfrm>
          <a:prstGeom prst="rect">
            <a:avLst/>
          </a:prstGeom>
          <a:noFill/>
          <a:ln/>
        </p:spPr>
        <p:txBody>
          <a:bodyPr wrap="square" lIns="0" tIns="0" rIns="0" bIns="0" rtlCol="0" anchor="ctr"/>
          <a:lstStyle/>
          <a:p>
            <a:pPr indent="0" marL="0">
              <a:buNone/>
            </a:pPr>
            <a:r>
              <a:rPr lang="en-US" sz="1300" b="1" spc="40" kern="0" dirty="0">
                <a:solidFill>
                  <a:srgbClr val="8B7CF6"/>
                </a:solidFill>
                <a:latin typeface="Helvetica" pitchFamily="34" charset="0"/>
                <a:ea typeface="Helvetica" pitchFamily="34" charset="-122"/>
                <a:cs typeface="Helvetica" pitchFamily="34" charset="-120"/>
              </a:rPr>
              <a:t>PRODUKTIVITAS KANTOR</a:t>
            </a:r>
            <a:endParaRPr lang="en-US" sz="1300" dirty="0"/>
          </a:p>
        </p:txBody>
      </p:sp>
      <p:sp>
        <p:nvSpPr>
          <p:cNvPr id="7" name="Text 5"/>
          <p:cNvSpPr/>
          <p:nvPr/>
        </p:nvSpPr>
        <p:spPr>
          <a:xfrm>
            <a:off x="548640" y="2697480"/>
            <a:ext cx="7589520" cy="886460"/>
          </a:xfrm>
          <a:prstGeom prst="rect">
            <a:avLst/>
          </a:prstGeom>
          <a:noFill/>
          <a:ln/>
        </p:spPr>
        <p:txBody>
          <a:bodyPr wrap="square" lIns="0" tIns="0" rIns="0" bIns="0" rtlCol="0" anchor="t"/>
          <a:lstStyle/>
          <a:p>
            <a:pPr indent="0" marL="0">
              <a:lnSpc>
                <a:spcPts val="5000"/>
              </a:lnSpc>
              <a:buNone/>
            </a:pPr>
            <a:r>
              <a:rPr lang="en-US" sz="4400" b="1" dirty="0">
                <a:solidFill>
                  <a:srgbClr val="FFFFFF"/>
                </a:solidFill>
                <a:latin typeface="Helvetica" pitchFamily="34" charset="0"/>
                <a:ea typeface="Helvetica" pitchFamily="34" charset="-122"/>
                <a:cs typeface="Helvetica" pitchFamily="34" charset="-120"/>
              </a:rPr>
              <a:t>Google Sheets</a:t>
            </a:r>
            <a:endParaRPr lang="en-US" sz="4400" dirty="0"/>
          </a:p>
        </p:txBody>
      </p:sp>
      <p:sp>
        <p:nvSpPr>
          <p:cNvPr id="8" name="Text 6"/>
          <p:cNvSpPr/>
          <p:nvPr/>
        </p:nvSpPr>
        <p:spPr>
          <a:xfrm>
            <a:off x="548640" y="3721100"/>
            <a:ext cx="7315200" cy="822960"/>
          </a:xfrm>
          <a:prstGeom prst="rect">
            <a:avLst/>
          </a:prstGeom>
          <a:noFill/>
          <a:ln/>
        </p:spPr>
        <p:txBody>
          <a:bodyPr wrap="square" lIns="0" tIns="0" rIns="0" bIns="0" rtlCol="0" anchor="t"/>
          <a:lstStyle/>
          <a:p>
            <a:pPr indent="0" marL="0">
              <a:lnSpc>
                <a:spcPct val="130000"/>
              </a:lnSpc>
              <a:buNone/>
            </a:pPr>
            <a:r>
              <a:rPr lang="en-US" sz="1550" dirty="0">
                <a:solidFill>
                  <a:srgbClr val="B7C0D8"/>
                </a:solidFill>
                <a:latin typeface="Helvetica" pitchFamily="34" charset="0"/>
                <a:ea typeface="Helvetica" pitchFamily="34" charset="-122"/>
                <a:cs typeface="Helvetica" pitchFamily="34" charset="-120"/>
              </a:rPr>
              <a:t>Data jadi insight dalam menit.</a:t>
            </a:r>
            <a:endParaRPr lang="en-US" sz="15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Yang Bisa Claude Bantu di Sheets</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TIGA CARA CLAUDE MEMPERCEPAT KERJA DATA</a:t>
            </a:r>
            <a:endParaRPr lang="en-US" sz="1250" dirty="0"/>
          </a:p>
        </p:txBody>
      </p:sp>
      <p:sp>
        <p:nvSpPr>
          <p:cNvPr id="8" name="Shape 6"/>
          <p:cNvSpPr/>
          <p:nvPr/>
        </p:nvSpPr>
        <p:spPr>
          <a:xfrm>
            <a:off x="548640" y="2112264"/>
            <a:ext cx="3527450" cy="1700540"/>
          </a:xfrm>
          <a:prstGeom prst="roundRect">
            <a:avLst>
              <a:gd name="adj" fmla="val 5377"/>
            </a:avLst>
          </a:prstGeom>
          <a:solidFill>
            <a:srgbClr val="F3F0FF"/>
          </a:solidFill>
          <a:ln w="12700">
            <a:solidFill>
              <a:srgbClr val="DCD3FB"/>
            </a:solidFill>
            <a:prstDash val="solid"/>
          </a:ln>
        </p:spPr>
      </p:sp>
      <p:sp>
        <p:nvSpPr>
          <p:cNvPr id="9" name="Shape 7"/>
          <p:cNvSpPr/>
          <p:nvPr/>
        </p:nvSpPr>
        <p:spPr>
          <a:xfrm>
            <a:off x="749808" y="2313432"/>
            <a:ext cx="384048" cy="384048"/>
          </a:xfrm>
          <a:prstGeom prst="ellipse">
            <a:avLst/>
          </a:prstGeom>
          <a:solidFill>
            <a:srgbClr val="6849F6"/>
          </a:solidFill>
          <a:ln/>
        </p:spPr>
      </p:sp>
      <p:sp>
        <p:nvSpPr>
          <p:cNvPr id="10" name="Text 8"/>
          <p:cNvSpPr/>
          <p:nvPr/>
        </p:nvSpPr>
        <p:spPr>
          <a:xfrm>
            <a:off x="749808"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1</a:t>
            </a:r>
            <a:endParaRPr lang="en-US" sz="1400" dirty="0"/>
          </a:p>
        </p:txBody>
      </p:sp>
      <p:sp>
        <p:nvSpPr>
          <p:cNvPr id="11" name="Text 9"/>
          <p:cNvSpPr/>
          <p:nvPr/>
        </p:nvSpPr>
        <p:spPr>
          <a:xfrm>
            <a:off x="1271016"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Formula</a:t>
            </a:r>
            <a:endParaRPr lang="en-US" sz="1400" dirty="0"/>
          </a:p>
        </p:txBody>
      </p:sp>
      <p:sp>
        <p:nvSpPr>
          <p:cNvPr id="12" name="Text 10"/>
          <p:cNvSpPr/>
          <p:nvPr/>
        </p:nvSpPr>
        <p:spPr>
          <a:xfrm>
            <a:off x="749808"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Claude menulis formula dari deskripsi biasa, menjelaskan formula yang membingungkan, dan membantu debug formula yang error.</a:t>
            </a:r>
            <a:endParaRPr lang="en-US" sz="1200" dirty="0"/>
          </a:p>
        </p:txBody>
      </p:sp>
      <p:sp>
        <p:nvSpPr>
          <p:cNvPr id="13" name="Shape 11"/>
          <p:cNvSpPr/>
          <p:nvPr/>
        </p:nvSpPr>
        <p:spPr>
          <a:xfrm>
            <a:off x="4332122" y="2112264"/>
            <a:ext cx="3527450" cy="1700540"/>
          </a:xfrm>
          <a:prstGeom prst="roundRect">
            <a:avLst>
              <a:gd name="adj" fmla="val 5377"/>
            </a:avLst>
          </a:prstGeom>
          <a:solidFill>
            <a:srgbClr val="F3F0FF"/>
          </a:solidFill>
          <a:ln w="12700">
            <a:solidFill>
              <a:srgbClr val="DCD3FB"/>
            </a:solidFill>
            <a:prstDash val="solid"/>
          </a:ln>
        </p:spPr>
      </p:sp>
      <p:sp>
        <p:nvSpPr>
          <p:cNvPr id="14" name="Shape 12"/>
          <p:cNvSpPr/>
          <p:nvPr/>
        </p:nvSpPr>
        <p:spPr>
          <a:xfrm>
            <a:off x="4533290" y="2313432"/>
            <a:ext cx="384048" cy="384048"/>
          </a:xfrm>
          <a:prstGeom prst="ellipse">
            <a:avLst/>
          </a:prstGeom>
          <a:solidFill>
            <a:srgbClr val="6849F6"/>
          </a:solidFill>
          <a:ln/>
        </p:spPr>
      </p:sp>
      <p:sp>
        <p:nvSpPr>
          <p:cNvPr id="15" name="Text 13"/>
          <p:cNvSpPr/>
          <p:nvPr/>
        </p:nvSpPr>
        <p:spPr>
          <a:xfrm>
            <a:off x="4533290"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2</a:t>
            </a:r>
            <a:endParaRPr lang="en-US" sz="1400" dirty="0"/>
          </a:p>
        </p:txBody>
      </p:sp>
      <p:sp>
        <p:nvSpPr>
          <p:cNvPr id="16" name="Text 14"/>
          <p:cNvSpPr/>
          <p:nvPr/>
        </p:nvSpPr>
        <p:spPr>
          <a:xfrm>
            <a:off x="5054498"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Analisis</a:t>
            </a:r>
            <a:endParaRPr lang="en-US" sz="1400" dirty="0"/>
          </a:p>
        </p:txBody>
      </p:sp>
      <p:sp>
        <p:nvSpPr>
          <p:cNvPr id="17" name="Text 15"/>
          <p:cNvSpPr/>
          <p:nvPr/>
        </p:nvSpPr>
        <p:spPr>
          <a:xfrm>
            <a:off x="4533290"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Temukan pola dari data penjualan, bandingkan performa antar produk atau periode, dan identifikasi anomali yang mudah terlewat.</a:t>
            </a:r>
            <a:endParaRPr lang="en-US" sz="1200" dirty="0"/>
          </a:p>
        </p:txBody>
      </p:sp>
      <p:sp>
        <p:nvSpPr>
          <p:cNvPr id="18" name="Shape 16"/>
          <p:cNvSpPr/>
          <p:nvPr/>
        </p:nvSpPr>
        <p:spPr>
          <a:xfrm>
            <a:off x="8115605" y="2112264"/>
            <a:ext cx="3527450" cy="1700540"/>
          </a:xfrm>
          <a:prstGeom prst="roundRect">
            <a:avLst>
              <a:gd name="adj" fmla="val 5377"/>
            </a:avLst>
          </a:prstGeom>
          <a:solidFill>
            <a:srgbClr val="F3F0FF"/>
          </a:solidFill>
          <a:ln w="12700">
            <a:solidFill>
              <a:srgbClr val="DCD3FB"/>
            </a:solidFill>
            <a:prstDash val="solid"/>
          </a:ln>
        </p:spPr>
      </p:sp>
      <p:sp>
        <p:nvSpPr>
          <p:cNvPr id="19" name="Shape 17"/>
          <p:cNvSpPr/>
          <p:nvPr/>
        </p:nvSpPr>
        <p:spPr>
          <a:xfrm>
            <a:off x="8316773" y="2313432"/>
            <a:ext cx="384048" cy="384048"/>
          </a:xfrm>
          <a:prstGeom prst="ellipse">
            <a:avLst/>
          </a:prstGeom>
          <a:solidFill>
            <a:srgbClr val="6849F6"/>
          </a:solidFill>
          <a:ln/>
        </p:spPr>
      </p:sp>
      <p:sp>
        <p:nvSpPr>
          <p:cNvPr id="20" name="Text 18"/>
          <p:cNvSpPr/>
          <p:nvPr/>
        </p:nvSpPr>
        <p:spPr>
          <a:xfrm>
            <a:off x="8316773"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3</a:t>
            </a:r>
            <a:endParaRPr lang="en-US" sz="1400" dirty="0"/>
          </a:p>
        </p:txBody>
      </p:sp>
      <p:sp>
        <p:nvSpPr>
          <p:cNvPr id="21" name="Text 19"/>
          <p:cNvSpPr/>
          <p:nvPr/>
        </p:nvSpPr>
        <p:spPr>
          <a:xfrm>
            <a:off x="8837981"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Rekomendasi</a:t>
            </a:r>
            <a:endParaRPr lang="en-US" sz="1400" dirty="0"/>
          </a:p>
        </p:txBody>
      </p:sp>
      <p:sp>
        <p:nvSpPr>
          <p:cNvPr id="22" name="Text 20"/>
          <p:cNvSpPr/>
          <p:nvPr/>
        </p:nvSpPr>
        <p:spPr>
          <a:xfrm>
            <a:off x="8316773"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Dari data ke keputusan bisnis konkret — produk mana yang perlu direstock, dipromosikan, atau dihentikan.</a:t>
            </a:r>
            <a:endParaRPr lang="en-US" sz="1200" dirty="0"/>
          </a:p>
        </p:txBody>
      </p:sp>
      <p:sp>
        <p:nvSpPr>
          <p:cNvPr id="23" name="Text 21"/>
          <p:cNvSpPr/>
          <p:nvPr/>
        </p:nvSpPr>
        <p:spPr>
          <a:xfrm>
            <a:off x="548640" y="4050548"/>
            <a:ext cx="11094415" cy="249367"/>
          </a:xfrm>
          <a:prstGeom prst="rect">
            <a:avLst/>
          </a:prstGeom>
          <a:noFill/>
          <a:ln/>
        </p:spPr>
        <p:txBody>
          <a:bodyPr wrap="square" lIns="0" tIns="0" rIns="0" bIns="0" rtlCol="0" anchor="t"/>
          <a:lstStyle/>
          <a:p>
            <a:pPr indent="0" marL="0">
              <a:lnSpc>
                <a:spcPct val="128000"/>
              </a:lnSpc>
              <a:buNone/>
            </a:pPr>
            <a:r>
              <a:rPr lang="en-US" sz="1300" dirty="0">
                <a:solidFill>
                  <a:srgbClr val="6B7280"/>
                </a:solidFill>
                <a:latin typeface="Helvetica" pitchFamily="34" charset="0"/>
                <a:ea typeface="Helvetica" pitchFamily="34" charset="-122"/>
                <a:cs typeface="Helvetica" pitchFamily="34" charset="-120"/>
              </a:rPr>
              <a:t>Tips: Selalu sebutkan struktur kolom data dulu sebelum bertanya — Claude bekerja lebih akurat kalau tahu konteks kolomnya.</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Data Aman vs. Data Sensitif</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YANG BOLEH DAN TIDAK BOLEH DIBAGIKAN KE CLAUDE</a:t>
            </a:r>
            <a:endParaRPr lang="en-US" sz="1250" dirty="0"/>
          </a:p>
        </p:txBody>
      </p:sp>
      <p:sp>
        <p:nvSpPr>
          <p:cNvPr id="8" name="Shape 6"/>
          <p:cNvSpPr/>
          <p:nvPr/>
        </p:nvSpPr>
        <p:spPr>
          <a:xfrm>
            <a:off x="548640" y="2112264"/>
            <a:ext cx="5410048" cy="1720901"/>
          </a:xfrm>
          <a:prstGeom prst="roundRect">
            <a:avLst>
              <a:gd name="adj" fmla="val 5313"/>
            </a:avLst>
          </a:prstGeom>
          <a:solidFill>
            <a:srgbClr val="F4F6FB"/>
          </a:solidFill>
          <a:ln w="12700">
            <a:solidFill>
              <a:srgbClr val="D6DCEB"/>
            </a:solidFill>
            <a:prstDash val="solid"/>
          </a:ln>
        </p:spPr>
      </p:sp>
      <p:sp>
        <p:nvSpPr>
          <p:cNvPr id="9" name="Text 7"/>
          <p:cNvSpPr/>
          <p:nvPr/>
        </p:nvSpPr>
        <p:spPr>
          <a:xfrm>
            <a:off x="749808" y="2313432"/>
            <a:ext cx="5007712" cy="274320"/>
          </a:xfrm>
          <a:prstGeom prst="rect">
            <a:avLst/>
          </a:prstGeom>
          <a:noFill/>
          <a:ln/>
        </p:spPr>
        <p:txBody>
          <a:bodyPr wrap="square" lIns="0" tIns="0" rIns="0" bIns="0" rtlCol="0" anchor="ctr"/>
          <a:lstStyle/>
          <a:p>
            <a:pPr indent="0" marL="0">
              <a:buNone/>
            </a:pPr>
            <a:r>
              <a:rPr lang="en-US" sz="1200" b="1" spc="30" kern="0" dirty="0">
                <a:solidFill>
                  <a:srgbClr val="6B7280"/>
                </a:solidFill>
                <a:latin typeface="Helvetica" pitchFamily="34" charset="0"/>
                <a:ea typeface="Helvetica" pitchFamily="34" charset="-122"/>
                <a:cs typeface="Helvetica" pitchFamily="34" charset="-120"/>
              </a:rPr>
              <a:t>AMAN DIBAGIKAN</a:t>
            </a:r>
            <a:endParaRPr lang="en-US" sz="1200" dirty="0"/>
          </a:p>
        </p:txBody>
      </p:sp>
      <p:sp>
        <p:nvSpPr>
          <p:cNvPr id="10" name="Text 8"/>
          <p:cNvSpPr/>
          <p:nvPr/>
        </p:nvSpPr>
        <p:spPr>
          <a:xfrm>
            <a:off x="749808" y="2660904"/>
            <a:ext cx="5007712" cy="971093"/>
          </a:xfrm>
          <a:prstGeom prst="rect">
            <a:avLst/>
          </a:prstGeom>
          <a:noFill/>
          <a:ln/>
        </p:spPr>
        <p:txBody>
          <a:bodyPr wrap="square" lIns="0" tIns="0" rIns="0" bIns="0" rtlCol="0" anchor="t"/>
          <a:lstStyle/>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Nama produk, kategori, harga</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Jumlah penjualan per periode</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Data performa (tanpa nama pelanggan)</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Struktur kolom dan formula</a:t>
            </a:r>
            <a:endParaRPr lang="en-US" sz="1200" dirty="0"/>
          </a:p>
        </p:txBody>
      </p:sp>
      <p:sp>
        <p:nvSpPr>
          <p:cNvPr id="11" name="Shape 9"/>
          <p:cNvSpPr/>
          <p:nvPr/>
        </p:nvSpPr>
        <p:spPr>
          <a:xfrm>
            <a:off x="6233008" y="2112264"/>
            <a:ext cx="5410048" cy="1720901"/>
          </a:xfrm>
          <a:prstGeom prst="roundRect">
            <a:avLst>
              <a:gd name="adj" fmla="val 5313"/>
            </a:avLst>
          </a:prstGeom>
          <a:solidFill>
            <a:srgbClr val="F3F0FF"/>
          </a:solidFill>
          <a:ln w="12700">
            <a:solidFill>
              <a:srgbClr val="DCD3FB"/>
            </a:solidFill>
            <a:prstDash val="solid"/>
          </a:ln>
        </p:spPr>
      </p:sp>
      <p:sp>
        <p:nvSpPr>
          <p:cNvPr id="12" name="Text 10"/>
          <p:cNvSpPr/>
          <p:nvPr/>
        </p:nvSpPr>
        <p:spPr>
          <a:xfrm>
            <a:off x="6434176" y="2313432"/>
            <a:ext cx="5007712" cy="274320"/>
          </a:xfrm>
          <a:prstGeom prst="rect">
            <a:avLst/>
          </a:prstGeom>
          <a:noFill/>
          <a:ln/>
        </p:spPr>
        <p:txBody>
          <a:bodyPr wrap="square" lIns="0" tIns="0" rIns="0" bIns="0" rtlCol="0" anchor="ctr"/>
          <a:lstStyle/>
          <a:p>
            <a:pPr indent="0" marL="0">
              <a:buNone/>
            </a:pPr>
            <a:r>
              <a:rPr lang="en-US" sz="1200" b="1" spc="30" kern="0" dirty="0">
                <a:solidFill>
                  <a:srgbClr val="4B36C7"/>
                </a:solidFill>
                <a:latin typeface="Helvetica" pitchFamily="34" charset="0"/>
                <a:ea typeface="Helvetica" pitchFamily="34" charset="-122"/>
                <a:cs typeface="Helvetica" pitchFamily="34" charset="-120"/>
              </a:rPr>
              <a:t>HINDARI DIBAGIKAN</a:t>
            </a:r>
            <a:endParaRPr lang="en-US" sz="1200" dirty="0"/>
          </a:p>
        </p:txBody>
      </p:sp>
      <p:sp>
        <p:nvSpPr>
          <p:cNvPr id="13" name="Text 11"/>
          <p:cNvSpPr/>
          <p:nvPr/>
        </p:nvSpPr>
        <p:spPr>
          <a:xfrm>
            <a:off x="6434176" y="2660904"/>
            <a:ext cx="5007712" cy="971093"/>
          </a:xfrm>
          <a:prstGeom prst="rect">
            <a:avLst/>
          </a:prstGeom>
          <a:noFill/>
          <a:ln/>
        </p:spPr>
        <p:txBody>
          <a:bodyPr wrap="square" lIns="0" tIns="0" rIns="0" bIns="0" rtlCol="0" anchor="t"/>
          <a:lstStyle/>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Nama lengkap + nomor telepon pelanggan</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Nomor kartu kredit / rekening</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Password atau API key</a:t>
            </a:r>
            <a:endParaRPr lang="en-US" sz="1200" dirty="0"/>
          </a:p>
          <a:p>
            <a:pPr indent="0" marL="0">
              <a:lnSpc>
                <a:spcPct val="135000"/>
              </a:lnSpc>
              <a:buNone/>
            </a:pPr>
            <a:r>
              <a:rPr lang="en-US" sz="1200" dirty="0">
                <a:solidFill>
                  <a:srgbClr val="23283A"/>
                </a:solidFill>
                <a:latin typeface="Helvetica" pitchFamily="34" charset="0"/>
                <a:ea typeface="Helvetica" pitchFamily="34" charset="-122"/>
                <a:cs typeface="Helvetica" pitchFamily="34" charset="-120"/>
              </a:rPr>
              <a:t>•  Data karyawan dengan info personal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Alur Prompt: Data → Keputusan</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CONTOH NYATA — RINA, KASUAL STUDIO</a:t>
            </a:r>
            <a:endParaRPr lang="en-US" sz="1250" dirty="0"/>
          </a:p>
        </p:txBody>
      </p:sp>
      <p:sp>
        <p:nvSpPr>
          <p:cNvPr id="8" name="Shape 6"/>
          <p:cNvSpPr/>
          <p:nvPr/>
        </p:nvSpPr>
        <p:spPr>
          <a:xfrm>
            <a:off x="548640" y="2112264"/>
            <a:ext cx="3527450" cy="1700540"/>
          </a:xfrm>
          <a:prstGeom prst="roundRect">
            <a:avLst>
              <a:gd name="adj" fmla="val 5377"/>
            </a:avLst>
          </a:prstGeom>
          <a:solidFill>
            <a:srgbClr val="F3F0FF"/>
          </a:solidFill>
          <a:ln w="12700">
            <a:solidFill>
              <a:srgbClr val="DCD3FB"/>
            </a:solidFill>
            <a:prstDash val="solid"/>
          </a:ln>
        </p:spPr>
      </p:sp>
      <p:sp>
        <p:nvSpPr>
          <p:cNvPr id="9" name="Shape 7"/>
          <p:cNvSpPr/>
          <p:nvPr/>
        </p:nvSpPr>
        <p:spPr>
          <a:xfrm>
            <a:off x="749808" y="2313432"/>
            <a:ext cx="384048" cy="384048"/>
          </a:xfrm>
          <a:prstGeom prst="ellipse">
            <a:avLst/>
          </a:prstGeom>
          <a:solidFill>
            <a:srgbClr val="6849F6"/>
          </a:solidFill>
          <a:ln/>
        </p:spPr>
      </p:sp>
      <p:sp>
        <p:nvSpPr>
          <p:cNvPr id="10" name="Text 8"/>
          <p:cNvSpPr/>
          <p:nvPr/>
        </p:nvSpPr>
        <p:spPr>
          <a:xfrm>
            <a:off x="749808"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1</a:t>
            </a:r>
            <a:endParaRPr lang="en-US" sz="1400" dirty="0"/>
          </a:p>
        </p:txBody>
      </p:sp>
      <p:sp>
        <p:nvSpPr>
          <p:cNvPr id="11" name="Text 9"/>
          <p:cNvSpPr/>
          <p:nvPr/>
        </p:nvSpPr>
        <p:spPr>
          <a:xfrm>
            <a:off x="1271016"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Formula</a:t>
            </a:r>
            <a:endParaRPr lang="en-US" sz="1400" dirty="0"/>
          </a:p>
        </p:txBody>
      </p:sp>
      <p:sp>
        <p:nvSpPr>
          <p:cNvPr id="12" name="Text 10"/>
          <p:cNvSpPr/>
          <p:nvPr/>
        </p:nvSpPr>
        <p:spPr>
          <a:xfrm>
            <a:off x="749808"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"Sheet saya: A=Nama Produk, B=Jan, C=Feb, D=Mar, E=Target. Buatkan formula total Jan–Mar di F2, dan % pencapaian target di G2."</a:t>
            </a:r>
            <a:endParaRPr lang="en-US" sz="1200" dirty="0"/>
          </a:p>
        </p:txBody>
      </p:sp>
      <p:sp>
        <p:nvSpPr>
          <p:cNvPr id="13" name="Shape 11"/>
          <p:cNvSpPr/>
          <p:nvPr/>
        </p:nvSpPr>
        <p:spPr>
          <a:xfrm>
            <a:off x="4332122" y="2112264"/>
            <a:ext cx="3527450" cy="1700540"/>
          </a:xfrm>
          <a:prstGeom prst="roundRect">
            <a:avLst>
              <a:gd name="adj" fmla="val 5377"/>
            </a:avLst>
          </a:prstGeom>
          <a:solidFill>
            <a:srgbClr val="F3F0FF"/>
          </a:solidFill>
          <a:ln w="12700">
            <a:solidFill>
              <a:srgbClr val="DCD3FB"/>
            </a:solidFill>
            <a:prstDash val="solid"/>
          </a:ln>
        </p:spPr>
      </p:sp>
      <p:sp>
        <p:nvSpPr>
          <p:cNvPr id="14" name="Shape 12"/>
          <p:cNvSpPr/>
          <p:nvPr/>
        </p:nvSpPr>
        <p:spPr>
          <a:xfrm>
            <a:off x="4533290" y="2313432"/>
            <a:ext cx="384048" cy="384048"/>
          </a:xfrm>
          <a:prstGeom prst="ellipse">
            <a:avLst/>
          </a:prstGeom>
          <a:solidFill>
            <a:srgbClr val="6849F6"/>
          </a:solidFill>
          <a:ln/>
        </p:spPr>
      </p:sp>
      <p:sp>
        <p:nvSpPr>
          <p:cNvPr id="15" name="Text 13"/>
          <p:cNvSpPr/>
          <p:nvPr/>
        </p:nvSpPr>
        <p:spPr>
          <a:xfrm>
            <a:off x="4533290"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2</a:t>
            </a:r>
            <a:endParaRPr lang="en-US" sz="1400" dirty="0"/>
          </a:p>
        </p:txBody>
      </p:sp>
      <p:sp>
        <p:nvSpPr>
          <p:cNvPr id="16" name="Text 14"/>
          <p:cNvSpPr/>
          <p:nvPr/>
        </p:nvSpPr>
        <p:spPr>
          <a:xfrm>
            <a:off x="5054498"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Analisis</a:t>
            </a:r>
            <a:endParaRPr lang="en-US" sz="1400" dirty="0"/>
          </a:p>
        </p:txBody>
      </p:sp>
      <p:sp>
        <p:nvSpPr>
          <p:cNvPr id="17" name="Text 15"/>
          <p:cNvSpPr/>
          <p:nvPr/>
        </p:nvSpPr>
        <p:spPr>
          <a:xfrm>
            <a:off x="4533290"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"Ini data penjualan 3 bulan terakhir: [paste]. Produk mana performa paling konsisten? Mana tren naik vs turun?"</a:t>
            </a:r>
            <a:endParaRPr lang="en-US" sz="1200" dirty="0"/>
          </a:p>
        </p:txBody>
      </p:sp>
      <p:sp>
        <p:nvSpPr>
          <p:cNvPr id="18" name="Shape 16"/>
          <p:cNvSpPr/>
          <p:nvPr/>
        </p:nvSpPr>
        <p:spPr>
          <a:xfrm>
            <a:off x="8115605" y="2112264"/>
            <a:ext cx="3527450" cy="1700540"/>
          </a:xfrm>
          <a:prstGeom prst="roundRect">
            <a:avLst>
              <a:gd name="adj" fmla="val 5377"/>
            </a:avLst>
          </a:prstGeom>
          <a:solidFill>
            <a:srgbClr val="F3F0FF"/>
          </a:solidFill>
          <a:ln w="12700">
            <a:solidFill>
              <a:srgbClr val="DCD3FB"/>
            </a:solidFill>
            <a:prstDash val="solid"/>
          </a:ln>
        </p:spPr>
      </p:sp>
      <p:sp>
        <p:nvSpPr>
          <p:cNvPr id="19" name="Shape 17"/>
          <p:cNvSpPr/>
          <p:nvPr/>
        </p:nvSpPr>
        <p:spPr>
          <a:xfrm>
            <a:off x="8316773" y="2313432"/>
            <a:ext cx="384048" cy="384048"/>
          </a:xfrm>
          <a:prstGeom prst="ellipse">
            <a:avLst/>
          </a:prstGeom>
          <a:solidFill>
            <a:srgbClr val="6849F6"/>
          </a:solidFill>
          <a:ln/>
        </p:spPr>
      </p:sp>
      <p:sp>
        <p:nvSpPr>
          <p:cNvPr id="20" name="Text 18"/>
          <p:cNvSpPr/>
          <p:nvPr/>
        </p:nvSpPr>
        <p:spPr>
          <a:xfrm>
            <a:off x="8316773"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3</a:t>
            </a:r>
            <a:endParaRPr lang="en-US" sz="1400" dirty="0"/>
          </a:p>
        </p:txBody>
      </p:sp>
      <p:sp>
        <p:nvSpPr>
          <p:cNvPr id="21" name="Text 19"/>
          <p:cNvSpPr/>
          <p:nvPr/>
        </p:nvSpPr>
        <p:spPr>
          <a:xfrm>
            <a:off x="8837981" y="229514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Keputusan</a:t>
            </a:r>
            <a:endParaRPr lang="en-US" sz="1400" dirty="0"/>
          </a:p>
        </p:txBody>
      </p:sp>
      <p:sp>
        <p:nvSpPr>
          <p:cNvPr id="22" name="Text 20"/>
          <p:cNvSpPr/>
          <p:nvPr/>
        </p:nvSpPr>
        <p:spPr>
          <a:xfrm>
            <a:off x="8316773" y="2734056"/>
            <a:ext cx="3125114" cy="87758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"Budget restock saya Rp 5 juta. Sarankan alokasi paling optimal berdasarkan data performa tadi."</a:t>
            </a:r>
            <a:endParaRPr lang="en-US" sz="1200" dirty="0"/>
          </a:p>
        </p:txBody>
      </p:sp>
      <p:sp>
        <p:nvSpPr>
          <p:cNvPr id="23" name="Text 21"/>
          <p:cNvSpPr/>
          <p:nvPr/>
        </p:nvSpPr>
        <p:spPr>
          <a:xfrm>
            <a:off x="548640" y="4050548"/>
            <a:ext cx="11094415" cy="249367"/>
          </a:xfrm>
          <a:prstGeom prst="rect">
            <a:avLst/>
          </a:prstGeom>
          <a:noFill/>
          <a:ln/>
        </p:spPr>
        <p:txBody>
          <a:bodyPr wrap="square" lIns="0" tIns="0" rIns="0" bIns="0" rtlCol="0" anchor="t"/>
          <a:lstStyle/>
          <a:p>
            <a:pPr indent="0" marL="0">
              <a:lnSpc>
                <a:spcPct val="128000"/>
              </a:lnSpc>
              <a:buNone/>
            </a:pPr>
            <a:r>
              <a:rPr lang="en-US" sz="1300" dirty="0">
                <a:solidFill>
                  <a:srgbClr val="6B7280"/>
                </a:solidFill>
                <a:latin typeface="Helvetica" pitchFamily="34" charset="0"/>
                <a:ea typeface="Helvetica" pitchFamily="34" charset="-122"/>
                <a:cs typeface="Helvetica" pitchFamily="34" charset="-120"/>
              </a:rPr>
              <a:t>Tips: "produk mana yang harus saya prioritaskan bulan depan?" — pertanyaan penutup yang mengubah data jadi keputusan.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Latihan &amp; Output</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PRAKTIK LANGSUNG DENGAN DATA KAMU</a:t>
            </a:r>
            <a:endParaRPr lang="en-US" sz="1250" dirty="0"/>
          </a:p>
        </p:txBody>
      </p:sp>
      <p:sp>
        <p:nvSpPr>
          <p:cNvPr id="8" name="Shape 6"/>
          <p:cNvSpPr/>
          <p:nvPr/>
        </p:nvSpPr>
        <p:spPr>
          <a:xfrm>
            <a:off x="548640" y="2112264"/>
            <a:ext cx="11094415" cy="1480376"/>
          </a:xfrm>
          <a:prstGeom prst="roundRect">
            <a:avLst>
              <a:gd name="adj" fmla="val 6177"/>
            </a:avLst>
          </a:prstGeom>
          <a:solidFill>
            <a:srgbClr val="EAFAF0"/>
          </a:solidFill>
          <a:ln w="12700">
            <a:solidFill>
              <a:srgbClr val="B8E6C9"/>
            </a:solidFill>
            <a:prstDash val="solid"/>
          </a:ln>
        </p:spPr>
      </p:sp>
      <p:sp>
        <p:nvSpPr>
          <p:cNvPr id="9" name="Text 7"/>
          <p:cNvSpPr/>
          <p:nvPr/>
        </p:nvSpPr>
        <p:spPr>
          <a:xfrm>
            <a:off x="749808" y="2313432"/>
            <a:ext cx="10692079" cy="274320"/>
          </a:xfrm>
          <a:prstGeom prst="rect">
            <a:avLst/>
          </a:prstGeom>
          <a:noFill/>
          <a:ln/>
        </p:spPr>
        <p:txBody>
          <a:bodyPr wrap="square" lIns="0" tIns="0" rIns="0" bIns="0" rtlCol="0" anchor="ctr"/>
          <a:lstStyle/>
          <a:p>
            <a:pPr indent="0" marL="0">
              <a:buNone/>
            </a:pPr>
            <a:r>
              <a:rPr lang="en-US" sz="1250" b="1" spc="30" kern="0" dirty="0">
                <a:solidFill>
                  <a:srgbClr val="1A7A44"/>
                </a:solidFill>
                <a:latin typeface="Helvetica" pitchFamily="34" charset="0"/>
                <a:ea typeface="Helvetica" pitchFamily="34" charset="-122"/>
                <a:cs typeface="Helvetica" pitchFamily="34" charset="-120"/>
              </a:rPr>
              <a:t>■  LATIHAN</a:t>
            </a:r>
            <a:endParaRPr lang="en-US" sz="1250" dirty="0"/>
          </a:p>
        </p:txBody>
      </p:sp>
      <p:sp>
        <p:nvSpPr>
          <p:cNvPr id="10" name="Text 8"/>
          <p:cNvSpPr/>
          <p:nvPr/>
        </p:nvSpPr>
        <p:spPr>
          <a:xfrm>
            <a:off x="749808" y="2660904"/>
            <a:ext cx="10692079" cy="730568"/>
          </a:xfrm>
          <a:prstGeom prst="rect">
            <a:avLst/>
          </a:prstGeom>
          <a:noFill/>
          <a:ln/>
        </p:spPr>
        <p:txBody>
          <a:bodyPr wrap="square" lIns="0" tIns="0" rIns="0" bIns="0" rtlCol="0" anchor="t"/>
          <a:lstStyle/>
          <a:p>
            <a:pPr indent="0" marL="0">
              <a:lnSpc>
                <a:spcPct val="130000"/>
              </a:lnSpc>
              <a:buNone/>
            </a:pPr>
            <a:r>
              <a:rPr lang="en-US" sz="1250" dirty="0">
                <a:solidFill>
                  <a:srgbClr val="23283A"/>
                </a:solidFill>
                <a:latin typeface="Helvetica" pitchFamily="34" charset="0"/>
                <a:ea typeface="Helvetica" pitchFamily="34" charset="-122"/>
                <a:cs typeface="Helvetica" pitchFamily="34" charset="-120"/>
              </a:rPr>
              <a:t>Download file latihan k2-data-penjualan.csv dari halaman materi. Import ke Google Sheets. Minta Claude buat 3 formula dasar (total, rata-rata, % target). Paste 5 baris data ke Claude dan minta analisis pola. Tanya: "Dari data ini, produk mana yang harus saya prioritaskan bulan depan?"</a:t>
            </a:r>
            <a:endParaRPr lang="en-US" sz="1250" dirty="0"/>
          </a:p>
        </p:txBody>
      </p:sp>
      <p:sp>
        <p:nvSpPr>
          <p:cNvPr id="11" name="Shape 9"/>
          <p:cNvSpPr/>
          <p:nvPr/>
        </p:nvSpPr>
        <p:spPr>
          <a:xfrm>
            <a:off x="548640" y="3830384"/>
            <a:ext cx="11094415" cy="993331"/>
          </a:xfrm>
          <a:prstGeom prst="roundRect">
            <a:avLst>
              <a:gd name="adj" fmla="val 9205"/>
            </a:avLst>
          </a:prstGeom>
          <a:solidFill>
            <a:srgbClr val="EAFAF0"/>
          </a:solidFill>
          <a:ln w="12700">
            <a:solidFill>
              <a:srgbClr val="B8E6C9"/>
            </a:solidFill>
            <a:prstDash val="solid"/>
          </a:ln>
        </p:spPr>
      </p:sp>
      <p:sp>
        <p:nvSpPr>
          <p:cNvPr id="12" name="Text 10"/>
          <p:cNvSpPr/>
          <p:nvPr/>
        </p:nvSpPr>
        <p:spPr>
          <a:xfrm>
            <a:off x="749808" y="4031552"/>
            <a:ext cx="10692079" cy="274320"/>
          </a:xfrm>
          <a:prstGeom prst="rect">
            <a:avLst/>
          </a:prstGeom>
          <a:noFill/>
          <a:ln/>
        </p:spPr>
        <p:txBody>
          <a:bodyPr wrap="square" lIns="0" tIns="0" rIns="0" bIns="0" rtlCol="0" anchor="ctr"/>
          <a:lstStyle/>
          <a:p>
            <a:pPr indent="0" marL="0">
              <a:buNone/>
            </a:pPr>
            <a:r>
              <a:rPr lang="en-US" sz="1250" b="1" spc="30" kern="0" dirty="0">
                <a:solidFill>
                  <a:srgbClr val="1A7A44"/>
                </a:solidFill>
                <a:latin typeface="Helvetica" pitchFamily="34" charset="0"/>
                <a:ea typeface="Helvetica" pitchFamily="34" charset="-122"/>
                <a:cs typeface="Helvetica" pitchFamily="34" charset="-120"/>
              </a:rPr>
              <a:t>■  OUTPUT</a:t>
            </a:r>
            <a:endParaRPr lang="en-US" sz="1250" dirty="0"/>
          </a:p>
        </p:txBody>
      </p:sp>
      <p:sp>
        <p:nvSpPr>
          <p:cNvPr id="13" name="Text 11"/>
          <p:cNvSpPr/>
          <p:nvPr/>
        </p:nvSpPr>
        <p:spPr>
          <a:xfrm>
            <a:off x="749808" y="4379024"/>
            <a:ext cx="10692079" cy="243523"/>
          </a:xfrm>
          <a:prstGeom prst="rect">
            <a:avLst/>
          </a:prstGeom>
          <a:noFill/>
          <a:ln/>
        </p:spPr>
        <p:txBody>
          <a:bodyPr wrap="square" lIns="0" tIns="0" rIns="0" bIns="0" rtlCol="0" anchor="t"/>
          <a:lstStyle/>
          <a:p>
            <a:pPr indent="0" marL="0">
              <a:lnSpc>
                <a:spcPct val="130000"/>
              </a:lnSpc>
              <a:buNone/>
            </a:pPr>
            <a:r>
              <a:rPr lang="en-US" sz="1250" dirty="0">
                <a:solidFill>
                  <a:srgbClr val="23283A"/>
                </a:solidFill>
                <a:latin typeface="Helvetica" pitchFamily="34" charset="0"/>
                <a:ea typeface="Helvetica" pitchFamily="34" charset="-122"/>
                <a:cs typeface="Helvetica" pitchFamily="34" charset="-120"/>
              </a:rPr>
              <a:t>Sheet dengan 3 formula berjalan + 1 paragraf analisis dari Claude tentang pola performa berdasarkan data kamu.</a:t>
            </a:r>
            <a:endParaRPr lang="en-US" sz="1250" dirty="0"/>
          </a:p>
        </p:txBody>
      </p:sp>
      <p:sp>
        <p:nvSpPr>
          <p:cNvPr id="14" name="Text 12"/>
          <p:cNvSpPr/>
          <p:nvPr/>
        </p:nvSpPr>
        <p:spPr>
          <a:xfrm>
            <a:off x="548640" y="5061458"/>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BONUS</a:t>
            </a:r>
            <a:endParaRPr lang="en-US" sz="1250" dirty="0"/>
          </a:p>
        </p:txBody>
      </p:sp>
      <p:sp>
        <p:nvSpPr>
          <p:cNvPr id="15" name="Text 13"/>
          <p:cNvSpPr/>
          <p:nvPr/>
        </p:nvSpPr>
        <p:spPr>
          <a:xfrm>
            <a:off x="548640" y="5390642"/>
            <a:ext cx="11094415" cy="719328"/>
          </a:xfrm>
          <a:prstGeom prst="rect">
            <a:avLst/>
          </a:prstGeom>
          <a:noFill/>
          <a:ln/>
        </p:spPr>
        <p:txBody>
          <a:bodyPr wrap="square" lIns="0" tIns="0" rIns="0" bIns="0" rtlCol="0" anchor="t"/>
          <a:lstStyle/>
          <a:p>
            <a:pPr indent="0" marL="0">
              <a:lnSpc>
                <a:spcPct val="128000"/>
              </a:lnSpc>
              <a:buNone/>
            </a:pPr>
            <a:r>
              <a:rPr lang="en-US" sz="1250" dirty="0">
                <a:solidFill>
                  <a:srgbClr val="6B7280"/>
                </a:solidFill>
                <a:latin typeface="Helvetica" pitchFamily="34" charset="0"/>
                <a:ea typeface="Helvetica" pitchFamily="34" charset="-122"/>
                <a:cs typeface="Helvetica" pitchFamily="34" charset="-120"/>
              </a:rPr>
              <a:t>Claude in Chrome bisa baca &amp; isi formula langsung di Google Sheets tanpa copy-paste — install extension dari Chrome Web Store. Butuh paket Pro atau lebih tinggi (tidak ada di Free). Untuk otomatisasi berulang (laporan mingguan, notifikasi stok habis), Claude bisa bantu tulis Google Apps Script.</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Bonus: Menu “Export PDF” di Google Sheets</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CLAUDE MENULIS AUTOMASINYA, BUKAN CUMA KASIH SCRIPT JADI</a:t>
            </a:r>
            <a:endParaRPr lang="en-US" sz="1250" dirty="0"/>
          </a:p>
        </p:txBody>
      </p:sp>
      <p:sp>
        <p:nvSpPr>
          <p:cNvPr id="8" name="Shape 6"/>
          <p:cNvSpPr/>
          <p:nvPr/>
        </p:nvSpPr>
        <p:spPr>
          <a:xfrm>
            <a:off x="548640" y="2112264"/>
            <a:ext cx="11094415" cy="1480376"/>
          </a:xfrm>
          <a:prstGeom prst="roundRect">
            <a:avLst>
              <a:gd name="adj" fmla="val 6177"/>
            </a:avLst>
          </a:prstGeom>
          <a:solidFill>
            <a:srgbClr val="F3F0FF"/>
          </a:solidFill>
          <a:ln w="12700">
            <a:solidFill>
              <a:srgbClr val="DCD3FB"/>
            </a:solidFill>
            <a:prstDash val="solid"/>
          </a:ln>
        </p:spPr>
      </p:sp>
      <p:sp>
        <p:nvSpPr>
          <p:cNvPr id="9" name="Text 7"/>
          <p:cNvSpPr/>
          <p:nvPr/>
        </p:nvSpPr>
        <p:spPr>
          <a:xfrm>
            <a:off x="749808" y="2313432"/>
            <a:ext cx="10692079" cy="274320"/>
          </a:xfrm>
          <a:prstGeom prst="rect">
            <a:avLst/>
          </a:prstGeom>
          <a:noFill/>
          <a:ln/>
        </p:spPr>
        <p:txBody>
          <a:bodyPr wrap="square" lIns="0" tIns="0" rIns="0" bIns="0" rtlCol="0" anchor="ctr"/>
          <a:lstStyle/>
          <a:p>
            <a:pPr indent="0" marL="0">
              <a:buNone/>
            </a:pPr>
            <a:r>
              <a:rPr lang="en-US" sz="1250" b="1" spc="30" kern="0" dirty="0">
                <a:solidFill>
                  <a:srgbClr val="4B36C7"/>
                </a:solidFill>
                <a:latin typeface="Helvetica" pitchFamily="34" charset="0"/>
                <a:ea typeface="Helvetica" pitchFamily="34" charset="-122"/>
                <a:cs typeface="Helvetica" pitchFamily="34" charset="-120"/>
              </a:rPr>
              <a:t>◆  DOWNLOAD K2-PDF-EXPORT-HELPER.JS — 100% GRATIS</a:t>
            </a:r>
            <a:endParaRPr lang="en-US" sz="1250" dirty="0"/>
          </a:p>
        </p:txBody>
      </p:sp>
      <p:sp>
        <p:nvSpPr>
          <p:cNvPr id="10" name="Text 8"/>
          <p:cNvSpPr/>
          <p:nvPr/>
        </p:nvSpPr>
        <p:spPr>
          <a:xfrm>
            <a:off x="749808" y="2660904"/>
            <a:ext cx="10692079" cy="730568"/>
          </a:xfrm>
          <a:prstGeom prst="rect">
            <a:avLst/>
          </a:prstGeom>
          <a:noFill/>
          <a:ln/>
        </p:spPr>
        <p:txBody>
          <a:bodyPr wrap="square" lIns="0" tIns="0" rIns="0" bIns="0" rtlCol="0" anchor="t"/>
          <a:lstStyle/>
          <a:p>
            <a:pPr indent="0" marL="0">
              <a:lnSpc>
                <a:spcPct val="130000"/>
              </a:lnSpc>
              <a:buNone/>
            </a:pPr>
            <a:r>
              <a:rPr lang="en-US" sz="1250" dirty="0">
                <a:solidFill>
                  <a:srgbClr val="23283A"/>
                </a:solidFill>
                <a:latin typeface="Helvetica" pitchFamily="34" charset="0"/>
                <a:ea typeface="Helvetica" pitchFamily="34" charset="-122"/>
                <a:cs typeface="Helvetica" pitchFamily="34" charset="-120"/>
              </a:rPr>
              <a:t>Google Apps Script yang menambahkan menu “Export PDF” ke Sheets-mu: rapikan angka jadi format Rupiah, tambah judul laporan, buat grafik kolom ringkas, lalu export sheet aktif atau rentang terpilih jadi PDF rapi ke Drive. Dibuat dengan memprompt Claude langsung — tidak ada API key atau paket Pro yang dibutuhkan.</a:t>
            </a:r>
            <a:endParaRPr lang="en-US" sz="1250" dirty="0"/>
          </a:p>
        </p:txBody>
      </p:sp>
      <p:sp>
        <p:nvSpPr>
          <p:cNvPr id="11" name="Shape 9"/>
          <p:cNvSpPr/>
          <p:nvPr/>
        </p:nvSpPr>
        <p:spPr>
          <a:xfrm>
            <a:off x="548640" y="3830384"/>
            <a:ext cx="3527450" cy="1261750"/>
          </a:xfrm>
          <a:prstGeom prst="roundRect">
            <a:avLst>
              <a:gd name="adj" fmla="val 7247"/>
            </a:avLst>
          </a:prstGeom>
          <a:solidFill>
            <a:srgbClr val="F3F0FF"/>
          </a:solidFill>
          <a:ln w="12700">
            <a:solidFill>
              <a:srgbClr val="DCD3FB"/>
            </a:solidFill>
            <a:prstDash val="solid"/>
          </a:ln>
        </p:spPr>
      </p:sp>
      <p:sp>
        <p:nvSpPr>
          <p:cNvPr id="12" name="Shape 10"/>
          <p:cNvSpPr/>
          <p:nvPr/>
        </p:nvSpPr>
        <p:spPr>
          <a:xfrm>
            <a:off x="749808" y="4031552"/>
            <a:ext cx="384048" cy="384048"/>
          </a:xfrm>
          <a:prstGeom prst="ellipse">
            <a:avLst/>
          </a:prstGeom>
          <a:solidFill>
            <a:srgbClr val="6849F6"/>
          </a:solidFill>
          <a:ln/>
        </p:spPr>
      </p:sp>
      <p:sp>
        <p:nvSpPr>
          <p:cNvPr id="13" name="Text 11"/>
          <p:cNvSpPr/>
          <p:nvPr/>
        </p:nvSpPr>
        <p:spPr>
          <a:xfrm>
            <a:off x="749808" y="40315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1</a:t>
            </a:r>
            <a:endParaRPr lang="en-US" sz="1400" dirty="0"/>
          </a:p>
        </p:txBody>
      </p:sp>
      <p:sp>
        <p:nvSpPr>
          <p:cNvPr id="14" name="Text 12"/>
          <p:cNvSpPr/>
          <p:nvPr/>
        </p:nvSpPr>
        <p:spPr>
          <a:xfrm>
            <a:off x="1271016" y="401326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Rapikan &amp; Beri Judul</a:t>
            </a:r>
            <a:endParaRPr lang="en-US" sz="1400" dirty="0"/>
          </a:p>
        </p:txBody>
      </p:sp>
      <p:sp>
        <p:nvSpPr>
          <p:cNvPr id="15" name="Text 13"/>
          <p:cNvSpPr/>
          <p:nvPr/>
        </p:nvSpPr>
        <p:spPr>
          <a:xfrm>
            <a:off x="749808" y="4452176"/>
            <a:ext cx="3125114" cy="43879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Pilih kolom angka → format Rupiah. Pilih data → tambah judul laporan.</a:t>
            </a:r>
            <a:endParaRPr lang="en-US" sz="1200" dirty="0"/>
          </a:p>
        </p:txBody>
      </p:sp>
      <p:sp>
        <p:nvSpPr>
          <p:cNvPr id="16" name="Shape 14"/>
          <p:cNvSpPr/>
          <p:nvPr/>
        </p:nvSpPr>
        <p:spPr>
          <a:xfrm>
            <a:off x="4332122" y="3830384"/>
            <a:ext cx="3527450" cy="1261750"/>
          </a:xfrm>
          <a:prstGeom prst="roundRect">
            <a:avLst>
              <a:gd name="adj" fmla="val 7247"/>
            </a:avLst>
          </a:prstGeom>
          <a:solidFill>
            <a:srgbClr val="F3F0FF"/>
          </a:solidFill>
          <a:ln w="12700">
            <a:solidFill>
              <a:srgbClr val="DCD3FB"/>
            </a:solidFill>
            <a:prstDash val="solid"/>
          </a:ln>
        </p:spPr>
      </p:sp>
      <p:sp>
        <p:nvSpPr>
          <p:cNvPr id="17" name="Shape 15"/>
          <p:cNvSpPr/>
          <p:nvPr/>
        </p:nvSpPr>
        <p:spPr>
          <a:xfrm>
            <a:off x="4533290" y="4031552"/>
            <a:ext cx="384048" cy="384048"/>
          </a:xfrm>
          <a:prstGeom prst="ellipse">
            <a:avLst/>
          </a:prstGeom>
          <a:solidFill>
            <a:srgbClr val="6849F6"/>
          </a:solidFill>
          <a:ln/>
        </p:spPr>
      </p:sp>
      <p:sp>
        <p:nvSpPr>
          <p:cNvPr id="18" name="Text 16"/>
          <p:cNvSpPr/>
          <p:nvPr/>
        </p:nvSpPr>
        <p:spPr>
          <a:xfrm>
            <a:off x="4533290" y="40315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2</a:t>
            </a:r>
            <a:endParaRPr lang="en-US" sz="1400" dirty="0"/>
          </a:p>
        </p:txBody>
      </p:sp>
      <p:sp>
        <p:nvSpPr>
          <p:cNvPr id="19" name="Text 17"/>
          <p:cNvSpPr/>
          <p:nvPr/>
        </p:nvSpPr>
        <p:spPr>
          <a:xfrm>
            <a:off x="5054498" y="401326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Buat Grafik</a:t>
            </a:r>
            <a:endParaRPr lang="en-US" sz="1400" dirty="0"/>
          </a:p>
        </p:txBody>
      </p:sp>
      <p:sp>
        <p:nvSpPr>
          <p:cNvPr id="20" name="Text 18"/>
          <p:cNvSpPr/>
          <p:nvPr/>
        </p:nvSpPr>
        <p:spPr>
          <a:xfrm>
            <a:off x="4533290" y="4452176"/>
            <a:ext cx="3125114" cy="43879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Pilih Nama Produk + 1 kolom angka → Buat Grafik Ringkas.</a:t>
            </a:r>
            <a:endParaRPr lang="en-US" sz="1200" dirty="0"/>
          </a:p>
        </p:txBody>
      </p:sp>
      <p:sp>
        <p:nvSpPr>
          <p:cNvPr id="21" name="Shape 19"/>
          <p:cNvSpPr/>
          <p:nvPr/>
        </p:nvSpPr>
        <p:spPr>
          <a:xfrm>
            <a:off x="8115605" y="3830384"/>
            <a:ext cx="3527450" cy="1261750"/>
          </a:xfrm>
          <a:prstGeom prst="roundRect">
            <a:avLst>
              <a:gd name="adj" fmla="val 7247"/>
            </a:avLst>
          </a:prstGeom>
          <a:solidFill>
            <a:srgbClr val="F3F0FF"/>
          </a:solidFill>
          <a:ln w="12700">
            <a:solidFill>
              <a:srgbClr val="DCD3FB"/>
            </a:solidFill>
            <a:prstDash val="solid"/>
          </a:ln>
        </p:spPr>
      </p:sp>
      <p:sp>
        <p:nvSpPr>
          <p:cNvPr id="22" name="Shape 20"/>
          <p:cNvSpPr/>
          <p:nvPr/>
        </p:nvSpPr>
        <p:spPr>
          <a:xfrm>
            <a:off x="8316773" y="4031552"/>
            <a:ext cx="384048" cy="384048"/>
          </a:xfrm>
          <a:prstGeom prst="ellipse">
            <a:avLst/>
          </a:prstGeom>
          <a:solidFill>
            <a:srgbClr val="6849F6"/>
          </a:solidFill>
          <a:ln/>
        </p:spPr>
      </p:sp>
      <p:sp>
        <p:nvSpPr>
          <p:cNvPr id="23" name="Text 21"/>
          <p:cNvSpPr/>
          <p:nvPr/>
        </p:nvSpPr>
        <p:spPr>
          <a:xfrm>
            <a:off x="8316773" y="40315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pitchFamily="34" charset="0"/>
                <a:ea typeface="Helvetica" pitchFamily="34" charset="-122"/>
                <a:cs typeface="Helvetica" pitchFamily="34" charset="-120"/>
              </a:rPr>
              <a:t>3</a:t>
            </a:r>
            <a:endParaRPr lang="en-US" sz="1400" dirty="0"/>
          </a:p>
        </p:txBody>
      </p:sp>
      <p:sp>
        <p:nvSpPr>
          <p:cNvPr id="24" name="Text 22"/>
          <p:cNvSpPr/>
          <p:nvPr/>
        </p:nvSpPr>
        <p:spPr>
          <a:xfrm>
            <a:off x="8837981" y="4013264"/>
            <a:ext cx="2603906" cy="310896"/>
          </a:xfrm>
          <a:prstGeom prst="rect">
            <a:avLst/>
          </a:prstGeom>
          <a:noFill/>
          <a:ln/>
        </p:spPr>
        <p:txBody>
          <a:bodyPr wrap="square" lIns="0" tIns="0" rIns="0" bIns="0" rtlCol="0" anchor="ctr"/>
          <a:lstStyle/>
          <a:p>
            <a:pPr indent="0" marL="0">
              <a:buNone/>
            </a:pPr>
            <a:r>
              <a:rPr lang="en-US" sz="1400" b="1" dirty="0">
                <a:solidFill>
                  <a:srgbClr val="0D1321"/>
                </a:solidFill>
                <a:latin typeface="Helvetica" pitchFamily="34" charset="0"/>
                <a:ea typeface="Helvetica" pitchFamily="34" charset="-122"/>
                <a:cs typeface="Helvetica" pitchFamily="34" charset="-120"/>
              </a:rPr>
              <a:t>Export PDF</a:t>
            </a:r>
            <a:endParaRPr lang="en-US" sz="1400" dirty="0"/>
          </a:p>
        </p:txBody>
      </p:sp>
      <p:sp>
        <p:nvSpPr>
          <p:cNvPr id="25" name="Text 23"/>
          <p:cNvSpPr/>
          <p:nvPr/>
        </p:nvSpPr>
        <p:spPr>
          <a:xfrm>
            <a:off x="8316773" y="4452176"/>
            <a:ext cx="3125114" cy="438790"/>
          </a:xfrm>
          <a:prstGeom prst="rect">
            <a:avLst/>
          </a:prstGeom>
          <a:noFill/>
          <a:ln/>
        </p:spPr>
        <p:txBody>
          <a:bodyPr wrap="square" lIns="0" tIns="0" rIns="0" bIns="0" rtlCol="0" anchor="t"/>
          <a:lstStyle/>
          <a:p>
            <a:pPr indent="0" marL="0">
              <a:lnSpc>
                <a:spcPct val="122000"/>
              </a:lnSpc>
              <a:buNone/>
            </a:pPr>
            <a:r>
              <a:rPr lang="en-US" sz="1200" dirty="0">
                <a:solidFill>
                  <a:srgbClr val="23283A"/>
                </a:solidFill>
                <a:latin typeface="Helvetica" pitchFamily="34" charset="0"/>
                <a:ea typeface="Helvetica" pitchFamily="34" charset="-122"/>
                <a:cs typeface="Helvetica" pitchFamily="34" charset="-120"/>
              </a:rPr>
              <a:t>Jalankan Export — judul, angka rapi, dan grafik ikut ter-export.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04 — Google Sheets + Claude</a:t>
            </a:r>
            <a:endParaRPr lang="en-US" sz="1250" dirty="0"/>
          </a:p>
        </p:txBody>
      </p:sp>
      <p:sp>
        <p:nvSpPr>
          <p:cNvPr id="6" name="Text 4"/>
          <p:cNvSpPr/>
          <p:nvPr/>
        </p:nvSpPr>
        <p:spPr>
          <a:xfrm>
            <a:off x="548640" y="1188720"/>
            <a:ext cx="1106424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Level Up: Dashboard Performa Produk</a:t>
            </a:r>
            <a:endParaRPr lang="en-US" sz="2200" dirty="0"/>
          </a:p>
        </p:txBody>
      </p:sp>
      <p:sp>
        <p:nvSpPr>
          <p:cNvPr id="7" name="Text 5"/>
          <p:cNvSpPr/>
          <p:nvPr/>
        </p:nvSpPr>
        <p:spPr>
          <a:xfrm>
            <a:off x="548640" y="1783080"/>
            <a:ext cx="11094415"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BONUS — SATU HALAMAN, BUKAN CUMA FORMULA</a:t>
            </a:r>
            <a:endParaRPr lang="en-US" sz="1250" dirty="0"/>
          </a:p>
        </p:txBody>
      </p:sp>
      <p:sp>
        <p:nvSpPr>
          <p:cNvPr id="8" name="Shape 6"/>
          <p:cNvSpPr/>
          <p:nvPr/>
        </p:nvSpPr>
        <p:spPr>
          <a:xfrm>
            <a:off x="548640" y="2112264"/>
            <a:ext cx="11094415" cy="1429283"/>
          </a:xfrm>
          <a:prstGeom prst="roundRect">
            <a:avLst>
              <a:gd name="adj" fmla="val 6398"/>
            </a:avLst>
          </a:prstGeom>
          <a:solidFill>
            <a:srgbClr val="141D33"/>
          </a:solidFill>
          <a:ln w="12700">
            <a:solidFill>
              <a:srgbClr val="6849F6"/>
            </a:solidFill>
            <a:prstDash val="solid"/>
          </a:ln>
        </p:spPr>
      </p:sp>
      <p:sp>
        <p:nvSpPr>
          <p:cNvPr id="9" name="Text 7"/>
          <p:cNvSpPr/>
          <p:nvPr/>
        </p:nvSpPr>
        <p:spPr>
          <a:xfrm>
            <a:off x="768096" y="2331720"/>
            <a:ext cx="10655503" cy="256032"/>
          </a:xfrm>
          <a:prstGeom prst="rect">
            <a:avLst/>
          </a:prstGeom>
          <a:noFill/>
          <a:ln/>
        </p:spPr>
        <p:txBody>
          <a:bodyPr wrap="square" lIns="0" tIns="0" rIns="0" bIns="0" rtlCol="0" anchor="ctr"/>
          <a:lstStyle/>
          <a:p>
            <a:pPr indent="0" marL="0">
              <a:buNone/>
            </a:pPr>
            <a:r>
              <a:rPr lang="en-US" sz="1150" b="1" spc="30" kern="0" dirty="0">
                <a:solidFill>
                  <a:srgbClr val="8B7CF6"/>
                </a:solidFill>
                <a:latin typeface="Helvetica" pitchFamily="34" charset="0"/>
                <a:ea typeface="Helvetica" pitchFamily="34" charset="-122"/>
                <a:cs typeface="Helvetica" pitchFamily="34" charset="-120"/>
              </a:rPr>
              <a:t>CONTOH PROMPT</a:t>
            </a:r>
            <a:endParaRPr lang="en-US" sz="1150" dirty="0"/>
          </a:p>
        </p:txBody>
      </p:sp>
      <p:sp>
        <p:nvSpPr>
          <p:cNvPr id="10" name="Text 8"/>
          <p:cNvSpPr/>
          <p:nvPr/>
        </p:nvSpPr>
        <p:spPr>
          <a:xfrm>
            <a:off x="768096" y="2679192"/>
            <a:ext cx="10655503" cy="642899"/>
          </a:xfrm>
          <a:prstGeom prst="rect">
            <a:avLst/>
          </a:prstGeom>
          <a:noFill/>
          <a:ln/>
        </p:spPr>
        <p:txBody>
          <a:bodyPr wrap="square" lIns="0" tIns="0" rIns="0" bIns="0" rtlCol="0" anchor="t"/>
          <a:lstStyle/>
          <a:p>
            <a:pPr indent="0" marL="0">
              <a:lnSpc>
                <a:spcPct val="130000"/>
              </a:lnSpc>
              <a:buNone/>
            </a:pPr>
            <a:r>
              <a:rPr lang="en-US" sz="1100" dirty="0">
                <a:solidFill>
                  <a:srgbClr val="C7CDE0"/>
                </a:solidFill>
                <a:latin typeface="Helvetica" pitchFamily="34" charset="0"/>
                <a:ea typeface="Helvetica" pitchFamily="34" charset="-122"/>
                <a:cs typeface="Helvetica" pitchFamily="34" charset="-120"/>
              </a:rPr>
              <a:t>[Upload atau paste k2-data-latihan-sheets.csv] Dari data ini, buatkan saya dashboard HTML sederhana: tabel semua produk dengan kolom terjual, revenue, dan stok. Beri warna merah kalau stok di bawah 10, kuning kalau stagnan, hijau kalau performa bagus. Simpan sebagai 1 file HTML yang bisa saya buka tiap minggu.</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2026-07-20T08:31:13Z</dcterms:created>
  <dcterms:modified xsi:type="dcterms:W3CDTF">2026-07-20T08:31:13Z</dcterms:modified>
</cp:coreProperties>
</file>