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7558851" y="0"/>
            <a:ext cx="4632844" cy="6858000"/>
          </a:xfrm>
          <a:prstGeom prst="rect">
            <a:avLst/>
          </a:prstGeom>
          <a:solidFill>
            <a:srgbClr val="141D33"/>
          </a:solidFill>
          <a:ln/>
        </p:spPr>
      </p:sp>
      <p:sp>
        <p:nvSpPr>
          <p:cNvPr id="3" name="Text 1"/>
          <p:cNvSpPr/>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10618927" y="384048"/>
            <a:ext cx="1024128" cy="384048"/>
          </a:xfrm>
          <a:prstGeom prst="roundRect">
            <a:avLst>
              <a:gd name="adj" fmla="val 23810"/>
            </a:avLst>
          </a:prstGeom>
          <a:solidFill>
            <a:srgbClr val="6849F6"/>
          </a:solidFill>
          <a:ln/>
        </p:spPr>
      </p:sp>
      <p:sp>
        <p:nvSpPr>
          <p:cNvPr id="5" name="Text 3"/>
          <p:cNvSpPr/>
          <p:nvPr/>
        </p:nvSpPr>
        <p:spPr>
          <a:xfrm>
            <a:off x="10618927" y="384048"/>
            <a:ext cx="102412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Helvetica" pitchFamily="34" charset="0"/>
                <a:ea typeface="Helvetica" pitchFamily="34" charset="-122"/>
                <a:cs typeface="Helvetica" pitchFamily="34" charset="-120"/>
              </a:rPr>
              <a:t>MODUL 4</a:t>
            </a:r>
            <a:endParaRPr lang="en-US" sz="1250" dirty="0"/>
          </a:p>
        </p:txBody>
      </p:sp>
      <p:sp>
        <p:nvSpPr>
          <p:cNvPr id="6" name="Text 4"/>
          <p:cNvSpPr/>
          <p:nvPr/>
        </p:nvSpPr>
        <p:spPr>
          <a:xfrm>
            <a:off x="548640" y="2331720"/>
            <a:ext cx="7772400" cy="320040"/>
          </a:xfrm>
          <a:prstGeom prst="rect">
            <a:avLst/>
          </a:prstGeom>
          <a:noFill/>
          <a:ln/>
        </p:spPr>
        <p:txBody>
          <a:bodyPr wrap="square" lIns="0" tIns="0" rIns="0" bIns="0" rtlCol="0" anchor="ctr"/>
          <a:lstStyle/>
          <a:p>
            <a:pPr indent="0" marL="0">
              <a:buNone/>
            </a:pPr>
            <a:r>
              <a:rPr lang="en-US" sz="1300" b="1" spc="40" kern="0" dirty="0">
                <a:solidFill>
                  <a:srgbClr val="8B7CF6"/>
                </a:solidFill>
                <a:latin typeface="Helvetica" pitchFamily="34" charset="0"/>
                <a:ea typeface="Helvetica" pitchFamily="34" charset="-122"/>
                <a:cs typeface="Helvetica" pitchFamily="34" charset="-120"/>
              </a:rPr>
              <a:t>PRODUKTIVITAS KANTOR</a:t>
            </a:r>
            <a:endParaRPr lang="en-US" sz="1300" dirty="0"/>
          </a:p>
        </p:txBody>
      </p:sp>
      <p:sp>
        <p:nvSpPr>
          <p:cNvPr id="7" name="Text 5"/>
          <p:cNvSpPr/>
          <p:nvPr/>
        </p:nvSpPr>
        <p:spPr>
          <a:xfrm>
            <a:off x="548640" y="2697480"/>
            <a:ext cx="7589520" cy="8864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Spreadsheet &amp; Claude</a:t>
            </a:r>
            <a:endParaRPr lang="en-US" sz="4400" dirty="0"/>
          </a:p>
        </p:txBody>
      </p:sp>
      <p:sp>
        <p:nvSpPr>
          <p:cNvPr id="8" name="Text 6"/>
          <p:cNvSpPr/>
          <p:nvPr/>
        </p:nvSpPr>
        <p:spPr>
          <a:xfrm>
            <a:off x="548640" y="3721100"/>
            <a:ext cx="7315200" cy="822960"/>
          </a:xfrm>
          <a:prstGeom prst="rect">
            <a:avLst/>
          </a:prstGeom>
          <a:noFill/>
          <a:ln/>
        </p:spPr>
        <p:txBody>
          <a:bodyPr wrap="square" lIns="0" tIns="0" rIns="0" bIns="0" rtlCol="0" anchor="t"/>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Data jadi insight dalam menit.</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Yang Bisa Claude Bantu di Spreadsheet</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TIGA CARA CLAUDE MEMPERCEPAT KERJA DATA</a:t>
            </a:r>
            <a:endParaRPr lang="en-US" sz="1250" dirty="0"/>
          </a:p>
        </p:txBody>
      </p:sp>
      <p:sp>
        <p:nvSpPr>
          <p:cNvPr id="8" name="Shape 6"/>
          <p:cNvSpPr/>
          <p:nvPr/>
        </p:nvSpPr>
        <p:spPr>
          <a:xfrm>
            <a:off x="548640" y="2112264"/>
            <a:ext cx="3527450" cy="1700540"/>
          </a:xfrm>
          <a:prstGeom prst="roundRect">
            <a:avLst>
              <a:gd name="adj" fmla="val 5377"/>
            </a:avLst>
          </a:prstGeom>
          <a:solidFill>
            <a:srgbClr val="F3F0FF"/>
          </a:solidFill>
          <a:ln w="12700">
            <a:solidFill>
              <a:srgbClr val="DCD3FB"/>
            </a:solidFill>
            <a:prstDash val="solid"/>
          </a:ln>
        </p:spPr>
      </p:sp>
      <p:sp>
        <p:nvSpPr>
          <p:cNvPr id="9" name="Shape 7"/>
          <p:cNvSpPr/>
          <p:nvPr/>
        </p:nvSpPr>
        <p:spPr>
          <a:xfrm>
            <a:off x="749808" y="2313432"/>
            <a:ext cx="384048" cy="384048"/>
          </a:xfrm>
          <a:prstGeom prst="ellipse">
            <a:avLst/>
          </a:prstGeom>
          <a:solidFill>
            <a:srgbClr val="6849F6"/>
          </a:solidFill>
          <a:ln/>
        </p:spPr>
      </p:sp>
      <p:sp>
        <p:nvSpPr>
          <p:cNvPr id="10" name="Text 8"/>
          <p:cNvSpPr/>
          <p:nvPr/>
        </p:nvSpPr>
        <p:spPr>
          <a:xfrm>
            <a:off x="749808"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11" name="Text 9"/>
          <p:cNvSpPr/>
          <p:nvPr/>
        </p:nvSpPr>
        <p:spPr>
          <a:xfrm>
            <a:off x="1271016"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Formula</a:t>
            </a:r>
            <a:endParaRPr lang="en-US" sz="1400" dirty="0"/>
          </a:p>
        </p:txBody>
      </p:sp>
      <p:sp>
        <p:nvSpPr>
          <p:cNvPr id="12" name="Text 10"/>
          <p:cNvSpPr/>
          <p:nvPr/>
        </p:nvSpPr>
        <p:spPr>
          <a:xfrm>
            <a:off x="749808" y="2734056"/>
            <a:ext cx="3125114" cy="877580"/>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Claude menulis formula dari deskripsi biasa, menjelaskan formula yang membingungkan, dan membantu debug formula yang error.</a:t>
            </a:r>
            <a:endParaRPr lang="en-US" sz="1200" dirty="0"/>
          </a:p>
        </p:txBody>
      </p:sp>
      <p:sp>
        <p:nvSpPr>
          <p:cNvPr id="13" name="Shape 11"/>
          <p:cNvSpPr/>
          <p:nvPr/>
        </p:nvSpPr>
        <p:spPr>
          <a:xfrm>
            <a:off x="4332122" y="2112264"/>
            <a:ext cx="3527450" cy="1700540"/>
          </a:xfrm>
          <a:prstGeom prst="roundRect">
            <a:avLst>
              <a:gd name="adj" fmla="val 5377"/>
            </a:avLst>
          </a:prstGeom>
          <a:solidFill>
            <a:srgbClr val="F3F0FF"/>
          </a:solidFill>
          <a:ln w="12700">
            <a:solidFill>
              <a:srgbClr val="DCD3FB"/>
            </a:solidFill>
            <a:prstDash val="solid"/>
          </a:ln>
        </p:spPr>
      </p:sp>
      <p:sp>
        <p:nvSpPr>
          <p:cNvPr id="14" name="Shape 12"/>
          <p:cNvSpPr/>
          <p:nvPr/>
        </p:nvSpPr>
        <p:spPr>
          <a:xfrm>
            <a:off x="4533290" y="2313432"/>
            <a:ext cx="384048" cy="384048"/>
          </a:xfrm>
          <a:prstGeom prst="ellipse">
            <a:avLst/>
          </a:prstGeom>
          <a:solidFill>
            <a:srgbClr val="6849F6"/>
          </a:solidFill>
          <a:ln/>
        </p:spPr>
      </p:sp>
      <p:sp>
        <p:nvSpPr>
          <p:cNvPr id="15" name="Text 13"/>
          <p:cNvSpPr/>
          <p:nvPr/>
        </p:nvSpPr>
        <p:spPr>
          <a:xfrm>
            <a:off x="4533290"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2</a:t>
            </a:r>
            <a:endParaRPr lang="en-US" sz="1400" dirty="0"/>
          </a:p>
        </p:txBody>
      </p:sp>
      <p:sp>
        <p:nvSpPr>
          <p:cNvPr id="16" name="Text 14"/>
          <p:cNvSpPr/>
          <p:nvPr/>
        </p:nvSpPr>
        <p:spPr>
          <a:xfrm>
            <a:off x="5054498"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Analisis</a:t>
            </a:r>
            <a:endParaRPr lang="en-US" sz="1400" dirty="0"/>
          </a:p>
        </p:txBody>
      </p:sp>
      <p:sp>
        <p:nvSpPr>
          <p:cNvPr id="17" name="Text 15"/>
          <p:cNvSpPr/>
          <p:nvPr/>
        </p:nvSpPr>
        <p:spPr>
          <a:xfrm>
            <a:off x="4533290" y="2734056"/>
            <a:ext cx="3125114" cy="877580"/>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Temukan pola dari data penjualan, bandingkan performa antar produk atau periode, dan identifikasi anomali yang mudah terlewat.</a:t>
            </a:r>
            <a:endParaRPr lang="en-US" sz="1200" dirty="0"/>
          </a:p>
        </p:txBody>
      </p:sp>
      <p:sp>
        <p:nvSpPr>
          <p:cNvPr id="18" name="Shape 16"/>
          <p:cNvSpPr/>
          <p:nvPr/>
        </p:nvSpPr>
        <p:spPr>
          <a:xfrm>
            <a:off x="8115605" y="2112264"/>
            <a:ext cx="3527450" cy="1700540"/>
          </a:xfrm>
          <a:prstGeom prst="roundRect">
            <a:avLst>
              <a:gd name="adj" fmla="val 5377"/>
            </a:avLst>
          </a:prstGeom>
          <a:solidFill>
            <a:srgbClr val="F3F0FF"/>
          </a:solidFill>
          <a:ln w="12700">
            <a:solidFill>
              <a:srgbClr val="DCD3FB"/>
            </a:solidFill>
            <a:prstDash val="solid"/>
          </a:ln>
        </p:spPr>
      </p:sp>
      <p:sp>
        <p:nvSpPr>
          <p:cNvPr id="19" name="Shape 17"/>
          <p:cNvSpPr/>
          <p:nvPr/>
        </p:nvSpPr>
        <p:spPr>
          <a:xfrm>
            <a:off x="8316773" y="2313432"/>
            <a:ext cx="384048" cy="384048"/>
          </a:xfrm>
          <a:prstGeom prst="ellipse">
            <a:avLst/>
          </a:prstGeom>
          <a:solidFill>
            <a:srgbClr val="6849F6"/>
          </a:solidFill>
          <a:ln/>
        </p:spPr>
      </p:sp>
      <p:sp>
        <p:nvSpPr>
          <p:cNvPr id="20" name="Text 18"/>
          <p:cNvSpPr/>
          <p:nvPr/>
        </p:nvSpPr>
        <p:spPr>
          <a:xfrm>
            <a:off x="8316773"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21" name="Text 19"/>
          <p:cNvSpPr/>
          <p:nvPr/>
        </p:nvSpPr>
        <p:spPr>
          <a:xfrm>
            <a:off x="8837981"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Rekomendasi</a:t>
            </a:r>
            <a:endParaRPr lang="en-US" sz="1400" dirty="0"/>
          </a:p>
        </p:txBody>
      </p:sp>
      <p:sp>
        <p:nvSpPr>
          <p:cNvPr id="22" name="Text 20"/>
          <p:cNvSpPr/>
          <p:nvPr/>
        </p:nvSpPr>
        <p:spPr>
          <a:xfrm>
            <a:off x="8316773" y="2734056"/>
            <a:ext cx="3125114" cy="877580"/>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Dari data ke keputusan bisnis konkret — produk mana yang perlu direstock, dipromosikan, atau dihentikan.</a:t>
            </a:r>
            <a:endParaRPr lang="en-US" sz="1200" dirty="0"/>
          </a:p>
        </p:txBody>
      </p:sp>
      <p:sp>
        <p:nvSpPr>
          <p:cNvPr id="23" name="Text 21"/>
          <p:cNvSpPr/>
          <p:nvPr/>
        </p:nvSpPr>
        <p:spPr>
          <a:xfrm>
            <a:off x="548640" y="4050548"/>
            <a:ext cx="11094415" cy="498734"/>
          </a:xfrm>
          <a:prstGeom prst="rect">
            <a:avLst/>
          </a:prstGeom>
          <a:noFill/>
          <a:ln/>
        </p:spPr>
        <p:txBody>
          <a:bodyPr wrap="square" lIns="0" tIns="0" rIns="0" bIns="0" rtlCol="0" anchor="t"/>
          <a:lstStyle/>
          <a:p>
            <a:pPr indent="0" marL="0">
              <a:lnSpc>
                <a:spcPct val="128000"/>
              </a:lnSpc>
              <a:buNone/>
            </a:pPr>
            <a:r>
              <a:rPr lang="en-US" sz="1300" dirty="0">
                <a:solidFill>
                  <a:srgbClr val="6B7280"/>
                </a:solidFill>
                <a:latin typeface="Helvetica" pitchFamily="34" charset="0"/>
                <a:ea typeface="Helvetica" pitchFamily="34" charset="-122"/>
                <a:cs typeface="Helvetica" pitchFamily="34" charset="-120"/>
              </a:rPr>
              <a:t>Tips: Selalu sebutkan struktur kolom data dulu sebelum bertanya — Claude bekerja lebih akurat kalau tahu konteks kolomnya. Berlaku sama di Google Sheets maupun Excel.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Data Aman vs. Data Sensitif</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YANG BOLEH DAN TIDAK BOLEH DIBAGIKAN KE CLAUDE</a:t>
            </a:r>
            <a:endParaRPr lang="en-US" sz="1250" dirty="0"/>
          </a:p>
        </p:txBody>
      </p:sp>
      <p:sp>
        <p:nvSpPr>
          <p:cNvPr id="8" name="Shape 6"/>
          <p:cNvSpPr/>
          <p:nvPr/>
        </p:nvSpPr>
        <p:spPr>
          <a:xfrm>
            <a:off x="548640" y="2112264"/>
            <a:ext cx="5410048" cy="1720901"/>
          </a:xfrm>
          <a:prstGeom prst="roundRect">
            <a:avLst>
              <a:gd name="adj" fmla="val 5313"/>
            </a:avLst>
          </a:prstGeom>
          <a:solidFill>
            <a:srgbClr val="F4F6FB"/>
          </a:solidFill>
          <a:ln w="12700">
            <a:solidFill>
              <a:srgbClr val="D6DCEB"/>
            </a:solidFill>
            <a:prstDash val="solid"/>
          </a:ln>
        </p:spPr>
      </p:sp>
      <p:sp>
        <p:nvSpPr>
          <p:cNvPr id="9" name="Text 7"/>
          <p:cNvSpPr/>
          <p:nvPr/>
        </p:nvSpPr>
        <p:spPr>
          <a:xfrm>
            <a:off x="749808" y="2313432"/>
            <a:ext cx="5007712" cy="274320"/>
          </a:xfrm>
          <a:prstGeom prst="rect">
            <a:avLst/>
          </a:prstGeom>
          <a:noFill/>
          <a:ln/>
        </p:spPr>
        <p:txBody>
          <a:bodyPr wrap="square" lIns="0" tIns="0" rIns="0" bIns="0" rtlCol="0" anchor="ctr"/>
          <a:lstStyle/>
          <a:p>
            <a:pPr indent="0" marL="0">
              <a:buNone/>
            </a:pPr>
            <a:r>
              <a:rPr lang="en-US" sz="1200" b="1" spc="30" kern="0" dirty="0">
                <a:solidFill>
                  <a:srgbClr val="6B7280"/>
                </a:solidFill>
                <a:latin typeface="Helvetica" pitchFamily="34" charset="0"/>
                <a:ea typeface="Helvetica" pitchFamily="34" charset="-122"/>
                <a:cs typeface="Helvetica" pitchFamily="34" charset="-120"/>
              </a:rPr>
              <a:t>⚠ HINDARI DIBAGIKAN</a:t>
            </a:r>
            <a:endParaRPr lang="en-US" sz="1200" dirty="0"/>
          </a:p>
        </p:txBody>
      </p:sp>
      <p:sp>
        <p:nvSpPr>
          <p:cNvPr id="10" name="Text 8"/>
          <p:cNvSpPr/>
          <p:nvPr/>
        </p:nvSpPr>
        <p:spPr>
          <a:xfrm>
            <a:off x="749808" y="2660904"/>
            <a:ext cx="5007712" cy="971093"/>
          </a:xfrm>
          <a:prstGeom prst="rect">
            <a:avLst/>
          </a:prstGeom>
          <a:noFill/>
          <a:ln/>
        </p:spPr>
        <p:txBody>
          <a:bodyPr wrap="square" lIns="0" tIns="0" rIns="0" bIns="0" rtlCol="0" anchor="t"/>
          <a:lstStyle/>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Nama lengkap + nomor telepon pelanggan</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Nomor kartu kredit / rekening</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Password atau API key</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Data karyawan dengan info personal</a:t>
            </a:r>
            <a:endParaRPr lang="en-US" sz="1200" dirty="0"/>
          </a:p>
        </p:txBody>
      </p:sp>
      <p:sp>
        <p:nvSpPr>
          <p:cNvPr id="11" name="Shape 9"/>
          <p:cNvSpPr/>
          <p:nvPr/>
        </p:nvSpPr>
        <p:spPr>
          <a:xfrm>
            <a:off x="6233008" y="2112264"/>
            <a:ext cx="5410048" cy="1720901"/>
          </a:xfrm>
          <a:prstGeom prst="roundRect">
            <a:avLst>
              <a:gd name="adj" fmla="val 5313"/>
            </a:avLst>
          </a:prstGeom>
          <a:solidFill>
            <a:srgbClr val="F3F0FF"/>
          </a:solidFill>
          <a:ln w="12700">
            <a:solidFill>
              <a:srgbClr val="DCD3FB"/>
            </a:solidFill>
            <a:prstDash val="solid"/>
          </a:ln>
        </p:spPr>
      </p:sp>
      <p:sp>
        <p:nvSpPr>
          <p:cNvPr id="12" name="Text 10"/>
          <p:cNvSpPr/>
          <p:nvPr/>
        </p:nvSpPr>
        <p:spPr>
          <a:xfrm>
            <a:off x="6434176" y="2313432"/>
            <a:ext cx="5007712" cy="274320"/>
          </a:xfrm>
          <a:prstGeom prst="rect">
            <a:avLst/>
          </a:prstGeom>
          <a:noFill/>
          <a:ln/>
        </p:spPr>
        <p:txBody>
          <a:bodyPr wrap="square" lIns="0" tIns="0" rIns="0" bIns="0" rtlCol="0" anchor="ctr"/>
          <a:lstStyle/>
          <a:p>
            <a:pPr indent="0" marL="0">
              <a:buNone/>
            </a:pPr>
            <a:r>
              <a:rPr lang="en-US" sz="1200" b="1" spc="30" kern="0" dirty="0">
                <a:solidFill>
                  <a:srgbClr val="4B36C7"/>
                </a:solidFill>
                <a:latin typeface="Helvetica" pitchFamily="34" charset="0"/>
                <a:ea typeface="Helvetica" pitchFamily="34" charset="-122"/>
                <a:cs typeface="Helvetica" pitchFamily="34" charset="-120"/>
              </a:rPr>
              <a:t>✓ AMAN DIBAGIKAN</a:t>
            </a:r>
            <a:endParaRPr lang="en-US" sz="1200" dirty="0"/>
          </a:p>
        </p:txBody>
      </p:sp>
      <p:sp>
        <p:nvSpPr>
          <p:cNvPr id="13" name="Text 11"/>
          <p:cNvSpPr/>
          <p:nvPr/>
        </p:nvSpPr>
        <p:spPr>
          <a:xfrm>
            <a:off x="6434176" y="2660904"/>
            <a:ext cx="5007712" cy="971093"/>
          </a:xfrm>
          <a:prstGeom prst="rect">
            <a:avLst/>
          </a:prstGeom>
          <a:noFill/>
          <a:ln/>
        </p:spPr>
        <p:txBody>
          <a:bodyPr wrap="square" lIns="0" tIns="0" rIns="0" bIns="0" rtlCol="0" anchor="t"/>
          <a:lstStyle/>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Nama produk, kategori, harga</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Jumlah penjualan per periode</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Data performa (tanpa nama pelanggan)</a:t>
            </a:r>
            <a:endParaRPr lang="en-US" sz="1200" dirty="0"/>
          </a:p>
          <a:p>
            <a:pPr indent="0" marL="0">
              <a:lnSpc>
                <a:spcPct val="135000"/>
              </a:lnSpc>
              <a:buNone/>
            </a:pPr>
            <a:r>
              <a:rPr lang="en-US" sz="1200" dirty="0">
                <a:solidFill>
                  <a:srgbClr val="23283A"/>
                </a:solidFill>
                <a:latin typeface="Helvetica" pitchFamily="34" charset="0"/>
                <a:ea typeface="Helvetica" pitchFamily="34" charset="-122"/>
                <a:cs typeface="Helvetica" pitchFamily="34" charset="-120"/>
              </a:rPr>
              <a:t>•  Struktur kolom dan formula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 Langkah demi Langkah</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PRAKTIK LANGSUNG DENGAN DATA KASUAL STUDIO</a:t>
            </a:r>
            <a:endParaRPr lang="en-US" sz="1250" dirty="0"/>
          </a:p>
        </p:txBody>
      </p:sp>
      <p:sp>
        <p:nvSpPr>
          <p:cNvPr id="8" name="Shape 6"/>
          <p:cNvSpPr/>
          <p:nvPr/>
        </p:nvSpPr>
        <p:spPr>
          <a:xfrm>
            <a:off x="548640" y="2112264"/>
            <a:ext cx="3527450" cy="1481145"/>
          </a:xfrm>
          <a:prstGeom prst="roundRect">
            <a:avLst>
              <a:gd name="adj" fmla="val 6174"/>
            </a:avLst>
          </a:prstGeom>
          <a:solidFill>
            <a:srgbClr val="F3F0FF"/>
          </a:solidFill>
          <a:ln w="12700">
            <a:solidFill>
              <a:srgbClr val="DCD3FB"/>
            </a:solidFill>
            <a:prstDash val="solid"/>
          </a:ln>
        </p:spPr>
      </p:sp>
      <p:sp>
        <p:nvSpPr>
          <p:cNvPr id="9" name="Shape 7"/>
          <p:cNvSpPr/>
          <p:nvPr/>
        </p:nvSpPr>
        <p:spPr>
          <a:xfrm>
            <a:off x="749808" y="2313432"/>
            <a:ext cx="384048" cy="384048"/>
          </a:xfrm>
          <a:prstGeom prst="ellipse">
            <a:avLst/>
          </a:prstGeom>
          <a:solidFill>
            <a:srgbClr val="6849F6"/>
          </a:solidFill>
          <a:ln/>
        </p:spPr>
      </p:sp>
      <p:sp>
        <p:nvSpPr>
          <p:cNvPr id="10" name="Text 8"/>
          <p:cNvSpPr/>
          <p:nvPr/>
        </p:nvSpPr>
        <p:spPr>
          <a:xfrm>
            <a:off x="749808"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11" name="Text 9"/>
          <p:cNvSpPr/>
          <p:nvPr/>
        </p:nvSpPr>
        <p:spPr>
          <a:xfrm>
            <a:off x="1271016"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Download File</a:t>
            </a:r>
            <a:endParaRPr lang="en-US" sz="1400" dirty="0"/>
          </a:p>
        </p:txBody>
      </p:sp>
      <p:sp>
        <p:nvSpPr>
          <p:cNvPr id="12" name="Text 10"/>
          <p:cNvSpPr/>
          <p:nvPr/>
        </p:nvSpPr>
        <p:spPr>
          <a:xfrm>
            <a:off x="749808" y="2734056"/>
            <a:ext cx="3125114" cy="658185"/>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Download k2-data-latihan-sheets.csv dari halaman materi — data transaksi Kasual Studio, ~180 baris.</a:t>
            </a:r>
            <a:endParaRPr lang="en-US" sz="1200" dirty="0"/>
          </a:p>
        </p:txBody>
      </p:sp>
      <p:sp>
        <p:nvSpPr>
          <p:cNvPr id="13" name="Shape 11"/>
          <p:cNvSpPr/>
          <p:nvPr/>
        </p:nvSpPr>
        <p:spPr>
          <a:xfrm>
            <a:off x="4332122" y="2112264"/>
            <a:ext cx="3527450" cy="1481145"/>
          </a:xfrm>
          <a:prstGeom prst="roundRect">
            <a:avLst>
              <a:gd name="adj" fmla="val 6174"/>
            </a:avLst>
          </a:prstGeom>
          <a:solidFill>
            <a:srgbClr val="F3F0FF"/>
          </a:solidFill>
          <a:ln w="12700">
            <a:solidFill>
              <a:srgbClr val="DCD3FB"/>
            </a:solidFill>
            <a:prstDash val="solid"/>
          </a:ln>
        </p:spPr>
      </p:sp>
      <p:sp>
        <p:nvSpPr>
          <p:cNvPr id="14" name="Shape 12"/>
          <p:cNvSpPr/>
          <p:nvPr/>
        </p:nvSpPr>
        <p:spPr>
          <a:xfrm>
            <a:off x="4533290" y="2313432"/>
            <a:ext cx="384048" cy="384048"/>
          </a:xfrm>
          <a:prstGeom prst="ellipse">
            <a:avLst/>
          </a:prstGeom>
          <a:solidFill>
            <a:srgbClr val="6849F6"/>
          </a:solidFill>
          <a:ln/>
        </p:spPr>
      </p:sp>
      <p:sp>
        <p:nvSpPr>
          <p:cNvPr id="15" name="Text 13"/>
          <p:cNvSpPr/>
          <p:nvPr/>
        </p:nvSpPr>
        <p:spPr>
          <a:xfrm>
            <a:off x="4533290"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2</a:t>
            </a:r>
            <a:endParaRPr lang="en-US" sz="1400" dirty="0"/>
          </a:p>
        </p:txBody>
      </p:sp>
      <p:sp>
        <p:nvSpPr>
          <p:cNvPr id="16" name="Text 14"/>
          <p:cNvSpPr/>
          <p:nvPr/>
        </p:nvSpPr>
        <p:spPr>
          <a:xfrm>
            <a:off x="5054498"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Upload ke Claude</a:t>
            </a:r>
            <a:endParaRPr lang="en-US" sz="1400" dirty="0"/>
          </a:p>
        </p:txBody>
      </p:sp>
      <p:sp>
        <p:nvSpPr>
          <p:cNvPr id="17" name="Text 15"/>
          <p:cNvSpPr/>
          <p:nvPr/>
        </p:nvSpPr>
        <p:spPr>
          <a:xfrm>
            <a:off x="4533290" y="2734056"/>
            <a:ext cx="3125114" cy="658185"/>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Buka claude.ai, chat baru. Drag &amp; drop file CSV ke jendela chat (atau klik ikon attach).</a:t>
            </a:r>
            <a:endParaRPr lang="en-US" sz="1200" dirty="0"/>
          </a:p>
        </p:txBody>
      </p:sp>
      <p:sp>
        <p:nvSpPr>
          <p:cNvPr id="18" name="Shape 16"/>
          <p:cNvSpPr/>
          <p:nvPr/>
        </p:nvSpPr>
        <p:spPr>
          <a:xfrm>
            <a:off x="8115605" y="2112264"/>
            <a:ext cx="3527450" cy="1481145"/>
          </a:xfrm>
          <a:prstGeom prst="roundRect">
            <a:avLst>
              <a:gd name="adj" fmla="val 6174"/>
            </a:avLst>
          </a:prstGeom>
          <a:solidFill>
            <a:srgbClr val="F3F0FF"/>
          </a:solidFill>
          <a:ln w="12700">
            <a:solidFill>
              <a:srgbClr val="DCD3FB"/>
            </a:solidFill>
            <a:prstDash val="solid"/>
          </a:ln>
        </p:spPr>
      </p:sp>
      <p:sp>
        <p:nvSpPr>
          <p:cNvPr id="19" name="Shape 17"/>
          <p:cNvSpPr/>
          <p:nvPr/>
        </p:nvSpPr>
        <p:spPr>
          <a:xfrm>
            <a:off x="8316773" y="2313432"/>
            <a:ext cx="384048" cy="384048"/>
          </a:xfrm>
          <a:prstGeom prst="ellipse">
            <a:avLst/>
          </a:prstGeom>
          <a:solidFill>
            <a:srgbClr val="6849F6"/>
          </a:solidFill>
          <a:ln/>
        </p:spPr>
      </p:sp>
      <p:sp>
        <p:nvSpPr>
          <p:cNvPr id="20" name="Text 18"/>
          <p:cNvSpPr/>
          <p:nvPr/>
        </p:nvSpPr>
        <p:spPr>
          <a:xfrm>
            <a:off x="8316773"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21" name="Text 19"/>
          <p:cNvSpPr/>
          <p:nvPr/>
        </p:nvSpPr>
        <p:spPr>
          <a:xfrm>
            <a:off x="8837981" y="2295144"/>
            <a:ext cx="2603906" cy="310896"/>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Kirim 3 Prompt</a:t>
            </a:r>
            <a:endParaRPr lang="en-US" sz="1400" dirty="0"/>
          </a:p>
        </p:txBody>
      </p:sp>
      <p:sp>
        <p:nvSpPr>
          <p:cNvPr id="22" name="Text 20"/>
          <p:cNvSpPr/>
          <p:nvPr/>
        </p:nvSpPr>
        <p:spPr>
          <a:xfrm>
            <a:off x="8316773" y="2734056"/>
            <a:ext cx="3125114" cy="658185"/>
          </a:xfrm>
          <a:prstGeom prst="rect">
            <a:avLst/>
          </a:prstGeom>
          <a:noFill/>
          <a:ln/>
        </p:spPr>
        <p:txBody>
          <a:bodyPr wrap="square" lIns="0" tIns="0" rIns="0" bIns="0" rtlCol="0" anchor="t"/>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Kirim 3 prompt berikut satu per satu di chat yang sama — Claude tetap ingat datamu.</a:t>
            </a:r>
            <a:endParaRPr lang="en-US" sz="1200" dirty="0"/>
          </a:p>
        </p:txBody>
      </p:sp>
      <p:sp>
        <p:nvSpPr>
          <p:cNvPr id="23" name="Shape 21"/>
          <p:cNvSpPr/>
          <p:nvPr/>
        </p:nvSpPr>
        <p:spPr>
          <a:xfrm>
            <a:off x="548640" y="3831153"/>
            <a:ext cx="11094415" cy="1836776"/>
          </a:xfrm>
          <a:prstGeom prst="roundRect">
            <a:avLst>
              <a:gd name="adj" fmla="val 4978"/>
            </a:avLst>
          </a:prstGeom>
          <a:solidFill>
            <a:srgbClr val="141D33"/>
          </a:solidFill>
          <a:ln w="12700">
            <a:solidFill>
              <a:srgbClr val="6849F6"/>
            </a:solidFill>
            <a:prstDash val="solid"/>
          </a:ln>
        </p:spPr>
      </p:sp>
      <p:sp>
        <p:nvSpPr>
          <p:cNvPr id="24" name="Text 22"/>
          <p:cNvSpPr/>
          <p:nvPr/>
        </p:nvSpPr>
        <p:spPr>
          <a:xfrm>
            <a:off x="768096" y="4050609"/>
            <a:ext cx="10655503" cy="256032"/>
          </a:xfrm>
          <a:prstGeom prst="rect">
            <a:avLst/>
          </a:prstGeom>
          <a:noFill/>
          <a:ln/>
        </p:spPr>
        <p:txBody>
          <a:bodyPr wrap="square" lIns="0" tIns="0" rIns="0" bIns="0" rtlCol="0" anchor="ctr"/>
          <a:lstStyle/>
          <a:p>
            <a:pPr indent="0" marL="0">
              <a:buNone/>
            </a:pPr>
            <a:r>
              <a:rPr lang="en-US" sz="1150" b="1" spc="30" kern="0" dirty="0">
                <a:solidFill>
                  <a:srgbClr val="8B7CF6"/>
                </a:solidFill>
                <a:latin typeface="Helvetica" pitchFamily="34" charset="0"/>
                <a:ea typeface="Helvetica" pitchFamily="34" charset="-122"/>
                <a:cs typeface="Helvetica" pitchFamily="34" charset="-120"/>
              </a:rPr>
              <a:t>PROMPT YANG DIKIRIM</a:t>
            </a:r>
            <a:endParaRPr lang="en-US" sz="1150" dirty="0"/>
          </a:p>
        </p:txBody>
      </p:sp>
      <p:sp>
        <p:nvSpPr>
          <p:cNvPr id="25" name="Text 23"/>
          <p:cNvSpPr/>
          <p:nvPr/>
        </p:nvSpPr>
        <p:spPr>
          <a:xfrm>
            <a:off x="768096" y="4398081"/>
            <a:ext cx="10655503" cy="219456"/>
          </a:xfrm>
          <a:prstGeom prst="rect">
            <a:avLst/>
          </a:prstGeom>
          <a:noFill/>
          <a:ln/>
        </p:spPr>
        <p:txBody>
          <a:bodyPr wrap="square" lIns="0" tIns="0" rIns="0" bIns="0" rtlCol="0" anchor="ctr"/>
          <a:lstStyle/>
          <a:p>
            <a:pPr indent="0" marL="0">
              <a:buNone/>
            </a:pPr>
            <a:r>
              <a:rPr lang="en-US" sz="1150" b="1" dirty="0">
                <a:solidFill>
                  <a:srgbClr val="FFFFFF"/>
                </a:solidFill>
                <a:latin typeface="Helvetica" pitchFamily="34" charset="0"/>
                <a:ea typeface="Helvetica" pitchFamily="34" charset="-122"/>
                <a:cs typeface="Helvetica" pitchFamily="34" charset="-120"/>
              </a:rPr>
              <a:t>Prompt 1 — Formula</a:t>
            </a:r>
            <a:endParaRPr lang="en-US" sz="1150" dirty="0"/>
          </a:p>
        </p:txBody>
      </p:sp>
      <p:sp>
        <p:nvSpPr>
          <p:cNvPr id="26" name="Text 24"/>
          <p:cNvSpPr/>
          <p:nvPr/>
        </p:nvSpPr>
        <p:spPr>
          <a:xfrm>
            <a:off x="768096" y="4654113"/>
            <a:ext cx="10655503" cy="214300"/>
          </a:xfrm>
          <a:prstGeom prst="rect">
            <a:avLst/>
          </a:prstGeom>
          <a:noFill/>
          <a:ln/>
        </p:spPr>
        <p:txBody>
          <a:bodyPr wrap="square" lIns="0" tIns="0" rIns="0" bIns="0" rtlCol="0" anchor="t"/>
          <a:lstStyle/>
          <a:p>
            <a:pPr indent="0" marL="0">
              <a:lnSpc>
                <a:spcPct val="130000"/>
              </a:lnSpc>
              <a:buNone/>
            </a:pPr>
            <a:r>
              <a:rPr lang="en-US" sz="1100" dirty="0">
                <a:solidFill>
                  <a:srgbClr val="C7CDE0"/>
                </a:solidFill>
                <a:latin typeface="Helvetica" pitchFamily="34" charset="0"/>
                <a:ea typeface="Helvetica" pitchFamily="34" charset="-122"/>
                <a:cs typeface="Helvetica" pitchFamily="34" charset="-120"/>
              </a:rPr>
              <a:t>"Data saya kolom: Tanggal, Order ID, Produk, Region, Sales, Qty, Harga Satuan, Total. Buatkan formula SUMIF total revenue per Produk dan per Region."</a:t>
            </a:r>
            <a:endParaRPr lang="en-US" sz="1100" dirty="0"/>
          </a:p>
        </p:txBody>
      </p:sp>
      <p:sp>
        <p:nvSpPr>
          <p:cNvPr id="27" name="Text 25"/>
          <p:cNvSpPr/>
          <p:nvPr/>
        </p:nvSpPr>
        <p:spPr>
          <a:xfrm>
            <a:off x="768096" y="4978141"/>
            <a:ext cx="10655503" cy="219456"/>
          </a:xfrm>
          <a:prstGeom prst="rect">
            <a:avLst/>
          </a:prstGeom>
          <a:noFill/>
          <a:ln/>
        </p:spPr>
        <p:txBody>
          <a:bodyPr wrap="square" lIns="0" tIns="0" rIns="0" bIns="0" rtlCol="0" anchor="ctr"/>
          <a:lstStyle/>
          <a:p>
            <a:pPr indent="0" marL="0">
              <a:buNone/>
            </a:pPr>
            <a:r>
              <a:rPr lang="en-US" sz="1150" b="1" dirty="0">
                <a:solidFill>
                  <a:srgbClr val="FFFFFF"/>
                </a:solidFill>
                <a:latin typeface="Helvetica" pitchFamily="34" charset="0"/>
                <a:ea typeface="Helvetica" pitchFamily="34" charset="-122"/>
                <a:cs typeface="Helvetica" pitchFamily="34" charset="-120"/>
              </a:rPr>
              <a:t>Prompt 2 — Analisis &amp; Rekomendasi</a:t>
            </a:r>
            <a:endParaRPr lang="en-US" sz="1150" dirty="0"/>
          </a:p>
        </p:txBody>
      </p:sp>
      <p:sp>
        <p:nvSpPr>
          <p:cNvPr id="28" name="Text 26"/>
          <p:cNvSpPr/>
          <p:nvPr/>
        </p:nvSpPr>
        <p:spPr>
          <a:xfrm>
            <a:off x="768096" y="5234173"/>
            <a:ext cx="10655503" cy="214300"/>
          </a:xfrm>
          <a:prstGeom prst="rect">
            <a:avLst/>
          </a:prstGeom>
          <a:noFill/>
          <a:ln/>
        </p:spPr>
        <p:txBody>
          <a:bodyPr wrap="square" lIns="0" tIns="0" rIns="0" bIns="0" rtlCol="0" anchor="t"/>
          <a:lstStyle/>
          <a:p>
            <a:pPr indent="0" marL="0">
              <a:lnSpc>
                <a:spcPct val="130000"/>
              </a:lnSpc>
              <a:buNone/>
            </a:pPr>
            <a:r>
              <a:rPr lang="en-US" sz="1100" dirty="0">
                <a:solidFill>
                  <a:srgbClr val="C7CDE0"/>
                </a:solidFill>
                <a:latin typeface="Helvetica" pitchFamily="34" charset="0"/>
                <a:ea typeface="Helvetica" pitchFamily="34" charset="-122"/>
                <a:cs typeface="Helvetica" pitchFamily="34" charset="-120"/>
              </a:rPr>
              <a:t>"Dari data transaksi ini: produk/region mana paling laris? Ada tren naik-turun? Sales mana paling produktif? Kasih rekomendasi."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 File Excel &amp; Output</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PROMPT TERAKHIR: BIKIN FILE SIAP DIBAGIKAN</a:t>
            </a:r>
            <a:endParaRPr lang="en-US" sz="1250" dirty="0"/>
          </a:p>
        </p:txBody>
      </p:sp>
      <p:sp>
        <p:nvSpPr>
          <p:cNvPr id="8" name="Shape 6"/>
          <p:cNvSpPr/>
          <p:nvPr/>
        </p:nvSpPr>
        <p:spPr>
          <a:xfrm>
            <a:off x="548640" y="2112264"/>
            <a:ext cx="11094415" cy="1256716"/>
          </a:xfrm>
          <a:prstGeom prst="roundRect">
            <a:avLst>
              <a:gd name="adj" fmla="val 7276"/>
            </a:avLst>
          </a:prstGeom>
          <a:solidFill>
            <a:srgbClr val="141D33"/>
          </a:solidFill>
          <a:ln w="12700">
            <a:solidFill>
              <a:srgbClr val="6849F6"/>
            </a:solidFill>
            <a:prstDash val="solid"/>
          </a:ln>
        </p:spPr>
      </p:sp>
      <p:sp>
        <p:nvSpPr>
          <p:cNvPr id="9" name="Text 7"/>
          <p:cNvSpPr/>
          <p:nvPr/>
        </p:nvSpPr>
        <p:spPr>
          <a:xfrm>
            <a:off x="768096" y="2331720"/>
            <a:ext cx="10655503" cy="256032"/>
          </a:xfrm>
          <a:prstGeom prst="rect">
            <a:avLst/>
          </a:prstGeom>
          <a:noFill/>
          <a:ln/>
        </p:spPr>
        <p:txBody>
          <a:bodyPr wrap="square" lIns="0" tIns="0" rIns="0" bIns="0" rtlCol="0" anchor="ctr"/>
          <a:lstStyle/>
          <a:p>
            <a:pPr indent="0" marL="0">
              <a:buNone/>
            </a:pPr>
            <a:r>
              <a:rPr lang="en-US" sz="1150" b="1" spc="30" kern="0" dirty="0">
                <a:solidFill>
                  <a:srgbClr val="8B7CF6"/>
                </a:solidFill>
                <a:latin typeface="Helvetica" pitchFamily="34" charset="0"/>
                <a:ea typeface="Helvetica" pitchFamily="34" charset="-122"/>
                <a:cs typeface="Helvetica" pitchFamily="34" charset="-120"/>
              </a:rPr>
              <a:t>PROMPT YANG DIKIRIM</a:t>
            </a:r>
            <a:endParaRPr lang="en-US" sz="1150" dirty="0"/>
          </a:p>
        </p:txBody>
      </p:sp>
      <p:sp>
        <p:nvSpPr>
          <p:cNvPr id="10" name="Text 8"/>
          <p:cNvSpPr/>
          <p:nvPr/>
        </p:nvSpPr>
        <p:spPr>
          <a:xfrm>
            <a:off x="768096" y="2679192"/>
            <a:ext cx="10655503" cy="219456"/>
          </a:xfrm>
          <a:prstGeom prst="rect">
            <a:avLst/>
          </a:prstGeom>
          <a:noFill/>
          <a:ln/>
        </p:spPr>
        <p:txBody>
          <a:bodyPr wrap="square" lIns="0" tIns="0" rIns="0" bIns="0" rtlCol="0" anchor="ctr"/>
          <a:lstStyle/>
          <a:p>
            <a:pPr indent="0" marL="0">
              <a:buNone/>
            </a:pPr>
            <a:r>
              <a:rPr lang="en-US" sz="1150" b="1" dirty="0">
                <a:solidFill>
                  <a:srgbClr val="FFFFFF"/>
                </a:solidFill>
                <a:latin typeface="Helvetica" pitchFamily="34" charset="0"/>
                <a:ea typeface="Helvetica" pitchFamily="34" charset="-122"/>
                <a:cs typeface="Helvetica" pitchFamily="34" charset="-120"/>
              </a:rPr>
              <a:t>Prompt 3 — File Excel Ringkasan</a:t>
            </a:r>
            <a:endParaRPr lang="en-US" sz="1150" dirty="0"/>
          </a:p>
        </p:txBody>
      </p:sp>
      <p:sp>
        <p:nvSpPr>
          <p:cNvPr id="11" name="Text 9"/>
          <p:cNvSpPr/>
          <p:nvPr/>
        </p:nvSpPr>
        <p:spPr>
          <a:xfrm>
            <a:off x="768096" y="2935224"/>
            <a:ext cx="10655503" cy="214300"/>
          </a:xfrm>
          <a:prstGeom prst="rect">
            <a:avLst/>
          </a:prstGeom>
          <a:noFill/>
          <a:ln/>
        </p:spPr>
        <p:txBody>
          <a:bodyPr wrap="square" lIns="0" tIns="0" rIns="0" bIns="0" rtlCol="0" anchor="t"/>
          <a:lstStyle/>
          <a:p>
            <a:pPr indent="0" marL="0">
              <a:lnSpc>
                <a:spcPct val="130000"/>
              </a:lnSpc>
              <a:buNone/>
            </a:pPr>
            <a:r>
              <a:rPr lang="en-US" sz="1100" dirty="0">
                <a:solidFill>
                  <a:srgbClr val="C7CDE0"/>
                </a:solidFill>
                <a:latin typeface="Helvetica" pitchFamily="34" charset="0"/>
                <a:ea typeface="Helvetica" pitchFamily="34" charset="-122"/>
                <a:cs typeface="Helvetica" pitchFamily="34" charset="-120"/>
              </a:rPr>
              <a:t>"Dari analisis dan rekomendasi tadi, buatkan file Excel ringkasan: per produk, per region, plus insight &amp; rekomendasi — siap dibagikan ke tim."</a:t>
            </a:r>
            <a:endParaRPr lang="en-US" sz="1100" dirty="0"/>
          </a:p>
        </p:txBody>
      </p:sp>
      <p:sp>
        <p:nvSpPr>
          <p:cNvPr id="12" name="Shape 10"/>
          <p:cNvSpPr/>
          <p:nvPr/>
        </p:nvSpPr>
        <p:spPr>
          <a:xfrm>
            <a:off x="548640" y="3606724"/>
            <a:ext cx="11094415" cy="1236853"/>
          </a:xfrm>
          <a:prstGeom prst="roundRect">
            <a:avLst>
              <a:gd name="adj" fmla="val 7393"/>
            </a:avLst>
          </a:prstGeom>
          <a:solidFill>
            <a:srgbClr val="F3F0FF"/>
          </a:solidFill>
          <a:ln w="12700">
            <a:solidFill>
              <a:srgbClr val="DCD3FB"/>
            </a:solidFill>
            <a:prstDash val="solid"/>
          </a:ln>
        </p:spPr>
      </p:sp>
      <p:sp>
        <p:nvSpPr>
          <p:cNvPr id="13" name="Text 11"/>
          <p:cNvSpPr/>
          <p:nvPr/>
        </p:nvSpPr>
        <p:spPr>
          <a:xfrm>
            <a:off x="749808" y="3807892"/>
            <a:ext cx="10692079" cy="274320"/>
          </a:xfrm>
          <a:prstGeom prst="rect">
            <a:avLst/>
          </a:prstGeom>
          <a:noFill/>
          <a:ln/>
        </p:spPr>
        <p:txBody>
          <a:bodyPr wrap="square" lIns="0" tIns="0" rIns="0" bIns="0" rtlCol="0" anchor="ctr"/>
          <a:lstStyle/>
          <a:p>
            <a:pPr indent="0" marL="0">
              <a:buNone/>
            </a:pPr>
            <a:r>
              <a:rPr lang="en-US" sz="1250" b="1" spc="30" kern="0" dirty="0">
                <a:solidFill>
                  <a:srgbClr val="4B36C7"/>
                </a:solidFill>
                <a:latin typeface="Helvetica" pitchFamily="34" charset="0"/>
                <a:ea typeface="Helvetica" pitchFamily="34" charset="-122"/>
                <a:cs typeface="Helvetica" pitchFamily="34" charset="-120"/>
              </a:rPr>
              <a:t>◆  TIP</a:t>
            </a:r>
            <a:endParaRPr lang="en-US" sz="1250" dirty="0"/>
          </a:p>
        </p:txBody>
      </p:sp>
      <p:sp>
        <p:nvSpPr>
          <p:cNvPr id="14" name="Text 12"/>
          <p:cNvSpPr/>
          <p:nvPr/>
        </p:nvSpPr>
        <p:spPr>
          <a:xfrm>
            <a:off x="749808" y="4155364"/>
            <a:ext cx="10692079" cy="487045"/>
          </a:xfrm>
          <a:prstGeom prst="rect">
            <a:avLst/>
          </a:prstGeom>
          <a:noFill/>
          <a:ln/>
        </p:spPr>
        <p:txBody>
          <a:bodyPr wrap="square" lIns="0" tIns="0" rIns="0" bIns="0" rtlCol="0" anchor="t"/>
          <a:lstStyle/>
          <a:p>
            <a:pPr indent="0" marL="0">
              <a:lnSpc>
                <a:spcPct val="130000"/>
              </a:lnSpc>
              <a:buNone/>
            </a:pPr>
            <a:r>
              <a:rPr lang="en-US" sz="1250" dirty="0">
                <a:solidFill>
                  <a:srgbClr val="23283A"/>
                </a:solidFill>
                <a:latin typeface="Helvetica" pitchFamily="34" charset="0"/>
                <a:ea typeface="Helvetica" pitchFamily="34" charset="-122"/>
                <a:cs typeface="Helvetica" pitchFamily="34" charset="-120"/>
              </a:rPr>
              <a:t>Prompt 1 hasilnya formula — salin manual ke sheet-mu. Prompt 3 beda: Claude langsung generate file .xlsx yang muncul sebagai lampiran di chat, tinggal download.</a:t>
            </a:r>
            <a:endParaRPr lang="en-US" sz="1250" dirty="0"/>
          </a:p>
        </p:txBody>
      </p:sp>
      <p:sp>
        <p:nvSpPr>
          <p:cNvPr id="15" name="Shape 13"/>
          <p:cNvSpPr/>
          <p:nvPr/>
        </p:nvSpPr>
        <p:spPr>
          <a:xfrm>
            <a:off x="548640" y="5081321"/>
            <a:ext cx="11094415" cy="993331"/>
          </a:xfrm>
          <a:prstGeom prst="roundRect">
            <a:avLst>
              <a:gd name="adj" fmla="val 9205"/>
            </a:avLst>
          </a:prstGeom>
          <a:solidFill>
            <a:srgbClr val="EAFAF0"/>
          </a:solidFill>
          <a:ln w="12700">
            <a:solidFill>
              <a:srgbClr val="B8E6C9"/>
            </a:solidFill>
            <a:prstDash val="solid"/>
          </a:ln>
        </p:spPr>
      </p:sp>
      <p:sp>
        <p:nvSpPr>
          <p:cNvPr id="16" name="Text 14"/>
          <p:cNvSpPr/>
          <p:nvPr/>
        </p:nvSpPr>
        <p:spPr>
          <a:xfrm>
            <a:off x="749808" y="5282489"/>
            <a:ext cx="10692079"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OUTPUT</a:t>
            </a:r>
            <a:endParaRPr lang="en-US" sz="1250" dirty="0"/>
          </a:p>
        </p:txBody>
      </p:sp>
      <p:sp>
        <p:nvSpPr>
          <p:cNvPr id="17" name="Text 15"/>
          <p:cNvSpPr/>
          <p:nvPr/>
        </p:nvSpPr>
        <p:spPr>
          <a:xfrm>
            <a:off x="749808" y="5629961"/>
            <a:ext cx="10692079" cy="243523"/>
          </a:xfrm>
          <a:prstGeom prst="rect">
            <a:avLst/>
          </a:prstGeom>
          <a:noFill/>
          <a:ln/>
        </p:spPr>
        <p:txBody>
          <a:bodyPr wrap="square" lIns="0" tIns="0" rIns="0" bIns="0" rtlCol="0" anchor="t"/>
          <a:lstStyle/>
          <a:p>
            <a:pPr indent="0" marL="0">
              <a:lnSpc>
                <a:spcPct val="130000"/>
              </a:lnSpc>
              <a:buNone/>
            </a:pPr>
            <a:r>
              <a:rPr lang="en-US" sz="1250" dirty="0">
                <a:solidFill>
                  <a:srgbClr val="23283A"/>
                </a:solidFill>
                <a:latin typeface="Helvetica" pitchFamily="34" charset="0"/>
                <a:ea typeface="Helvetica" pitchFamily="34" charset="-122"/>
                <a:cs typeface="Helvetica" pitchFamily="34" charset="-120"/>
              </a:rPr>
              <a:t>Formula SUMIF siap paste ke sheet-mu, insight &amp; rekomendasi di chat, dan 1 file Excel ringkasan siap download &amp; dibagikan ke tim.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Bonus — Automasi Workflow: Menu "Export PDF" di Sheets</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CLAUDE MENULIS AUTOMASINYA, BUKAN CUMA KASIH SCRIPT JADI</a:t>
            </a:r>
            <a:endParaRPr lang="en-US" sz="1250" dirty="0"/>
          </a:p>
        </p:txBody>
      </p:sp>
      <p:sp>
        <p:nvSpPr>
          <p:cNvPr id="8" name="Shape 6"/>
          <p:cNvSpPr/>
          <p:nvPr/>
        </p:nvSpPr>
        <p:spPr>
          <a:xfrm>
            <a:off x="548640" y="2112264"/>
            <a:ext cx="11094415" cy="1723898"/>
          </a:xfrm>
          <a:prstGeom prst="roundRect">
            <a:avLst>
              <a:gd name="adj" fmla="val 5304"/>
            </a:avLst>
          </a:prstGeom>
          <a:solidFill>
            <a:srgbClr val="F3F0FF"/>
          </a:solidFill>
          <a:ln w="12700">
            <a:solidFill>
              <a:srgbClr val="DCD3FB"/>
            </a:solidFill>
            <a:prstDash val="solid"/>
          </a:ln>
        </p:spPr>
      </p:sp>
      <p:sp>
        <p:nvSpPr>
          <p:cNvPr id="9" name="Text 7"/>
          <p:cNvSpPr/>
          <p:nvPr/>
        </p:nvSpPr>
        <p:spPr>
          <a:xfrm>
            <a:off x="749808" y="2313432"/>
            <a:ext cx="10692079" cy="274320"/>
          </a:xfrm>
          <a:prstGeom prst="rect">
            <a:avLst/>
          </a:prstGeom>
          <a:noFill/>
          <a:ln/>
        </p:spPr>
        <p:txBody>
          <a:bodyPr wrap="square" lIns="0" tIns="0" rIns="0" bIns="0" rtlCol="0" anchor="ctr"/>
          <a:lstStyle/>
          <a:p>
            <a:pPr indent="0" marL="0">
              <a:buNone/>
            </a:pPr>
            <a:r>
              <a:rPr lang="en-US" sz="1250" b="1" spc="30" kern="0" dirty="0">
                <a:solidFill>
                  <a:srgbClr val="4B36C7"/>
                </a:solidFill>
                <a:latin typeface="Helvetica" pitchFamily="34" charset="0"/>
                <a:ea typeface="Helvetica" pitchFamily="34" charset="-122"/>
                <a:cs typeface="Helvetica" pitchFamily="34" charset="-120"/>
              </a:rPr>
              <a:t>◆  DOWNLOAD K2-PDF-EXPORT-HELPER.TXT</a:t>
            </a:r>
            <a:endParaRPr lang="en-US" sz="1250" dirty="0"/>
          </a:p>
        </p:txBody>
      </p:sp>
      <p:sp>
        <p:nvSpPr>
          <p:cNvPr id="10" name="Text 8"/>
          <p:cNvSpPr/>
          <p:nvPr/>
        </p:nvSpPr>
        <p:spPr>
          <a:xfrm>
            <a:off x="749808" y="2660904"/>
            <a:ext cx="10692079" cy="974090"/>
          </a:xfrm>
          <a:prstGeom prst="rect">
            <a:avLst/>
          </a:prstGeom>
          <a:noFill/>
          <a:ln/>
        </p:spPr>
        <p:txBody>
          <a:bodyPr wrap="square" lIns="0" tIns="0" rIns="0" bIns="0" rtlCol="0" anchor="t"/>
          <a:lstStyle/>
          <a:p>
            <a:pPr indent="0" marL="0">
              <a:lnSpc>
                <a:spcPct val="130000"/>
              </a:lnSpc>
              <a:buNone/>
            </a:pPr>
            <a:r>
              <a:rPr lang="en-US" sz="1250" dirty="0">
                <a:solidFill>
                  <a:srgbClr val="23283A"/>
                </a:solidFill>
                <a:latin typeface="Helvetica" pitchFamily="34" charset="0"/>
                <a:ea typeface="Helvetica" pitchFamily="34" charset="-122"/>
                <a:cs typeface="Helvetica" pitchFamily="34" charset="-120"/>
              </a:rPr>
              <a:t>Google Apps Script yang menambahkan menu “Export PDF” ke Sheets-mu — cuma 2 klik: “1. Update Formatting” untuk otomatis menambah judul laporan, merapikan kolom Total jadi format Rupiah, dan memberi conditional formatting, lalu “2. Export ke PDF” untuk langsung export sheet aktif jadi PDF rapi ke Drive. Dibuat dengan memprompt Claude langsung — tidak ada API key atau paket Pro yang dibutuhkan. Khusus Google Sheets — di Excel, minta Claude tulis versi VBA macro dengan prompt serupa.</a:t>
            </a:r>
            <a:endParaRPr lang="en-US" sz="1250" dirty="0"/>
          </a:p>
        </p:txBody>
      </p:sp>
      <p:sp>
        <p:nvSpPr>
          <p:cNvPr id="11" name="Text 9"/>
          <p:cNvSpPr/>
          <p:nvPr/>
        </p:nvSpPr>
        <p:spPr>
          <a:xfrm>
            <a:off x="548640" y="4073906"/>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YANG ADA DI MENU EXPORT PDF</a:t>
            </a:r>
            <a:endParaRPr lang="en-US" sz="1250" dirty="0"/>
          </a:p>
        </p:txBody>
      </p:sp>
      <p:sp>
        <p:nvSpPr>
          <p:cNvPr id="12" name="Shape 10"/>
          <p:cNvSpPr/>
          <p:nvPr/>
        </p:nvSpPr>
        <p:spPr>
          <a:xfrm>
            <a:off x="548640" y="4403090"/>
            <a:ext cx="5437480" cy="1258253"/>
          </a:xfrm>
          <a:prstGeom prst="roundRect">
            <a:avLst>
              <a:gd name="adj" fmla="val 7267"/>
            </a:avLst>
          </a:prstGeom>
          <a:solidFill>
            <a:srgbClr val="FFFFFF"/>
          </a:solidFill>
          <a:ln w="12700">
            <a:solidFill>
              <a:srgbClr val="D6DCEB"/>
            </a:solidFill>
            <a:prstDash val="solid"/>
          </a:ln>
        </p:spPr>
      </p:sp>
      <p:sp>
        <p:nvSpPr>
          <p:cNvPr id="13" name="Text 11"/>
          <p:cNvSpPr/>
          <p:nvPr/>
        </p:nvSpPr>
        <p:spPr>
          <a:xfrm>
            <a:off x="713232" y="4567682"/>
            <a:ext cx="5108296" cy="256032"/>
          </a:xfrm>
          <a:prstGeom prst="rect">
            <a:avLst/>
          </a:prstGeom>
          <a:noFill/>
          <a:ln/>
        </p:spPr>
        <p:txBody>
          <a:bodyPr wrap="square" lIns="0" tIns="0" rIns="0" bIns="0" rtlCol="0" anchor="ctr"/>
          <a:lstStyle/>
          <a:p>
            <a:pPr indent="0" marL="0">
              <a:buNone/>
            </a:pPr>
            <a:r>
              <a:rPr lang="en-US" sz="1300" b="1" dirty="0">
                <a:solidFill>
                  <a:srgbClr val="0D1321"/>
                </a:solidFill>
                <a:latin typeface="Helvetica" pitchFamily="34" charset="0"/>
                <a:ea typeface="Helvetica" pitchFamily="34" charset="-122"/>
                <a:cs typeface="Helvetica" pitchFamily="34" charset="-120"/>
              </a:rPr>
              <a:t>1. Update Formatting</a:t>
            </a:r>
            <a:endParaRPr lang="en-US" sz="1300" dirty="0"/>
          </a:p>
        </p:txBody>
      </p:sp>
      <p:sp>
        <p:nvSpPr>
          <p:cNvPr id="14" name="Text 12"/>
          <p:cNvSpPr/>
          <p:nvPr/>
        </p:nvSpPr>
        <p:spPr>
          <a:xfrm>
            <a:off x="713232" y="4878578"/>
            <a:ext cx="5108296" cy="618173"/>
          </a:xfrm>
          <a:prstGeom prst="rect">
            <a:avLst/>
          </a:prstGeom>
          <a:noFill/>
          <a:ln/>
        </p:spPr>
        <p:txBody>
          <a:bodyPr wrap="square" lIns="0" tIns="0" rIns="0" bIns="0" rtlCol="0" anchor="t"/>
          <a:lstStyle/>
          <a:p>
            <a:pPr indent="0" marL="0">
              <a:lnSpc>
                <a:spcPct val="125000"/>
              </a:lnSpc>
              <a:buNone/>
            </a:pPr>
            <a:r>
              <a:rPr lang="en-US" sz="1100" dirty="0">
                <a:solidFill>
                  <a:srgbClr val="6B7280"/>
                </a:solidFill>
                <a:latin typeface="Helvetica" pitchFamily="34" charset="0"/>
                <a:ea typeface="Helvetica" pitchFamily="34" charset="-122"/>
                <a:cs typeface="Helvetica" pitchFamily="34" charset="-120"/>
              </a:rPr>
              <a:t>Klik sel mana saja di tabel data → otomatis tambah judul laporan, format Rupiah, dan conditional formatting kolom Total. Tidak perlu select range manual.</a:t>
            </a:r>
            <a:endParaRPr lang="en-US" sz="1100" dirty="0"/>
          </a:p>
        </p:txBody>
      </p:sp>
      <p:sp>
        <p:nvSpPr>
          <p:cNvPr id="15" name="Shape 13"/>
          <p:cNvSpPr/>
          <p:nvPr/>
        </p:nvSpPr>
        <p:spPr>
          <a:xfrm>
            <a:off x="6205576" y="4403090"/>
            <a:ext cx="5437480" cy="1258253"/>
          </a:xfrm>
          <a:prstGeom prst="roundRect">
            <a:avLst>
              <a:gd name="adj" fmla="val 7267"/>
            </a:avLst>
          </a:prstGeom>
          <a:solidFill>
            <a:srgbClr val="FFFFFF"/>
          </a:solidFill>
          <a:ln w="12700">
            <a:solidFill>
              <a:srgbClr val="D6DCEB"/>
            </a:solidFill>
            <a:prstDash val="solid"/>
          </a:ln>
        </p:spPr>
      </p:sp>
      <p:sp>
        <p:nvSpPr>
          <p:cNvPr id="16" name="Text 14"/>
          <p:cNvSpPr/>
          <p:nvPr/>
        </p:nvSpPr>
        <p:spPr>
          <a:xfrm>
            <a:off x="6370168" y="4567682"/>
            <a:ext cx="5108296" cy="256032"/>
          </a:xfrm>
          <a:prstGeom prst="rect">
            <a:avLst/>
          </a:prstGeom>
          <a:noFill/>
          <a:ln/>
        </p:spPr>
        <p:txBody>
          <a:bodyPr wrap="square" lIns="0" tIns="0" rIns="0" bIns="0" rtlCol="0" anchor="ctr"/>
          <a:lstStyle/>
          <a:p>
            <a:pPr indent="0" marL="0">
              <a:buNone/>
            </a:pPr>
            <a:r>
              <a:rPr lang="en-US" sz="1300" b="1" dirty="0">
                <a:solidFill>
                  <a:srgbClr val="0D1321"/>
                </a:solidFill>
                <a:latin typeface="Helvetica" pitchFamily="34" charset="0"/>
                <a:ea typeface="Helvetica" pitchFamily="34" charset="-122"/>
                <a:cs typeface="Helvetica" pitchFamily="34" charset="-120"/>
              </a:rPr>
              <a:t>2. Export ke PDF</a:t>
            </a:r>
            <a:endParaRPr lang="en-US" sz="1300" dirty="0"/>
          </a:p>
        </p:txBody>
      </p:sp>
      <p:sp>
        <p:nvSpPr>
          <p:cNvPr id="17" name="Text 15"/>
          <p:cNvSpPr/>
          <p:nvPr/>
        </p:nvSpPr>
        <p:spPr>
          <a:xfrm>
            <a:off x="6370168" y="4878578"/>
            <a:ext cx="5108296" cy="618173"/>
          </a:xfrm>
          <a:prstGeom prst="rect">
            <a:avLst/>
          </a:prstGeom>
          <a:noFill/>
          <a:ln/>
        </p:spPr>
        <p:txBody>
          <a:bodyPr wrap="square" lIns="0" tIns="0" rIns="0" bIns="0" rtlCol="0" anchor="t"/>
          <a:lstStyle/>
          <a:p>
            <a:pPr indent="0" marL="0">
              <a:lnSpc>
                <a:spcPct val="125000"/>
              </a:lnSpc>
              <a:buNone/>
            </a:pPr>
            <a:r>
              <a:rPr lang="en-US" sz="1100" dirty="0">
                <a:solidFill>
                  <a:srgbClr val="6B7280"/>
                </a:solidFill>
                <a:latin typeface="Helvetica" pitchFamily="34" charset="0"/>
                <a:ea typeface="Helvetica" pitchFamily="34" charset="-122"/>
                <a:cs typeface="Helvetica" pitchFamily="34" charset="-120"/>
              </a:rPr>
              <a:t>Jalankan Export — judul dan formatting dari langkah 1 ikut ter-export karena bagian dari tampilan sheet.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Spreadsheet &amp; Claude</a:t>
            </a:r>
            <a:endParaRPr lang="en-US" sz="1250" dirty="0"/>
          </a:p>
        </p:txBody>
      </p:sp>
      <p:sp>
        <p:nvSpPr>
          <p:cNvPr id="6" name="Text 4"/>
          <p:cNvSpPr/>
          <p:nvPr/>
        </p:nvSpPr>
        <p:spPr>
          <a:xfrm>
            <a:off x="548640" y="1188720"/>
            <a:ext cx="1106424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Tip — Claude di Sheets, Excel Online, &amp; Excel Desktop</a:t>
            </a:r>
            <a:endParaRPr lang="en-US" sz="2200" dirty="0"/>
          </a:p>
        </p:txBody>
      </p:sp>
      <p:sp>
        <p:nvSpPr>
          <p:cNvPr id="7" name="Text 5"/>
          <p:cNvSpPr/>
          <p:nvPr/>
        </p:nvSpPr>
        <p:spPr>
          <a:xfrm>
            <a:off x="548640" y="1783080"/>
            <a:ext cx="11094415"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DUA TOOL BERBEDA, DUA CARA PAKAI</a:t>
            </a:r>
            <a:endParaRPr lang="en-US" sz="1250" dirty="0"/>
          </a:p>
        </p:txBody>
      </p:sp>
      <p:sp>
        <p:nvSpPr>
          <p:cNvPr id="8" name="Shape 6"/>
          <p:cNvSpPr/>
          <p:nvPr/>
        </p:nvSpPr>
        <p:spPr>
          <a:xfrm>
            <a:off x="548640" y="2112264"/>
            <a:ext cx="11094415" cy="1480376"/>
          </a:xfrm>
          <a:prstGeom prst="roundRect">
            <a:avLst>
              <a:gd name="adj" fmla="val 6177"/>
            </a:avLst>
          </a:prstGeom>
          <a:solidFill>
            <a:srgbClr val="F3F0FF"/>
          </a:solidFill>
          <a:ln w="12700">
            <a:solidFill>
              <a:srgbClr val="DCD3FB"/>
            </a:solidFill>
            <a:prstDash val="solid"/>
          </a:ln>
        </p:spPr>
      </p:sp>
      <p:sp>
        <p:nvSpPr>
          <p:cNvPr id="9" name="Text 7"/>
          <p:cNvSpPr/>
          <p:nvPr/>
        </p:nvSpPr>
        <p:spPr>
          <a:xfrm>
            <a:off x="749808" y="2313432"/>
            <a:ext cx="10692079" cy="274320"/>
          </a:xfrm>
          <a:prstGeom prst="rect">
            <a:avLst/>
          </a:prstGeom>
          <a:noFill/>
          <a:ln/>
        </p:spPr>
        <p:txBody>
          <a:bodyPr wrap="square" lIns="0" tIns="0" rIns="0" bIns="0" rtlCol="0" anchor="ctr"/>
          <a:lstStyle/>
          <a:p>
            <a:pPr indent="0" marL="0">
              <a:buNone/>
            </a:pPr>
            <a:r>
              <a:rPr lang="en-US" sz="1250" b="1" spc="30" kern="0" dirty="0">
                <a:solidFill>
                  <a:srgbClr val="4B36C7"/>
                </a:solidFill>
                <a:latin typeface="Helvetica" pitchFamily="34" charset="0"/>
                <a:ea typeface="Helvetica" pitchFamily="34" charset="-122"/>
                <a:cs typeface="Helvetica" pitchFamily="34" charset="-120"/>
              </a:rPr>
              <a:t>◆  CLAUDE IN CHROME</a:t>
            </a:r>
            <a:endParaRPr lang="en-US" sz="1250" dirty="0"/>
          </a:p>
        </p:txBody>
      </p:sp>
      <p:sp>
        <p:nvSpPr>
          <p:cNvPr id="10" name="Text 8"/>
          <p:cNvSpPr/>
          <p:nvPr/>
        </p:nvSpPr>
        <p:spPr>
          <a:xfrm>
            <a:off x="749808" y="2660904"/>
            <a:ext cx="10692079" cy="730568"/>
          </a:xfrm>
          <a:prstGeom prst="rect">
            <a:avLst/>
          </a:prstGeom>
          <a:noFill/>
          <a:ln/>
        </p:spPr>
        <p:txBody>
          <a:bodyPr wrap="square" lIns="0" tIns="0" rIns="0" bIns="0" rtlCol="0" anchor="t"/>
          <a:lstStyle/>
          <a:p>
            <a:pPr indent="0" marL="0">
              <a:lnSpc>
                <a:spcPct val="130000"/>
              </a:lnSpc>
              <a:buNone/>
            </a:pPr>
            <a:r>
              <a:rPr lang="en-US" sz="1250" dirty="0">
                <a:solidFill>
                  <a:srgbClr val="23283A"/>
                </a:solidFill>
                <a:latin typeface="Helvetica" pitchFamily="34" charset="0"/>
                <a:ea typeface="Helvetica" pitchFamily="34" charset="-122"/>
                <a:cs typeface="Helvetica" pitchFamily="34" charset="-120"/>
              </a:rPr>
              <a:t>Baca &amp; isi formula langsung di Google Sheets atau Excel Online tanpa copy-paste, lewat browser. Butuh paket Pro atau lebih tinggi — tidak tersedia di Free. Install "Claude for Chrome" dari Chrome Web Store → login → buka Sheets/Excel Online → klik ikon Claude di toolbar.</a:t>
            </a:r>
            <a:endParaRPr lang="en-US" sz="1250" dirty="0"/>
          </a:p>
        </p:txBody>
      </p:sp>
      <p:sp>
        <p:nvSpPr>
          <p:cNvPr id="11" name="Shape 9"/>
          <p:cNvSpPr/>
          <p:nvPr/>
        </p:nvSpPr>
        <p:spPr>
          <a:xfrm>
            <a:off x="548640" y="3830384"/>
            <a:ext cx="11094415" cy="1236853"/>
          </a:xfrm>
          <a:prstGeom prst="roundRect">
            <a:avLst>
              <a:gd name="adj" fmla="val 7393"/>
            </a:avLst>
          </a:prstGeom>
          <a:solidFill>
            <a:srgbClr val="F3F0FF"/>
          </a:solidFill>
          <a:ln w="12700">
            <a:solidFill>
              <a:srgbClr val="DCD3FB"/>
            </a:solidFill>
            <a:prstDash val="solid"/>
          </a:ln>
        </p:spPr>
      </p:sp>
      <p:sp>
        <p:nvSpPr>
          <p:cNvPr id="12" name="Text 10"/>
          <p:cNvSpPr/>
          <p:nvPr/>
        </p:nvSpPr>
        <p:spPr>
          <a:xfrm>
            <a:off x="749808" y="4031552"/>
            <a:ext cx="10692079" cy="274320"/>
          </a:xfrm>
          <a:prstGeom prst="rect">
            <a:avLst/>
          </a:prstGeom>
          <a:noFill/>
          <a:ln/>
        </p:spPr>
        <p:txBody>
          <a:bodyPr wrap="square" lIns="0" tIns="0" rIns="0" bIns="0" rtlCol="0" anchor="ctr"/>
          <a:lstStyle/>
          <a:p>
            <a:pPr indent="0" marL="0">
              <a:buNone/>
            </a:pPr>
            <a:r>
              <a:rPr lang="en-US" sz="1250" b="1" spc="30" kern="0" dirty="0">
                <a:solidFill>
                  <a:srgbClr val="4B36C7"/>
                </a:solidFill>
                <a:latin typeface="Helvetica" pitchFamily="34" charset="0"/>
                <a:ea typeface="Helvetica" pitchFamily="34" charset="-122"/>
                <a:cs typeface="Helvetica" pitchFamily="34" charset="-120"/>
              </a:rPr>
              <a:t>◆  CLAUDE FOR EXCEL (EXCEL DESKTOP)</a:t>
            </a:r>
            <a:endParaRPr lang="en-US" sz="1250" dirty="0"/>
          </a:p>
        </p:txBody>
      </p:sp>
      <p:sp>
        <p:nvSpPr>
          <p:cNvPr id="13" name="Text 11"/>
          <p:cNvSpPr/>
          <p:nvPr/>
        </p:nvSpPr>
        <p:spPr>
          <a:xfrm>
            <a:off x="749808" y="4379024"/>
            <a:ext cx="10692079" cy="487045"/>
          </a:xfrm>
          <a:prstGeom prst="rect">
            <a:avLst/>
          </a:prstGeom>
          <a:noFill/>
          <a:ln/>
        </p:spPr>
        <p:txBody>
          <a:bodyPr wrap="square" lIns="0" tIns="0" rIns="0" bIns="0" rtlCol="0" anchor="t"/>
          <a:lstStyle/>
          <a:p>
            <a:pPr indent="0" marL="0">
              <a:lnSpc>
                <a:spcPct val="130000"/>
              </a:lnSpc>
              <a:buNone/>
            </a:pPr>
            <a:r>
              <a:rPr lang="en-US" sz="1250" dirty="0">
                <a:solidFill>
                  <a:srgbClr val="23283A"/>
                </a:solidFill>
                <a:latin typeface="Helvetica" pitchFamily="34" charset="0"/>
                <a:ea typeface="Helvetica" pitchFamily="34" charset="-122"/>
                <a:cs typeface="Helvetica" pitchFamily="34" charset="-120"/>
              </a:rPr>
              <a:t>Pakai Excel Desktop di Windows atau Mac? Ada add-in terpisah bernama "Claude for Excel", diinstall dari Microsoft Marketplace — kerja langsung di dalam Excel, bukan lewat browser. Juga butuh paket Pro atau lebih tinggi.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2026-07-22T04:58:40Z</dcterms:created>
  <dcterms:modified xsi:type="dcterms:W3CDTF">2026-07-22T04:58:40Z</dcterms:modified>
</cp:coreProperties>
</file>