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58851" y="0"/>
            <a:ext cx="4632844" cy="6858000"/>
          </a:xfrm>
          <a:prstGeom prst="rect">
            <a:avLst/>
          </a:prstGeom>
          <a:solidFill>
            <a:srgbClr val="141D33"/>
          </a:solidFill>
          <a:ln/>
        </p:spPr>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8927" y="384048"/>
            <a:ext cx="1024128" cy="384048"/>
          </a:xfrm>
          <a:prstGeom prst="roundRect">
            <a:avLst>
              <a:gd name="adj" fmla="val 23810"/>
            </a:avLst>
          </a:prstGeom>
          <a:solidFill>
            <a:srgbClr val="6849F6"/>
          </a:solidFill>
          <a:ln/>
        </p:spPr>
      </p:sp>
      <p:sp>
        <p:nvSpPr>
          <p:cNvPr id="5" name="Text 3"/>
          <p:cNvSpPr/>
          <p:nvPr/>
        </p:nvSpPr>
        <p:spPr>
          <a:xfrm>
            <a:off x="10618927"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PRODUKTIVITAS KANTOR</a:t>
            </a:r>
            <a:endParaRPr lang="en-US" sz="1300" dirty="0"/>
          </a:p>
        </p:txBody>
      </p:sp>
      <p:sp>
        <p:nvSpPr>
          <p:cNvPr id="7" name="Text 5"/>
          <p:cNvSpPr/>
          <p:nvPr/>
        </p:nvSpPr>
        <p:spPr>
          <a:xfrm>
            <a:off x="548640" y="2697480"/>
            <a:ext cx="7589520" cy="88646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Google Sheets</a:t>
            </a:r>
            <a:endParaRPr lang="en-US" sz="4400" dirty="0"/>
          </a:p>
        </p:txBody>
      </p:sp>
      <p:sp>
        <p:nvSpPr>
          <p:cNvPr id="8" name="Text 6"/>
          <p:cNvSpPr/>
          <p:nvPr/>
        </p:nvSpPr>
        <p:spPr>
          <a:xfrm>
            <a:off x="548640" y="3721100"/>
            <a:ext cx="7315200" cy="822960"/>
          </a:xfrm>
          <a:prstGeom prst="rect">
            <a:avLst/>
          </a:prstGeom>
          <a:noFill/>
          <a:ln/>
        </p:spPr>
        <p:txBody>
          <a:bodyPr wrap="square" lIns="0" tIns="0" rIns="0" bIns="0" rtlCol="0" anchor="t"/>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Data jadi insight dalam menit.</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Yang Bisa Claude Bantu di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TIGA CARA CLAUDE MEMPERCEPAT KERJA DATA</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Claude menulis formula dari deskripsi biasa, menjelaskan formula yang membingungkan, dan membantu debug formula yang error.</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Temukan pola dari data penjualan, bandingkan performa antar produk atau periode, dan identifikasi anomali yang mudah terlewat.</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Rekomendasi</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Dari data ke keputusan bisnis konkret — produk mana yang perlu direstock, dipromosikan, atau dihentikan.</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Selalu sebutkan struktur kolom data dulu sebelum bertanya — Claude bekerja lebih akurat kalau tahu konteks kolomnya.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Data Aman vs. Data Sensitif</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YANG BOLEH DAN TIDAK BOLEH DIBAGIKAN KE CLAUDE</a:t>
            </a:r>
            <a:endParaRPr lang="en-US" sz="1250" dirty="0"/>
          </a:p>
        </p:txBody>
      </p:sp>
      <p:sp>
        <p:nvSpPr>
          <p:cNvPr id="8" name="Shape 6"/>
          <p:cNvSpPr/>
          <p:nvPr/>
        </p:nvSpPr>
        <p:spPr>
          <a:xfrm>
            <a:off x="548640" y="2112264"/>
            <a:ext cx="5410048" cy="1720901"/>
          </a:xfrm>
          <a:prstGeom prst="roundRect">
            <a:avLst>
              <a:gd name="adj" fmla="val 5313"/>
            </a:avLst>
          </a:prstGeom>
          <a:solidFill>
            <a:srgbClr val="F4F6FB"/>
          </a:solidFill>
          <a:ln w="12700">
            <a:solidFill>
              <a:srgbClr val="D6DCEB"/>
            </a:solidFill>
            <a:prstDash val="solid"/>
          </a:ln>
        </p:spPr>
      </p:sp>
      <p:sp>
        <p:nvSpPr>
          <p:cNvPr id="9" name="Text 7"/>
          <p:cNvSpPr/>
          <p:nvPr/>
        </p:nvSpPr>
        <p:spPr>
          <a:xfrm>
            <a:off x="749808" y="2313432"/>
            <a:ext cx="5007712" cy="274320"/>
          </a:xfrm>
          <a:prstGeom prst="rect">
            <a:avLst/>
          </a:prstGeom>
          <a:noFill/>
          <a:ln/>
        </p:spPr>
        <p:txBody>
          <a:bodyPr wrap="square" lIns="0" tIns="0" rIns="0" bIns="0" rtlCol="0" anchor="ctr"/>
          <a:lstStyle/>
          <a:p>
            <a:pPr indent="0" marL="0">
              <a:buNone/>
            </a:pPr>
            <a:r>
              <a:rPr lang="en-US" sz="1200" b="1" spc="30" kern="0" dirty="0">
                <a:solidFill>
                  <a:srgbClr val="6B7280"/>
                </a:solidFill>
                <a:latin typeface="Helvetica" pitchFamily="34" charset="0"/>
                <a:ea typeface="Helvetica" pitchFamily="34" charset="-122"/>
                <a:cs typeface="Helvetica" pitchFamily="34" charset="-120"/>
              </a:rPr>
              <a:t>AMAN DIBAGIKAN</a:t>
            </a:r>
            <a:endParaRPr lang="en-US" sz="1200" dirty="0"/>
          </a:p>
        </p:txBody>
      </p:sp>
      <p:sp>
        <p:nvSpPr>
          <p:cNvPr id="10" name="Text 8"/>
          <p:cNvSpPr/>
          <p:nvPr/>
        </p:nvSpPr>
        <p:spPr>
          <a:xfrm>
            <a:off x="749808"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produk, kategori, harga</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Jumlah penjualan per periode</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performa (tanpa nama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Struktur kolom dan formula</a:t>
            </a:r>
            <a:endParaRPr lang="en-US" sz="1200" dirty="0"/>
          </a:p>
        </p:txBody>
      </p:sp>
      <p:sp>
        <p:nvSpPr>
          <p:cNvPr id="11" name="Shape 9"/>
          <p:cNvSpPr/>
          <p:nvPr/>
        </p:nvSpPr>
        <p:spPr>
          <a:xfrm>
            <a:off x="6233008" y="2112264"/>
            <a:ext cx="5410048" cy="1720901"/>
          </a:xfrm>
          <a:prstGeom prst="roundRect">
            <a:avLst>
              <a:gd name="adj" fmla="val 5313"/>
            </a:avLst>
          </a:prstGeom>
          <a:solidFill>
            <a:srgbClr val="F3F0FF"/>
          </a:solidFill>
          <a:ln w="12700">
            <a:solidFill>
              <a:srgbClr val="DCD3FB"/>
            </a:solidFill>
            <a:prstDash val="solid"/>
          </a:ln>
        </p:spPr>
      </p:sp>
      <p:sp>
        <p:nvSpPr>
          <p:cNvPr id="12" name="Text 10"/>
          <p:cNvSpPr/>
          <p:nvPr/>
        </p:nvSpPr>
        <p:spPr>
          <a:xfrm>
            <a:off x="6434176" y="2313432"/>
            <a:ext cx="5007712" cy="274320"/>
          </a:xfrm>
          <a:prstGeom prst="rect">
            <a:avLst/>
          </a:prstGeom>
          <a:noFill/>
          <a:ln/>
        </p:spPr>
        <p:txBody>
          <a:bodyPr wrap="square" lIns="0" tIns="0" rIns="0" bIns="0" rtlCol="0" anchor="ctr"/>
          <a:lstStyle/>
          <a:p>
            <a:pPr indent="0" marL="0">
              <a:buNone/>
            </a:pPr>
            <a:r>
              <a:rPr lang="en-US" sz="1200" b="1" spc="30" kern="0" dirty="0">
                <a:solidFill>
                  <a:srgbClr val="4B36C7"/>
                </a:solidFill>
                <a:latin typeface="Helvetica" pitchFamily="34" charset="0"/>
                <a:ea typeface="Helvetica" pitchFamily="34" charset="-122"/>
                <a:cs typeface="Helvetica" pitchFamily="34" charset="-120"/>
              </a:rPr>
              <a:t>HINDARI DIBAGIKAN</a:t>
            </a:r>
            <a:endParaRPr lang="en-US" sz="1200" dirty="0"/>
          </a:p>
        </p:txBody>
      </p:sp>
      <p:sp>
        <p:nvSpPr>
          <p:cNvPr id="13" name="Text 11"/>
          <p:cNvSpPr/>
          <p:nvPr/>
        </p:nvSpPr>
        <p:spPr>
          <a:xfrm>
            <a:off x="6434176"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lengkap + nomor telepon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Nomor kartu kredit / rekening</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Password atau API key</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karyawan dengan info personal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Alur Prompt: Data → Keputusan</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NYATA — RINA, KASUAL STUDIO</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"Sheet saya: A=Nama Produk, B=Jan, C=Feb, D=Mar, E=Target. Buatkan formula total Jan–Mar di F2, dan % pencapaian target di G2."</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"Ini data penjualan 3 bulan terakhir: [paste]. Produk mana performa paling konsisten? Mana tren naik vs turun?"</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Keputusan</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"Budget restock saya Rp 5 juta. Sarankan alokasi paling optimal berdasarkan data performa tadi."</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"produk mana yang harus saya prioritaskan bulan depan?" — pertanyaan penutup yang mengubah data jadi keputusan.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PRAKTIK LANGSUNG DENGAN DATA KAMU</a:t>
            </a:r>
            <a:endParaRPr lang="en-US" sz="1250" dirty="0"/>
          </a:p>
        </p:txBody>
      </p:sp>
      <p:sp>
        <p:nvSpPr>
          <p:cNvPr id="8" name="Shape 6"/>
          <p:cNvSpPr/>
          <p:nvPr/>
        </p:nvSpPr>
        <p:spPr>
          <a:xfrm>
            <a:off x="548640" y="2112264"/>
            <a:ext cx="11094415" cy="1480376"/>
          </a:xfrm>
          <a:prstGeom prst="roundRect">
            <a:avLst>
              <a:gd name="adj" fmla="val 6177"/>
            </a:avLst>
          </a:prstGeom>
          <a:solidFill>
            <a:srgbClr val="EAFAF0"/>
          </a:solidFill>
          <a:ln w="12700">
            <a:solidFill>
              <a:srgbClr val="B8E6C9"/>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Download file latihan k2-data-penjualan.csv dari halaman materi. Import ke Google Sheets. Minta Claude buat 3 formula dasar (total, rata-rata, % target). Paste 5 baris data ke Claude dan minta analisis pola. Tanya: "Dari data ini, produk mana yang harus saya prioritaskan bulan depan?"</a:t>
            </a:r>
            <a:endParaRPr lang="en-US" sz="1250" dirty="0"/>
          </a:p>
        </p:txBody>
      </p:sp>
      <p:sp>
        <p:nvSpPr>
          <p:cNvPr id="11" name="Shape 9"/>
          <p:cNvSpPr/>
          <p:nvPr/>
        </p:nvSpPr>
        <p:spPr>
          <a:xfrm>
            <a:off x="548640" y="3830384"/>
            <a:ext cx="11094415" cy="993331"/>
          </a:xfrm>
          <a:prstGeom prst="roundRect">
            <a:avLst>
              <a:gd name="adj" fmla="val 9205"/>
            </a:avLst>
          </a:prstGeom>
          <a:solidFill>
            <a:srgbClr val="EAFAF0"/>
          </a:solidFill>
          <a:ln w="12700">
            <a:solidFill>
              <a:srgbClr val="B8E6C9"/>
            </a:solidFill>
            <a:prstDash val="solid"/>
          </a:ln>
        </p:spPr>
      </p:sp>
      <p:sp>
        <p:nvSpPr>
          <p:cNvPr id="12" name="Text 10"/>
          <p:cNvSpPr/>
          <p:nvPr/>
        </p:nvSpPr>
        <p:spPr>
          <a:xfrm>
            <a:off x="749808" y="403155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OUTPUT</a:t>
            </a:r>
            <a:endParaRPr lang="en-US" sz="1250" dirty="0"/>
          </a:p>
        </p:txBody>
      </p:sp>
      <p:sp>
        <p:nvSpPr>
          <p:cNvPr id="13" name="Text 11"/>
          <p:cNvSpPr/>
          <p:nvPr/>
        </p:nvSpPr>
        <p:spPr>
          <a:xfrm>
            <a:off x="749808" y="4379024"/>
            <a:ext cx="10692079" cy="243523"/>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Sheet dengan 3 formula berjalan + 1 paragraf analisis dari Claude tentang pola performa berdasarkan data kamu.</a:t>
            </a:r>
            <a:endParaRPr lang="en-US" sz="1250" dirty="0"/>
          </a:p>
        </p:txBody>
      </p:sp>
      <p:sp>
        <p:nvSpPr>
          <p:cNvPr id="14" name="Text 12"/>
          <p:cNvSpPr/>
          <p:nvPr/>
        </p:nvSpPr>
        <p:spPr>
          <a:xfrm>
            <a:off x="548640" y="5061458"/>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a:t>
            </a:r>
            <a:endParaRPr lang="en-US" sz="1250" dirty="0"/>
          </a:p>
        </p:txBody>
      </p:sp>
      <p:sp>
        <p:nvSpPr>
          <p:cNvPr id="15" name="Text 13"/>
          <p:cNvSpPr/>
          <p:nvPr/>
        </p:nvSpPr>
        <p:spPr>
          <a:xfrm>
            <a:off x="548640" y="5390642"/>
            <a:ext cx="11094415" cy="719328"/>
          </a:xfrm>
          <a:prstGeom prst="rect">
            <a:avLst/>
          </a:prstGeom>
          <a:noFill/>
          <a:ln/>
        </p:spPr>
        <p:txBody>
          <a:bodyPr wrap="square" lIns="0" tIns="0" rIns="0" bIns="0" rtlCol="0" anchor="t"/>
          <a:lstStyle/>
          <a:p>
            <a:pPr indent="0" marL="0">
              <a:lnSpc>
                <a:spcPct val="128000"/>
              </a:lnSpc>
              <a:buNone/>
            </a:pPr>
            <a:r>
              <a:rPr lang="en-US" sz="1250" dirty="0">
                <a:solidFill>
                  <a:srgbClr val="6B7280"/>
                </a:solidFill>
                <a:latin typeface="Helvetica" pitchFamily="34" charset="0"/>
                <a:ea typeface="Helvetica" pitchFamily="34" charset="-122"/>
                <a:cs typeface="Helvetica" pitchFamily="34" charset="-120"/>
              </a:rPr>
              <a:t>Claude in Chrome bisa baca &amp; isi formula langsung di Google Sheets tanpa copy-paste — install extension dari Chrome Web Store. Butuh paket Pro atau lebih tinggi (tidak ada di Free). Untuk otomatisasi berulang (laporan mingguan, notifikasi stok habis), Claude bisa bantu tulis Google Apps Script.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Bonus: Menu “Export PDF” di Google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CLAUDE MENULIS AUTOMASINYA, BUKAN CUMA KASIH SCRIPT JADI</a:t>
            </a:r>
            <a:endParaRPr lang="en-US" sz="1250" dirty="0"/>
          </a:p>
        </p:txBody>
      </p:sp>
      <p:sp>
        <p:nvSpPr>
          <p:cNvPr id="8" name="Shape 6"/>
          <p:cNvSpPr/>
          <p:nvPr/>
        </p:nvSpPr>
        <p:spPr>
          <a:xfrm>
            <a:off x="548640" y="2112264"/>
            <a:ext cx="11094415" cy="1480376"/>
          </a:xfrm>
          <a:prstGeom prst="roundRect">
            <a:avLst>
              <a:gd name="adj" fmla="val 6177"/>
            </a:avLst>
          </a:prstGeom>
          <a:solidFill>
            <a:srgbClr val="F3F0FF"/>
          </a:solidFill>
          <a:ln w="12700">
            <a:solidFill>
              <a:srgbClr val="DCD3FB"/>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4B36C7"/>
                </a:solidFill>
                <a:latin typeface="Helvetica" pitchFamily="34" charset="0"/>
                <a:ea typeface="Helvetica" pitchFamily="34" charset="-122"/>
                <a:cs typeface="Helvetica" pitchFamily="34" charset="-120"/>
              </a:rPr>
              <a:t>◆  DOWNLOAD K2-PDF-EXPORT-HELPER.JS — 100% GRATIS</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Google Apps Script yang menambahkan menu “Export PDF” ke Sheets-mu: export sheet aktif atau rentang terpilih jadi PDF rapi, tersimpan otomatis ke Drive. Script ini dibuat dengan cara memprompt Claude langsung — tidak ada API key atau paket Pro yang dibutuhkan, cuma fitur bawaan Google.</a:t>
            </a:r>
            <a:endParaRPr lang="en-US" sz="1250" dirty="0"/>
          </a:p>
        </p:txBody>
      </p:sp>
      <p:sp>
        <p:nvSpPr>
          <p:cNvPr id="11" name="Shape 9"/>
          <p:cNvSpPr/>
          <p:nvPr/>
        </p:nvSpPr>
        <p:spPr>
          <a:xfrm>
            <a:off x="548640" y="3830384"/>
            <a:ext cx="3527450" cy="1261750"/>
          </a:xfrm>
          <a:prstGeom prst="roundRect">
            <a:avLst>
              <a:gd name="adj" fmla="val 7247"/>
            </a:avLst>
          </a:prstGeom>
          <a:solidFill>
            <a:srgbClr val="F3F0FF"/>
          </a:solidFill>
          <a:ln w="12700">
            <a:solidFill>
              <a:srgbClr val="DCD3FB"/>
            </a:solidFill>
            <a:prstDash val="solid"/>
          </a:ln>
        </p:spPr>
      </p:sp>
      <p:sp>
        <p:nvSpPr>
          <p:cNvPr id="12" name="Shape 10"/>
          <p:cNvSpPr/>
          <p:nvPr/>
        </p:nvSpPr>
        <p:spPr>
          <a:xfrm>
            <a:off x="749808" y="4031552"/>
            <a:ext cx="384048" cy="384048"/>
          </a:xfrm>
          <a:prstGeom prst="ellipse">
            <a:avLst/>
          </a:prstGeom>
          <a:solidFill>
            <a:srgbClr val="6849F6"/>
          </a:solidFill>
          <a:ln/>
        </p:spPr>
      </p:sp>
      <p:sp>
        <p:nvSpPr>
          <p:cNvPr id="13" name="Text 11"/>
          <p:cNvSpPr/>
          <p:nvPr/>
        </p:nvSpPr>
        <p:spPr>
          <a:xfrm>
            <a:off x="749808"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4" name="Text 12"/>
          <p:cNvSpPr/>
          <p:nvPr/>
        </p:nvSpPr>
        <p:spPr>
          <a:xfrm>
            <a:off x="1271016"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Extensions</a:t>
            </a:r>
            <a:endParaRPr lang="en-US" sz="1400" dirty="0"/>
          </a:p>
        </p:txBody>
      </p:sp>
      <p:sp>
        <p:nvSpPr>
          <p:cNvPr id="15" name="Text 13"/>
          <p:cNvSpPr/>
          <p:nvPr/>
        </p:nvSpPr>
        <p:spPr>
          <a:xfrm>
            <a:off x="749808"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Buka Sheets-mu → Extensions → Apps Script.</a:t>
            </a:r>
            <a:endParaRPr lang="en-US" sz="1200" dirty="0"/>
          </a:p>
        </p:txBody>
      </p:sp>
      <p:sp>
        <p:nvSpPr>
          <p:cNvPr id="16" name="Shape 14"/>
          <p:cNvSpPr/>
          <p:nvPr/>
        </p:nvSpPr>
        <p:spPr>
          <a:xfrm>
            <a:off x="4332122" y="3830384"/>
            <a:ext cx="3527450" cy="1261750"/>
          </a:xfrm>
          <a:prstGeom prst="roundRect">
            <a:avLst>
              <a:gd name="adj" fmla="val 7247"/>
            </a:avLst>
          </a:prstGeom>
          <a:solidFill>
            <a:srgbClr val="F3F0FF"/>
          </a:solidFill>
          <a:ln w="12700">
            <a:solidFill>
              <a:srgbClr val="DCD3FB"/>
            </a:solidFill>
            <a:prstDash val="solid"/>
          </a:ln>
        </p:spPr>
      </p:sp>
      <p:sp>
        <p:nvSpPr>
          <p:cNvPr id="17" name="Shape 15"/>
          <p:cNvSpPr/>
          <p:nvPr/>
        </p:nvSpPr>
        <p:spPr>
          <a:xfrm>
            <a:off x="4533290" y="4031552"/>
            <a:ext cx="384048" cy="384048"/>
          </a:xfrm>
          <a:prstGeom prst="ellipse">
            <a:avLst/>
          </a:prstGeom>
          <a:solidFill>
            <a:srgbClr val="6849F6"/>
          </a:solidFill>
          <a:ln/>
        </p:spPr>
      </p:sp>
      <p:sp>
        <p:nvSpPr>
          <p:cNvPr id="18" name="Text 16"/>
          <p:cNvSpPr/>
          <p:nvPr/>
        </p:nvSpPr>
        <p:spPr>
          <a:xfrm>
            <a:off x="4533290"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9" name="Text 17"/>
          <p:cNvSpPr/>
          <p:nvPr/>
        </p:nvSpPr>
        <p:spPr>
          <a:xfrm>
            <a:off x="5054498"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Paste &amp; Save</a:t>
            </a:r>
            <a:endParaRPr lang="en-US" sz="1400" dirty="0"/>
          </a:p>
        </p:txBody>
      </p:sp>
      <p:sp>
        <p:nvSpPr>
          <p:cNvPr id="20" name="Text 18"/>
          <p:cNvSpPr/>
          <p:nvPr/>
        </p:nvSpPr>
        <p:spPr>
          <a:xfrm>
            <a:off x="4533290"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Hapus kode lama, paste isi file ini, Save.</a:t>
            </a:r>
            <a:endParaRPr lang="en-US" sz="1200" dirty="0"/>
          </a:p>
        </p:txBody>
      </p:sp>
      <p:sp>
        <p:nvSpPr>
          <p:cNvPr id="21" name="Shape 19"/>
          <p:cNvSpPr/>
          <p:nvPr/>
        </p:nvSpPr>
        <p:spPr>
          <a:xfrm>
            <a:off x="8115605" y="3830384"/>
            <a:ext cx="3527450" cy="1261750"/>
          </a:xfrm>
          <a:prstGeom prst="roundRect">
            <a:avLst>
              <a:gd name="adj" fmla="val 7247"/>
            </a:avLst>
          </a:prstGeom>
          <a:solidFill>
            <a:srgbClr val="F3F0FF"/>
          </a:solidFill>
          <a:ln w="12700">
            <a:solidFill>
              <a:srgbClr val="DCD3FB"/>
            </a:solidFill>
            <a:prstDash val="solid"/>
          </a:ln>
        </p:spPr>
      </p:sp>
      <p:sp>
        <p:nvSpPr>
          <p:cNvPr id="22" name="Shape 20"/>
          <p:cNvSpPr/>
          <p:nvPr/>
        </p:nvSpPr>
        <p:spPr>
          <a:xfrm>
            <a:off x="8316773" y="4031552"/>
            <a:ext cx="384048" cy="384048"/>
          </a:xfrm>
          <a:prstGeom prst="ellipse">
            <a:avLst/>
          </a:prstGeom>
          <a:solidFill>
            <a:srgbClr val="6849F6"/>
          </a:solidFill>
          <a:ln/>
        </p:spPr>
      </p:sp>
      <p:sp>
        <p:nvSpPr>
          <p:cNvPr id="23" name="Text 21"/>
          <p:cNvSpPr/>
          <p:nvPr/>
        </p:nvSpPr>
        <p:spPr>
          <a:xfrm>
            <a:off x="8316773"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4" name="Text 22"/>
          <p:cNvSpPr/>
          <p:nvPr/>
        </p:nvSpPr>
        <p:spPr>
          <a:xfrm>
            <a:off x="8837981"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Allow Akses</a:t>
            </a:r>
            <a:endParaRPr lang="en-US" sz="1400" dirty="0"/>
          </a:p>
        </p:txBody>
      </p:sp>
      <p:sp>
        <p:nvSpPr>
          <p:cNvPr id="25" name="Text 23"/>
          <p:cNvSpPr/>
          <p:nvPr/>
        </p:nvSpPr>
        <p:spPr>
          <a:xfrm>
            <a:off x="8316773"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Refresh Sheets, klik Allow saat diminta izin.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Level Up: Dashboard Performa Produk</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 — SATU HALAMAN, BUKAN CUMA FORMULA</a:t>
            </a:r>
            <a:endParaRPr lang="en-US" sz="1250" dirty="0"/>
          </a:p>
        </p:txBody>
      </p:sp>
      <p:sp>
        <p:nvSpPr>
          <p:cNvPr id="8" name="Shape 6"/>
          <p:cNvSpPr/>
          <p:nvPr/>
        </p:nvSpPr>
        <p:spPr>
          <a:xfrm>
            <a:off x="548640" y="2112264"/>
            <a:ext cx="11094415" cy="1429283"/>
          </a:xfrm>
          <a:prstGeom prst="roundRect">
            <a:avLst>
              <a:gd name="adj" fmla="val 6398"/>
            </a:avLst>
          </a:prstGeom>
          <a:solidFill>
            <a:srgbClr val="141D33"/>
          </a:solidFill>
          <a:ln w="12700">
            <a:solidFill>
              <a:srgbClr val="6849F6"/>
            </a:solidFill>
            <a:prstDash val="solid"/>
          </a:ln>
        </p:spPr>
      </p:sp>
      <p:sp>
        <p:nvSpPr>
          <p:cNvPr id="9" name="Text 7"/>
          <p:cNvSpPr/>
          <p:nvPr/>
        </p:nvSpPr>
        <p:spPr>
          <a:xfrm>
            <a:off x="768096" y="2331720"/>
            <a:ext cx="10655503" cy="256032"/>
          </a:xfrm>
          <a:prstGeom prst="rect">
            <a:avLst/>
          </a:prstGeom>
          <a:noFill/>
          <a:ln/>
        </p:spPr>
        <p:txBody>
          <a:bodyPr wrap="square" lIns="0" tIns="0" rIns="0" bIns="0" rtlCol="0" anchor="ctr"/>
          <a:lstStyle/>
          <a:p>
            <a:pPr indent="0" marL="0">
              <a:buNone/>
            </a:pPr>
            <a:r>
              <a:rPr lang="en-US" sz="1150" b="1" spc="30" kern="0" dirty="0">
                <a:solidFill>
                  <a:srgbClr val="8B7CF6"/>
                </a:solidFill>
                <a:latin typeface="Helvetica" pitchFamily="34" charset="0"/>
                <a:ea typeface="Helvetica" pitchFamily="34" charset="-122"/>
                <a:cs typeface="Helvetica" pitchFamily="34" charset="-120"/>
              </a:rPr>
              <a:t>CONTOH PROMPT</a:t>
            </a:r>
            <a:endParaRPr lang="en-US" sz="1150" dirty="0"/>
          </a:p>
        </p:txBody>
      </p:sp>
      <p:sp>
        <p:nvSpPr>
          <p:cNvPr id="10" name="Text 8"/>
          <p:cNvSpPr/>
          <p:nvPr/>
        </p:nvSpPr>
        <p:spPr>
          <a:xfrm>
            <a:off x="768096" y="2679192"/>
            <a:ext cx="10655503" cy="642899"/>
          </a:xfrm>
          <a:prstGeom prst="rect">
            <a:avLst/>
          </a:prstGeom>
          <a:noFill/>
          <a:ln/>
        </p:spPr>
        <p:txBody>
          <a:bodyPr wrap="square" lIns="0" tIns="0" rIns="0" bIns="0" rtlCol="0" anchor="t"/>
          <a:lstStyle/>
          <a:p>
            <a:pPr indent="0" marL="0">
              <a:lnSpc>
                <a:spcPct val="130000"/>
              </a:lnSpc>
              <a:buNone/>
            </a:pPr>
            <a:r>
              <a:rPr lang="en-US" sz="1100" dirty="0">
                <a:solidFill>
                  <a:srgbClr val="C7CDE0"/>
                </a:solidFill>
                <a:latin typeface="Helvetica" pitchFamily="34" charset="0"/>
                <a:ea typeface="Helvetica" pitchFamily="34" charset="-122"/>
                <a:cs typeface="Helvetica" pitchFamily="34" charset="-120"/>
              </a:rPr>
              <a:t>[Upload atau paste k2-data-latihan-sheets.csv] Dari data ini, buatkan saya dashboard HTML sederhana: tabel semua produk dengan kolom terjual, revenue, dan stok. Beri warna merah kalau stok di bawah 10, kuning kalau stagnan, hijau kalau performa bagus. Simpan sebagai 1 file HTML yang bisa saya buka tiap minggu.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2026-07-20T08:17:30Z</dcterms:created>
  <dcterms:modified xsi:type="dcterms:W3CDTF">2026-07-20T08:17:30Z</dcterms:modified>
</cp:coreProperties>
</file>