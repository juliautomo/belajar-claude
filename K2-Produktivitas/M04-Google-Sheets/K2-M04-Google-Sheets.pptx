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138160" y="0"/>
            <a:ext cx="4050791" cy="6858000"/>
          </a:xfrm>
          <a:prstGeom prst="rect">
            <a:avLst/>
          </a:prstGeom>
          <a:solidFill>
            <a:srgbClr val="14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11480"/>
            <a:ext cx="3657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2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29800" y="347472"/>
            <a:ext cx="1965960" cy="420624"/>
          </a:xfrm>
          <a:prstGeom prst="roundRect">
            <a:avLst>
              <a:gd name="adj" fmla="val 22000"/>
            </a:avLst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29800" y="347472"/>
            <a:ext cx="19659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MODUL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7680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Google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84048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B7C0D8"/>
                </a:solidFill>
                <a:latin typeface="Arial"/>
              </a:rPr>
              <a:t>Data jadi insight dalam menit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572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AA2B4"/>
                </a:solidFill>
                <a:latin typeface="Arial"/>
              </a:rPr>
              <a:t>Produktivitas Kantor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04 — Google Sheets +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Yang Bisa Claude Bantu di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TIGA CARA CLAUDE MEMPERCEPAT KERJA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3627119" cy="320040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78736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78736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999232"/>
            <a:ext cx="3407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FORMULA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429000"/>
            <a:ext cx="340766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Buat, jelaskan, debug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" y="3840479"/>
            <a:ext cx="3407664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326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Claude menulis formula dari deskripsi biasa, menjelaskan formula yang membingungkan, dan membantu debug formula yang error.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7199" y="2103120"/>
            <a:ext cx="3627119" cy="320040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43016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43016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6928" y="2999232"/>
            <a:ext cx="3407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ANALISIS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928" y="3429000"/>
            <a:ext cx="340766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Pola &amp; performa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6928" y="3840479"/>
            <a:ext cx="3407664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080" y="3886200"/>
            <a:ext cx="326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Temukan pola dari data penjualan, bandingkan performa antar produk atau periode, dan identifikasi anomali yang mudah terlewat.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1480" y="2103120"/>
            <a:ext cx="3627119" cy="320040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07296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7296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1207" y="2999232"/>
            <a:ext cx="3407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REKOMENDASI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1207" y="3429000"/>
            <a:ext cx="340766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Dari data ke keputusan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1207" y="3840479"/>
            <a:ext cx="3407664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4359" y="3886200"/>
            <a:ext cx="326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Dari data ke keputusan bisnis konkret — produk mana yang perlu direstock, dipromosikan, atau dihentikan.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5321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6B7280"/>
                </a:solidFill>
                <a:latin typeface="Arial"/>
              </a:rPr>
              <a:t>Tips: </a:t>
            </a:r>
            <a:r>
              <a:rPr sz="1150" b="0" i="0">
                <a:solidFill>
                  <a:srgbClr val="6B7280"/>
                </a:solidFill>
                <a:latin typeface="Arial"/>
              </a:rPr>
              <a:t>Selalu sebutkan struktur kolom data dulu sebelum bertanya — Claude bekerja lebih akurat kalau tahu konteks kolomnya.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04 — Google Sheets +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Data Aman vs. Data Sensitif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YANG BOLEH DAN TIDAK BOLEH DIBAGIKAN KE CLAUDE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544068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304288"/>
            <a:ext cx="1737360" cy="347472"/>
          </a:xfrm>
          <a:prstGeom prst="roundRect">
            <a:avLst>
              <a:gd name="adj" fmla="val 22000"/>
            </a:avLst>
          </a:prstGeom>
          <a:solidFill>
            <a:srgbClr val="EAF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304288"/>
            <a:ext cx="17373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A7A44"/>
                </a:solidFill>
                <a:latin typeface="Arial"/>
              </a:rPr>
              <a:t>AMAN DIBAGIKAN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52928"/>
            <a:ext cx="4983480" cy="2862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Nama produk, kategori, harga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Jumlah penjualan per periode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Data performa (tanpa nama pelanggan)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Struktur kolom dan formula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2103120"/>
            <a:ext cx="5440680" cy="3794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E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73952" y="2304288"/>
            <a:ext cx="1737360" cy="347472"/>
          </a:xfrm>
          <a:prstGeom prst="roundRect">
            <a:avLst>
              <a:gd name="adj" fmla="val 22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304288"/>
            <a:ext cx="17373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991B1B"/>
                </a:solidFill>
                <a:latin typeface="Arial"/>
              </a:rPr>
              <a:t>HINDARI DIBAGIKAN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852928"/>
            <a:ext cx="4983480" cy="2862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Nama lengkap + nomor telepon pelanggan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Nomor kartu kredit / rekening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Password atau API key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Data karyawan dengan info personal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04 — Google Sheets +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Alur Prompt: Data → Keputusan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CONTOH NYATA — RINA, KASUAL STUDIO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3627119" cy="379476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78736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78736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999232"/>
            <a:ext cx="3407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FORMULA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3429000"/>
            <a:ext cx="340766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Minta rumus dasar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" y="3840479"/>
            <a:ext cx="3407664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886200"/>
            <a:ext cx="326136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"Sheet saya: A=Nama Produk, B=Jan, C=Feb, D=Mar, E=Target. Buatkan formula total Jan–Mar di F2, dan % pencapaian target di G2."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7199" y="2103120"/>
            <a:ext cx="3627119" cy="379476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43016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43016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6928" y="2999232"/>
            <a:ext cx="3407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ANALISIS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928" y="3429000"/>
            <a:ext cx="340766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Paste data, minta insight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6928" y="3840479"/>
            <a:ext cx="3407664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080" y="3886200"/>
            <a:ext cx="326136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"Ini data penjualan 3 bulan terakhir: [paste]. Produk mana performa paling konsisten? Mana tren naik vs turun?"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1480" y="2103120"/>
            <a:ext cx="3627119" cy="3794760"/>
          </a:xfrm>
          <a:prstGeom prst="roundRect">
            <a:avLst>
              <a:gd name="adj" fmla="val 4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07296" y="2359152"/>
            <a:ext cx="475488" cy="475488"/>
          </a:xfrm>
          <a:prstGeom prst="ellipse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7296" y="235915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1207" y="2999232"/>
            <a:ext cx="3407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4B36C7"/>
                </a:solidFill>
                <a:latin typeface="Arial"/>
              </a:rPr>
              <a:t>KEPUTUSAN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41207" y="3429000"/>
            <a:ext cx="3407664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Arial"/>
              </a:rPr>
              <a:t>Ubah insight jadi aksi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1207" y="3840479"/>
            <a:ext cx="3407664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4359" y="3886200"/>
            <a:ext cx="326136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3283A"/>
                </a:solidFill>
                <a:latin typeface="Arial"/>
              </a:rPr>
              <a:t>"Budget restock saya Rp 5 juta. Sarankan alokasi paling optimal berdasarkan data performa tadi."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08076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6B7280"/>
                </a:solidFill>
                <a:latin typeface="Arial"/>
              </a:rPr>
              <a:t>Tips: </a:t>
            </a:r>
            <a:r>
              <a:rPr sz="1150" b="0" i="0">
                <a:solidFill>
                  <a:srgbClr val="6B7280"/>
                </a:solidFill>
                <a:latin typeface="Arial"/>
              </a:rPr>
              <a:t>produk mana yang harus saya prioritaskan bulan depan? — pertanyaan penutup yang mengubah data jadi keputusan.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36576"/>
          </a:xfrm>
          <a:prstGeom prst="rect">
            <a:avLst/>
          </a:prstGeom>
          <a:solidFill>
            <a:srgbClr val="684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belajar</a:t>
            </a:r>
            <a:r>
              <a:rPr sz="2000" b="1" i="0">
                <a:solidFill>
                  <a:srgbClr val="6849F6"/>
                </a:solidFill>
                <a:latin typeface="Arial"/>
              </a:rPr>
              <a:t>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27432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9AA2B4"/>
                </a:solidFill>
                <a:latin typeface="Arial"/>
              </a:rPr>
              <a:t>Modul 04 — Google Sheets +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23283A"/>
                </a:solidFill>
                <a:latin typeface="Arial"/>
              </a:rPr>
              <a:t>Latihan &amp;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1155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B36C7"/>
                </a:solidFill>
                <a:latin typeface="Arial"/>
              </a:rPr>
              <a:t>PRAKTIK LANGSUNG DENGAN DATA KAMU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11155680" cy="173736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267712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7A44"/>
                </a:solidFill>
                <a:latin typeface="Arial"/>
              </a:rPr>
              <a:t>■  LATIHAN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633472"/>
            <a:ext cx="10652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3283A"/>
                </a:solidFill>
                <a:latin typeface="Arial"/>
              </a:rPr>
              <a:t>Download file latihan k2-data-penjualan.csv dari halaman materi. Import ke Google Sheets. Minta Claude buat 3 formula dasar (total, rata-rata, % target). Paste 5 baris data ke Claude dan minta analisis pola. Tanya: "Dari data ini, produk mana yang harus saya prioritaskan bulan depan?"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023359"/>
            <a:ext cx="11155680" cy="960120"/>
          </a:xfrm>
          <a:prstGeom prst="roundRect">
            <a:avLst>
              <a:gd name="adj" fmla="val 6000"/>
            </a:avLst>
          </a:prstGeom>
          <a:solidFill>
            <a:srgbClr val="F3F0FF"/>
          </a:solidFill>
          <a:ln w="12700">
            <a:solidFill>
              <a:srgbClr val="DCD3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151375"/>
            <a:ext cx="3657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B36C7"/>
                </a:solidFill>
                <a:latin typeface="Arial"/>
              </a:rPr>
              <a:t>■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462271"/>
            <a:ext cx="10652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3283A"/>
                </a:solidFill>
                <a:latin typeface="Arial"/>
              </a:rPr>
              <a:t>Sheet dengan 3 formula berjalan + 1 paragraf analisis dari Claude tentang pola performa berdasarkan data kamu.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74920"/>
            <a:ext cx="11155680" cy="141732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D6D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5276088"/>
            <a:ext cx="1737360" cy="347472"/>
          </a:xfrm>
          <a:prstGeom prst="roundRect">
            <a:avLst>
              <a:gd name="adj" fmla="val 22000"/>
            </a:avLst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76088"/>
            <a:ext cx="173736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4B36C7"/>
                </a:solidFill>
                <a:latin typeface="Arial"/>
              </a:rPr>
              <a:t>BONUS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24727"/>
            <a:ext cx="1069848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Claude in Chrome bisa baca &amp; isi formula langsung di Google Sheets tanpa copy-paste — install extension dari Chrome Web Store.</a:t>
            </a:r>
          </a:p>
          <a:p>
            <a:pPr marL="228600" indent="-228600">
              <a:lnSpc>
                <a:spcPct val="140000"/>
              </a:lnSpc>
              <a:spcAft>
                <a:spcPts val="200"/>
              </a:spcAft>
              <a:buFont typeface="Arial"/>
              <a:buChar char="•"/>
            </a:pPr>
            <a:r>
              <a:rPr sz="1150" b="0" i="0">
                <a:solidFill>
                  <a:srgbClr val="23283A"/>
                </a:solidFill>
                <a:latin typeface="Arial"/>
              </a:rPr>
              <a:t>Untuk otomatisasi berulang (laporan mingguan, notifikasi stok habis), Claude bisa bantu tulis Google Apps Script.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