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Framework ini berlaku untuk semua modul berikutnya. Role = siapa Claude. Konteks = latar situasi. Tugas = satu perintah utama. Format = bagaimana output-nya.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peserta identifikasi elemen mana yang hilang dari prompt buruk. Tunjukkan bahwa prompt baik hanya 2-3 kalimat — bukan panjang, tapi spesifik.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 waktu 8–10 menit untuk exercise ini. Bantu yang stuck dengan menanyakan: 'Apa yang mau kamu tulis minggu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457200" y="411480"/>
            <a:ext cx="1463040" cy="329184"/>
          </a:xfrm>
          <a:prstGeom prst="roundRect">
            <a:avLst>
              <a:gd name="adj" fmla="val 22222"/>
            </a:avLst>
          </a:prstGeom>
          <a:solidFill>
            <a:srgbClr val="6849F6"/>
          </a:solidFill>
          <a:ln w="12700">
            <a:solidFill>
              <a:srgbClr val="6849F6"/>
            </a:solidFill>
            <a:prstDash val="solid"/>
          </a:ln>
        </p:spPr>
      </p:sp>
      <p:sp>
        <p:nvSpPr>
          <p:cNvPr id="3" name="Text 1"/>
          <p:cNvSpPr/>
          <p:nvPr/>
        </p:nvSpPr>
        <p:spPr>
          <a:xfrm>
            <a:off x="457200" y="411480"/>
            <a:ext cx="1463040" cy="329184"/>
          </a:xfrm>
          <a:prstGeom prst="rect">
            <a:avLst/>
          </a:prstGeom>
          <a:noFill/>
          <a:ln/>
        </p:spPr>
        <p:txBody>
          <a:bodyPr wrap="square" lIns="0" tIns="0" rIns="0" bIns="0" rtlCol="0" anchor="ctr"/>
          <a:lstStyle/>
          <a:p>
            <a:pPr algn="ctr" indent="0" marL="0">
              <a:buNone/>
            </a:pPr>
            <a:r>
              <a:rPr lang="en-US" sz="1000" b="1" dirty="0">
                <a:solidFill>
                  <a:srgbClr val="FFFFFF"/>
                </a:solidFill>
              </a:rPr>
              <a:t>MODUL 01</a:t>
            </a:r>
            <a:endParaRPr lang="en-US" sz="1000" dirty="0"/>
          </a:p>
        </p:txBody>
      </p:sp>
      <p:sp>
        <p:nvSpPr>
          <p:cNvPr id="4" name="Text 2"/>
          <p:cNvSpPr/>
          <p:nvPr/>
        </p:nvSpPr>
        <p:spPr>
          <a:xfrm>
            <a:off x="457200" y="886968"/>
            <a:ext cx="8229600" cy="749808"/>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Role Prompting</a:t>
            </a:r>
            <a:endParaRPr lang="en-US" sz="4200" dirty="0"/>
          </a:p>
        </p:txBody>
      </p:sp>
      <p:sp>
        <p:nvSpPr>
          <p:cNvPr id="5" name="Text 3"/>
          <p:cNvSpPr/>
          <p:nvPr/>
        </p:nvSpPr>
        <p:spPr>
          <a:xfrm>
            <a:off x="457200" y="1664208"/>
            <a:ext cx="7315200" cy="384048"/>
          </a:xfrm>
          <a:prstGeom prst="rect">
            <a:avLst/>
          </a:prstGeom>
          <a:noFill/>
          <a:ln/>
        </p:spPr>
        <p:txBody>
          <a:bodyPr wrap="square" lIns="0" tIns="0" rIns="0" bIns="0" rtlCol="0" anchor="ctr"/>
          <a:lstStyle/>
          <a:p>
            <a:pPr indent="0" marL="0">
              <a:buNone/>
            </a:pPr>
            <a:r>
              <a:rPr lang="en-US" sz="1500" dirty="0">
                <a:solidFill>
                  <a:srgbClr val="B0AECF"/>
                </a:solidFill>
                <a:latin typeface="Calibri" pitchFamily="34" charset="0"/>
                <a:ea typeface="Calibri" pitchFamily="34" charset="-122"/>
                <a:cs typeface="Calibri" pitchFamily="34" charset="-120"/>
              </a:rPr>
              <a:t>Satu framework yang mengubah cara kamu pakai Claude selamanya.</a:t>
            </a:r>
            <a:endParaRPr lang="en-US" sz="1500" dirty="0"/>
          </a:p>
        </p:txBody>
      </p:sp>
      <p:sp>
        <p:nvSpPr>
          <p:cNvPr id="6" name="Shape 4"/>
          <p:cNvSpPr/>
          <p:nvPr/>
        </p:nvSpPr>
        <p:spPr>
          <a:xfrm>
            <a:off x="457200" y="2468880"/>
            <a:ext cx="1920240" cy="1920240"/>
          </a:xfrm>
          <a:prstGeom prst="roundRect">
            <a:avLst>
              <a:gd name="adj" fmla="val 5714"/>
            </a:avLst>
          </a:prstGeom>
          <a:solidFill>
            <a:srgbClr val="1A1A3E"/>
          </a:solidFill>
          <a:ln w="12700">
            <a:solidFill>
              <a:srgbClr val="2E2E5E"/>
            </a:solidFill>
            <a:prstDash val="solid"/>
          </a:ln>
        </p:spPr>
      </p:sp>
      <p:sp>
        <p:nvSpPr>
          <p:cNvPr id="7" name="Text 5"/>
          <p:cNvSpPr/>
          <p:nvPr/>
        </p:nvSpPr>
        <p:spPr>
          <a:xfrm>
            <a:off x="621792" y="2633472"/>
            <a:ext cx="548640" cy="320040"/>
          </a:xfrm>
          <a:prstGeom prst="rect">
            <a:avLst/>
          </a:prstGeom>
          <a:noFill/>
          <a:ln/>
        </p:spPr>
        <p:txBody>
          <a:bodyPr wrap="square" lIns="0" tIns="0" rIns="0" bIns="0" rtlCol="0" anchor="ctr"/>
          <a:lstStyle/>
          <a:p>
            <a:pPr indent="0" marL="0">
              <a:buNone/>
            </a:pPr>
            <a:r>
              <a:rPr lang="en-US" sz="1100" b="1" dirty="0">
                <a:solidFill>
                  <a:srgbClr val="6849F6"/>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621792" y="3017520"/>
            <a:ext cx="1591056"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ROLE</a:t>
            </a:r>
            <a:endParaRPr lang="en-US" sz="1400" dirty="0"/>
          </a:p>
        </p:txBody>
      </p:sp>
      <p:sp>
        <p:nvSpPr>
          <p:cNvPr id="9" name="Shape 7"/>
          <p:cNvSpPr/>
          <p:nvPr/>
        </p:nvSpPr>
        <p:spPr>
          <a:xfrm>
            <a:off x="621792" y="3429000"/>
            <a:ext cx="1591056" cy="0"/>
          </a:xfrm>
          <a:prstGeom prst="line">
            <a:avLst/>
          </a:prstGeom>
          <a:noFill/>
          <a:ln w="12700">
            <a:solidFill>
              <a:srgbClr val="2E2E5E"/>
            </a:solidFill>
            <a:prstDash val="solid"/>
          </a:ln>
        </p:spPr>
      </p:sp>
      <p:sp>
        <p:nvSpPr>
          <p:cNvPr id="10" name="Text 8"/>
          <p:cNvSpPr/>
          <p:nvPr/>
        </p:nvSpPr>
        <p:spPr>
          <a:xfrm>
            <a:off x="621792" y="3520440"/>
            <a:ext cx="1591056" cy="713232"/>
          </a:xfrm>
          <a:prstGeom prst="rect">
            <a:avLst/>
          </a:prstGeom>
          <a:noFill/>
          <a:ln/>
        </p:spPr>
        <p:txBody>
          <a:bodyPr wrap="square" lIns="0" tIns="0" rIns="0" bIns="0" rtlCol="0" anchor="ctr"/>
          <a:lstStyle/>
          <a:p>
            <a:pPr indent="0" marL="0">
              <a:buNone/>
            </a:pPr>
            <a:r>
              <a:rPr lang="en-US" sz="1200" dirty="0">
                <a:solidFill>
                  <a:srgbClr val="9090C0"/>
                </a:solidFill>
                <a:latin typeface="Calibri" pitchFamily="34" charset="0"/>
                <a:ea typeface="Calibri" pitchFamily="34" charset="-122"/>
                <a:cs typeface="Calibri" pitchFamily="34" charset="-120"/>
              </a:rPr>
              <a:t>Siapa Claude dalam konteks ini?</a:t>
            </a:r>
            <a:endParaRPr lang="en-US" sz="1200" dirty="0"/>
          </a:p>
        </p:txBody>
      </p:sp>
      <p:sp>
        <p:nvSpPr>
          <p:cNvPr id="11" name="Text 9"/>
          <p:cNvSpPr/>
          <p:nvPr/>
        </p:nvSpPr>
        <p:spPr>
          <a:xfrm>
            <a:off x="2395728" y="3227832"/>
            <a:ext cx="182880" cy="402336"/>
          </a:xfrm>
          <a:prstGeom prst="rect">
            <a:avLst/>
          </a:prstGeom>
          <a:noFill/>
          <a:ln/>
        </p:spPr>
        <p:txBody>
          <a:bodyPr wrap="square" lIns="0" tIns="0" rIns="0" bIns="0" rtlCol="0" anchor="ctr"/>
          <a:lstStyle/>
          <a:p>
            <a:pPr algn="ctr" indent="0" marL="0">
              <a:buNone/>
            </a:pPr>
            <a:r>
              <a:rPr lang="en-US" sz="1800" b="1" dirty="0">
                <a:solidFill>
                  <a:srgbClr val="6849F6"/>
                </a:solidFill>
              </a:rPr>
              <a:t>›</a:t>
            </a:r>
            <a:endParaRPr lang="en-US" sz="1800" dirty="0"/>
          </a:p>
        </p:txBody>
      </p:sp>
      <p:sp>
        <p:nvSpPr>
          <p:cNvPr id="12" name="Shape 10"/>
          <p:cNvSpPr/>
          <p:nvPr/>
        </p:nvSpPr>
        <p:spPr>
          <a:xfrm>
            <a:off x="2560320" y="2468880"/>
            <a:ext cx="1920240" cy="1920240"/>
          </a:xfrm>
          <a:prstGeom prst="roundRect">
            <a:avLst>
              <a:gd name="adj" fmla="val 5714"/>
            </a:avLst>
          </a:prstGeom>
          <a:solidFill>
            <a:srgbClr val="1A1A3E"/>
          </a:solidFill>
          <a:ln w="12700">
            <a:solidFill>
              <a:srgbClr val="2E2E5E"/>
            </a:solidFill>
            <a:prstDash val="solid"/>
          </a:ln>
        </p:spPr>
      </p:sp>
      <p:sp>
        <p:nvSpPr>
          <p:cNvPr id="13" name="Text 11"/>
          <p:cNvSpPr/>
          <p:nvPr/>
        </p:nvSpPr>
        <p:spPr>
          <a:xfrm>
            <a:off x="2724912" y="2633472"/>
            <a:ext cx="548640" cy="320040"/>
          </a:xfrm>
          <a:prstGeom prst="rect">
            <a:avLst/>
          </a:prstGeom>
          <a:noFill/>
          <a:ln/>
        </p:spPr>
        <p:txBody>
          <a:bodyPr wrap="square" lIns="0" tIns="0" rIns="0" bIns="0" rtlCol="0" anchor="ctr"/>
          <a:lstStyle/>
          <a:p>
            <a:pPr indent="0" marL="0">
              <a:buNone/>
            </a:pPr>
            <a:r>
              <a:rPr lang="en-US" sz="1100" b="1" dirty="0">
                <a:solidFill>
                  <a:srgbClr val="6849F6"/>
                </a:solidFill>
                <a:latin typeface="Calibri" pitchFamily="34" charset="0"/>
                <a:ea typeface="Calibri" pitchFamily="34" charset="-122"/>
                <a:cs typeface="Calibri" pitchFamily="34" charset="-120"/>
              </a:rPr>
              <a:t>02</a:t>
            </a:r>
            <a:endParaRPr lang="en-US" sz="1100" dirty="0"/>
          </a:p>
        </p:txBody>
      </p:sp>
      <p:sp>
        <p:nvSpPr>
          <p:cNvPr id="14" name="Text 12"/>
          <p:cNvSpPr/>
          <p:nvPr/>
        </p:nvSpPr>
        <p:spPr>
          <a:xfrm>
            <a:off x="2724912" y="3017520"/>
            <a:ext cx="1591056"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KONTEKS</a:t>
            </a:r>
            <a:endParaRPr lang="en-US" sz="1400" dirty="0"/>
          </a:p>
        </p:txBody>
      </p:sp>
      <p:sp>
        <p:nvSpPr>
          <p:cNvPr id="15" name="Shape 13"/>
          <p:cNvSpPr/>
          <p:nvPr/>
        </p:nvSpPr>
        <p:spPr>
          <a:xfrm>
            <a:off x="2724912" y="3429000"/>
            <a:ext cx="1591056" cy="0"/>
          </a:xfrm>
          <a:prstGeom prst="line">
            <a:avLst/>
          </a:prstGeom>
          <a:noFill/>
          <a:ln w="12700">
            <a:solidFill>
              <a:srgbClr val="2E2E5E"/>
            </a:solidFill>
            <a:prstDash val="solid"/>
          </a:ln>
        </p:spPr>
      </p:sp>
      <p:sp>
        <p:nvSpPr>
          <p:cNvPr id="16" name="Text 14"/>
          <p:cNvSpPr/>
          <p:nvPr/>
        </p:nvSpPr>
        <p:spPr>
          <a:xfrm>
            <a:off x="2724912" y="3520440"/>
            <a:ext cx="1591056" cy="713232"/>
          </a:xfrm>
          <a:prstGeom prst="rect">
            <a:avLst/>
          </a:prstGeom>
          <a:noFill/>
          <a:ln/>
        </p:spPr>
        <p:txBody>
          <a:bodyPr wrap="square" lIns="0" tIns="0" rIns="0" bIns="0" rtlCol="0" anchor="ctr"/>
          <a:lstStyle/>
          <a:p>
            <a:pPr indent="0" marL="0">
              <a:buNone/>
            </a:pPr>
            <a:r>
              <a:rPr lang="en-US" sz="1200" dirty="0">
                <a:solidFill>
                  <a:srgbClr val="9090C0"/>
                </a:solidFill>
                <a:latin typeface="Calibri" pitchFamily="34" charset="0"/>
                <a:ea typeface="Calibri" pitchFamily="34" charset="-122"/>
                <a:cs typeface="Calibri" pitchFamily="34" charset="-120"/>
              </a:rPr>
              <a:t>Situasi, latar, dan info relevan.</a:t>
            </a:r>
            <a:endParaRPr lang="en-US" sz="1200" dirty="0"/>
          </a:p>
        </p:txBody>
      </p:sp>
      <p:sp>
        <p:nvSpPr>
          <p:cNvPr id="17" name="Text 15"/>
          <p:cNvSpPr/>
          <p:nvPr/>
        </p:nvSpPr>
        <p:spPr>
          <a:xfrm>
            <a:off x="4498848" y="3227832"/>
            <a:ext cx="182880" cy="402336"/>
          </a:xfrm>
          <a:prstGeom prst="rect">
            <a:avLst/>
          </a:prstGeom>
          <a:noFill/>
          <a:ln/>
        </p:spPr>
        <p:txBody>
          <a:bodyPr wrap="square" lIns="0" tIns="0" rIns="0" bIns="0" rtlCol="0" anchor="ctr"/>
          <a:lstStyle/>
          <a:p>
            <a:pPr algn="ctr" indent="0" marL="0">
              <a:buNone/>
            </a:pPr>
            <a:r>
              <a:rPr lang="en-US" sz="1800" b="1" dirty="0">
                <a:solidFill>
                  <a:srgbClr val="6849F6"/>
                </a:solidFill>
              </a:rPr>
              <a:t>›</a:t>
            </a:r>
            <a:endParaRPr lang="en-US" sz="1800" dirty="0"/>
          </a:p>
        </p:txBody>
      </p:sp>
      <p:sp>
        <p:nvSpPr>
          <p:cNvPr id="18" name="Shape 16"/>
          <p:cNvSpPr/>
          <p:nvPr/>
        </p:nvSpPr>
        <p:spPr>
          <a:xfrm>
            <a:off x="4663440" y="2468880"/>
            <a:ext cx="1920240" cy="1920240"/>
          </a:xfrm>
          <a:prstGeom prst="roundRect">
            <a:avLst>
              <a:gd name="adj" fmla="val 5714"/>
            </a:avLst>
          </a:prstGeom>
          <a:solidFill>
            <a:srgbClr val="1A1A3E"/>
          </a:solidFill>
          <a:ln w="12700">
            <a:solidFill>
              <a:srgbClr val="2E2E5E"/>
            </a:solidFill>
            <a:prstDash val="solid"/>
          </a:ln>
        </p:spPr>
      </p:sp>
      <p:sp>
        <p:nvSpPr>
          <p:cNvPr id="19" name="Text 17"/>
          <p:cNvSpPr/>
          <p:nvPr/>
        </p:nvSpPr>
        <p:spPr>
          <a:xfrm>
            <a:off x="4828032" y="2633472"/>
            <a:ext cx="548640" cy="320040"/>
          </a:xfrm>
          <a:prstGeom prst="rect">
            <a:avLst/>
          </a:prstGeom>
          <a:noFill/>
          <a:ln/>
        </p:spPr>
        <p:txBody>
          <a:bodyPr wrap="square" lIns="0" tIns="0" rIns="0" bIns="0" rtlCol="0" anchor="ctr"/>
          <a:lstStyle/>
          <a:p>
            <a:pPr indent="0" marL="0">
              <a:buNone/>
            </a:pPr>
            <a:r>
              <a:rPr lang="en-US" sz="1100" b="1" dirty="0">
                <a:solidFill>
                  <a:srgbClr val="6849F6"/>
                </a:solidFill>
                <a:latin typeface="Calibri" pitchFamily="34" charset="0"/>
                <a:ea typeface="Calibri" pitchFamily="34" charset="-122"/>
                <a:cs typeface="Calibri" pitchFamily="34" charset="-120"/>
              </a:rPr>
              <a:t>03</a:t>
            </a:r>
            <a:endParaRPr lang="en-US" sz="1100" dirty="0"/>
          </a:p>
        </p:txBody>
      </p:sp>
      <p:sp>
        <p:nvSpPr>
          <p:cNvPr id="20" name="Text 18"/>
          <p:cNvSpPr/>
          <p:nvPr/>
        </p:nvSpPr>
        <p:spPr>
          <a:xfrm>
            <a:off x="4828032" y="3017520"/>
            <a:ext cx="1591056"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TUGAS</a:t>
            </a:r>
            <a:endParaRPr lang="en-US" sz="1400" dirty="0"/>
          </a:p>
        </p:txBody>
      </p:sp>
      <p:sp>
        <p:nvSpPr>
          <p:cNvPr id="21" name="Shape 19"/>
          <p:cNvSpPr/>
          <p:nvPr/>
        </p:nvSpPr>
        <p:spPr>
          <a:xfrm>
            <a:off x="4828032" y="3429000"/>
            <a:ext cx="1591056" cy="0"/>
          </a:xfrm>
          <a:prstGeom prst="line">
            <a:avLst/>
          </a:prstGeom>
          <a:noFill/>
          <a:ln w="12700">
            <a:solidFill>
              <a:srgbClr val="2E2E5E"/>
            </a:solidFill>
            <a:prstDash val="solid"/>
          </a:ln>
        </p:spPr>
      </p:sp>
      <p:sp>
        <p:nvSpPr>
          <p:cNvPr id="22" name="Text 20"/>
          <p:cNvSpPr/>
          <p:nvPr/>
        </p:nvSpPr>
        <p:spPr>
          <a:xfrm>
            <a:off x="4828032" y="3520440"/>
            <a:ext cx="1591056" cy="713232"/>
          </a:xfrm>
          <a:prstGeom prst="rect">
            <a:avLst/>
          </a:prstGeom>
          <a:noFill/>
          <a:ln/>
        </p:spPr>
        <p:txBody>
          <a:bodyPr wrap="square" lIns="0" tIns="0" rIns="0" bIns="0" rtlCol="0" anchor="ctr"/>
          <a:lstStyle/>
          <a:p>
            <a:pPr indent="0" marL="0">
              <a:buNone/>
            </a:pPr>
            <a:r>
              <a:rPr lang="en-US" sz="1200" dirty="0">
                <a:solidFill>
                  <a:srgbClr val="9090C0"/>
                </a:solidFill>
                <a:latin typeface="Calibri" pitchFamily="34" charset="0"/>
                <a:ea typeface="Calibri" pitchFamily="34" charset="-122"/>
                <a:cs typeface="Calibri" pitchFamily="34" charset="-120"/>
              </a:rPr>
              <a:t>Satu instruksi utama yang jelas.</a:t>
            </a:r>
            <a:endParaRPr lang="en-US" sz="1200" dirty="0"/>
          </a:p>
        </p:txBody>
      </p:sp>
      <p:sp>
        <p:nvSpPr>
          <p:cNvPr id="23" name="Text 21"/>
          <p:cNvSpPr/>
          <p:nvPr/>
        </p:nvSpPr>
        <p:spPr>
          <a:xfrm>
            <a:off x="6601968" y="3227832"/>
            <a:ext cx="182880" cy="402336"/>
          </a:xfrm>
          <a:prstGeom prst="rect">
            <a:avLst/>
          </a:prstGeom>
          <a:noFill/>
          <a:ln/>
        </p:spPr>
        <p:txBody>
          <a:bodyPr wrap="square" lIns="0" tIns="0" rIns="0" bIns="0" rtlCol="0" anchor="ctr"/>
          <a:lstStyle/>
          <a:p>
            <a:pPr algn="ctr" indent="0" marL="0">
              <a:buNone/>
            </a:pPr>
            <a:r>
              <a:rPr lang="en-US" sz="1800" b="1" dirty="0">
                <a:solidFill>
                  <a:srgbClr val="6849F6"/>
                </a:solidFill>
              </a:rPr>
              <a:t>›</a:t>
            </a:r>
            <a:endParaRPr lang="en-US" sz="1800" dirty="0"/>
          </a:p>
        </p:txBody>
      </p:sp>
      <p:sp>
        <p:nvSpPr>
          <p:cNvPr id="24" name="Shape 22"/>
          <p:cNvSpPr/>
          <p:nvPr/>
        </p:nvSpPr>
        <p:spPr>
          <a:xfrm>
            <a:off x="6766560" y="2468880"/>
            <a:ext cx="1920240" cy="1920240"/>
          </a:xfrm>
          <a:prstGeom prst="roundRect">
            <a:avLst>
              <a:gd name="adj" fmla="val 5714"/>
            </a:avLst>
          </a:prstGeom>
          <a:solidFill>
            <a:srgbClr val="1A1A3E"/>
          </a:solidFill>
          <a:ln w="12700">
            <a:solidFill>
              <a:srgbClr val="2E2E5E"/>
            </a:solidFill>
            <a:prstDash val="solid"/>
          </a:ln>
        </p:spPr>
      </p:sp>
      <p:sp>
        <p:nvSpPr>
          <p:cNvPr id="25" name="Text 23"/>
          <p:cNvSpPr/>
          <p:nvPr/>
        </p:nvSpPr>
        <p:spPr>
          <a:xfrm>
            <a:off x="6931152" y="2633472"/>
            <a:ext cx="548640" cy="320040"/>
          </a:xfrm>
          <a:prstGeom prst="rect">
            <a:avLst/>
          </a:prstGeom>
          <a:noFill/>
          <a:ln/>
        </p:spPr>
        <p:txBody>
          <a:bodyPr wrap="square" lIns="0" tIns="0" rIns="0" bIns="0" rtlCol="0" anchor="ctr"/>
          <a:lstStyle/>
          <a:p>
            <a:pPr indent="0" marL="0">
              <a:buNone/>
            </a:pPr>
            <a:r>
              <a:rPr lang="en-US" sz="1100" b="1" dirty="0">
                <a:solidFill>
                  <a:srgbClr val="6849F6"/>
                </a:solidFill>
                <a:latin typeface="Calibri" pitchFamily="34" charset="0"/>
                <a:ea typeface="Calibri" pitchFamily="34" charset="-122"/>
                <a:cs typeface="Calibri" pitchFamily="34" charset="-120"/>
              </a:rPr>
              <a:t>04</a:t>
            </a:r>
            <a:endParaRPr lang="en-US" sz="1100" dirty="0"/>
          </a:p>
        </p:txBody>
      </p:sp>
      <p:sp>
        <p:nvSpPr>
          <p:cNvPr id="26" name="Text 24"/>
          <p:cNvSpPr/>
          <p:nvPr/>
        </p:nvSpPr>
        <p:spPr>
          <a:xfrm>
            <a:off x="6931152" y="3017520"/>
            <a:ext cx="1591056"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FORMAT</a:t>
            </a:r>
            <a:endParaRPr lang="en-US" sz="1400" dirty="0"/>
          </a:p>
        </p:txBody>
      </p:sp>
      <p:sp>
        <p:nvSpPr>
          <p:cNvPr id="27" name="Shape 25"/>
          <p:cNvSpPr/>
          <p:nvPr/>
        </p:nvSpPr>
        <p:spPr>
          <a:xfrm>
            <a:off x="6931152" y="3429000"/>
            <a:ext cx="1591056" cy="0"/>
          </a:xfrm>
          <a:prstGeom prst="line">
            <a:avLst/>
          </a:prstGeom>
          <a:noFill/>
          <a:ln w="12700">
            <a:solidFill>
              <a:srgbClr val="2E2E5E"/>
            </a:solidFill>
            <a:prstDash val="solid"/>
          </a:ln>
        </p:spPr>
      </p:sp>
      <p:sp>
        <p:nvSpPr>
          <p:cNvPr id="28" name="Text 26"/>
          <p:cNvSpPr/>
          <p:nvPr/>
        </p:nvSpPr>
        <p:spPr>
          <a:xfrm>
            <a:off x="6931152" y="3520440"/>
            <a:ext cx="1591056" cy="713232"/>
          </a:xfrm>
          <a:prstGeom prst="rect">
            <a:avLst/>
          </a:prstGeom>
          <a:noFill/>
          <a:ln/>
        </p:spPr>
        <p:txBody>
          <a:bodyPr wrap="square" lIns="0" tIns="0" rIns="0" bIns="0" rtlCol="0" anchor="ctr"/>
          <a:lstStyle/>
          <a:p>
            <a:pPr indent="0" marL="0">
              <a:buNone/>
            </a:pPr>
            <a:r>
              <a:rPr lang="en-US" sz="1200" dirty="0">
                <a:solidFill>
                  <a:srgbClr val="9090C0"/>
                </a:solidFill>
                <a:latin typeface="Calibri" pitchFamily="34" charset="0"/>
                <a:ea typeface="Calibri" pitchFamily="34" charset="-122"/>
                <a:cs typeface="Calibri" pitchFamily="34" charset="-120"/>
              </a:rPr>
              <a:t>Panjang, struktur, dan bahasa output.</a:t>
            </a:r>
            <a:endParaRPr lang="en-US" sz="1200" dirty="0"/>
          </a:p>
        </p:txBody>
      </p:sp>
      <p:sp>
        <p:nvSpPr>
          <p:cNvPr id="29" name="Text 27"/>
          <p:cNvSpPr/>
          <p:nvPr/>
        </p:nvSpPr>
        <p:spPr>
          <a:xfrm>
            <a:off x="457200" y="4846320"/>
            <a:ext cx="8229600" cy="201168"/>
          </a:xfrm>
          <a:prstGeom prst="rect">
            <a:avLst/>
          </a:prstGeom>
          <a:noFill/>
          <a:ln/>
        </p:spPr>
        <p:txBody>
          <a:bodyPr wrap="square" lIns="0" tIns="0" rIns="0" bIns="0" rtlCol="0" anchor="ctr"/>
          <a:lstStyle/>
          <a:p>
            <a:pPr indent="0" marL="0">
              <a:buNone/>
            </a:pPr>
            <a:r>
              <a:rPr lang="en-US" sz="900" dirty="0">
                <a:solidFill>
                  <a:srgbClr val="505070"/>
                </a:solidFill>
                <a:latin typeface="Calibri" pitchFamily="34" charset="0"/>
                <a:ea typeface="Calibri" pitchFamily="34" charset="-122"/>
                <a:cs typeface="Calibri" pitchFamily="34" charset="-120"/>
              </a:rPr>
              <a:t>belajarclaude  ·  K2 Produktivitas Kantor</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5F4FF"/>
          </a:solidFill>
          <a:ln w="12700">
            <a:solidFill>
              <a:srgbClr val="F5F4FF"/>
            </a:solidFill>
            <a:prstDash val="solid"/>
          </a:ln>
        </p:spPr>
      </p:sp>
      <p:sp>
        <p:nvSpPr>
          <p:cNvPr id="3" name="Text 1"/>
          <p:cNvSpPr/>
          <p:nvPr/>
        </p:nvSpPr>
        <p:spPr>
          <a:xfrm>
            <a:off x="502920" y="182880"/>
            <a:ext cx="4572000" cy="237744"/>
          </a:xfrm>
          <a:prstGeom prst="rect">
            <a:avLst/>
          </a:prstGeom>
          <a:noFill/>
          <a:ln/>
        </p:spPr>
        <p:txBody>
          <a:bodyPr wrap="square" lIns="0" tIns="0" rIns="0" bIns="0" rtlCol="0" anchor="ctr"/>
          <a:lstStyle/>
          <a:p>
            <a:pPr indent="0" marL="0">
              <a:buNone/>
            </a:pPr>
            <a:r>
              <a:rPr lang="en-US" sz="900" b="1" spc="150" kern="0" dirty="0">
                <a:solidFill>
                  <a:srgbClr val="6849F6"/>
                </a:solidFill>
                <a:latin typeface="Calibri" pitchFamily="34" charset="0"/>
                <a:ea typeface="Calibri" pitchFamily="34" charset="-122"/>
                <a:cs typeface="Calibri" pitchFamily="34" charset="-120"/>
              </a:rPr>
              <a:t>MODUL 01  ·  ROLE PROMPTING</a:t>
            </a:r>
            <a:endParaRPr lang="en-US" sz="900" dirty="0"/>
          </a:p>
        </p:txBody>
      </p:sp>
      <p:sp>
        <p:nvSpPr>
          <p:cNvPr id="4" name="Text 2"/>
          <p:cNvSpPr/>
          <p:nvPr/>
        </p:nvSpPr>
        <p:spPr>
          <a:xfrm>
            <a:off x="502920" y="475488"/>
            <a:ext cx="7315200" cy="347472"/>
          </a:xfrm>
          <a:prstGeom prst="rect">
            <a:avLst/>
          </a:prstGeom>
          <a:noFill/>
          <a:ln/>
        </p:spPr>
        <p:txBody>
          <a:bodyPr wrap="square" lIns="0" tIns="0" rIns="0" bIns="0" rtlCol="0" anchor="ctr"/>
          <a:lstStyle/>
          <a:p>
            <a:pPr indent="0" marL="0">
              <a:buNone/>
            </a:pPr>
            <a:r>
              <a:rPr lang="en-US" sz="2100" b="1" dirty="0">
                <a:solidFill>
                  <a:srgbClr val="1A1A2E"/>
                </a:solidFill>
                <a:latin typeface="Calibri" pitchFamily="34" charset="0"/>
                <a:ea typeface="Calibri" pitchFamily="34" charset="-122"/>
                <a:cs typeface="Calibri" pitchFamily="34" charset="-120"/>
              </a:rPr>
              <a:t>Seperti apa bedanya?</a:t>
            </a:r>
            <a:endParaRPr lang="en-US" sz="2100" dirty="0"/>
          </a:p>
        </p:txBody>
      </p:sp>
      <p:sp>
        <p:nvSpPr>
          <p:cNvPr id="5" name="Shape 3"/>
          <p:cNvSpPr/>
          <p:nvPr/>
        </p:nvSpPr>
        <p:spPr>
          <a:xfrm>
            <a:off x="457200" y="1005840"/>
            <a:ext cx="3840480" cy="3931920"/>
          </a:xfrm>
          <a:prstGeom prst="roundRect">
            <a:avLst>
              <a:gd name="adj" fmla="val 3333"/>
            </a:avLst>
          </a:prstGeom>
          <a:solidFill>
            <a:srgbClr val="FEF2F2"/>
          </a:solidFill>
          <a:ln w="19050">
            <a:solidFill>
              <a:srgbClr val="FECACA"/>
            </a:solidFill>
            <a:prstDash val="solid"/>
          </a:ln>
        </p:spPr>
      </p:sp>
      <p:sp>
        <p:nvSpPr>
          <p:cNvPr id="6" name="Text 4"/>
          <p:cNvSpPr/>
          <p:nvPr/>
        </p:nvSpPr>
        <p:spPr>
          <a:xfrm>
            <a:off x="658368" y="1143000"/>
            <a:ext cx="3438144" cy="292608"/>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PROMPT BURUK</a:t>
            </a:r>
            <a:endParaRPr lang="en-US" sz="1100" dirty="0"/>
          </a:p>
        </p:txBody>
      </p:sp>
      <p:sp>
        <p:nvSpPr>
          <p:cNvPr id="7" name="Shape 5"/>
          <p:cNvSpPr/>
          <p:nvPr/>
        </p:nvSpPr>
        <p:spPr>
          <a:xfrm>
            <a:off x="658368" y="1499616"/>
            <a:ext cx="3438144" cy="685800"/>
          </a:xfrm>
          <a:prstGeom prst="roundRect">
            <a:avLst>
              <a:gd name="adj" fmla="val 10667"/>
            </a:avLst>
          </a:prstGeom>
          <a:solidFill>
            <a:srgbClr val="FEE2E2"/>
          </a:solidFill>
          <a:ln w="12700">
            <a:solidFill>
              <a:srgbClr val="FCA5A5"/>
            </a:solidFill>
            <a:prstDash val="solid"/>
          </a:ln>
        </p:spPr>
      </p:sp>
      <p:sp>
        <p:nvSpPr>
          <p:cNvPr id="8" name="Text 6"/>
          <p:cNvSpPr/>
          <p:nvPr/>
        </p:nvSpPr>
        <p:spPr>
          <a:xfrm>
            <a:off x="731520" y="1517904"/>
            <a:ext cx="3291840" cy="649224"/>
          </a:xfrm>
          <a:prstGeom prst="rect">
            <a:avLst/>
          </a:prstGeom>
          <a:noFill/>
          <a:ln/>
        </p:spPr>
        <p:txBody>
          <a:bodyPr wrap="square" lIns="0" tIns="0" rIns="0" bIns="0" rtlCol="0" anchor="ctr"/>
          <a:lstStyle/>
          <a:p>
            <a:pPr indent="0" marL="0">
              <a:buNone/>
            </a:pPr>
            <a:r>
              <a:rPr lang="en-US" sz="1300" i="1" dirty="0">
                <a:solidFill>
                  <a:srgbClr val="DC2626"/>
                </a:solidFill>
                <a:latin typeface="Calibri" pitchFamily="34" charset="0"/>
                <a:ea typeface="Calibri" pitchFamily="34" charset="-122"/>
                <a:cs typeface="Calibri" pitchFamily="34" charset="-120"/>
              </a:rPr>
              <a:t>"Tolong bantu saya buat email"</a:t>
            </a:r>
            <a:endParaRPr lang="en-US" sz="1300" dirty="0"/>
          </a:p>
        </p:txBody>
      </p:sp>
      <p:sp>
        <p:nvSpPr>
          <p:cNvPr id="9" name="Text 7"/>
          <p:cNvSpPr/>
          <p:nvPr/>
        </p:nvSpPr>
        <p:spPr>
          <a:xfrm>
            <a:off x="658368" y="2258568"/>
            <a:ext cx="3438144" cy="256032"/>
          </a:xfrm>
          <a:prstGeom prst="rect">
            <a:avLst/>
          </a:prstGeom>
          <a:noFill/>
          <a:ln/>
        </p:spPr>
        <p:txBody>
          <a:bodyPr wrap="square" lIns="0" tIns="0" rIns="0" bIns="0" rtlCol="0" anchor="ctr"/>
          <a:lstStyle/>
          <a:p>
            <a:pPr indent="0" marL="0">
              <a:buNone/>
            </a:pPr>
            <a:r>
              <a:rPr lang="en-US" sz="1100" b="1" dirty="0">
                <a:solidFill>
                  <a:srgbClr val="7F1D1D"/>
                </a:solidFill>
                <a:latin typeface="Calibri" pitchFamily="34" charset="0"/>
                <a:ea typeface="Calibri" pitchFamily="34" charset="-122"/>
                <a:cs typeface="Calibri" pitchFamily="34" charset="-120"/>
              </a:rPr>
              <a:t>Yang tidak ada dalam prompt ini:</a:t>
            </a:r>
            <a:endParaRPr lang="en-US" sz="1100" dirty="0"/>
          </a:p>
        </p:txBody>
      </p:sp>
      <p:sp>
        <p:nvSpPr>
          <p:cNvPr id="10" name="Shape 8"/>
          <p:cNvSpPr/>
          <p:nvPr/>
        </p:nvSpPr>
        <p:spPr>
          <a:xfrm>
            <a:off x="658368" y="2578608"/>
            <a:ext cx="146304" cy="146304"/>
          </a:xfrm>
          <a:prstGeom prst="ellipse">
            <a:avLst/>
          </a:prstGeom>
          <a:solidFill>
            <a:srgbClr val="DC2626"/>
          </a:solidFill>
          <a:ln w="12700">
            <a:solidFill>
              <a:srgbClr val="DC2626"/>
            </a:solidFill>
            <a:prstDash val="solid"/>
          </a:ln>
        </p:spPr>
      </p:sp>
      <p:sp>
        <p:nvSpPr>
          <p:cNvPr id="11" name="Text 9"/>
          <p:cNvSpPr/>
          <p:nvPr/>
        </p:nvSpPr>
        <p:spPr>
          <a:xfrm>
            <a:off x="877824" y="2542032"/>
            <a:ext cx="3145536" cy="256032"/>
          </a:xfrm>
          <a:prstGeom prst="rect">
            <a:avLst/>
          </a:prstGeom>
          <a:noFill/>
          <a:ln/>
        </p:spPr>
        <p:txBody>
          <a:bodyPr wrap="square" lIns="0" tIns="0" rIns="0" bIns="0" rtlCol="0" anchor="ctr"/>
          <a:lstStyle/>
          <a:p>
            <a:pPr indent="0" marL="0">
              <a:buNone/>
            </a:pPr>
            <a:r>
              <a:rPr lang="en-US" sz="1100" dirty="0">
                <a:solidFill>
                  <a:srgbClr val="991B1B"/>
                </a:solidFill>
                <a:latin typeface="Calibri" pitchFamily="34" charset="0"/>
                <a:ea typeface="Calibri" pitchFamily="34" charset="-122"/>
                <a:cs typeface="Calibri" pitchFamily="34" charset="-120"/>
              </a:rPr>
              <a:t>Role — Claude tidak tahu harus jadi siapa</a:t>
            </a:r>
            <a:endParaRPr lang="en-US" sz="1100" dirty="0"/>
          </a:p>
        </p:txBody>
      </p:sp>
      <p:sp>
        <p:nvSpPr>
          <p:cNvPr id="12" name="Shape 10"/>
          <p:cNvSpPr/>
          <p:nvPr/>
        </p:nvSpPr>
        <p:spPr>
          <a:xfrm>
            <a:off x="658368" y="2871216"/>
            <a:ext cx="146304" cy="146304"/>
          </a:xfrm>
          <a:prstGeom prst="ellipse">
            <a:avLst/>
          </a:prstGeom>
          <a:solidFill>
            <a:srgbClr val="DC2626"/>
          </a:solidFill>
          <a:ln w="12700">
            <a:solidFill>
              <a:srgbClr val="DC2626"/>
            </a:solidFill>
            <a:prstDash val="solid"/>
          </a:ln>
        </p:spPr>
      </p:sp>
      <p:sp>
        <p:nvSpPr>
          <p:cNvPr id="13" name="Text 11"/>
          <p:cNvSpPr/>
          <p:nvPr/>
        </p:nvSpPr>
        <p:spPr>
          <a:xfrm>
            <a:off x="877824" y="2834640"/>
            <a:ext cx="3145536" cy="256032"/>
          </a:xfrm>
          <a:prstGeom prst="rect">
            <a:avLst/>
          </a:prstGeom>
          <a:noFill/>
          <a:ln/>
        </p:spPr>
        <p:txBody>
          <a:bodyPr wrap="square" lIns="0" tIns="0" rIns="0" bIns="0" rtlCol="0" anchor="ctr"/>
          <a:lstStyle/>
          <a:p>
            <a:pPr indent="0" marL="0">
              <a:buNone/>
            </a:pPr>
            <a:r>
              <a:rPr lang="en-US" sz="1100" dirty="0">
                <a:solidFill>
                  <a:srgbClr val="991B1B"/>
                </a:solidFill>
                <a:latin typeface="Calibri" pitchFamily="34" charset="0"/>
                <a:ea typeface="Calibri" pitchFamily="34" charset="-122"/>
                <a:cs typeface="Calibri" pitchFamily="34" charset="-120"/>
              </a:rPr>
              <a:t>Penerima — siapa yang baca email ini?</a:t>
            </a:r>
            <a:endParaRPr lang="en-US" sz="1100" dirty="0"/>
          </a:p>
        </p:txBody>
      </p:sp>
      <p:sp>
        <p:nvSpPr>
          <p:cNvPr id="14" name="Shape 12"/>
          <p:cNvSpPr/>
          <p:nvPr/>
        </p:nvSpPr>
        <p:spPr>
          <a:xfrm>
            <a:off x="658368" y="3163824"/>
            <a:ext cx="146304" cy="146304"/>
          </a:xfrm>
          <a:prstGeom prst="ellipse">
            <a:avLst/>
          </a:prstGeom>
          <a:solidFill>
            <a:srgbClr val="DC2626"/>
          </a:solidFill>
          <a:ln w="12700">
            <a:solidFill>
              <a:srgbClr val="DC2626"/>
            </a:solidFill>
            <a:prstDash val="solid"/>
          </a:ln>
        </p:spPr>
      </p:sp>
      <p:sp>
        <p:nvSpPr>
          <p:cNvPr id="15" name="Text 13"/>
          <p:cNvSpPr/>
          <p:nvPr/>
        </p:nvSpPr>
        <p:spPr>
          <a:xfrm>
            <a:off x="877824" y="3127248"/>
            <a:ext cx="3145536" cy="256032"/>
          </a:xfrm>
          <a:prstGeom prst="rect">
            <a:avLst/>
          </a:prstGeom>
          <a:noFill/>
          <a:ln/>
        </p:spPr>
        <p:txBody>
          <a:bodyPr wrap="square" lIns="0" tIns="0" rIns="0" bIns="0" rtlCol="0" anchor="ctr"/>
          <a:lstStyle/>
          <a:p>
            <a:pPr indent="0" marL="0">
              <a:buNone/>
            </a:pPr>
            <a:r>
              <a:rPr lang="en-US" sz="1100" dirty="0">
                <a:solidFill>
                  <a:srgbClr val="991B1B"/>
                </a:solidFill>
                <a:latin typeface="Calibri" pitchFamily="34" charset="0"/>
                <a:ea typeface="Calibri" pitchFamily="34" charset="-122"/>
                <a:cs typeface="Calibri" pitchFamily="34" charset="-120"/>
              </a:rPr>
              <a:t>Tujuan — konfirmasi, komplain, penawaran?</a:t>
            </a:r>
            <a:endParaRPr lang="en-US" sz="1100" dirty="0"/>
          </a:p>
        </p:txBody>
      </p:sp>
      <p:sp>
        <p:nvSpPr>
          <p:cNvPr id="16" name="Shape 14"/>
          <p:cNvSpPr/>
          <p:nvPr/>
        </p:nvSpPr>
        <p:spPr>
          <a:xfrm>
            <a:off x="658368" y="3456432"/>
            <a:ext cx="146304" cy="146304"/>
          </a:xfrm>
          <a:prstGeom prst="ellipse">
            <a:avLst/>
          </a:prstGeom>
          <a:solidFill>
            <a:srgbClr val="DC2626"/>
          </a:solidFill>
          <a:ln w="12700">
            <a:solidFill>
              <a:srgbClr val="DC2626"/>
            </a:solidFill>
            <a:prstDash val="solid"/>
          </a:ln>
        </p:spPr>
      </p:sp>
      <p:sp>
        <p:nvSpPr>
          <p:cNvPr id="17" name="Text 15"/>
          <p:cNvSpPr/>
          <p:nvPr/>
        </p:nvSpPr>
        <p:spPr>
          <a:xfrm>
            <a:off x="877824" y="3419856"/>
            <a:ext cx="3145536" cy="256032"/>
          </a:xfrm>
          <a:prstGeom prst="rect">
            <a:avLst/>
          </a:prstGeom>
          <a:noFill/>
          <a:ln/>
        </p:spPr>
        <p:txBody>
          <a:bodyPr wrap="square" lIns="0" tIns="0" rIns="0" bIns="0" rtlCol="0" anchor="ctr"/>
          <a:lstStyle/>
          <a:p>
            <a:pPr indent="0" marL="0">
              <a:buNone/>
            </a:pPr>
            <a:r>
              <a:rPr lang="en-US" sz="1100" dirty="0">
                <a:solidFill>
                  <a:srgbClr val="991B1B"/>
                </a:solidFill>
                <a:latin typeface="Calibri" pitchFamily="34" charset="0"/>
                <a:ea typeface="Calibri" pitchFamily="34" charset="-122"/>
                <a:cs typeface="Calibri" pitchFamily="34" charset="-120"/>
              </a:rPr>
              <a:t>Tone — formal, santai, empati?</a:t>
            </a:r>
            <a:endParaRPr lang="en-US" sz="1100" dirty="0"/>
          </a:p>
        </p:txBody>
      </p:sp>
      <p:sp>
        <p:nvSpPr>
          <p:cNvPr id="18" name="Shape 16"/>
          <p:cNvSpPr/>
          <p:nvPr/>
        </p:nvSpPr>
        <p:spPr>
          <a:xfrm>
            <a:off x="658368" y="3749040"/>
            <a:ext cx="146304" cy="146304"/>
          </a:xfrm>
          <a:prstGeom prst="ellipse">
            <a:avLst/>
          </a:prstGeom>
          <a:solidFill>
            <a:srgbClr val="DC2626"/>
          </a:solidFill>
          <a:ln w="12700">
            <a:solidFill>
              <a:srgbClr val="DC2626"/>
            </a:solidFill>
            <a:prstDash val="solid"/>
          </a:ln>
        </p:spPr>
      </p:sp>
      <p:sp>
        <p:nvSpPr>
          <p:cNvPr id="19" name="Text 17"/>
          <p:cNvSpPr/>
          <p:nvPr/>
        </p:nvSpPr>
        <p:spPr>
          <a:xfrm>
            <a:off x="877824" y="3712464"/>
            <a:ext cx="3145536" cy="256032"/>
          </a:xfrm>
          <a:prstGeom prst="rect">
            <a:avLst/>
          </a:prstGeom>
          <a:noFill/>
          <a:ln/>
        </p:spPr>
        <p:txBody>
          <a:bodyPr wrap="square" lIns="0" tIns="0" rIns="0" bIns="0" rtlCol="0" anchor="ctr"/>
          <a:lstStyle/>
          <a:p>
            <a:pPr indent="0" marL="0">
              <a:buNone/>
            </a:pPr>
            <a:r>
              <a:rPr lang="en-US" sz="1100" dirty="0">
                <a:solidFill>
                  <a:srgbClr val="991B1B"/>
                </a:solidFill>
                <a:latin typeface="Calibri" pitchFamily="34" charset="0"/>
                <a:ea typeface="Calibri" pitchFamily="34" charset="-122"/>
                <a:cs typeface="Calibri" pitchFamily="34" charset="-120"/>
              </a:rPr>
              <a:t>Panjang — 3 kalimat atau 3 paragraf?</a:t>
            </a:r>
            <a:endParaRPr lang="en-US" sz="1100" dirty="0"/>
          </a:p>
        </p:txBody>
      </p:sp>
      <p:sp>
        <p:nvSpPr>
          <p:cNvPr id="20" name="Text 18"/>
          <p:cNvSpPr/>
          <p:nvPr/>
        </p:nvSpPr>
        <p:spPr>
          <a:xfrm>
            <a:off x="658368" y="4114800"/>
            <a:ext cx="3438144" cy="512064"/>
          </a:xfrm>
          <a:prstGeom prst="rect">
            <a:avLst/>
          </a:prstGeom>
          <a:noFill/>
          <a:ln/>
        </p:spPr>
        <p:txBody>
          <a:bodyPr wrap="square" lIns="0" tIns="0" rIns="0" bIns="0" rtlCol="0" anchor="ctr"/>
          <a:lstStyle/>
          <a:p>
            <a:pPr indent="0" marL="0">
              <a:buNone/>
            </a:pPr>
            <a:r>
              <a:rPr lang="en-US" sz="1100" i="1" dirty="0">
                <a:solidFill>
                  <a:srgbClr val="7F1D1D"/>
                </a:solidFill>
                <a:latin typeface="Calibri" pitchFamily="34" charset="0"/>
                <a:ea typeface="Calibri" pitchFamily="34" charset="-122"/>
                <a:cs typeface="Calibri" pitchFamily="34" charset="-120"/>
              </a:rPr>
              <a:t>Hasil: template generik yang perlu banyak diedit.</a:t>
            </a:r>
            <a:endParaRPr lang="en-US" sz="1100" dirty="0"/>
          </a:p>
        </p:txBody>
      </p:sp>
      <p:sp>
        <p:nvSpPr>
          <p:cNvPr id="21" name="Shape 19"/>
          <p:cNvSpPr/>
          <p:nvPr/>
        </p:nvSpPr>
        <p:spPr>
          <a:xfrm>
            <a:off x="4846320" y="1005840"/>
            <a:ext cx="3840480" cy="3931920"/>
          </a:xfrm>
          <a:prstGeom prst="roundRect">
            <a:avLst>
              <a:gd name="adj" fmla="val 3333"/>
            </a:avLst>
          </a:prstGeom>
          <a:solidFill>
            <a:srgbClr val="ECFDF5"/>
          </a:solidFill>
          <a:ln w="19050">
            <a:solidFill>
              <a:srgbClr val="BBF7D0"/>
            </a:solidFill>
            <a:prstDash val="solid"/>
          </a:ln>
        </p:spPr>
      </p:sp>
      <p:sp>
        <p:nvSpPr>
          <p:cNvPr id="22" name="Text 20"/>
          <p:cNvSpPr/>
          <p:nvPr/>
        </p:nvSpPr>
        <p:spPr>
          <a:xfrm>
            <a:off x="5029200" y="1143000"/>
            <a:ext cx="3438144" cy="292608"/>
          </a:xfrm>
          <a:prstGeom prst="rect">
            <a:avLst/>
          </a:prstGeom>
          <a:noFill/>
          <a:ln/>
        </p:spPr>
        <p:txBody>
          <a:bodyPr wrap="square" lIns="0" tIns="0" rIns="0" bIns="0"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PROMPT BAIK</a:t>
            </a:r>
            <a:endParaRPr lang="en-US" sz="1100" dirty="0"/>
          </a:p>
        </p:txBody>
      </p:sp>
      <p:sp>
        <p:nvSpPr>
          <p:cNvPr id="23" name="Shape 21"/>
          <p:cNvSpPr/>
          <p:nvPr/>
        </p:nvSpPr>
        <p:spPr>
          <a:xfrm>
            <a:off x="5029200" y="1499616"/>
            <a:ext cx="3438144" cy="1417320"/>
          </a:xfrm>
          <a:prstGeom prst="roundRect">
            <a:avLst>
              <a:gd name="adj" fmla="val 5161"/>
            </a:avLst>
          </a:prstGeom>
          <a:solidFill>
            <a:srgbClr val="DCFCE7"/>
          </a:solidFill>
          <a:ln w="12700">
            <a:solidFill>
              <a:srgbClr val="86EFAC"/>
            </a:solidFill>
            <a:prstDash val="solid"/>
          </a:ln>
        </p:spPr>
      </p:sp>
      <p:sp>
        <p:nvSpPr>
          <p:cNvPr id="24" name="Text 22"/>
          <p:cNvSpPr/>
          <p:nvPr/>
        </p:nvSpPr>
        <p:spPr>
          <a:xfrm>
            <a:off x="5102352" y="1517904"/>
            <a:ext cx="3291840" cy="1380744"/>
          </a:xfrm>
          <a:prstGeom prst="rect">
            <a:avLst/>
          </a:prstGeom>
          <a:noFill/>
          <a:ln/>
        </p:spPr>
        <p:txBody>
          <a:bodyPr wrap="square" lIns="0" tIns="0" rIns="0" bIns="0" rtlCol="0" anchor="ctr"/>
          <a:lstStyle/>
          <a:p>
            <a:pPr indent="0" marL="0">
              <a:buNone/>
            </a:pPr>
            <a:r>
              <a:rPr lang="en-US" sz="1050" i="1" dirty="0">
                <a:solidFill>
                  <a:srgbClr val="166534"/>
                </a:solidFill>
                <a:latin typeface="Calibri" pitchFamily="34" charset="0"/>
                <a:ea typeface="Calibri" pitchFamily="34" charset="-122"/>
                <a:cs typeface="Calibri" pitchFamily="34" charset="-120"/>
              </a:rPr>
              <a:t>"Kamu adalah manajer komunikasi. Saya perlu balas email klien yang komplain soal keterlambatan. Tulis balasan empati, akui masalah, beri solusi, dan ajak call 30 menit. Maks 150 kata, bahasa Indonesia formal."</a:t>
            </a:r>
            <a:endParaRPr lang="en-US" sz="1050" dirty="0"/>
          </a:p>
        </p:txBody>
      </p:sp>
      <p:sp>
        <p:nvSpPr>
          <p:cNvPr id="25" name="Text 23"/>
          <p:cNvSpPr/>
          <p:nvPr/>
        </p:nvSpPr>
        <p:spPr>
          <a:xfrm>
            <a:off x="5029200" y="2990088"/>
            <a:ext cx="3438144" cy="256032"/>
          </a:xfrm>
          <a:prstGeom prst="rect">
            <a:avLst/>
          </a:prstGeom>
          <a:noFill/>
          <a:ln/>
        </p:spPr>
        <p:txBody>
          <a:bodyPr wrap="square" lIns="0" tIns="0" rIns="0" bIns="0" rtlCol="0" anchor="ctr"/>
          <a:lstStyle/>
          <a:p>
            <a:pPr indent="0" marL="0">
              <a:buNone/>
            </a:pPr>
            <a:r>
              <a:rPr lang="en-US" sz="1100" b="1" dirty="0">
                <a:solidFill>
                  <a:srgbClr val="14532D"/>
                </a:solidFill>
                <a:latin typeface="Calibri" pitchFamily="34" charset="0"/>
                <a:ea typeface="Calibri" pitchFamily="34" charset="-122"/>
                <a:cs typeface="Calibri" pitchFamily="34" charset="-120"/>
              </a:rPr>
              <a:t>4 elemen terpenuhi:</a:t>
            </a:r>
            <a:endParaRPr lang="en-US" sz="1100" dirty="0"/>
          </a:p>
        </p:txBody>
      </p:sp>
      <p:sp>
        <p:nvSpPr>
          <p:cNvPr id="26" name="Shape 24"/>
          <p:cNvSpPr/>
          <p:nvPr/>
        </p:nvSpPr>
        <p:spPr>
          <a:xfrm>
            <a:off x="5029200" y="3310128"/>
            <a:ext cx="146304" cy="146304"/>
          </a:xfrm>
          <a:prstGeom prst="ellipse">
            <a:avLst/>
          </a:prstGeom>
          <a:solidFill>
            <a:srgbClr val="16A34A"/>
          </a:solidFill>
          <a:ln w="12700">
            <a:solidFill>
              <a:srgbClr val="16A34A"/>
            </a:solidFill>
            <a:prstDash val="solid"/>
          </a:ln>
        </p:spPr>
      </p:sp>
      <p:sp>
        <p:nvSpPr>
          <p:cNvPr id="27" name="Text 25"/>
          <p:cNvSpPr/>
          <p:nvPr/>
        </p:nvSpPr>
        <p:spPr>
          <a:xfrm>
            <a:off x="5248656" y="3273552"/>
            <a:ext cx="3145536" cy="256032"/>
          </a:xfrm>
          <a:prstGeom prst="rect">
            <a:avLst/>
          </a:prstGeom>
          <a:noFill/>
          <a:ln/>
        </p:spPr>
        <p:txBody>
          <a:bodyPr wrap="square" lIns="0" tIns="0" rIns="0" bIns="0" rtlCol="0" anchor="ctr"/>
          <a:lstStyle/>
          <a:p>
            <a:pPr indent="0" marL="0">
              <a:buNone/>
            </a:pPr>
            <a:r>
              <a:rPr lang="en-US" sz="1100" dirty="0">
                <a:solidFill>
                  <a:srgbClr val="14532D"/>
                </a:solidFill>
                <a:latin typeface="Calibri" pitchFamily="34" charset="0"/>
                <a:ea typeface="Calibri" pitchFamily="34" charset="-122"/>
                <a:cs typeface="Calibri" pitchFamily="34" charset="-120"/>
              </a:rPr>
              <a:t>Role — 'manajer komunikasi'</a:t>
            </a:r>
            <a:endParaRPr lang="en-US" sz="1100" dirty="0"/>
          </a:p>
        </p:txBody>
      </p:sp>
      <p:sp>
        <p:nvSpPr>
          <p:cNvPr id="28" name="Shape 26"/>
          <p:cNvSpPr/>
          <p:nvPr/>
        </p:nvSpPr>
        <p:spPr>
          <a:xfrm>
            <a:off x="5029200" y="3602736"/>
            <a:ext cx="146304" cy="146304"/>
          </a:xfrm>
          <a:prstGeom prst="ellipse">
            <a:avLst/>
          </a:prstGeom>
          <a:solidFill>
            <a:srgbClr val="16A34A"/>
          </a:solidFill>
          <a:ln w="12700">
            <a:solidFill>
              <a:srgbClr val="16A34A"/>
            </a:solidFill>
            <a:prstDash val="solid"/>
          </a:ln>
        </p:spPr>
      </p:sp>
      <p:sp>
        <p:nvSpPr>
          <p:cNvPr id="29" name="Text 27"/>
          <p:cNvSpPr/>
          <p:nvPr/>
        </p:nvSpPr>
        <p:spPr>
          <a:xfrm>
            <a:off x="5248656" y="3566160"/>
            <a:ext cx="3145536" cy="256032"/>
          </a:xfrm>
          <a:prstGeom prst="rect">
            <a:avLst/>
          </a:prstGeom>
          <a:noFill/>
          <a:ln/>
        </p:spPr>
        <p:txBody>
          <a:bodyPr wrap="square" lIns="0" tIns="0" rIns="0" bIns="0" rtlCol="0" anchor="ctr"/>
          <a:lstStyle/>
          <a:p>
            <a:pPr indent="0" marL="0">
              <a:buNone/>
            </a:pPr>
            <a:r>
              <a:rPr lang="en-US" sz="1100" dirty="0">
                <a:solidFill>
                  <a:srgbClr val="14532D"/>
                </a:solidFill>
                <a:latin typeface="Calibri" pitchFamily="34" charset="0"/>
                <a:ea typeface="Calibri" pitchFamily="34" charset="-122"/>
                <a:cs typeface="Calibri" pitchFamily="34" charset="-120"/>
              </a:rPr>
              <a:t>Konteks — email klien komplain keterlambatan</a:t>
            </a:r>
            <a:endParaRPr lang="en-US" sz="1100" dirty="0"/>
          </a:p>
        </p:txBody>
      </p:sp>
      <p:sp>
        <p:nvSpPr>
          <p:cNvPr id="30" name="Shape 28"/>
          <p:cNvSpPr/>
          <p:nvPr/>
        </p:nvSpPr>
        <p:spPr>
          <a:xfrm>
            <a:off x="5029200" y="3895344"/>
            <a:ext cx="146304" cy="146304"/>
          </a:xfrm>
          <a:prstGeom prst="ellipse">
            <a:avLst/>
          </a:prstGeom>
          <a:solidFill>
            <a:srgbClr val="16A34A"/>
          </a:solidFill>
          <a:ln w="12700">
            <a:solidFill>
              <a:srgbClr val="16A34A"/>
            </a:solidFill>
            <a:prstDash val="solid"/>
          </a:ln>
        </p:spPr>
      </p:sp>
      <p:sp>
        <p:nvSpPr>
          <p:cNvPr id="31" name="Text 29"/>
          <p:cNvSpPr/>
          <p:nvPr/>
        </p:nvSpPr>
        <p:spPr>
          <a:xfrm>
            <a:off x="5248656" y="3858768"/>
            <a:ext cx="3145536" cy="256032"/>
          </a:xfrm>
          <a:prstGeom prst="rect">
            <a:avLst/>
          </a:prstGeom>
          <a:noFill/>
          <a:ln/>
        </p:spPr>
        <p:txBody>
          <a:bodyPr wrap="square" lIns="0" tIns="0" rIns="0" bIns="0" rtlCol="0" anchor="ctr"/>
          <a:lstStyle/>
          <a:p>
            <a:pPr indent="0" marL="0">
              <a:buNone/>
            </a:pPr>
            <a:r>
              <a:rPr lang="en-US" sz="1100" dirty="0">
                <a:solidFill>
                  <a:srgbClr val="14532D"/>
                </a:solidFill>
                <a:latin typeface="Calibri" pitchFamily="34" charset="0"/>
                <a:ea typeface="Calibri" pitchFamily="34" charset="-122"/>
                <a:cs typeface="Calibri" pitchFamily="34" charset="-120"/>
              </a:rPr>
              <a:t>Tugas — balas dengan empati + solusi + CTA</a:t>
            </a:r>
            <a:endParaRPr lang="en-US" sz="1100" dirty="0"/>
          </a:p>
        </p:txBody>
      </p:sp>
      <p:sp>
        <p:nvSpPr>
          <p:cNvPr id="32" name="Shape 30"/>
          <p:cNvSpPr/>
          <p:nvPr/>
        </p:nvSpPr>
        <p:spPr>
          <a:xfrm>
            <a:off x="5029200" y="4187952"/>
            <a:ext cx="146304" cy="146304"/>
          </a:xfrm>
          <a:prstGeom prst="ellipse">
            <a:avLst/>
          </a:prstGeom>
          <a:solidFill>
            <a:srgbClr val="16A34A"/>
          </a:solidFill>
          <a:ln w="12700">
            <a:solidFill>
              <a:srgbClr val="16A34A"/>
            </a:solidFill>
            <a:prstDash val="solid"/>
          </a:ln>
        </p:spPr>
      </p:sp>
      <p:sp>
        <p:nvSpPr>
          <p:cNvPr id="33" name="Text 31"/>
          <p:cNvSpPr/>
          <p:nvPr/>
        </p:nvSpPr>
        <p:spPr>
          <a:xfrm>
            <a:off x="5248656" y="4151376"/>
            <a:ext cx="3145536" cy="256032"/>
          </a:xfrm>
          <a:prstGeom prst="rect">
            <a:avLst/>
          </a:prstGeom>
          <a:noFill/>
          <a:ln/>
        </p:spPr>
        <p:txBody>
          <a:bodyPr wrap="square" lIns="0" tIns="0" rIns="0" bIns="0" rtlCol="0" anchor="ctr"/>
          <a:lstStyle/>
          <a:p>
            <a:pPr indent="0" marL="0">
              <a:buNone/>
            </a:pPr>
            <a:r>
              <a:rPr lang="en-US" sz="1100" dirty="0">
                <a:solidFill>
                  <a:srgbClr val="14532D"/>
                </a:solidFill>
                <a:latin typeface="Calibri" pitchFamily="34" charset="0"/>
                <a:ea typeface="Calibri" pitchFamily="34" charset="-122"/>
                <a:cs typeface="Calibri" pitchFamily="34" charset="-120"/>
              </a:rPr>
              <a:t>Format — maks 150 kata, formal</a:t>
            </a:r>
            <a:endParaRPr lang="en-US" sz="1100" dirty="0"/>
          </a:p>
        </p:txBody>
      </p:sp>
      <p:sp>
        <p:nvSpPr>
          <p:cNvPr id="34" name="Text 32"/>
          <p:cNvSpPr/>
          <p:nvPr/>
        </p:nvSpPr>
        <p:spPr>
          <a:xfrm>
            <a:off x="5029200" y="4498848"/>
            <a:ext cx="3438144" cy="292608"/>
          </a:xfrm>
          <a:prstGeom prst="rect">
            <a:avLst/>
          </a:prstGeom>
          <a:noFill/>
          <a:ln/>
        </p:spPr>
        <p:txBody>
          <a:bodyPr wrap="square" lIns="0" tIns="0" rIns="0" bIns="0" rtlCol="0" anchor="ctr"/>
          <a:lstStyle/>
          <a:p>
            <a:pPr indent="0" marL="0">
              <a:buNone/>
            </a:pPr>
            <a:r>
              <a:rPr lang="en-US" sz="1100" b="1" dirty="0">
                <a:solidFill>
                  <a:srgbClr val="16A34A"/>
                </a:solidFill>
                <a:latin typeface="Calibri" pitchFamily="34" charset="0"/>
                <a:ea typeface="Calibri" pitchFamily="34" charset="-122"/>
                <a:cs typeface="Calibri" pitchFamily="34" charset="-120"/>
              </a:rPr>
              <a:t>Hasil: draft siap kirim dalam 10 detik.</a:t>
            </a:r>
            <a:endParaRPr lang="en-US" sz="1100" dirty="0"/>
          </a:p>
        </p:txBody>
      </p:sp>
      <p:sp>
        <p:nvSpPr>
          <p:cNvPr id="35" name="Shape 33"/>
          <p:cNvSpPr/>
          <p:nvPr/>
        </p:nvSpPr>
        <p:spPr>
          <a:xfrm>
            <a:off x="4206240" y="2194560"/>
            <a:ext cx="731520" cy="731520"/>
          </a:xfrm>
          <a:prstGeom prst="ellipse">
            <a:avLst/>
          </a:prstGeom>
          <a:solidFill>
            <a:srgbClr val="0D1321"/>
          </a:solidFill>
          <a:ln w="12700">
            <a:solidFill>
              <a:srgbClr val="0D1321"/>
            </a:solidFill>
            <a:prstDash val="solid"/>
          </a:ln>
        </p:spPr>
      </p:sp>
      <p:sp>
        <p:nvSpPr>
          <p:cNvPr id="36" name="Text 34"/>
          <p:cNvSpPr/>
          <p:nvPr/>
        </p:nvSpPr>
        <p:spPr>
          <a:xfrm>
            <a:off x="4206240" y="2194560"/>
            <a:ext cx="731520" cy="731520"/>
          </a:xfrm>
          <a:prstGeom prst="rect">
            <a:avLst/>
          </a:prstGeom>
          <a:noFill/>
          <a:ln/>
        </p:spPr>
        <p:txBody>
          <a:bodyPr wrap="square" lIns="0" tIns="0" rIns="0" bIns="0" rtlCol="0" anchor="ctr"/>
          <a:lstStyle/>
          <a:p>
            <a:pPr algn="ctr" indent="0" marL="0">
              <a:buNone/>
            </a:pPr>
            <a:r>
              <a:rPr lang="en-US" sz="1300" b="1" dirty="0">
                <a:solidFill>
                  <a:srgbClr val="FFFFFF"/>
                </a:solidFill>
              </a:rPr>
              <a:t>VS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9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6849F6"/>
          </a:solidFill>
          <a:ln w="12700">
            <a:solidFill>
              <a:srgbClr val="6849F6"/>
            </a:solidFill>
            <a:prstDash val="solid"/>
          </a:ln>
        </p:spPr>
      </p:sp>
      <p:sp>
        <p:nvSpPr>
          <p:cNvPr id="3" name="Text 1"/>
          <p:cNvSpPr/>
          <p:nvPr/>
        </p:nvSpPr>
        <p:spPr>
          <a:xfrm>
            <a:off x="502920" y="182880"/>
            <a:ext cx="4572000" cy="237744"/>
          </a:xfrm>
          <a:prstGeom prst="rect">
            <a:avLst/>
          </a:prstGeom>
          <a:noFill/>
          <a:ln/>
        </p:spPr>
        <p:txBody>
          <a:bodyPr wrap="square" lIns="0" tIns="0" rIns="0" bIns="0" rtlCol="0" anchor="ctr"/>
          <a:lstStyle/>
          <a:p>
            <a:pPr indent="0" marL="0">
              <a:buNone/>
            </a:pPr>
            <a:r>
              <a:rPr lang="en-US" sz="900" b="1" spc="150" kern="0" dirty="0">
                <a:solidFill>
                  <a:srgbClr val="C4B5FD"/>
                </a:solidFill>
                <a:latin typeface="Calibri" pitchFamily="34" charset="0"/>
                <a:ea typeface="Calibri" pitchFamily="34" charset="-122"/>
                <a:cs typeface="Calibri" pitchFamily="34" charset="-120"/>
              </a:rPr>
              <a:t>MODUL 01  ·  LATIHAN</a:t>
            </a:r>
            <a:endParaRPr lang="en-US" sz="900" dirty="0"/>
          </a:p>
        </p:txBody>
      </p:sp>
      <p:sp>
        <p:nvSpPr>
          <p:cNvPr id="4" name="Text 2"/>
          <p:cNvSpPr/>
          <p:nvPr/>
        </p:nvSpPr>
        <p:spPr>
          <a:xfrm>
            <a:off x="502920" y="475488"/>
            <a:ext cx="7772400" cy="347472"/>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Exercise: Tulis Promptmu Sendiri</a:t>
            </a:r>
            <a:endParaRPr lang="en-US" sz="2100" dirty="0"/>
          </a:p>
        </p:txBody>
      </p:sp>
      <p:sp>
        <p:nvSpPr>
          <p:cNvPr id="5" name="Shape 3"/>
          <p:cNvSpPr/>
          <p:nvPr/>
        </p:nvSpPr>
        <p:spPr>
          <a:xfrm>
            <a:off x="457200" y="1051560"/>
            <a:ext cx="2606040" cy="3108960"/>
          </a:xfrm>
          <a:prstGeom prst="roundRect">
            <a:avLst>
              <a:gd name="adj" fmla="val 4912"/>
            </a:avLst>
          </a:prstGeom>
          <a:solidFill>
            <a:srgbClr val="FFFFFF"/>
          </a:solidFill>
          <a:ln w="12700">
            <a:solidFill>
              <a:srgbClr val="DDD6FE"/>
            </a:solidFill>
            <a:prstDash val="solid"/>
          </a:ln>
          <a:effectLst>
            <a:outerShdw sx="100000" sy="100000" kx="0" ky="0" algn="bl" rotWithShape="0" blurRad="101600" dist="38100" dir="2700000">
              <a:srgbClr val="000000">
                <a:alpha val="10000"/>
              </a:srgbClr>
            </a:outerShdw>
          </a:effectLst>
        </p:spPr>
      </p:sp>
      <p:sp>
        <p:nvSpPr>
          <p:cNvPr id="6" name="Shape 4"/>
          <p:cNvSpPr/>
          <p:nvPr/>
        </p:nvSpPr>
        <p:spPr>
          <a:xfrm>
            <a:off x="640080" y="1188720"/>
            <a:ext cx="457200" cy="457200"/>
          </a:xfrm>
          <a:prstGeom prst="ellipse">
            <a:avLst/>
          </a:prstGeom>
          <a:solidFill>
            <a:srgbClr val="6849F6"/>
          </a:solidFill>
          <a:ln w="12700">
            <a:solidFill>
              <a:srgbClr val="6849F6"/>
            </a:solidFill>
            <a:prstDash val="solid"/>
          </a:ln>
        </p:spPr>
      </p:sp>
      <p:sp>
        <p:nvSpPr>
          <p:cNvPr id="7" name="Text 5"/>
          <p:cNvSpPr/>
          <p:nvPr/>
        </p:nvSpPr>
        <p:spPr>
          <a:xfrm>
            <a:off x="640080" y="1188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p:nvPr/>
        </p:nvSpPr>
        <p:spPr>
          <a:xfrm>
            <a:off x="640080" y="1755648"/>
            <a:ext cx="2240280" cy="34747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Pilih 1 task nyata</a:t>
            </a:r>
            <a:endParaRPr lang="en-US" sz="1400" dirty="0"/>
          </a:p>
        </p:txBody>
      </p:sp>
      <p:sp>
        <p:nvSpPr>
          <p:cNvPr id="9" name="Shape 7"/>
          <p:cNvSpPr/>
          <p:nvPr/>
        </p:nvSpPr>
        <p:spPr>
          <a:xfrm>
            <a:off x="640080" y="2157984"/>
            <a:ext cx="2240280" cy="0"/>
          </a:xfrm>
          <a:prstGeom prst="line">
            <a:avLst/>
          </a:prstGeom>
          <a:noFill/>
          <a:ln w="12700">
            <a:solidFill>
              <a:srgbClr val="EDE9FF"/>
            </a:solidFill>
            <a:prstDash val="solid"/>
          </a:ln>
        </p:spPr>
      </p:sp>
      <p:sp>
        <p:nvSpPr>
          <p:cNvPr id="10" name="Text 8"/>
          <p:cNvSpPr/>
          <p:nvPr/>
        </p:nvSpPr>
        <p:spPr>
          <a:xfrm>
            <a:off x="640080" y="2267712"/>
            <a:ext cx="2240280" cy="1773936"/>
          </a:xfrm>
          <a:prstGeom prst="rect">
            <a:avLst/>
          </a:prstGeom>
          <a:noFill/>
          <a:ln/>
        </p:spPr>
        <p:txBody>
          <a:bodyPr wrap="square" lIns="0" tIns="0" rIns="0" bIns="0" rtlCol="0" anchor="ctr"/>
          <a:lstStyle/>
          <a:p>
            <a:pPr indent="0" marL="0">
              <a:buNone/>
            </a:pPr>
            <a:r>
              <a:rPr lang="en-US" sz="1200" dirty="0">
                <a:solidFill>
                  <a:srgbClr val="64648A"/>
                </a:solidFill>
                <a:latin typeface="Calibri" pitchFamily="34" charset="0"/>
                <a:ea typeface="Calibri" pitchFamily="34" charset="-122"/>
                <a:cs typeface="Calibri" pitchFamily="34" charset="-120"/>
              </a:rPr>
              <a:t>Pilih satu email, dokumen, atau pesan yang perlu kamu buat minggu ini — sesuatu yang benar-benar ada di to-do list kamu.</a:t>
            </a:r>
            <a:endParaRPr lang="en-US" sz="1200" dirty="0"/>
          </a:p>
        </p:txBody>
      </p:sp>
      <p:sp>
        <p:nvSpPr>
          <p:cNvPr id="11" name="Shape 9"/>
          <p:cNvSpPr/>
          <p:nvPr/>
        </p:nvSpPr>
        <p:spPr>
          <a:xfrm>
            <a:off x="3264408" y="1051560"/>
            <a:ext cx="2606040" cy="3108960"/>
          </a:xfrm>
          <a:prstGeom prst="roundRect">
            <a:avLst>
              <a:gd name="adj" fmla="val 4912"/>
            </a:avLst>
          </a:prstGeom>
          <a:solidFill>
            <a:srgbClr val="FFFFFF"/>
          </a:solidFill>
          <a:ln w="12700">
            <a:solidFill>
              <a:srgbClr val="DDD6FE"/>
            </a:solidFill>
            <a:prstDash val="solid"/>
          </a:ln>
          <a:effectLst>
            <a:outerShdw sx="100000" sy="100000" kx="0" ky="0" algn="bl" rotWithShape="0" blurRad="101600" dist="38100" dir="2700000">
              <a:srgbClr val="000000">
                <a:alpha val="10000"/>
              </a:srgbClr>
            </a:outerShdw>
          </a:effectLst>
        </p:spPr>
      </p:sp>
      <p:sp>
        <p:nvSpPr>
          <p:cNvPr id="12" name="Shape 10"/>
          <p:cNvSpPr/>
          <p:nvPr/>
        </p:nvSpPr>
        <p:spPr>
          <a:xfrm>
            <a:off x="3447288" y="1188720"/>
            <a:ext cx="457200" cy="457200"/>
          </a:xfrm>
          <a:prstGeom prst="ellipse">
            <a:avLst/>
          </a:prstGeom>
          <a:solidFill>
            <a:srgbClr val="6849F6"/>
          </a:solidFill>
          <a:ln w="12700">
            <a:solidFill>
              <a:srgbClr val="6849F6"/>
            </a:solidFill>
            <a:prstDash val="solid"/>
          </a:ln>
        </p:spPr>
      </p:sp>
      <p:sp>
        <p:nvSpPr>
          <p:cNvPr id="13" name="Text 11"/>
          <p:cNvSpPr/>
          <p:nvPr/>
        </p:nvSpPr>
        <p:spPr>
          <a:xfrm>
            <a:off x="3447288" y="1188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2"/>
          <p:cNvSpPr/>
          <p:nvPr/>
        </p:nvSpPr>
        <p:spPr>
          <a:xfrm>
            <a:off x="3447288" y="1755648"/>
            <a:ext cx="2240280" cy="34747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Isi 4 elemen</a:t>
            </a:r>
            <a:endParaRPr lang="en-US" sz="1400" dirty="0"/>
          </a:p>
        </p:txBody>
      </p:sp>
      <p:sp>
        <p:nvSpPr>
          <p:cNvPr id="15" name="Shape 13"/>
          <p:cNvSpPr/>
          <p:nvPr/>
        </p:nvSpPr>
        <p:spPr>
          <a:xfrm>
            <a:off x="3447288" y="2157984"/>
            <a:ext cx="2240280" cy="0"/>
          </a:xfrm>
          <a:prstGeom prst="line">
            <a:avLst/>
          </a:prstGeom>
          <a:noFill/>
          <a:ln w="12700">
            <a:solidFill>
              <a:srgbClr val="EDE9FF"/>
            </a:solidFill>
            <a:prstDash val="solid"/>
          </a:ln>
        </p:spPr>
      </p:sp>
      <p:sp>
        <p:nvSpPr>
          <p:cNvPr id="16" name="Text 14"/>
          <p:cNvSpPr/>
          <p:nvPr/>
        </p:nvSpPr>
        <p:spPr>
          <a:xfrm>
            <a:off x="3447288" y="2267712"/>
            <a:ext cx="2240280" cy="1773936"/>
          </a:xfrm>
          <a:prstGeom prst="rect">
            <a:avLst/>
          </a:prstGeom>
          <a:noFill/>
          <a:ln/>
        </p:spPr>
        <p:txBody>
          <a:bodyPr wrap="square" lIns="0" tIns="0" rIns="0" bIns="0" rtlCol="0" anchor="ctr"/>
          <a:lstStyle/>
          <a:p>
            <a:pPr indent="0" marL="0">
              <a:buNone/>
            </a:pPr>
            <a:r>
              <a:rPr lang="en-US" sz="1200" dirty="0">
                <a:solidFill>
                  <a:srgbClr val="64648A"/>
                </a:solidFill>
                <a:latin typeface="Calibri" pitchFamily="34" charset="0"/>
                <a:ea typeface="Calibri" pitchFamily="34" charset="-122"/>
                <a:cs typeface="Calibri" pitchFamily="34" charset="-120"/>
              </a:rPr>
              <a:t>ROLE  →  KONTEKS  →  TUGAS  →  FORMAT</a:t>
            </a:r>
            <a:endParaRPr lang="en-US" sz="1200" dirty="0"/>
          </a:p>
          <a:p>
            <a:pPr indent="0" marL="0">
              <a:buNone/>
            </a:pPr>
            <a:endParaRPr lang="en-US" sz="1200" dirty="0"/>
          </a:p>
          <a:p>
            <a:pPr indent="0" marL="0">
              <a:buNone/>
            </a:pPr>
            <a:r>
              <a:rPr lang="en-US" sz="1200" dirty="0">
                <a:solidFill>
                  <a:srgbClr val="64648A"/>
                </a:solidFill>
                <a:latin typeface="Calibri" pitchFamily="34" charset="0"/>
                <a:ea typeface="Calibri" pitchFamily="34" charset="-122"/>
                <a:cs typeface="Calibri" pitchFamily="34" charset="-120"/>
              </a:rPr>
              <a:t>Tulis satu kalimat per elemen. Tidak harus sempurna — tulis draft dulu lalu kirim.</a:t>
            </a:r>
            <a:endParaRPr lang="en-US" sz="1200" dirty="0"/>
          </a:p>
        </p:txBody>
      </p:sp>
      <p:sp>
        <p:nvSpPr>
          <p:cNvPr id="17" name="Shape 15"/>
          <p:cNvSpPr/>
          <p:nvPr/>
        </p:nvSpPr>
        <p:spPr>
          <a:xfrm>
            <a:off x="6071616" y="1051560"/>
            <a:ext cx="2606040" cy="3108960"/>
          </a:xfrm>
          <a:prstGeom prst="roundRect">
            <a:avLst>
              <a:gd name="adj" fmla="val 4912"/>
            </a:avLst>
          </a:prstGeom>
          <a:solidFill>
            <a:srgbClr val="FFFFFF"/>
          </a:solidFill>
          <a:ln w="12700">
            <a:solidFill>
              <a:srgbClr val="DDD6FE"/>
            </a:solidFill>
            <a:prstDash val="solid"/>
          </a:ln>
          <a:effectLst>
            <a:outerShdw sx="100000" sy="100000" kx="0" ky="0" algn="bl" rotWithShape="0" blurRad="101600" dist="38100" dir="2700000">
              <a:srgbClr val="000000">
                <a:alpha val="10000"/>
              </a:srgbClr>
            </a:outerShdw>
          </a:effectLst>
        </p:spPr>
      </p:sp>
      <p:sp>
        <p:nvSpPr>
          <p:cNvPr id="18" name="Shape 16"/>
          <p:cNvSpPr/>
          <p:nvPr/>
        </p:nvSpPr>
        <p:spPr>
          <a:xfrm>
            <a:off x="6254496" y="1188720"/>
            <a:ext cx="457200" cy="457200"/>
          </a:xfrm>
          <a:prstGeom prst="ellipse">
            <a:avLst/>
          </a:prstGeom>
          <a:solidFill>
            <a:srgbClr val="6849F6"/>
          </a:solidFill>
          <a:ln w="12700">
            <a:solidFill>
              <a:srgbClr val="6849F6"/>
            </a:solidFill>
            <a:prstDash val="solid"/>
          </a:ln>
        </p:spPr>
      </p:sp>
      <p:sp>
        <p:nvSpPr>
          <p:cNvPr id="19" name="Text 17"/>
          <p:cNvSpPr/>
          <p:nvPr/>
        </p:nvSpPr>
        <p:spPr>
          <a:xfrm>
            <a:off x="6254496" y="11887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0" name="Text 18"/>
          <p:cNvSpPr/>
          <p:nvPr/>
        </p:nvSpPr>
        <p:spPr>
          <a:xfrm>
            <a:off x="6254496" y="1755648"/>
            <a:ext cx="2240280" cy="347472"/>
          </a:xfrm>
          <a:prstGeom prst="rect">
            <a:avLst/>
          </a:prstGeom>
          <a:noFill/>
          <a:ln/>
        </p:spPr>
        <p:txBody>
          <a:bodyPr wrap="square" lIns="0" tIns="0" rIns="0" bIns="0" rtlCol="0" anchor="ctr"/>
          <a:lstStyle/>
          <a:p>
            <a:pPr indent="0" marL="0">
              <a:buNone/>
            </a:pPr>
            <a:r>
              <a:rPr lang="en-US" sz="1400" b="1" dirty="0">
                <a:solidFill>
                  <a:srgbClr val="1A1A2E"/>
                </a:solidFill>
                <a:latin typeface="Calibri" pitchFamily="34" charset="0"/>
                <a:ea typeface="Calibri" pitchFamily="34" charset="-122"/>
                <a:cs typeface="Calibri" pitchFamily="34" charset="-120"/>
              </a:rPr>
              <a:t>Iterasi, bukan ganti</a:t>
            </a:r>
            <a:endParaRPr lang="en-US" sz="1400" dirty="0"/>
          </a:p>
        </p:txBody>
      </p:sp>
      <p:sp>
        <p:nvSpPr>
          <p:cNvPr id="21" name="Shape 19"/>
          <p:cNvSpPr/>
          <p:nvPr/>
        </p:nvSpPr>
        <p:spPr>
          <a:xfrm>
            <a:off x="6254496" y="2157984"/>
            <a:ext cx="2240280" cy="0"/>
          </a:xfrm>
          <a:prstGeom prst="line">
            <a:avLst/>
          </a:prstGeom>
          <a:noFill/>
          <a:ln w="12700">
            <a:solidFill>
              <a:srgbClr val="EDE9FF"/>
            </a:solidFill>
            <a:prstDash val="solid"/>
          </a:ln>
        </p:spPr>
      </p:sp>
      <p:sp>
        <p:nvSpPr>
          <p:cNvPr id="22" name="Text 20"/>
          <p:cNvSpPr/>
          <p:nvPr/>
        </p:nvSpPr>
        <p:spPr>
          <a:xfrm>
            <a:off x="6254496" y="2267712"/>
            <a:ext cx="2240280" cy="1773936"/>
          </a:xfrm>
          <a:prstGeom prst="rect">
            <a:avLst/>
          </a:prstGeom>
          <a:noFill/>
          <a:ln/>
        </p:spPr>
        <p:txBody>
          <a:bodyPr wrap="square" lIns="0" tIns="0" rIns="0" bIns="0" rtlCol="0" anchor="ctr"/>
          <a:lstStyle/>
          <a:p>
            <a:pPr indent="0" marL="0">
              <a:buNone/>
            </a:pPr>
            <a:r>
              <a:rPr lang="en-US" sz="1200" dirty="0">
                <a:solidFill>
                  <a:srgbClr val="64648A"/>
                </a:solidFill>
                <a:latin typeface="Calibri" pitchFamily="34" charset="0"/>
                <a:ea typeface="Calibri" pitchFamily="34" charset="-122"/>
                <a:cs typeface="Calibri" pitchFamily="34" charset="-120"/>
              </a:rPr>
              <a:t>Kalau hasilnya belum tepat, identifikasi elemen yang kurang lalu perbaiki promptnya — jangan ganti dengan prompt baru.</a:t>
            </a:r>
            <a:endParaRPr lang="en-US" sz="1200" dirty="0"/>
          </a:p>
        </p:txBody>
      </p:sp>
      <p:sp>
        <p:nvSpPr>
          <p:cNvPr id="23" name="Shape 21"/>
          <p:cNvSpPr/>
          <p:nvPr/>
        </p:nvSpPr>
        <p:spPr>
          <a:xfrm>
            <a:off x="0" y="4114800"/>
            <a:ext cx="9144000" cy="1028700"/>
          </a:xfrm>
          <a:prstGeom prst="rect">
            <a:avLst/>
          </a:prstGeom>
          <a:solidFill>
            <a:srgbClr val="0D1321"/>
          </a:solidFill>
          <a:ln w="12700">
            <a:solidFill>
              <a:srgbClr val="0D1321"/>
            </a:solidFill>
            <a:prstDash val="solid"/>
          </a:ln>
        </p:spPr>
      </p:sp>
      <p:sp>
        <p:nvSpPr>
          <p:cNvPr id="24" name="Text 22"/>
          <p:cNvSpPr/>
          <p:nvPr/>
        </p:nvSpPr>
        <p:spPr>
          <a:xfrm>
            <a:off x="502920" y="4160520"/>
            <a:ext cx="8138160" cy="685800"/>
          </a:xfrm>
          <a:prstGeom prst="rect">
            <a:avLst/>
          </a:prstGeom>
          <a:noFill/>
          <a:ln/>
        </p:spPr>
        <p:txBody>
          <a:bodyPr wrap="square" lIns="0" tIns="0" rIns="0" bIns="0" rtlCol="0" anchor="ctr"/>
          <a:lstStyle/>
          <a:p>
            <a:pPr indent="0" marL="0">
              <a:buNone/>
            </a:pPr>
            <a:r>
              <a:rPr lang="en-US" sz="1200" dirty="0">
                <a:solidFill>
                  <a:srgbClr val="C4B5FD"/>
                </a:solidFill>
                <a:latin typeface="Calibri" pitchFamily="34" charset="0"/>
                <a:ea typeface="Calibri" pitchFamily="34" charset="-122"/>
                <a:cs typeface="Calibri" pitchFamily="34" charset="-120"/>
              </a:rPr>
              <a:t>Output yang diharapkan: 1 draft siap pakai dari 4-elemen prompt. Simpan promptnya — kamu akan pakai lagi di modul berikutnya.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K2 Produktivitas Kantor – Modul 1</dc:title>
  <dc:subject>PptxGenJS Presentation</dc:subject>
  <dc:creator>PptxGenJS</dc:creator>
  <cp:lastModifiedBy>PptxGenJS</cp:lastModifiedBy>
  <cp:revision>1</cp:revision>
  <dcterms:created xsi:type="dcterms:W3CDTF">2026-07-10T04:15:04Z</dcterms:created>
  <dcterms:modified xsi:type="dcterms:W3CDTF">2026-07-10T04:15:04Z</dcterms:modified>
</cp:coreProperties>
</file>