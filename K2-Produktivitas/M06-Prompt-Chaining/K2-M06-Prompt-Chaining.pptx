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0791" cy="6858000"/>
          </a:xfrm>
          <a:prstGeom prst="rect">
            <a:avLst/>
          </a:prstGeom>
          <a:solidFill>
            <a:srgbClr val="14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3657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2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29800" y="347472"/>
            <a:ext cx="1965960" cy="420624"/>
          </a:xfrm>
          <a:prstGeom prst="roundRect">
            <a:avLst>
              <a:gd name="adj" fmla="val 22000"/>
            </a:avLst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347472"/>
            <a:ext cx="1965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MODUL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7680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Prompt Chaining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B7C0D8"/>
                </a:solidFill>
                <a:latin typeface="Arial"/>
              </a:rPr>
              <a:t>Output kompleks dari langkah sederhana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572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2B4"/>
                </a:solidFill>
                <a:latin typeface="Arial"/>
              </a:rPr>
              <a:t>Produktivitas Kantor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06 — Prompt Chaining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Apa itu Prompt Chaining?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OUTPUT SATU STEP JADI INPUT STEP BERIKUTNYA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1554480" cy="502920"/>
          </a:xfrm>
          <a:prstGeom prst="roundRect">
            <a:avLst>
              <a:gd name="adj" fmla="val 22000"/>
            </a:avLst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4B36C7"/>
                </a:solidFill>
                <a:latin typeface="Arial"/>
              </a:rPr>
              <a:t>Prompt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148840"/>
            <a:ext cx="365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6849F6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2148840"/>
            <a:ext cx="1554480" cy="502920"/>
          </a:xfrm>
          <a:prstGeom prst="roundRect">
            <a:avLst>
              <a:gd name="adj" fmla="val 22000"/>
            </a:avLst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23160" y="214884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4B36C7"/>
                </a:solidFill>
                <a:latin typeface="Arial"/>
              </a:rPr>
              <a:t>Output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148840"/>
            <a:ext cx="365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6849F6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148840"/>
            <a:ext cx="1554480" cy="502920"/>
          </a:xfrm>
          <a:prstGeom prst="roundRect">
            <a:avLst>
              <a:gd name="adj" fmla="val 22000"/>
            </a:avLst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214884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4B36C7"/>
                </a:solidFill>
                <a:latin typeface="Arial"/>
              </a:rPr>
              <a:t>Prompt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2148840"/>
            <a:ext cx="365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6849F6"/>
                </a:solidFill>
                <a:latin typeface="Arial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48840"/>
            <a:ext cx="1554480" cy="502920"/>
          </a:xfrm>
          <a:prstGeom prst="roundRect">
            <a:avLst>
              <a:gd name="adj" fmla="val 22000"/>
            </a:avLst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214884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4B36C7"/>
                </a:solidFill>
                <a:latin typeface="Arial"/>
              </a:rPr>
              <a:t>Output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148840"/>
            <a:ext cx="365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6849F6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2148840"/>
            <a:ext cx="1554480" cy="502920"/>
          </a:xfrm>
          <a:prstGeom prst="roundRect">
            <a:avLst>
              <a:gd name="adj" fmla="val 22000"/>
            </a:avLst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80" y="214884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4B36C7"/>
                </a:solidFill>
                <a:latin typeface="Arial"/>
              </a:rPr>
              <a:t>Prompt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2148840"/>
            <a:ext cx="365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6849F6"/>
                </a:solidFill>
                <a:latin typeface="Arial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2148840"/>
            <a:ext cx="1554480" cy="502920"/>
          </a:xfrm>
          <a:prstGeom prst="roundRect">
            <a:avLst>
              <a:gd name="adj" fmla="val 22000"/>
            </a:avLst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04120" y="214884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4B36C7"/>
                </a:solidFill>
                <a:latin typeface="Arial"/>
              </a:rPr>
              <a:t>Output Final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017520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3283A"/>
                </a:solidFill>
                <a:latin typeface="Arial"/>
              </a:rPr>
              <a:t>Satu prompt menghasilkan output. Output itu jadi input untuk prompt berikutnya. Setiap step membangun di atas konteks yang sudah ada.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794760"/>
            <a:ext cx="11155680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1520" y="3995928"/>
            <a:ext cx="2066543" cy="347472"/>
          </a:xfrm>
          <a:prstGeom prst="roundRect">
            <a:avLst>
              <a:gd name="adj" fmla="val 22000"/>
            </a:avLst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995928"/>
            <a:ext cx="206654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4B36C7"/>
                </a:solidFill>
                <a:latin typeface="Arial"/>
              </a:rPr>
              <a:t>KAPAN DIBUTUHKAN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544568"/>
            <a:ext cx="10698480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Output yang terlalu kompleks untuk 1 prompt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Tugas yang punya tahapan logis — riset → draft → review → finalisasi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Kalau satu prompt menghasilkan hasil yang dangkal atau generik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06 — Prompt Chaining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Contoh Nyata: Proposal Reseller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RINA — CHAIN 4 STEP UNTUK KERJASAMA BANDUNG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2686050" cy="352044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08200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8200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99923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RISET &amp; PROFIL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42900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Prompt pertama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" y="3840479"/>
            <a:ext cx="246659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232029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"Calon reseller: toko fashion Bandung, 2 tahun jualan, follower 8.000. Buat profil, apa yang mereka cari, kekhawatiran mereka."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26130" y="2103120"/>
            <a:ext cx="2686050" cy="352044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31411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1411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5858" y="299923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STRUKTUR PROPOSAL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5858" y="342900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Gunakan output step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35858" y="3840479"/>
            <a:ext cx="246659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09010" y="3886200"/>
            <a:ext cx="232029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"Berdasarkan profil tadi, buat kerangka proposal yang jawab kekhawatiran mereka. 5 section dengan heading."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9340" y="2103120"/>
            <a:ext cx="2686050" cy="352044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54621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4621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299923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TULIS LENGKAP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342900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Dari kerangka ke draft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9068" y="3840479"/>
            <a:ext cx="246659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2220" y="3886200"/>
            <a:ext cx="232029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"Tulis proposal lengkap berdasarkan kerangka tadi. Tone profesional tapi hangat, 400-500 kata."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2103120"/>
            <a:ext cx="2686050" cy="352044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077831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77831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2278" y="299923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REVIEW &amp; PERKUAT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2278" y="342900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Selalu step terakhir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82278" y="3840479"/>
            <a:ext cx="246659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55430" y="3886200"/>
            <a:ext cx="232029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"Identifikasi 3 bagian paling lemah dari proposal ini dan tulis ulang agar lebih meyakinkan."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6B7280"/>
                </a:solidFill>
                <a:latin typeface="Arial"/>
              </a:rPr>
              <a:t>Hasil: </a:t>
            </a:r>
            <a:r>
              <a:rPr sz="1150" b="0" i="0">
                <a:solidFill>
                  <a:srgbClr val="6B7280"/>
                </a:solidFill>
                <a:latin typeface="Arial"/>
              </a:rPr>
              <a:t>output kompleks yang biasanya butuh 2 jam, selesai dalam 25 menit.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06 — Prompt Chaining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5 Aturan Prompt Chaining Efektif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SUPAYA CHAIN KAMU BENAR-BENAR BEKERJA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148840"/>
            <a:ext cx="329184" cy="329184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130552"/>
            <a:ext cx="1062532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3283A"/>
                </a:solidFill>
                <a:latin typeface="Arial"/>
              </a:rPr>
              <a:t>Tetap di satu chat  —  </a:t>
            </a:r>
            <a:r>
              <a:rPr sz="1250" b="0" i="0">
                <a:solidFill>
                  <a:srgbClr val="6B7280"/>
                </a:solidFill>
                <a:latin typeface="Arial"/>
              </a:rPr>
              <a:t>jangan buka chat baru di tengah chain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2734056"/>
            <a:ext cx="329184" cy="329184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73405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2715768"/>
            <a:ext cx="1062532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3283A"/>
                </a:solidFill>
                <a:latin typeface="Arial"/>
              </a:rPr>
              <a:t>Review output di setiap step  —  </a:t>
            </a:r>
            <a:r>
              <a:rPr sz="1250" b="0" i="0">
                <a:solidFill>
                  <a:srgbClr val="6B7280"/>
                </a:solidFill>
                <a:latin typeface="Arial"/>
              </a:rPr>
              <a:t>sebelum lanjut ke step berikutnya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3319272"/>
            <a:ext cx="329184" cy="329184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1927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3300984"/>
            <a:ext cx="1062532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3283A"/>
                </a:solidFill>
                <a:latin typeface="Arial"/>
              </a:rPr>
              <a:t>Mulai dari yang luas, semakin spesifik  —  </a:t>
            </a:r>
            <a:r>
              <a:rPr sz="1250" b="0" i="0">
                <a:solidFill>
                  <a:srgbClr val="6B7280"/>
                </a:solidFill>
                <a:latin typeface="Arial"/>
              </a:rPr>
              <a:t>setiap step makin detail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3904488"/>
            <a:ext cx="329184" cy="329184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90448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" y="3886200"/>
            <a:ext cx="1062532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3283A"/>
                </a:solidFill>
                <a:latin typeface="Arial"/>
              </a:rPr>
              <a:t>Gunakan "dari hasil tadi..."  —  </a:t>
            </a:r>
            <a:r>
              <a:rPr sz="1250" b="0" i="0">
                <a:solidFill>
                  <a:srgbClr val="6B7280"/>
                </a:solidFill>
                <a:latin typeface="Arial"/>
              </a:rPr>
              <a:t>untuk merujuk ke output sebelumnya</a:t>
            </a:r>
          </a:p>
        </p:txBody>
      </p:sp>
      <p:sp>
        <p:nvSpPr>
          <p:cNvPr id="21" name="Oval 20"/>
          <p:cNvSpPr/>
          <p:nvPr/>
        </p:nvSpPr>
        <p:spPr>
          <a:xfrm>
            <a:off x="502920" y="4489704"/>
            <a:ext cx="329184" cy="329184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48970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" y="4471416"/>
            <a:ext cx="1062532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3283A"/>
                </a:solidFill>
                <a:latin typeface="Arial"/>
              </a:rPr>
              <a:t>Step terakhir selalu review  —  </a:t>
            </a:r>
            <a:r>
              <a:rPr sz="1250" b="0" i="0">
                <a:solidFill>
                  <a:srgbClr val="6B7280"/>
                </a:solidFill>
                <a:latin typeface="Arial"/>
              </a:rPr>
              <a:t>"identifikasi 3 bagian paling lemah dan perbaiki"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166360"/>
            <a:ext cx="11155680" cy="1508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20" y="5367528"/>
            <a:ext cx="2871216" cy="347472"/>
          </a:xfrm>
          <a:prstGeom prst="roundRect">
            <a:avLst>
              <a:gd name="adj" fmla="val 22000"/>
            </a:avLst>
          </a:prstGeom>
          <a:solidFill>
            <a:srgbClr val="EA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367528"/>
            <a:ext cx="28712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A7A44"/>
                </a:solidFill>
                <a:latin typeface="Arial"/>
              </a:rPr>
              <a:t>IDE CHAIN UNTUK BISNISMU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916168"/>
            <a:ext cx="1069848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Konten bulanan: Riset trend → Kalender konten → Draft caption → Review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Laporan performa: Analisis data → Insight → Narasi → Slide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06 — Prompt Chaining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Latihan &amp;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BANDINGKAN CHAIN VS. SATU PROMPT LANGSUNG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11155680" cy="155448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7A44"/>
                </a:solidFill>
                <a:latin typeface="Arial"/>
              </a:rPr>
              <a:t>■  LATIHAN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633472"/>
            <a:ext cx="10652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3283A"/>
                </a:solidFill>
                <a:latin typeface="Arial"/>
              </a:rPr>
              <a:t>Pilih satu tugas yang biasanya kamu kerjakan dalam beberapa langkah terpisah. Buat chain minimal 3 step. Kerjakan dalam satu chat yang sama. Review output di setiap step sebelum lanjut.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40480"/>
            <a:ext cx="11155680" cy="914400"/>
          </a:xfrm>
          <a:prstGeom prst="roundRect">
            <a:avLst>
              <a:gd name="adj" fmla="val 6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96849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B36C7"/>
                </a:solidFill>
                <a:latin typeface="Arial"/>
              </a:rPr>
              <a:t>■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279392"/>
            <a:ext cx="10652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3283A"/>
                </a:solidFill>
                <a:latin typeface="Arial"/>
              </a:rPr>
              <a:t>1 output final dari chain minimal 3 step. Bandingkan hasilnya dengan satu prompt langsung — mana yang lebih baik?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