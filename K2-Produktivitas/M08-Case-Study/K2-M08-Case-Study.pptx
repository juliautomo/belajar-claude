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belajar</a:t>
            </a:r>
            <a:r>
              <a:rPr sz="2200" b="1" i="0">
                <a:solidFill>
                  <a:srgbClr val="6849F6"/>
                </a:solidFill>
                <a:latin typeface="Arial"/>
              </a:rPr>
              <a:t>claude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47472"/>
            <a:ext cx="1965960" cy="420624"/>
          </a:xfrm>
          <a:prstGeom prst="roundRect">
            <a:avLst>
              <a:gd name="adj" fmla="val 22000"/>
            </a:avLst>
          </a:prstGeom>
          <a:solidFill>
            <a:srgbClr val="684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29800" y="347472"/>
            <a:ext cx="1965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MODUL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B7C0D8"/>
                </a:solidFill>
                <a:latin typeface="Arial"/>
              </a:rPr>
              <a:t>Semua modul dalam satu hari kerja nyata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72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2B4"/>
                </a:solidFill>
                <a:latin typeface="Arial"/>
              </a:rPr>
              <a:t>Produktivitas Kantor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684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belajar</a:t>
            </a:r>
            <a:r>
              <a:rPr sz="2000" b="1" i="0">
                <a:solidFill>
                  <a:srgbClr val="6849F6"/>
                </a:solidFill>
                <a:latin typeface="Arial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743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2B4"/>
                </a:solidFill>
                <a:latin typeface="Arial"/>
              </a:rPr>
              <a:t>Modul 08 —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3283A"/>
                </a:solidFill>
                <a:latin typeface="Arial"/>
              </a:rPr>
              <a:t>Pilih Skenario yang Mirip Situasimu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B36C7"/>
                </a:solidFill>
                <a:latin typeface="Arial"/>
              </a:rPr>
              <a:t>DUA HARI KERJA SIBUK — IKUTI STEP BY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544068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2194560" cy="347472"/>
          </a:xfrm>
          <a:prstGeom prst="roundRect">
            <a:avLst>
              <a:gd name="adj" fmla="val 22000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4B36C7"/>
                </a:solidFill>
                <a:latin typeface="Arial"/>
              </a:rPr>
              <a:t>SKENARIO A — RINA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4983480" cy="286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UMKM Fashion Online (Kasual Studio) — Senin pagi setelah libur 3 hari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23 email belum dibalas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10 produk baru belum ada deskripsi Tokopedia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Data penjualan bulan lalu belum dianalisis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1 calon reseller Yogyakarta minta proposal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Catatan meeting supplier belum dirapikan + deadline konten IG hari 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103120"/>
            <a:ext cx="544068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2304288"/>
            <a:ext cx="2194560" cy="347472"/>
          </a:xfrm>
          <a:prstGeom prst="roundRect">
            <a:avLst>
              <a:gd name="adj" fmla="val 22000"/>
            </a:avLst>
          </a:prstGeom>
          <a:solidFill>
            <a:srgbClr val="EA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304288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7A44"/>
                </a:solidFill>
                <a:latin typeface="Arial"/>
              </a:rPr>
              <a:t>SKENARIO B — BUDI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52928"/>
            <a:ext cx="4983480" cy="286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Konsultan Freelance — pitching ke klien baru besok jam 10 pagi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Riset kompetitor klien belum mulai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Proposal kerjasama belum mulai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Deck presentasi 8 slide belum mulai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Email konfirmasi jadwal + 2 follow-up klien lama menunggu</a:t>
            </a:r>
          </a:p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Sekarang jam 2 siang — waktu terbatas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6B7280"/>
                </a:solidFill>
                <a:latin typeface="Arial"/>
              </a:rPr>
              <a:t>Tanpa vs Dengan: </a:t>
            </a:r>
            <a:r>
              <a:rPr sz="1150" b="0" i="0">
                <a:solidFill>
                  <a:srgbClr val="6B7280"/>
                </a:solidFill>
                <a:latin typeface="Arial"/>
              </a:rPr>
              <a:t>tanpa Claude 5-6 jam kerja. Dengan K2, selesai jauh lebih cepat — ikuti salah satu step by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684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belajar</a:t>
            </a:r>
            <a:r>
              <a:rPr sz="2000" b="1" i="0">
                <a:solidFill>
                  <a:srgbClr val="6849F6"/>
                </a:solidFill>
                <a:latin typeface="Arial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743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2B4"/>
                </a:solidFill>
                <a:latin typeface="Arial"/>
              </a:rPr>
              <a:t>Modul 08 —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3283A"/>
                </a:solidFill>
                <a:latin typeface="Arial"/>
              </a:rPr>
              <a:t>Skenario A: Senin Pagi Kasual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B36C7"/>
                </a:solidFill>
                <a:latin typeface="Arial"/>
              </a:rPr>
              <a:t>MODUL YANG DIPAKAI DI SETIAP 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83A"/>
                </a:solidFill>
                <a:latin typeface="Arial"/>
              </a:rPr>
              <a:t>Project sudah aktif (M02) → 23 email dengan Role Prompting + Gmail + Batch (M01/M03/M05) → 10 deskripsi produk (M05) → analisis Sheets (M04) → proposal chain (M06) → catatan meeting (M07) → caption IG (M01).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788920"/>
          <a:ext cx="11155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Tugas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Modul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Biasa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Dengan Claude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23 email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M01+M03+M05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 jam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28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10 deskripsi produk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M05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40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4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Analisis penjualan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M04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45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8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Proposal reseller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M06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 jam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22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Catatan meeting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M07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20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Caption Instagram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M01+M02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15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B36C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B36C7"/>
                          </a:solidFill>
                          <a:latin typeface="Arial"/>
                        </a:rPr>
                        <a:t>~6 jam</a:t>
                      </a:r>
                    </a:p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B36C7"/>
                          </a:solidFill>
                          <a:latin typeface="Arial"/>
                        </a:rPr>
                        <a:t>~66 menit</a:t>
                      </a:r>
                    </a:p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684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belajar</a:t>
            </a:r>
            <a:r>
              <a:rPr sz="2000" b="1" i="0">
                <a:solidFill>
                  <a:srgbClr val="6849F6"/>
                </a:solidFill>
                <a:latin typeface="Arial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743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2B4"/>
                </a:solidFill>
                <a:latin typeface="Arial"/>
              </a:rPr>
              <a:t>Modul 08 —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3283A"/>
                </a:solidFill>
                <a:latin typeface="Arial"/>
              </a:rPr>
              <a:t>Skenario B: Deadline Besok — Budi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B36C7"/>
                </a:solidFill>
                <a:latin typeface="Arial"/>
              </a:rPr>
              <a:t>MODUL YANG DIPAKAI DI SETIAP 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83A"/>
                </a:solidFill>
                <a:latin typeface="Arial"/>
              </a:rPr>
              <a:t>Riset kompetitor (M07) → proposal chain 4 step (M06) → batch 3 email sekaligus (M05) → ringkas proposal jadi deck 8 slide (M07+M06).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788920"/>
          <a:ext cx="11155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Tugas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Modul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Biasa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Dengan Claude</a:t>
                      </a:r>
                    </a:p>
                  </a:txBody>
                  <a:tcPr anchor="ctr" marL="109728" marT="36576" marB="36576">
                    <a:solidFill>
                      <a:srgbClr val="0D132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Riset kompetitor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M07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90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10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Proposal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M06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 jam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25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3 email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M05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20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5 menit</a:t>
                      </a:r>
                    </a:p>
                  </a:txBody>
                  <a:tcPr anchor="ctr" marL="109728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Deck presentasi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M07+M06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45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83A"/>
                          </a:solidFill>
                          <a:latin typeface="Arial"/>
                        </a:rPr>
                        <a:t>15 menit</a:t>
                      </a:r>
                    </a:p>
                  </a:txBody>
                  <a:tcPr anchor="ctr" marL="109728" marT="18288" marB="18288">
                    <a:solidFill>
                      <a:srgbClr val="F4F6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B36C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B36C7"/>
                          </a:solidFill>
                          <a:latin typeface="Arial"/>
                        </a:rPr>
                        <a:t>~4,5 jam</a:t>
                      </a:r>
                    </a:p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B36C7"/>
                          </a:solidFill>
                          <a:latin typeface="Arial"/>
                        </a:rPr>
                        <a:t>~55 menit</a:t>
                      </a:r>
                    </a:p>
                  </a:txBody>
                  <a:tcPr anchor="ctr" marL="109728" marT="18288" marB="18288"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349240"/>
            <a:ext cx="111556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550407"/>
            <a:ext cx="2377440" cy="347472"/>
          </a:xfrm>
          <a:prstGeom prst="roundRect">
            <a:avLst>
              <a:gd name="adj" fmla="val 2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50407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B7280"/>
                </a:solidFill>
                <a:latin typeface="Arial"/>
              </a:rPr>
              <a:t>TANTANGAN 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99047"/>
            <a:ext cx="10698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Pilih skenario paling mirip situasimu — atau buat versimu sendiri. List semua tugas, tandai modul mana yang bisa bantu, catat waktu aktual yang dihemat.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684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belajar</a:t>
            </a:r>
            <a:r>
              <a:rPr sz="2000" b="1" i="0">
                <a:solidFill>
                  <a:srgbClr val="6849F6"/>
                </a:solidFill>
                <a:latin typeface="Arial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743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2B4"/>
                </a:solidFill>
                <a:latin typeface="Arial"/>
              </a:rPr>
              <a:t>Modul 08 —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3283A"/>
                </a:solidFill>
                <a:latin typeface="Arial"/>
              </a:rPr>
              <a:t>Checklist Penguasaan K2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B36C7"/>
                </a:solidFill>
                <a:latin typeface="Arial"/>
              </a:rPr>
              <a:t>PASTIKAN KAMU BENAR-BENAR BISA — BUKAN SEKADAR SUDAH NONTON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11556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01 Role Prompting — bisa tulis prompt 4 elemen tanpa lihat contoh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02 Claude Projects — punya 1 Project aktif dengan Instructions terisi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03 Gmail + Claude — proses 3 email dalam 10 menit rata-rata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04 Google Sheets — bisa minta formula &amp; insight dari data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05 Batch Prompting — proses 5+ item sekaligus dengan 1 prompt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06 Prompt Chaining — sudah buat chain minimal 3 step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07 Dokumen &amp; Riset — sudah proses meeting notes &amp; SWOT/SOP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23283A"/>
                </a:solidFill>
                <a:latin typeface="Arial"/>
              </a:rPr>
              <a:t>08 Case Study — simulasi hari kerja sibuk, catat waktu yang dihemat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44068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2700">
            <a:solidFill>
              <a:srgbClr val="DCD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641848"/>
            <a:ext cx="2103120" cy="347472"/>
          </a:xfrm>
          <a:prstGeom prst="roundRect">
            <a:avLst>
              <a:gd name="adj" fmla="val 22000"/>
            </a:avLst>
          </a:prstGeom>
          <a:solidFill>
            <a:srgbClr val="684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41848"/>
            <a:ext cx="21031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LANJUT KE K3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90488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40000"/>
              </a:lnSpc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23283A"/>
                </a:solidFill>
                <a:latin typeface="Arial"/>
              </a:rPr>
              <a:t>Setelah checklist ini selesai, kamu siap lanjut ke K3 — Content &amp; Marketing: strategi konten, iklan, dan pemasaran bisnis dengan Claude.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