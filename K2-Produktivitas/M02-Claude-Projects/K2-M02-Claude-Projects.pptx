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j6mTmmlPqXgyftAV+8vdfJAn9B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41D3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02920" y="41148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belajar</a:t>
            </a:r>
            <a:r>
              <a:rPr b="1" i="0" lang="en-US" sz="2200" u="none" cap="none" strike="noStrike">
                <a:solidFill>
                  <a:srgbClr val="8B7CF6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9829800" y="347472"/>
            <a:ext cx="1965960" cy="420624"/>
          </a:xfrm>
          <a:prstGeom prst="roundRect">
            <a:avLst>
              <a:gd fmla="val 21739" name="adj"/>
            </a:avLst>
          </a:prstGeom>
          <a:solidFill>
            <a:srgbClr val="6849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9829800" y="347472"/>
            <a:ext cx="19659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MODUL 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02920" y="2286000"/>
            <a:ext cx="7315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3636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Claude Projects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02920" y="384048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7C0D8"/>
              </a:buClr>
              <a:buSzPts val="1550"/>
              <a:buFont typeface="Arial"/>
              <a:buNone/>
            </a:pPr>
            <a:r>
              <a:rPr b="0" i="0" lang="en-US" sz="1550" u="none" cap="none" strike="noStrike">
                <a:solidFill>
                  <a:srgbClr val="B7C0D8"/>
                </a:solidFill>
                <a:latin typeface="Arial"/>
                <a:ea typeface="Arial"/>
                <a:cs typeface="Arial"/>
                <a:sym typeface="Arial"/>
              </a:rPr>
              <a:t>Asisten yang ingat bisnismu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02920" y="457200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AA2B4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9AA2B4"/>
                </a:solidFill>
                <a:latin typeface="Arial"/>
                <a:ea typeface="Arial"/>
                <a:cs typeface="Arial"/>
                <a:sym typeface="Arial"/>
              </a:rPr>
              <a:t>Produktivitas Kantor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belajar</a:t>
            </a:r>
            <a:r>
              <a:rPr b="1" i="0" lang="en-US" sz="2000" u="none" cap="none" strike="noStrike">
                <a:solidFill>
                  <a:srgbClr val="8B7CF6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2B4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9AA2B4"/>
                </a:solidFill>
                <a:latin typeface="Arial"/>
                <a:ea typeface="Arial"/>
                <a:cs typeface="Arial"/>
                <a:sym typeface="Arial"/>
              </a:rPr>
              <a:t>Modul 02 — Claude Projects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3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D1321"/>
                </a:solidFill>
                <a:latin typeface="Arial"/>
                <a:ea typeface="Arial"/>
                <a:cs typeface="Arial"/>
                <a:sym typeface="Arial"/>
              </a:rPr>
              <a:t>Chat Biasa vs. Claude Projects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PERBEDAAN UTAMA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502920" y="2103120"/>
            <a:ext cx="5440680" cy="4343400"/>
          </a:xfrm>
          <a:prstGeom prst="roundRect">
            <a:avLst>
              <a:gd fmla="val 2526" name="adj"/>
            </a:avLst>
          </a:prstGeom>
          <a:solidFill>
            <a:srgbClr val="F4F6FB"/>
          </a:solidFill>
          <a:ln cap="flat" cmpd="sng" w="12700">
            <a:solidFill>
              <a:srgbClr val="D6DC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704088" y="2286000"/>
            <a:ext cx="1828800" cy="347472"/>
          </a:xfrm>
          <a:prstGeom prst="roundRect">
            <a:avLst>
              <a:gd fmla="val 21053" name="adj"/>
            </a:avLst>
          </a:prstGeom>
          <a:solidFill>
            <a:srgbClr val="FEE2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704088" y="228600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rPr>
              <a:t>CHAT BIASA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704088" y="2816352"/>
            <a:ext cx="5038344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Memori direset setiap sesi baru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45000"/>
              </a:lnSpc>
              <a:spcBef>
                <a:spcPts val="200"/>
              </a:spcBef>
              <a:spcAft>
                <a:spcPts val="0"/>
              </a:spcAft>
              <a:buClr>
                <a:srgbClr val="23283A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Harus briefing ulang setiap kali buka chat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45000"/>
              </a:lnSpc>
              <a:spcBef>
                <a:spcPts val="200"/>
              </a:spcBef>
              <a:spcAft>
                <a:spcPts val="0"/>
              </a:spcAft>
              <a:buClr>
                <a:srgbClr val="23283A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Claude tidak ingat nama toko, produk, atau tone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45000"/>
              </a:lnSpc>
              <a:spcBef>
                <a:spcPts val="200"/>
              </a:spcBef>
              <a:spcAft>
                <a:spcPts val="0"/>
              </a:spcAft>
              <a:buClr>
                <a:srgbClr val="23283A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Tidak bisa simpan file referensi secara permanen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704088" y="5212080"/>
            <a:ext cx="5038344" cy="502920"/>
          </a:xfrm>
          <a:prstGeom prst="roundRect">
            <a:avLst>
              <a:gd fmla="val 14545" name="adj"/>
            </a:avLst>
          </a:prstGeom>
          <a:solidFill>
            <a:srgbClr val="FEE2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704088" y="5212080"/>
            <a:ext cx="5038344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91B1B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991B1B"/>
                </a:solidFill>
                <a:latin typeface="Arial"/>
                <a:ea typeface="Arial"/>
                <a:cs typeface="Arial"/>
                <a:sym typeface="Arial"/>
              </a:rPr>
              <a:t>Buang 5 menit briefing ulang setiap sesi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245352" y="2103120"/>
            <a:ext cx="5440680" cy="4343400"/>
          </a:xfrm>
          <a:prstGeom prst="roundRect">
            <a:avLst>
              <a:gd fmla="val 2526" name="adj"/>
            </a:avLst>
          </a:prstGeom>
          <a:solidFill>
            <a:srgbClr val="F3F0FF"/>
          </a:solidFill>
          <a:ln cap="flat" cmpd="sng" w="12700">
            <a:solidFill>
              <a:srgbClr val="DCD3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6446520" y="2286000"/>
            <a:ext cx="1828800" cy="347472"/>
          </a:xfrm>
          <a:prstGeom prst="roundRect">
            <a:avLst>
              <a:gd fmla="val 21053" name="adj"/>
            </a:avLst>
          </a:prstGeom>
          <a:solidFill>
            <a:srgbClr val="6849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6446520" y="2286000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CLAUDE PROJECTS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6446520" y="2816352"/>
            <a:ext cx="5038344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Memori permanen — ingat semua konteks bisnismu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45000"/>
              </a:lnSpc>
              <a:spcBef>
                <a:spcPts val="200"/>
              </a:spcBef>
              <a:spcAft>
                <a:spcPts val="0"/>
              </a:spcAft>
              <a:buClr>
                <a:srgbClr val="23283A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Sekali setup, selamanya aktif di semua sesi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45000"/>
              </a:lnSpc>
              <a:spcBef>
                <a:spcPts val="200"/>
              </a:spcBef>
              <a:spcAft>
                <a:spcPts val="0"/>
              </a:spcAft>
              <a:buClr>
                <a:srgbClr val="23283A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Bisa simpan tone, format, dan file referensi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45000"/>
              </a:lnSpc>
              <a:spcBef>
                <a:spcPts val="200"/>
              </a:spcBef>
              <a:spcAft>
                <a:spcPts val="0"/>
              </a:spcAft>
              <a:buClr>
                <a:srgbClr val="23283A"/>
              </a:buClr>
              <a:buSzPts val="1300"/>
              <a:buFont typeface="Arial"/>
              <a:buChar char="•"/>
            </a:pPr>
            <a:r>
              <a:rPr b="0" i="0" lang="en-US" sz="130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Langsung kerja tanpa briefing ulang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446520" y="4937760"/>
            <a:ext cx="503834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Yang bisa disimpan di Project: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6446520" y="5257800"/>
            <a:ext cx="1600200" cy="310896"/>
          </a:xfrm>
          <a:prstGeom prst="roundRect">
            <a:avLst>
              <a:gd fmla="val 20588" name="adj"/>
            </a:avLst>
          </a:prstGeom>
          <a:solidFill>
            <a:srgbClr val="F3F0FF"/>
          </a:solidFill>
          <a:ln cap="flat" cmpd="sng" w="12700">
            <a:solidFill>
              <a:srgbClr val="DCD3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6446520" y="5257800"/>
            <a:ext cx="1600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Nama &amp; info bisnis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8165592" y="5257800"/>
            <a:ext cx="1600200" cy="310896"/>
          </a:xfrm>
          <a:prstGeom prst="roundRect">
            <a:avLst>
              <a:gd fmla="val 20588" name="adj"/>
            </a:avLst>
          </a:prstGeom>
          <a:solidFill>
            <a:srgbClr val="F3F0FF"/>
          </a:solidFill>
          <a:ln cap="flat" cmpd="sng" w="12700">
            <a:solidFill>
              <a:srgbClr val="DCD3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165592" y="5257800"/>
            <a:ext cx="1600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Tone bahasa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9884664" y="5257800"/>
            <a:ext cx="1600200" cy="310896"/>
          </a:xfrm>
          <a:prstGeom prst="roundRect">
            <a:avLst>
              <a:gd fmla="val 20588" name="adj"/>
            </a:avLst>
          </a:prstGeom>
          <a:solidFill>
            <a:srgbClr val="F3F0FF"/>
          </a:solidFill>
          <a:ln cap="flat" cmpd="sng" w="12700">
            <a:solidFill>
              <a:srgbClr val="DCD3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9884664" y="5257800"/>
            <a:ext cx="1600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Format output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6446520" y="5641848"/>
            <a:ext cx="1600200" cy="310896"/>
          </a:xfrm>
          <a:prstGeom prst="roundRect">
            <a:avLst>
              <a:gd fmla="val 20588" name="adj"/>
            </a:avLst>
          </a:prstGeom>
          <a:solidFill>
            <a:srgbClr val="F3F0FF"/>
          </a:solidFill>
          <a:ln cap="flat" cmpd="sng" w="12700">
            <a:solidFill>
              <a:srgbClr val="DCD3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6446520" y="5641848"/>
            <a:ext cx="1600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Price list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8165592" y="5641848"/>
            <a:ext cx="1600200" cy="310896"/>
          </a:xfrm>
          <a:prstGeom prst="roundRect">
            <a:avLst>
              <a:gd fmla="val 20588" name="adj"/>
            </a:avLst>
          </a:prstGeom>
          <a:solidFill>
            <a:srgbClr val="F3F0FF"/>
          </a:solidFill>
          <a:ln cap="flat" cmpd="sng" w="12700">
            <a:solidFill>
              <a:srgbClr val="DCD3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8165592" y="5641848"/>
            <a:ext cx="160020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Template SOP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6446520" y="5925312"/>
            <a:ext cx="5038344" cy="347472"/>
          </a:xfrm>
          <a:prstGeom prst="roundRect">
            <a:avLst>
              <a:gd fmla="val 21053" name="adj"/>
            </a:avLst>
          </a:prstGeom>
          <a:solidFill>
            <a:srgbClr val="EAFAF0"/>
          </a:solidFill>
          <a:ln cap="flat" cmpd="sng" w="12700">
            <a:solidFill>
              <a:srgbClr val="B8E6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6446520" y="5925312"/>
            <a:ext cx="5038344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7A44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A7A44"/>
                </a:solidFill>
                <a:latin typeface="Arial"/>
                <a:ea typeface="Arial"/>
                <a:cs typeface="Arial"/>
                <a:sym typeface="Arial"/>
              </a:rPr>
              <a:t>Langsung kerja — hemat 5 menit per sesi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3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belajar</a:t>
            </a:r>
            <a:r>
              <a:rPr b="1" i="0" lang="en-US" sz="2000" u="none" cap="none" strike="noStrike">
                <a:solidFill>
                  <a:srgbClr val="8B7CF6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2B4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9AA2B4"/>
                </a:solidFill>
                <a:latin typeface="Arial"/>
                <a:ea typeface="Arial"/>
                <a:cs typeface="Arial"/>
                <a:sym typeface="Arial"/>
              </a:rPr>
              <a:t>Modul 02 — Claude Projects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3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D1321"/>
                </a:solidFill>
                <a:latin typeface="Arial"/>
                <a:ea typeface="Arial"/>
                <a:cs typeface="Arial"/>
                <a:sym typeface="Arial"/>
              </a:rPr>
              <a:t>Setup dalam 3 Langkah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CARA MULAI — SEKALI SETUP, SELAMANYA AKTIF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502920" y="2084832"/>
            <a:ext cx="3474720" cy="1691640"/>
          </a:xfrm>
          <a:prstGeom prst="roundRect">
            <a:avLst>
              <a:gd fmla="val 6486" name="adj"/>
            </a:avLst>
          </a:prstGeom>
          <a:solidFill>
            <a:srgbClr val="F3F0FF"/>
          </a:solidFill>
          <a:ln cap="flat" cmpd="sng" w="12700">
            <a:solidFill>
              <a:srgbClr val="DCD3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3"/>
          <p:cNvSpPr/>
          <p:nvPr/>
        </p:nvSpPr>
        <p:spPr>
          <a:xfrm>
            <a:off x="685800" y="2267712"/>
            <a:ext cx="420624" cy="420624"/>
          </a:xfrm>
          <a:prstGeom prst="ellipse">
            <a:avLst/>
          </a:prstGeom>
          <a:solidFill>
            <a:srgbClr val="6849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685800" y="226771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234440" y="2286000"/>
            <a:ext cx="2606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Buat Project Baru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40080" y="2770632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Klik "New Project" di sidebar kiri Claude. Beri nama project sesuai bisnismu (contoh: "Kasual Studio").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4178808" y="2084832"/>
            <a:ext cx="3474720" cy="1691640"/>
          </a:xfrm>
          <a:prstGeom prst="roundRect">
            <a:avLst>
              <a:gd fmla="val 6486" name="adj"/>
            </a:avLst>
          </a:prstGeom>
          <a:solidFill>
            <a:srgbClr val="F3F0FF"/>
          </a:solidFill>
          <a:ln cap="flat" cmpd="sng" w="12700">
            <a:solidFill>
              <a:srgbClr val="DCD3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3"/>
          <p:cNvSpPr/>
          <p:nvPr/>
        </p:nvSpPr>
        <p:spPr>
          <a:xfrm>
            <a:off x="4361688" y="2267712"/>
            <a:ext cx="420624" cy="420624"/>
          </a:xfrm>
          <a:prstGeom prst="ellipse">
            <a:avLst/>
          </a:prstGeom>
          <a:solidFill>
            <a:srgbClr val="6849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4361688" y="226771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4910328" y="2286000"/>
            <a:ext cx="2606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Isi Project Instructions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4315968" y="2770632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Tulis System Instructions — konteks bisnis, tone, dan format yang Claude baca di setiap sesi dalam project ini.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7854696" y="2084832"/>
            <a:ext cx="3474720" cy="1691640"/>
          </a:xfrm>
          <a:prstGeom prst="roundRect">
            <a:avLst>
              <a:gd fmla="val 6486" name="adj"/>
            </a:avLst>
          </a:prstGeom>
          <a:solidFill>
            <a:srgbClr val="F3F0FF"/>
          </a:solidFill>
          <a:ln cap="flat" cmpd="sng" w="12700">
            <a:solidFill>
              <a:srgbClr val="DCD3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8037576" y="2267712"/>
            <a:ext cx="420624" cy="420624"/>
          </a:xfrm>
          <a:prstGeom prst="ellipse">
            <a:avLst/>
          </a:prstGeom>
          <a:solidFill>
            <a:srgbClr val="6849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3"/>
          <p:cNvSpPr/>
          <p:nvPr/>
        </p:nvSpPr>
        <p:spPr>
          <a:xfrm>
            <a:off x="8037576" y="2267712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8586216" y="2286000"/>
            <a:ext cx="2606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Mulai Chat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7991856" y="2770632"/>
            <a:ext cx="32004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Buka chat di dalam project. Tidak perlu briefing ulang — Claude langsung tahu konteks bisnismu.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502920" y="4032504"/>
            <a:ext cx="11155680" cy="3017520"/>
          </a:xfrm>
          <a:prstGeom prst="roundRect">
            <a:avLst>
              <a:gd fmla="val 3636" name="adj"/>
            </a:avLst>
          </a:prstGeom>
          <a:solidFill>
            <a:srgbClr val="0D1321"/>
          </a:solidFill>
          <a:ln cap="flat" cmpd="sng" w="12700">
            <a:solidFill>
              <a:srgbClr val="6849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3"/>
          <p:cNvSpPr/>
          <p:nvPr/>
        </p:nvSpPr>
        <p:spPr>
          <a:xfrm>
            <a:off x="822960" y="4197096"/>
            <a:ext cx="10515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7CF6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8B7CF6"/>
                </a:solidFill>
                <a:latin typeface="Arial"/>
                <a:ea typeface="Arial"/>
                <a:cs typeface="Arial"/>
                <a:sym typeface="Arial"/>
              </a:rPr>
              <a:t>TEMPLATE SYSTEM INSTRUCTIONS — COPY &amp; PAKAI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822960" y="4581144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7CF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7CF6"/>
                </a:solidFill>
                <a:latin typeface="Arial"/>
                <a:ea typeface="Arial"/>
                <a:cs typeface="Arial"/>
                <a:sym typeface="Arial"/>
              </a:rPr>
              <a:t># Tentang Bisnis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822960" y="4882896"/>
            <a:ext cx="10424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Nama: [nama toko]  ·  Produk: [deskripsikan singkat]  ·  Target: [siapa yang beli]  ·  Harga: [range]  ·  Channel: [Instagram / Tokopedia / dll]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822960" y="5340096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7CF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7CF6"/>
                </a:solidFill>
                <a:latin typeface="Arial"/>
                <a:ea typeface="Arial"/>
                <a:cs typeface="Arial"/>
                <a:sym typeface="Arial"/>
              </a:rPr>
              <a:t># Tone &amp; Bahasa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822960" y="5641848"/>
            <a:ext cx="10424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Bahasa Indonesia santai  ·  Gunakan "kamu" bukan "Anda"  ·  [tambahkan gaya unik bisnismu]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822960" y="6099048"/>
            <a:ext cx="19202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B7CF6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8B7CF6"/>
                </a:solidFill>
                <a:latin typeface="Arial"/>
                <a:ea typeface="Arial"/>
                <a:cs typeface="Arial"/>
                <a:sym typeface="Arial"/>
              </a:rPr>
              <a:t># Format Default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822960" y="6400800"/>
            <a:ext cx="104241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Caption IG: maks [X] kata + [X] hashtag  ·  Email: maks [X] kata, ada CTA di penutup  ·  Komplain: empati dulu, solusi kedua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4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4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belajar</a:t>
            </a:r>
            <a:r>
              <a:rPr b="1" i="0" lang="en-US" sz="2000" u="none" cap="none" strike="noStrike">
                <a:solidFill>
                  <a:srgbClr val="8B7CF6"/>
                </a:solidFill>
                <a:latin typeface="Arial"/>
                <a:ea typeface="Arial"/>
                <a:cs typeface="Arial"/>
                <a:sym typeface="Arial"/>
              </a:rPr>
              <a:t>claude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AA2B4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9AA2B4"/>
                </a:solidFill>
                <a:latin typeface="Arial"/>
                <a:ea typeface="Arial"/>
                <a:cs typeface="Arial"/>
                <a:sym typeface="Arial"/>
              </a:rPr>
              <a:t>Modul 02 — Claude Projects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1321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D1321"/>
                </a:solidFill>
                <a:latin typeface="Arial"/>
                <a:ea typeface="Arial"/>
                <a:cs typeface="Arial"/>
                <a:sym typeface="Arial"/>
              </a:rPr>
              <a:t>Sebelum vs. Sesudah + Latihan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4"/>
          <p:cNvSpPr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EFEK NYATA CLAUDE PROJECT DALAM PEKERJAAN SEHARI-HARI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502920" y="2084832"/>
            <a:ext cx="5394960" cy="1417320"/>
          </a:xfrm>
          <a:prstGeom prst="roundRect">
            <a:avLst>
              <a:gd fmla="val 6452" name="adj"/>
            </a:avLst>
          </a:prstGeom>
          <a:solidFill>
            <a:srgbClr val="F4F6FB"/>
          </a:solidFill>
          <a:ln cap="flat" cmpd="sng" w="12700">
            <a:solidFill>
              <a:srgbClr val="D6DC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685800" y="2176272"/>
            <a:ext cx="20116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Arial"/>
                <a:ea typeface="Arial"/>
                <a:cs typeface="Arial"/>
                <a:sym typeface="Arial"/>
              </a:rPr>
              <a:t>TANPA PROJECT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685800" y="2514600"/>
            <a:ext cx="50292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150"/>
              <a:buFont typeface="Arial"/>
              <a:buNone/>
            </a:pPr>
            <a:r>
              <a:rPr b="0" i="1" lang="en-US" sz="115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"Kamu adalah copywriter fashion yang paham pasar Gen Z Indonesia. Toko saya namanya Kasual Studio, jual baju kasual wanita, target Gen Z, harga 150–350rb. Tulis caption untuk..."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6400800" y="2084832"/>
            <a:ext cx="5394960" cy="1417320"/>
          </a:xfrm>
          <a:prstGeom prst="roundRect">
            <a:avLst>
              <a:gd fmla="val 6452" name="adj"/>
            </a:avLst>
          </a:prstGeom>
          <a:solidFill>
            <a:srgbClr val="F3F0FF"/>
          </a:solidFill>
          <a:ln cap="flat" cmpd="sng" w="12700">
            <a:solidFill>
              <a:srgbClr val="DCD3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4"/>
          <p:cNvSpPr/>
          <p:nvPr/>
        </p:nvSpPr>
        <p:spPr>
          <a:xfrm>
            <a:off x="6583680" y="2176272"/>
            <a:ext cx="219456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DENGAN PROJECT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6583680" y="2514600"/>
            <a:ext cx="502920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150"/>
              <a:buFont typeface="Arial"/>
              <a:buNone/>
            </a:pPr>
            <a:r>
              <a:rPr b="0" i="1" lang="en-US" sz="115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"Tulis caption untuk kemeja linen putih baru — koleksi summer."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502920" y="3639312"/>
            <a:ext cx="111556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Sama hasilnya. Hemat 3–5 menit briefing setiap sesi.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502920" y="4114800"/>
            <a:ext cx="11155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B36C7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4B36C7"/>
                </a:solidFill>
                <a:latin typeface="Arial"/>
                <a:ea typeface="Arial"/>
                <a:cs typeface="Arial"/>
                <a:sym typeface="Arial"/>
              </a:rPr>
              <a:t>LATIHAN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502920" y="4434840"/>
            <a:ext cx="11155680" cy="2103120"/>
          </a:xfrm>
          <a:prstGeom prst="roundRect">
            <a:avLst>
              <a:gd fmla="val 5217" name="adj"/>
            </a:avLst>
          </a:prstGeom>
          <a:solidFill>
            <a:srgbClr val="EAFAF0"/>
          </a:solidFill>
          <a:ln cap="flat" cmpd="sng" w="12700">
            <a:solidFill>
              <a:srgbClr val="B8E6C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754383" y="4498845"/>
            <a:ext cx="3657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7A44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A7A44"/>
                </a:solidFill>
                <a:latin typeface="Arial"/>
                <a:ea typeface="Arial"/>
                <a:cs typeface="Arial"/>
                <a:sym typeface="Arial"/>
              </a:rPr>
              <a:t>■  LATIHAN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4"/>
          <p:cNvSpPr/>
          <p:nvPr/>
        </p:nvSpPr>
        <p:spPr>
          <a:xfrm>
            <a:off x="754383" y="4777731"/>
            <a:ext cx="10652700" cy="141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Setup Claude Project pertamamu sekarang.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Calibri"/>
              <a:buNone/>
            </a:pPr>
            <a:r>
              <a:t/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1. Buka Claude → klik "New Project" → beri nama sesuai bisnismu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2. Salin template System Instructions dari slide sebelumnya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3. Isi dengan info bisnismu sendiri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4. Test dengan 3 prompt berbeda — Claude harus langsung "ngerti" tanpa briefing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83A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3283A"/>
                </a:solidFill>
                <a:latin typeface="Arial"/>
                <a:ea typeface="Arial"/>
                <a:cs typeface="Arial"/>
                <a:sym typeface="Arial"/>
              </a:rPr>
              <a:t>Output: 1 Project aktif dengan System Instructions terisi.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2026-07-13T15:52:38Z</dcterms:created>
  <dc:creator>PptxGenJS</dc:creator>
</cp:coreProperties>
</file>