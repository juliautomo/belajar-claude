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7562088" y="0"/>
            <a:ext cx="4626864" cy="6858000"/>
          </a:xfrm>
          <a:prstGeom prst="rect">
            <a:avLst/>
          </a:prstGeom>
          <a:solidFill>
            <a:srgbClr val="141D33"/>
          </a:solidFill>
          <a:ln/>
        </p:spPr>
      </p:sp>
      <p:sp>
        <p:nvSpPr>
          <p:cNvPr id="3" name="Text 1"/>
          <p:cNvSpPr/>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4" name="Shape 2"/>
          <p:cNvSpPr/>
          <p:nvPr/>
        </p:nvSpPr>
        <p:spPr>
          <a:xfrm>
            <a:off x="10616184" y="384048"/>
            <a:ext cx="1024128" cy="384048"/>
          </a:xfrm>
          <a:prstGeom prst="roundRect">
            <a:avLst>
              <a:gd name="adj" fmla="val 23810"/>
            </a:avLst>
          </a:prstGeom>
          <a:solidFill>
            <a:srgbClr val="6849F6"/>
          </a:solidFill>
          <a:ln/>
        </p:spPr>
      </p:sp>
      <p:sp>
        <p:nvSpPr>
          <p:cNvPr id="5" name="Text 3"/>
          <p:cNvSpPr/>
          <p:nvPr/>
        </p:nvSpPr>
        <p:spPr>
          <a:xfrm>
            <a:off x="10616184" y="384048"/>
            <a:ext cx="102412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Helvetica" pitchFamily="34" charset="0"/>
                <a:ea typeface="Helvetica" pitchFamily="34" charset="-122"/>
                <a:cs typeface="Helvetica" pitchFamily="34" charset="-120"/>
              </a:rPr>
              <a:t>MODUL 4</a:t>
            </a:r>
            <a:endParaRPr lang="en-US" sz="1250" dirty="0"/>
          </a:p>
        </p:txBody>
      </p:sp>
      <p:sp>
        <p:nvSpPr>
          <p:cNvPr id="6" name="Text 4"/>
          <p:cNvSpPr/>
          <p:nvPr/>
        </p:nvSpPr>
        <p:spPr>
          <a:xfrm>
            <a:off x="548640" y="2331720"/>
            <a:ext cx="7772400" cy="320040"/>
          </a:xfrm>
          <a:prstGeom prst="rect">
            <a:avLst/>
          </a:prstGeom>
          <a:noFill/>
          <a:ln/>
        </p:spPr>
        <p:txBody>
          <a:bodyPr wrap="square" lIns="0" tIns="0" rIns="0" bIns="0" rtlCol="0" anchor="ctr"/>
          <a:lstStyle/>
          <a:p>
            <a:pPr indent="0" marL="0">
              <a:buNone/>
            </a:pPr>
            <a:r>
              <a:rPr lang="en-US" sz="1300" b="1" spc="40" kern="0" dirty="0">
                <a:solidFill>
                  <a:srgbClr val="8B7CF6"/>
                </a:solidFill>
                <a:latin typeface="Helvetica" pitchFamily="34" charset="0"/>
                <a:ea typeface="Helvetica" pitchFamily="34" charset="-122"/>
                <a:cs typeface="Helvetica" pitchFamily="34" charset="-120"/>
              </a:rPr>
              <a:t>KREASI KONTEN PEMASARAN</a:t>
            </a:r>
            <a:endParaRPr lang="en-US" sz="1300" dirty="0"/>
          </a:p>
        </p:txBody>
      </p:sp>
      <p:sp>
        <p:nvSpPr>
          <p:cNvPr id="7" name="Text 5"/>
          <p:cNvSpPr/>
          <p:nvPr/>
        </p:nvSpPr>
        <p:spPr>
          <a:xfrm>
            <a:off x="548640" y="2697480"/>
            <a:ext cx="7772400" cy="91440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Helvetica" pitchFamily="34" charset="0"/>
                <a:ea typeface="Helvetica" pitchFamily="34" charset="-122"/>
                <a:cs typeface="Helvetica" pitchFamily="34" charset="-120"/>
              </a:rPr>
              <a:t>Copy Iklan Multi-Platform + Desain Canva</a:t>
            </a:r>
            <a:endParaRPr lang="en-US" sz="4000" dirty="0"/>
          </a:p>
        </p:txBody>
      </p:sp>
      <p:sp>
        <p:nvSpPr>
          <p:cNvPr id="8" name="Text 6"/>
          <p:cNvSpPr/>
          <p:nvPr/>
        </p:nvSpPr>
        <p:spPr>
          <a:xfrm>
            <a:off x="548640" y="3703320"/>
            <a:ext cx="7315200" cy="548640"/>
          </a:xfrm>
          <a:prstGeom prst="rect">
            <a:avLst/>
          </a:prstGeom>
          <a:noFill/>
          <a:ln/>
        </p:spPr>
        <p:txBody>
          <a:bodyPr wrap="square" lIns="0" tIns="0" rIns="0" bIns="0" rtlCol="0" anchor="ctr"/>
          <a:lstStyle/>
          <a:p>
            <a:pPr indent="0" marL="0">
              <a:buNone/>
            </a:pPr>
            <a:r>
              <a:rPr lang="en-US" sz="1550" dirty="0">
                <a:solidFill>
                  <a:srgbClr val="B7C0D8"/>
                </a:solidFill>
                <a:latin typeface="Helvetica" pitchFamily="34" charset="0"/>
                <a:ea typeface="Helvetica" pitchFamily="34" charset="-122"/>
                <a:cs typeface="Helvetica" pitchFamily="34" charset="-120"/>
              </a:rPr>
              <a:t>Claude tulis copy per platform, Canva bikin desain</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Copy Iklan Multi-Platform + Canva</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REUSE DARI MODUL 3, TIDAK SETUP ULANG</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Copy + Desain dalam Satu Alur</a:t>
            </a:r>
            <a:endParaRPr lang="en-US" sz="2200" dirty="0"/>
          </a:p>
        </p:txBody>
      </p:sp>
      <p:sp>
        <p:nvSpPr>
          <p:cNvPr id="8" name="Shape 6"/>
          <p:cNvSpPr/>
          <p:nvPr/>
        </p:nvSpPr>
        <p:spPr>
          <a:xfrm>
            <a:off x="502920" y="2103120"/>
            <a:ext cx="11064240" cy="1554480"/>
          </a:xfrm>
          <a:prstGeom prst="roundRect">
            <a:avLst>
              <a:gd name="adj" fmla="val 5882"/>
            </a:avLst>
          </a:prstGeom>
          <a:solidFill>
            <a:srgbClr val="F3F0FF"/>
          </a:solidFill>
          <a:ln w="12700">
            <a:solidFill>
              <a:srgbClr val="DCD3FB"/>
            </a:solidFill>
            <a:prstDash val="solid"/>
          </a:ln>
        </p:spPr>
      </p:sp>
      <p:sp>
        <p:nvSpPr>
          <p:cNvPr id="9" name="Text 7"/>
          <p:cNvSpPr/>
          <p:nvPr/>
        </p:nvSpPr>
        <p:spPr>
          <a:xfrm>
            <a:off x="713232" y="2267712"/>
            <a:ext cx="10607040" cy="274320"/>
          </a:xfrm>
          <a:prstGeom prst="rect">
            <a:avLst/>
          </a:prstGeom>
          <a:noFill/>
          <a:ln/>
        </p:spPr>
        <p:txBody>
          <a:bodyPr wrap="square" lIns="0" tIns="0" rIns="0" bIns="0" rtlCol="0" anchor="ctr"/>
          <a:lstStyle/>
          <a:p>
            <a:pPr indent="0" marL="0">
              <a:buNone/>
            </a:pPr>
            <a:r>
              <a:rPr lang="en-US" sz="1250" b="1" dirty="0">
                <a:solidFill>
                  <a:srgbClr val="4B36C7"/>
                </a:solidFill>
                <a:latin typeface="Helvetica" pitchFamily="34" charset="0"/>
                <a:ea typeface="Helvetica" pitchFamily="34" charset="-122"/>
                <a:cs typeface="Helvetica" pitchFamily="34" charset="-120"/>
              </a:rPr>
              <a:t>◆  CANVA CONNECTOR — REUSE DARI MODUL 3</a:t>
            </a:r>
            <a:endParaRPr lang="en-US" sz="1250" dirty="0"/>
          </a:p>
        </p:txBody>
      </p:sp>
      <p:sp>
        <p:nvSpPr>
          <p:cNvPr id="10" name="Text 8"/>
          <p:cNvSpPr/>
          <p:nvPr/>
        </p:nvSpPr>
        <p:spPr>
          <a:xfrm>
            <a:off x="713232" y="2578608"/>
            <a:ext cx="10607040" cy="1005840"/>
          </a:xfrm>
          <a:prstGeom prst="rect">
            <a:avLst/>
          </a:prstGeom>
          <a:noFill/>
          <a:ln/>
        </p:spPr>
        <p:txBody>
          <a:bodyPr wrap="square" lIns="0" tIns="0" rIns="0" bIns="0" rtlCol="0" anchor="ctr"/>
          <a:lstStyle/>
          <a:p>
            <a:pPr indent="0" marL="0">
              <a:lnSpc>
                <a:spcPct val="125000"/>
              </a:lnSpc>
              <a:buNone/>
            </a:pPr>
            <a:r>
              <a:rPr lang="en-US" sz="1200" dirty="0">
                <a:solidFill>
                  <a:srgbClr val="23283A"/>
                </a:solidFill>
                <a:latin typeface="Helvetica" pitchFamily="34" charset="0"/>
                <a:ea typeface="Helvetica" pitchFamily="34" charset="-122"/>
                <a:cs typeface="Helvetica" pitchFamily="34" charset="-120"/>
              </a:rPr>
              <a:t>Sudah setup di Modul 3? Tinggal dipakai lagi — tidak perlu setup ulang. Instruksikan: "Buat desain Instagram Story iklan produk ini di Canva, ukuran 1080x1920px, sesuai warna brand di Project-ku" — Claude buka Canva, pilih template, isi teks, hasilkan desain siap download. Belum sempat setup? Balik ke Modul 3 (60 detik), atau ikuti modul ini dengan copy-paste manual ke Canva.</a:t>
            </a:r>
            <a:endParaRPr lang="en-US" sz="1200" dirty="0"/>
          </a:p>
        </p:txBody>
      </p:sp>
      <p:sp>
        <p:nvSpPr>
          <p:cNvPr id="11" name="Shape 9"/>
          <p:cNvSpPr/>
          <p:nvPr/>
        </p:nvSpPr>
        <p:spPr>
          <a:xfrm>
            <a:off x="502920" y="3794760"/>
            <a:ext cx="11064240" cy="1371600"/>
          </a:xfrm>
          <a:prstGeom prst="roundRect">
            <a:avLst>
              <a:gd name="adj" fmla="val 6667"/>
            </a:avLst>
          </a:prstGeom>
          <a:solidFill>
            <a:srgbClr val="F4F6FB"/>
          </a:solidFill>
          <a:ln w="12700">
            <a:solidFill>
              <a:srgbClr val="D6DCEB"/>
            </a:solidFill>
            <a:prstDash val="solid"/>
          </a:ln>
        </p:spPr>
      </p:sp>
      <p:sp>
        <p:nvSpPr>
          <p:cNvPr id="12" name="Text 10"/>
          <p:cNvSpPr/>
          <p:nvPr/>
        </p:nvSpPr>
        <p:spPr>
          <a:xfrm>
            <a:off x="713232" y="3959352"/>
            <a:ext cx="10607040" cy="274320"/>
          </a:xfrm>
          <a:prstGeom prst="rect">
            <a:avLst/>
          </a:prstGeom>
          <a:noFill/>
          <a:ln/>
        </p:spPr>
        <p:txBody>
          <a:bodyPr wrap="square" lIns="0" tIns="0" rIns="0" bIns="0" rtlCol="0" anchor="ctr"/>
          <a:lstStyle/>
          <a:p>
            <a:pPr indent="0" marL="0">
              <a:buNone/>
            </a:pPr>
            <a:r>
              <a:rPr lang="en-US" sz="1250" b="1" dirty="0">
                <a:solidFill>
                  <a:srgbClr val="6B7280"/>
                </a:solidFill>
                <a:latin typeface="Helvetica" pitchFamily="34" charset="0"/>
                <a:ea typeface="Helvetica" pitchFamily="34" charset="-122"/>
                <a:cs typeface="Helvetica" pitchFamily="34" charset="-120"/>
              </a:rPr>
              <a:t>◆  BUTUH EDIT FOTO PRODUK ATAU VISUAL IKLAN?</a:t>
            </a:r>
            <a:endParaRPr lang="en-US" sz="1250" dirty="0"/>
          </a:p>
        </p:txBody>
      </p:sp>
      <p:sp>
        <p:nvSpPr>
          <p:cNvPr id="13" name="Text 11"/>
          <p:cNvSpPr/>
          <p:nvPr/>
        </p:nvSpPr>
        <p:spPr>
          <a:xfrm>
            <a:off x="713232" y="4270248"/>
            <a:ext cx="10607040" cy="868680"/>
          </a:xfrm>
          <a:prstGeom prst="rect">
            <a:avLst/>
          </a:prstGeom>
          <a:noFill/>
          <a:ln/>
        </p:spPr>
        <p:txBody>
          <a:bodyPr wrap="square" lIns="0" tIns="0" rIns="0" bIns="0" rtlCol="0" anchor="ctr"/>
          <a:lstStyle/>
          <a:p>
            <a:pPr indent="0" marL="0">
              <a:lnSpc>
                <a:spcPct val="125000"/>
              </a:lnSpc>
              <a:buNone/>
            </a:pPr>
            <a:r>
              <a:rPr lang="en-US" sz="1200" dirty="0">
                <a:solidFill>
                  <a:srgbClr val="23283A"/>
                </a:solidFill>
                <a:latin typeface="Helvetica" pitchFamily="34" charset="0"/>
                <a:ea typeface="Helvetica" pitchFamily="34" charset="-122"/>
                <a:cs typeface="Helvetica" pitchFamily="34" charset="-120"/>
              </a:rPr>
              <a:t>Claude tidak bisa mengedit atau membuat foto langsung. Untuk edit (crop, retouch, hapus background) pakai Canva atau remove.bg. Untuk visual baru dari nol, pakai pola Prompt Enhancer yang sama seperti Modul 3: jelaskan idemu, Claude tulis prompt detail untuk Nano Banana Pro atau ChatGPT, hasilnya kamu susun jadi desain final di Canva.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Copy Iklan Multi-Platform + Canva</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URUTAN YANG BIKIN PEMBELI BERHENTI SCROLL</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Framework Copy Iklan yang Convert</a:t>
            </a:r>
            <a:endParaRPr lang="en-US" sz="2200" dirty="0"/>
          </a:p>
        </p:txBody>
      </p:sp>
      <p:sp>
        <p:nvSpPr>
          <p:cNvPr id="8" name="Shape 6"/>
          <p:cNvSpPr/>
          <p:nvPr/>
        </p:nvSpPr>
        <p:spPr>
          <a:xfrm>
            <a:off x="502920" y="2103120"/>
            <a:ext cx="2377440" cy="1371600"/>
          </a:xfrm>
          <a:prstGeom prst="roundRect">
            <a:avLst>
              <a:gd name="adj" fmla="val 6667"/>
            </a:avLst>
          </a:prstGeom>
          <a:solidFill>
            <a:srgbClr val="F4F6FB"/>
          </a:solidFill>
          <a:ln w="12700">
            <a:solidFill>
              <a:srgbClr val="D6DCEB"/>
            </a:solidFill>
            <a:prstDash val="solid"/>
          </a:ln>
        </p:spPr>
      </p:sp>
      <p:sp>
        <p:nvSpPr>
          <p:cNvPr id="9" name="Text 7"/>
          <p:cNvSpPr/>
          <p:nvPr/>
        </p:nvSpPr>
        <p:spPr>
          <a:xfrm>
            <a:off x="630936" y="2249424"/>
            <a:ext cx="2121408" cy="320040"/>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HOOK</a:t>
            </a:r>
            <a:endParaRPr lang="en-US" sz="1150" dirty="0"/>
          </a:p>
        </p:txBody>
      </p:sp>
      <p:sp>
        <p:nvSpPr>
          <p:cNvPr id="10" name="Text 8"/>
          <p:cNvSpPr/>
          <p:nvPr/>
        </p:nvSpPr>
        <p:spPr>
          <a:xfrm>
            <a:off x="630936" y="2596896"/>
            <a:ext cx="2121408" cy="749808"/>
          </a:xfrm>
          <a:prstGeom prst="rect">
            <a:avLst/>
          </a:prstGeom>
          <a:noFill/>
          <a:ln/>
        </p:spPr>
        <p:txBody>
          <a:bodyPr wrap="square" lIns="0" tIns="0" rIns="0" bIns="0" rtlCol="0" anchor="ctr"/>
          <a:lstStyle/>
          <a:p>
            <a:pPr indent="0" marL="0">
              <a:lnSpc>
                <a:spcPct val="120000"/>
              </a:lnSpc>
              <a:buNone/>
            </a:pPr>
            <a:r>
              <a:rPr lang="en-US" sz="1000" dirty="0">
                <a:solidFill>
                  <a:srgbClr val="23283A"/>
                </a:solidFill>
                <a:latin typeface="Helvetica" pitchFamily="34" charset="0"/>
                <a:ea typeface="Helvetica" pitchFamily="34" charset="-122"/>
                <a:cs typeface="Helvetica" pitchFamily="34" charset="-120"/>
              </a:rPr>
              <a:t>1-2 detik pertama — scroll stopper: pertanyaan, angka, atau pernyataan mengejutkan</a:t>
            </a:r>
            <a:endParaRPr lang="en-US" sz="1000" dirty="0"/>
          </a:p>
        </p:txBody>
      </p:sp>
      <p:sp>
        <p:nvSpPr>
          <p:cNvPr id="11" name="Text 9"/>
          <p:cNvSpPr/>
          <p:nvPr/>
        </p:nvSpPr>
        <p:spPr>
          <a:xfrm>
            <a:off x="2880360" y="2103120"/>
            <a:ext cx="384048" cy="1371600"/>
          </a:xfrm>
          <a:prstGeom prst="rect">
            <a:avLst/>
          </a:prstGeom>
          <a:noFill/>
          <a:ln/>
        </p:spPr>
        <p:txBody>
          <a:bodyPr wrap="square" lIns="0" tIns="0" rIns="0" bIns="0" rtlCol="0" anchor="ctr"/>
          <a:lstStyle/>
          <a:p>
            <a:pPr algn="ctr" indent="0" marL="0">
              <a:buNone/>
            </a:pPr>
            <a:r>
              <a:rPr lang="en-US" sz="1800" b="1" dirty="0">
                <a:solidFill>
                  <a:srgbClr val="6849F6"/>
                </a:solidFill>
                <a:latin typeface="Helvetica" pitchFamily="34" charset="0"/>
                <a:ea typeface="Helvetica" pitchFamily="34" charset="-122"/>
                <a:cs typeface="Helvetica" pitchFamily="34" charset="-120"/>
              </a:rPr>
              <a:t>→</a:t>
            </a:r>
            <a:endParaRPr lang="en-US" sz="1800" dirty="0"/>
          </a:p>
        </p:txBody>
      </p:sp>
      <p:sp>
        <p:nvSpPr>
          <p:cNvPr id="12" name="Shape 10"/>
          <p:cNvSpPr/>
          <p:nvPr/>
        </p:nvSpPr>
        <p:spPr>
          <a:xfrm>
            <a:off x="3264408" y="2103120"/>
            <a:ext cx="2377440" cy="1371600"/>
          </a:xfrm>
          <a:prstGeom prst="roundRect">
            <a:avLst>
              <a:gd name="adj" fmla="val 6667"/>
            </a:avLst>
          </a:prstGeom>
          <a:solidFill>
            <a:srgbClr val="F4F6FB"/>
          </a:solidFill>
          <a:ln w="12700">
            <a:solidFill>
              <a:srgbClr val="D6DCEB"/>
            </a:solidFill>
            <a:prstDash val="solid"/>
          </a:ln>
        </p:spPr>
      </p:sp>
      <p:sp>
        <p:nvSpPr>
          <p:cNvPr id="13" name="Text 11"/>
          <p:cNvSpPr/>
          <p:nvPr/>
        </p:nvSpPr>
        <p:spPr>
          <a:xfrm>
            <a:off x="3392424" y="2249424"/>
            <a:ext cx="2121408" cy="320040"/>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PROBLEM / PAIN</a:t>
            </a:r>
            <a:endParaRPr lang="en-US" sz="1150" dirty="0"/>
          </a:p>
        </p:txBody>
      </p:sp>
      <p:sp>
        <p:nvSpPr>
          <p:cNvPr id="14" name="Text 12"/>
          <p:cNvSpPr/>
          <p:nvPr/>
        </p:nvSpPr>
        <p:spPr>
          <a:xfrm>
            <a:off x="3392424" y="2596896"/>
            <a:ext cx="2121408" cy="749808"/>
          </a:xfrm>
          <a:prstGeom prst="rect">
            <a:avLst/>
          </a:prstGeom>
          <a:noFill/>
          <a:ln/>
        </p:spPr>
        <p:txBody>
          <a:bodyPr wrap="square" lIns="0" tIns="0" rIns="0" bIns="0" rtlCol="0" anchor="ctr"/>
          <a:lstStyle/>
          <a:p>
            <a:pPr indent="0" marL="0">
              <a:lnSpc>
                <a:spcPct val="120000"/>
              </a:lnSpc>
              <a:buNone/>
            </a:pPr>
            <a:r>
              <a:rPr lang="en-US" sz="1000" dirty="0">
                <a:solidFill>
                  <a:srgbClr val="23283A"/>
                </a:solidFill>
                <a:latin typeface="Helvetica" pitchFamily="34" charset="0"/>
                <a:ea typeface="Helvetica" pitchFamily="34" charset="-122"/>
                <a:cs typeface="Helvetica" pitchFamily="34" charset="-120"/>
              </a:rPr>
              <a:t>Tunjukkan kamu mengerti masalah pembeli, bukan langsung jual</a:t>
            </a:r>
            <a:endParaRPr lang="en-US" sz="1000" dirty="0"/>
          </a:p>
        </p:txBody>
      </p:sp>
      <p:sp>
        <p:nvSpPr>
          <p:cNvPr id="15" name="Text 13"/>
          <p:cNvSpPr/>
          <p:nvPr/>
        </p:nvSpPr>
        <p:spPr>
          <a:xfrm>
            <a:off x="5641848" y="2103120"/>
            <a:ext cx="384048" cy="1371600"/>
          </a:xfrm>
          <a:prstGeom prst="rect">
            <a:avLst/>
          </a:prstGeom>
          <a:noFill/>
          <a:ln/>
        </p:spPr>
        <p:txBody>
          <a:bodyPr wrap="square" lIns="0" tIns="0" rIns="0" bIns="0" rtlCol="0" anchor="ctr"/>
          <a:lstStyle/>
          <a:p>
            <a:pPr algn="ctr" indent="0" marL="0">
              <a:buNone/>
            </a:pPr>
            <a:r>
              <a:rPr lang="en-US" sz="1800" b="1" dirty="0">
                <a:solidFill>
                  <a:srgbClr val="6849F6"/>
                </a:solidFill>
                <a:latin typeface="Helvetica" pitchFamily="34" charset="0"/>
                <a:ea typeface="Helvetica" pitchFamily="34" charset="-122"/>
                <a:cs typeface="Helvetica" pitchFamily="34" charset="-120"/>
              </a:rPr>
              <a:t>→</a:t>
            </a:r>
            <a:endParaRPr lang="en-US" sz="1800" dirty="0"/>
          </a:p>
        </p:txBody>
      </p:sp>
      <p:sp>
        <p:nvSpPr>
          <p:cNvPr id="16" name="Shape 14"/>
          <p:cNvSpPr/>
          <p:nvPr/>
        </p:nvSpPr>
        <p:spPr>
          <a:xfrm>
            <a:off x="6025896" y="2103120"/>
            <a:ext cx="2377440" cy="1371600"/>
          </a:xfrm>
          <a:prstGeom prst="roundRect">
            <a:avLst>
              <a:gd name="adj" fmla="val 6667"/>
            </a:avLst>
          </a:prstGeom>
          <a:solidFill>
            <a:srgbClr val="F4F6FB"/>
          </a:solidFill>
          <a:ln w="12700">
            <a:solidFill>
              <a:srgbClr val="D6DCEB"/>
            </a:solidFill>
            <a:prstDash val="solid"/>
          </a:ln>
        </p:spPr>
      </p:sp>
      <p:sp>
        <p:nvSpPr>
          <p:cNvPr id="17" name="Text 15"/>
          <p:cNvSpPr/>
          <p:nvPr/>
        </p:nvSpPr>
        <p:spPr>
          <a:xfrm>
            <a:off x="6153912" y="2249424"/>
            <a:ext cx="2121408" cy="320040"/>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SOLUTION + PROOF</a:t>
            </a:r>
            <a:endParaRPr lang="en-US" sz="1150" dirty="0"/>
          </a:p>
        </p:txBody>
      </p:sp>
      <p:sp>
        <p:nvSpPr>
          <p:cNvPr id="18" name="Text 16"/>
          <p:cNvSpPr/>
          <p:nvPr/>
        </p:nvSpPr>
        <p:spPr>
          <a:xfrm>
            <a:off x="6153912" y="2596896"/>
            <a:ext cx="2121408" cy="749808"/>
          </a:xfrm>
          <a:prstGeom prst="rect">
            <a:avLst/>
          </a:prstGeom>
          <a:noFill/>
          <a:ln/>
        </p:spPr>
        <p:txBody>
          <a:bodyPr wrap="square" lIns="0" tIns="0" rIns="0" bIns="0" rtlCol="0" anchor="ctr"/>
          <a:lstStyle/>
          <a:p>
            <a:pPr indent="0" marL="0">
              <a:lnSpc>
                <a:spcPct val="120000"/>
              </a:lnSpc>
              <a:buNone/>
            </a:pPr>
            <a:r>
              <a:rPr lang="en-US" sz="1000" dirty="0">
                <a:solidFill>
                  <a:srgbClr val="23283A"/>
                </a:solidFill>
                <a:latin typeface="Helvetica" pitchFamily="34" charset="0"/>
                <a:ea typeface="Helvetica" pitchFamily="34" charset="-122"/>
                <a:cs typeface="Helvetica" pitchFamily="34" charset="-120"/>
              </a:rPr>
              <a:t>Produkmu sebagai solusi, dengan bukti konkret (review, angka, testimoni)</a:t>
            </a:r>
            <a:endParaRPr lang="en-US" sz="1000" dirty="0"/>
          </a:p>
        </p:txBody>
      </p:sp>
      <p:sp>
        <p:nvSpPr>
          <p:cNvPr id="19" name="Text 17"/>
          <p:cNvSpPr/>
          <p:nvPr/>
        </p:nvSpPr>
        <p:spPr>
          <a:xfrm>
            <a:off x="8403336" y="2103120"/>
            <a:ext cx="384048" cy="1371600"/>
          </a:xfrm>
          <a:prstGeom prst="rect">
            <a:avLst/>
          </a:prstGeom>
          <a:noFill/>
          <a:ln/>
        </p:spPr>
        <p:txBody>
          <a:bodyPr wrap="square" lIns="0" tIns="0" rIns="0" bIns="0" rtlCol="0" anchor="ctr"/>
          <a:lstStyle/>
          <a:p>
            <a:pPr algn="ctr" indent="0" marL="0">
              <a:buNone/>
            </a:pPr>
            <a:r>
              <a:rPr lang="en-US" sz="1800" b="1" dirty="0">
                <a:solidFill>
                  <a:srgbClr val="6849F6"/>
                </a:solidFill>
                <a:latin typeface="Helvetica" pitchFamily="34" charset="0"/>
                <a:ea typeface="Helvetica" pitchFamily="34" charset="-122"/>
                <a:cs typeface="Helvetica" pitchFamily="34" charset="-120"/>
              </a:rPr>
              <a:t>→</a:t>
            </a:r>
            <a:endParaRPr lang="en-US" sz="1800" dirty="0"/>
          </a:p>
        </p:txBody>
      </p:sp>
      <p:sp>
        <p:nvSpPr>
          <p:cNvPr id="20" name="Shape 18"/>
          <p:cNvSpPr/>
          <p:nvPr/>
        </p:nvSpPr>
        <p:spPr>
          <a:xfrm>
            <a:off x="8787384" y="2103120"/>
            <a:ext cx="2377440" cy="1371600"/>
          </a:xfrm>
          <a:prstGeom prst="roundRect">
            <a:avLst>
              <a:gd name="adj" fmla="val 6667"/>
            </a:avLst>
          </a:prstGeom>
          <a:solidFill>
            <a:srgbClr val="F4F6FB"/>
          </a:solidFill>
          <a:ln w="12700">
            <a:solidFill>
              <a:srgbClr val="D6DCEB"/>
            </a:solidFill>
            <a:prstDash val="solid"/>
          </a:ln>
        </p:spPr>
      </p:sp>
      <p:sp>
        <p:nvSpPr>
          <p:cNvPr id="21" name="Text 19"/>
          <p:cNvSpPr/>
          <p:nvPr/>
        </p:nvSpPr>
        <p:spPr>
          <a:xfrm>
            <a:off x="8915400" y="2249424"/>
            <a:ext cx="2121408" cy="320040"/>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CTA SPESIFIK</a:t>
            </a:r>
            <a:endParaRPr lang="en-US" sz="1150" dirty="0"/>
          </a:p>
        </p:txBody>
      </p:sp>
      <p:sp>
        <p:nvSpPr>
          <p:cNvPr id="22" name="Text 20"/>
          <p:cNvSpPr/>
          <p:nvPr/>
        </p:nvSpPr>
        <p:spPr>
          <a:xfrm>
            <a:off x="8915400" y="2596896"/>
            <a:ext cx="2121408" cy="749808"/>
          </a:xfrm>
          <a:prstGeom prst="rect">
            <a:avLst/>
          </a:prstGeom>
          <a:noFill/>
          <a:ln/>
        </p:spPr>
        <p:txBody>
          <a:bodyPr wrap="square" lIns="0" tIns="0" rIns="0" bIns="0" rtlCol="0" anchor="ctr"/>
          <a:lstStyle/>
          <a:p>
            <a:pPr indent="0" marL="0">
              <a:lnSpc>
                <a:spcPct val="120000"/>
              </a:lnSpc>
              <a:buNone/>
            </a:pPr>
            <a:r>
              <a:rPr lang="en-US" sz="1000" dirty="0">
                <a:solidFill>
                  <a:srgbClr val="23283A"/>
                </a:solidFill>
                <a:latin typeface="Helvetica" pitchFamily="34" charset="0"/>
                <a:ea typeface="Helvetica" pitchFamily="34" charset="-122"/>
                <a:cs typeface="Helvetica" pitchFamily="34" charset="-120"/>
              </a:rPr>
              <a:t>Bukan "hubungi kami" tapi "klik link di bio, stok terbatas 50 pcs"</a:t>
            </a:r>
            <a:endParaRPr lang="en-US" sz="1000" dirty="0"/>
          </a:p>
        </p:txBody>
      </p:sp>
      <p:sp>
        <p:nvSpPr>
          <p:cNvPr id="23" name="Text 21"/>
          <p:cNvSpPr/>
          <p:nvPr/>
        </p:nvSpPr>
        <p:spPr>
          <a:xfrm>
            <a:off x="502920" y="3611880"/>
            <a:ext cx="11064240" cy="292608"/>
          </a:xfrm>
          <a:prstGeom prst="rect">
            <a:avLst/>
          </a:prstGeom>
          <a:noFill/>
          <a:ln/>
        </p:spPr>
        <p:txBody>
          <a:bodyPr wrap="square" lIns="0" tIns="0" rIns="0" bIns="0" rtlCol="0" anchor="ctr"/>
          <a:lstStyle/>
          <a:p>
            <a:pPr indent="0" marL="0">
              <a:buNone/>
            </a:pPr>
            <a:r>
              <a:rPr lang="en-US" sz="1200" i="1" dirty="0">
                <a:solidFill>
                  <a:srgbClr val="6B7280"/>
                </a:solidFill>
                <a:latin typeface="Helvetica" pitchFamily="34" charset="0"/>
                <a:ea typeface="Helvetica" pitchFamily="34" charset="-122"/>
                <a:cs typeface="Helvetica" pitchFamily="34" charset="-120"/>
              </a:rPr>
              <a:t>Selalu buat </a:t>
            </a:r>
            <a:pPr indent="0" marL="0">
              <a:buNone/>
            </a:pPr>
            <a:r>
              <a:rPr lang="en-US" sz="1200" b="1" i="1" dirty="0">
                <a:solidFill>
                  <a:srgbClr val="23283A"/>
                </a:solidFill>
                <a:latin typeface="Helvetica" pitchFamily="34" charset="0"/>
                <a:ea typeface="Helvetica" pitchFamily="34" charset="-122"/>
                <a:cs typeface="Helvetica" pitchFamily="34" charset="-120"/>
              </a:rPr>
              <a:t>3 variasi</a:t>
            </a:r>
            <a:pPr indent="0" marL="0">
              <a:buNone/>
            </a:pPr>
            <a:r>
              <a:rPr lang="en-US" sz="1200" i="1" dirty="0">
                <a:solidFill>
                  <a:srgbClr val="6B7280"/>
                </a:solidFill>
                <a:latin typeface="Helvetica" pitchFamily="34" charset="0"/>
                <a:ea typeface="Helvetica" pitchFamily="34" charset="-122"/>
                <a:cs typeface="Helvetica" pitchFamily="34" charset="-120"/>
              </a:rPr>
              <a:t> — A/B test mana yang perform terbaik setelah 3 hari.</a:t>
            </a:r>
            <a:endParaRPr lang="en-US" sz="1200" dirty="0"/>
          </a:p>
        </p:txBody>
      </p:sp>
      <p:sp>
        <p:nvSpPr>
          <p:cNvPr id="24" name="Shape 22"/>
          <p:cNvSpPr/>
          <p:nvPr/>
        </p:nvSpPr>
        <p:spPr>
          <a:xfrm>
            <a:off x="502920" y="4069080"/>
            <a:ext cx="11064240" cy="1691640"/>
          </a:xfrm>
          <a:prstGeom prst="roundRect">
            <a:avLst>
              <a:gd name="adj" fmla="val 5405"/>
            </a:avLst>
          </a:prstGeom>
          <a:solidFill>
            <a:srgbClr val="FFF6F6"/>
          </a:solidFill>
          <a:ln w="12700">
            <a:solidFill>
              <a:srgbClr val="F3C6C6"/>
            </a:solidFill>
            <a:prstDash val="solid"/>
          </a:ln>
        </p:spPr>
      </p:sp>
      <p:sp>
        <p:nvSpPr>
          <p:cNvPr id="25" name="Text 23"/>
          <p:cNvSpPr/>
          <p:nvPr/>
        </p:nvSpPr>
        <p:spPr>
          <a:xfrm>
            <a:off x="713232" y="4215384"/>
            <a:ext cx="10607040" cy="274320"/>
          </a:xfrm>
          <a:prstGeom prst="rect">
            <a:avLst/>
          </a:prstGeom>
          <a:noFill/>
          <a:ln/>
        </p:spPr>
        <p:txBody>
          <a:bodyPr wrap="square" lIns="0" tIns="0" rIns="0" bIns="0" rtlCol="0" anchor="ctr"/>
          <a:lstStyle/>
          <a:p>
            <a:pPr indent="0" marL="0">
              <a:buNone/>
            </a:pPr>
            <a:r>
              <a:rPr lang="en-US" sz="1250" b="1" spc="40" kern="0" dirty="0">
                <a:solidFill>
                  <a:srgbClr val="DC2626"/>
                </a:solidFill>
                <a:latin typeface="Helvetica" pitchFamily="34" charset="0"/>
                <a:ea typeface="Helvetica" pitchFamily="34" charset="-122"/>
                <a:cs typeface="Helvetica" pitchFamily="34" charset="-120"/>
              </a:rPr>
              <a:t>KESALAHAN UMUM</a:t>
            </a:r>
            <a:endParaRPr lang="en-US" sz="1250" dirty="0"/>
          </a:p>
        </p:txBody>
      </p:sp>
      <p:sp>
        <p:nvSpPr>
          <p:cNvPr id="26" name="Text 24"/>
          <p:cNvSpPr/>
          <p:nvPr/>
        </p:nvSpPr>
        <p:spPr>
          <a:xfrm>
            <a:off x="713232" y="4517136"/>
            <a:ext cx="219456" cy="274320"/>
          </a:xfrm>
          <a:prstGeom prst="rect">
            <a:avLst/>
          </a:prstGeom>
          <a:noFill/>
          <a:ln/>
        </p:spPr>
        <p:txBody>
          <a:bodyPr wrap="square" lIns="0" tIns="0" rIns="0" bIns="0" rtlCol="0" anchor="ctr"/>
          <a:lstStyle/>
          <a:p>
            <a:pPr indent="0" marL="0">
              <a:buNone/>
            </a:pPr>
            <a:r>
              <a:rPr lang="en-US" sz="1300" b="1" dirty="0">
                <a:solidFill>
                  <a:srgbClr val="DC2626"/>
                </a:solidFill>
                <a:latin typeface="Helvetica" pitchFamily="34" charset="0"/>
                <a:ea typeface="Helvetica" pitchFamily="34" charset="-122"/>
                <a:cs typeface="Helvetica" pitchFamily="34" charset="-120"/>
              </a:rPr>
              <a:t>×</a:t>
            </a:r>
            <a:endParaRPr lang="en-US" sz="1300" dirty="0"/>
          </a:p>
        </p:txBody>
      </p:sp>
      <p:sp>
        <p:nvSpPr>
          <p:cNvPr id="27" name="Text 25"/>
          <p:cNvSpPr/>
          <p:nvPr/>
        </p:nvSpPr>
        <p:spPr>
          <a:xfrm>
            <a:off x="950976" y="4489704"/>
            <a:ext cx="10378440" cy="329184"/>
          </a:xfrm>
          <a:prstGeom prst="rect">
            <a:avLst/>
          </a:prstGeom>
          <a:noFill/>
          <a:ln/>
        </p:spPr>
        <p:txBody>
          <a:bodyPr wrap="square" lIns="0" tIns="0" rIns="0" bIns="0" rtlCol="0" anchor="ctr"/>
          <a:lstStyle/>
          <a:p>
            <a:pPr indent="0" marL="0">
              <a:lnSpc>
                <a:spcPct val="115000"/>
              </a:lnSpc>
              <a:buNone/>
            </a:pPr>
            <a:r>
              <a:rPr lang="en-US" sz="1100" dirty="0">
                <a:solidFill>
                  <a:srgbClr val="7A3B3B"/>
                </a:solidFill>
                <a:latin typeface="Helvetica" pitchFamily="34" charset="0"/>
                <a:ea typeface="Helvetica" pitchFamily="34" charset="-122"/>
                <a:cs typeface="Helvetica" pitchFamily="34" charset="-120"/>
              </a:rPr>
              <a:t>Hanya promosi fitur — "premium, halal, enak" — tidak ada hook, tidak ada pain point</a:t>
            </a:r>
            <a:endParaRPr lang="en-US" sz="1100" dirty="0"/>
          </a:p>
        </p:txBody>
      </p:sp>
      <p:sp>
        <p:nvSpPr>
          <p:cNvPr id="28" name="Text 26"/>
          <p:cNvSpPr/>
          <p:nvPr/>
        </p:nvSpPr>
        <p:spPr>
          <a:xfrm>
            <a:off x="713232" y="4814316"/>
            <a:ext cx="219456" cy="274320"/>
          </a:xfrm>
          <a:prstGeom prst="rect">
            <a:avLst/>
          </a:prstGeom>
          <a:noFill/>
          <a:ln/>
        </p:spPr>
        <p:txBody>
          <a:bodyPr wrap="square" lIns="0" tIns="0" rIns="0" bIns="0" rtlCol="0" anchor="ctr"/>
          <a:lstStyle/>
          <a:p>
            <a:pPr indent="0" marL="0">
              <a:buNone/>
            </a:pPr>
            <a:r>
              <a:rPr lang="en-US" sz="1300" b="1" dirty="0">
                <a:solidFill>
                  <a:srgbClr val="DC2626"/>
                </a:solidFill>
                <a:latin typeface="Helvetica" pitchFamily="34" charset="0"/>
                <a:ea typeface="Helvetica" pitchFamily="34" charset="-122"/>
                <a:cs typeface="Helvetica" pitchFamily="34" charset="-120"/>
              </a:rPr>
              <a:t>×</a:t>
            </a:r>
            <a:endParaRPr lang="en-US" sz="1300" dirty="0"/>
          </a:p>
        </p:txBody>
      </p:sp>
      <p:sp>
        <p:nvSpPr>
          <p:cNvPr id="29" name="Text 27"/>
          <p:cNvSpPr/>
          <p:nvPr/>
        </p:nvSpPr>
        <p:spPr>
          <a:xfrm>
            <a:off x="950976" y="4786884"/>
            <a:ext cx="10378440" cy="329184"/>
          </a:xfrm>
          <a:prstGeom prst="rect">
            <a:avLst/>
          </a:prstGeom>
          <a:noFill/>
          <a:ln/>
        </p:spPr>
        <p:txBody>
          <a:bodyPr wrap="square" lIns="0" tIns="0" rIns="0" bIns="0" rtlCol="0" anchor="ctr"/>
          <a:lstStyle/>
          <a:p>
            <a:pPr indent="0" marL="0">
              <a:lnSpc>
                <a:spcPct val="115000"/>
              </a:lnSpc>
              <a:buNone/>
            </a:pPr>
            <a:r>
              <a:rPr lang="en-US" sz="1100" dirty="0">
                <a:solidFill>
                  <a:srgbClr val="7A3B3B"/>
                </a:solidFill>
                <a:latin typeface="Helvetica" pitchFamily="34" charset="0"/>
                <a:ea typeface="Helvetica" pitchFamily="34" charset="-122"/>
                <a:cs typeface="Helvetica" pitchFamily="34" charset="-120"/>
              </a:rPr>
              <a:t>Hanya 1 versi copy — tidak mungkin tahu mana yang perform terbaik tanpa tes</a:t>
            </a:r>
            <a:endParaRPr lang="en-US" sz="1100" dirty="0"/>
          </a:p>
        </p:txBody>
      </p:sp>
      <p:sp>
        <p:nvSpPr>
          <p:cNvPr id="30" name="Text 28"/>
          <p:cNvSpPr/>
          <p:nvPr/>
        </p:nvSpPr>
        <p:spPr>
          <a:xfrm>
            <a:off x="713232" y="5111496"/>
            <a:ext cx="219456" cy="274320"/>
          </a:xfrm>
          <a:prstGeom prst="rect">
            <a:avLst/>
          </a:prstGeom>
          <a:noFill/>
          <a:ln/>
        </p:spPr>
        <p:txBody>
          <a:bodyPr wrap="square" lIns="0" tIns="0" rIns="0" bIns="0" rtlCol="0" anchor="ctr"/>
          <a:lstStyle/>
          <a:p>
            <a:pPr indent="0" marL="0">
              <a:buNone/>
            </a:pPr>
            <a:r>
              <a:rPr lang="en-US" sz="1300" b="1" dirty="0">
                <a:solidFill>
                  <a:srgbClr val="DC2626"/>
                </a:solidFill>
                <a:latin typeface="Helvetica" pitchFamily="34" charset="0"/>
                <a:ea typeface="Helvetica" pitchFamily="34" charset="-122"/>
                <a:cs typeface="Helvetica" pitchFamily="34" charset="-120"/>
              </a:rPr>
              <a:t>×</a:t>
            </a:r>
            <a:endParaRPr lang="en-US" sz="1300" dirty="0"/>
          </a:p>
        </p:txBody>
      </p:sp>
      <p:sp>
        <p:nvSpPr>
          <p:cNvPr id="31" name="Text 29"/>
          <p:cNvSpPr/>
          <p:nvPr/>
        </p:nvSpPr>
        <p:spPr>
          <a:xfrm>
            <a:off x="950976" y="5084064"/>
            <a:ext cx="10378440" cy="329184"/>
          </a:xfrm>
          <a:prstGeom prst="rect">
            <a:avLst/>
          </a:prstGeom>
          <a:noFill/>
          <a:ln/>
        </p:spPr>
        <p:txBody>
          <a:bodyPr wrap="square" lIns="0" tIns="0" rIns="0" bIns="0" rtlCol="0" anchor="ctr"/>
          <a:lstStyle/>
          <a:p>
            <a:pPr indent="0" marL="0">
              <a:lnSpc>
                <a:spcPct val="115000"/>
              </a:lnSpc>
              <a:buNone/>
            </a:pPr>
            <a:r>
              <a:rPr lang="en-US" sz="1100" dirty="0">
                <a:solidFill>
                  <a:srgbClr val="7A3B3B"/>
                </a:solidFill>
                <a:latin typeface="Helvetica" pitchFamily="34" charset="0"/>
                <a:ea typeface="Helvetica" pitchFamily="34" charset="-122"/>
                <a:cs typeface="Helvetica" pitchFamily="34" charset="-120"/>
              </a:rPr>
              <a:t>CTA ambigu — "kunjungi toko kami" tidak jelas apa yang harus dilakukan pembeli</a:t>
            </a:r>
            <a:endParaRPr lang="en-US" sz="1100" dirty="0"/>
          </a:p>
        </p:txBody>
      </p:sp>
      <p:sp>
        <p:nvSpPr>
          <p:cNvPr id="32" name="Text 30"/>
          <p:cNvSpPr/>
          <p:nvPr/>
        </p:nvSpPr>
        <p:spPr>
          <a:xfrm>
            <a:off x="713232" y="5408676"/>
            <a:ext cx="219456" cy="274320"/>
          </a:xfrm>
          <a:prstGeom prst="rect">
            <a:avLst/>
          </a:prstGeom>
          <a:noFill/>
          <a:ln/>
        </p:spPr>
        <p:txBody>
          <a:bodyPr wrap="square" lIns="0" tIns="0" rIns="0" bIns="0" rtlCol="0" anchor="ctr"/>
          <a:lstStyle/>
          <a:p>
            <a:pPr indent="0" marL="0">
              <a:buNone/>
            </a:pPr>
            <a:r>
              <a:rPr lang="en-US" sz="1300" b="1" dirty="0">
                <a:solidFill>
                  <a:srgbClr val="DC2626"/>
                </a:solidFill>
                <a:latin typeface="Helvetica" pitchFamily="34" charset="0"/>
                <a:ea typeface="Helvetica" pitchFamily="34" charset="-122"/>
                <a:cs typeface="Helvetica" pitchFamily="34" charset="-120"/>
              </a:rPr>
              <a:t>×</a:t>
            </a:r>
            <a:endParaRPr lang="en-US" sz="1300" dirty="0"/>
          </a:p>
        </p:txBody>
      </p:sp>
      <p:sp>
        <p:nvSpPr>
          <p:cNvPr id="33" name="Text 31"/>
          <p:cNvSpPr/>
          <p:nvPr/>
        </p:nvSpPr>
        <p:spPr>
          <a:xfrm>
            <a:off x="950976" y="5381244"/>
            <a:ext cx="10378440" cy="329184"/>
          </a:xfrm>
          <a:prstGeom prst="rect">
            <a:avLst/>
          </a:prstGeom>
          <a:noFill/>
          <a:ln/>
        </p:spPr>
        <p:txBody>
          <a:bodyPr wrap="square" lIns="0" tIns="0" rIns="0" bIns="0" rtlCol="0" anchor="ctr"/>
          <a:lstStyle/>
          <a:p>
            <a:pPr indent="0" marL="0">
              <a:lnSpc>
                <a:spcPct val="115000"/>
              </a:lnSpc>
              <a:buNone/>
            </a:pPr>
            <a:r>
              <a:rPr lang="en-US" sz="1100" dirty="0">
                <a:solidFill>
                  <a:srgbClr val="7A3B3B"/>
                </a:solidFill>
                <a:latin typeface="Helvetica" pitchFamily="34" charset="0"/>
                <a:ea typeface="Helvetica" pitchFamily="34" charset="-122"/>
                <a:cs typeface="Helvetica" pitchFamily="34" charset="-120"/>
              </a:rPr>
              <a:t>Desain sibuk dan teks penuh — iklan terbaik punya 1 visual kuat + maks 7 kata headline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Copy Iklan Multi-Platform + Canva</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SATU BRIEF, TIGA VARIASI SIAP TES</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Contoh Prompt: Buruk vs Baik</a:t>
            </a:r>
            <a:endParaRPr lang="en-US" sz="2200" dirty="0"/>
          </a:p>
        </p:txBody>
      </p:sp>
      <p:sp>
        <p:nvSpPr>
          <p:cNvPr id="8" name="Shape 6"/>
          <p:cNvSpPr/>
          <p:nvPr/>
        </p:nvSpPr>
        <p:spPr>
          <a:xfrm>
            <a:off x="502920" y="2194560"/>
            <a:ext cx="5166360" cy="1783080"/>
          </a:xfrm>
          <a:prstGeom prst="roundRect">
            <a:avLst>
              <a:gd name="adj" fmla="val 6154"/>
            </a:avLst>
          </a:prstGeom>
          <a:solidFill>
            <a:srgbClr val="F4F6FB"/>
          </a:solidFill>
          <a:ln w="12700">
            <a:solidFill>
              <a:srgbClr val="D6DCEB"/>
            </a:solidFill>
            <a:prstDash val="solid"/>
          </a:ln>
        </p:spPr>
      </p:sp>
      <p:sp>
        <p:nvSpPr>
          <p:cNvPr id="9" name="Text 7"/>
          <p:cNvSpPr/>
          <p:nvPr/>
        </p:nvSpPr>
        <p:spPr>
          <a:xfrm>
            <a:off x="704088" y="2395728"/>
            <a:ext cx="4764024" cy="274320"/>
          </a:xfrm>
          <a:prstGeom prst="rect">
            <a:avLst/>
          </a:prstGeom>
          <a:noFill/>
          <a:ln/>
        </p:spPr>
        <p:txBody>
          <a:bodyPr wrap="square" lIns="0" tIns="0" rIns="0" bIns="0" rtlCol="0" anchor="ctr"/>
          <a:lstStyle/>
          <a:p>
            <a:pPr indent="0" marL="0">
              <a:buNone/>
            </a:pPr>
            <a:r>
              <a:rPr lang="en-US" sz="1200" b="1" dirty="0">
                <a:solidFill>
                  <a:srgbClr val="6B7280"/>
                </a:solidFill>
                <a:latin typeface="Helvetica" pitchFamily="34" charset="0"/>
                <a:ea typeface="Helvetica" pitchFamily="34" charset="-122"/>
                <a:cs typeface="Helvetica" pitchFamily="34" charset="-120"/>
              </a:rPr>
              <a:t>PROMPT BURUK</a:t>
            </a:r>
            <a:endParaRPr lang="en-US" sz="1200" dirty="0"/>
          </a:p>
        </p:txBody>
      </p:sp>
      <p:sp>
        <p:nvSpPr>
          <p:cNvPr id="10" name="Text 8"/>
          <p:cNvSpPr/>
          <p:nvPr/>
        </p:nvSpPr>
        <p:spPr>
          <a:xfrm>
            <a:off x="704088" y="2761488"/>
            <a:ext cx="4764024" cy="365760"/>
          </a:xfrm>
          <a:prstGeom prst="rect">
            <a:avLst/>
          </a:prstGeom>
          <a:noFill/>
          <a:ln/>
        </p:spPr>
        <p:txBody>
          <a:bodyPr wrap="square" lIns="0" tIns="0" rIns="0" bIns="0" rtlCol="0" anchor="ctr"/>
          <a:lstStyle/>
          <a:p>
            <a:pPr indent="0" marL="0">
              <a:lnSpc>
                <a:spcPct val="130000"/>
              </a:lnSpc>
              <a:buNone/>
            </a:pPr>
            <a:r>
              <a:rPr lang="en-US" sz="1350" i="1" dirty="0">
                <a:solidFill>
                  <a:srgbClr val="23283A"/>
                </a:solidFill>
                <a:latin typeface="Helvetica" pitchFamily="34" charset="0"/>
                <a:ea typeface="Helvetica" pitchFamily="34" charset="-122"/>
                <a:cs typeface="Helvetica" pitchFamily="34" charset="-120"/>
              </a:rPr>
              <a:t>"Buatkan copy iklan untuk frozen rendang saya"</a:t>
            </a:r>
            <a:endParaRPr lang="en-US" sz="1350" dirty="0"/>
          </a:p>
        </p:txBody>
      </p:sp>
      <p:sp>
        <p:nvSpPr>
          <p:cNvPr id="11" name="Text 9"/>
          <p:cNvSpPr/>
          <p:nvPr/>
        </p:nvSpPr>
        <p:spPr>
          <a:xfrm>
            <a:off x="704088" y="3337560"/>
            <a:ext cx="4764024" cy="54864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Helvetica" pitchFamily="34" charset="0"/>
                <a:ea typeface="Helvetica" pitchFamily="34" charset="-122"/>
                <a:cs typeface="Helvetica" pitchFamily="34" charset="-120"/>
              </a:rPr>
              <a:t>Masalah: Claude tidak tahu tujuan, platform, target, promo. Hasilnya tidak bisa langsung dipakai.</a:t>
            </a:r>
            <a:endParaRPr lang="en-US" sz="1150" dirty="0"/>
          </a:p>
        </p:txBody>
      </p:sp>
      <p:sp>
        <p:nvSpPr>
          <p:cNvPr id="12" name="Shape 10"/>
          <p:cNvSpPr/>
          <p:nvPr/>
        </p:nvSpPr>
        <p:spPr>
          <a:xfrm>
            <a:off x="6172200" y="2194560"/>
            <a:ext cx="5166360" cy="2468880"/>
          </a:xfrm>
          <a:prstGeom prst="roundRect">
            <a:avLst>
              <a:gd name="adj" fmla="val 4444"/>
            </a:avLst>
          </a:prstGeom>
          <a:solidFill>
            <a:srgbClr val="F3F0FF"/>
          </a:solidFill>
          <a:ln w="12700">
            <a:solidFill>
              <a:srgbClr val="DCD3FB"/>
            </a:solidFill>
            <a:prstDash val="solid"/>
          </a:ln>
        </p:spPr>
      </p:sp>
      <p:sp>
        <p:nvSpPr>
          <p:cNvPr id="13" name="Text 11"/>
          <p:cNvSpPr/>
          <p:nvPr/>
        </p:nvSpPr>
        <p:spPr>
          <a:xfrm>
            <a:off x="6373368" y="2395728"/>
            <a:ext cx="4764024" cy="274320"/>
          </a:xfrm>
          <a:prstGeom prst="rect">
            <a:avLst/>
          </a:prstGeom>
          <a:noFill/>
          <a:ln/>
        </p:spPr>
        <p:txBody>
          <a:bodyPr wrap="square" lIns="0" tIns="0" rIns="0" bIns="0" rtlCol="0" anchor="ctr"/>
          <a:lstStyle/>
          <a:p>
            <a:pPr indent="0" marL="0">
              <a:buNone/>
            </a:pPr>
            <a:r>
              <a:rPr lang="en-US" sz="1200" b="1" dirty="0">
                <a:solidFill>
                  <a:srgbClr val="4B36C7"/>
                </a:solidFill>
                <a:latin typeface="Helvetica" pitchFamily="34" charset="0"/>
                <a:ea typeface="Helvetica" pitchFamily="34" charset="-122"/>
                <a:cs typeface="Helvetica" pitchFamily="34" charset="-120"/>
              </a:rPr>
              <a:t>PROMPT BAIK</a:t>
            </a:r>
            <a:endParaRPr lang="en-US" sz="1200" dirty="0"/>
          </a:p>
        </p:txBody>
      </p:sp>
      <p:sp>
        <p:nvSpPr>
          <p:cNvPr id="14" name="Text 12"/>
          <p:cNvSpPr/>
          <p:nvPr/>
        </p:nvSpPr>
        <p:spPr>
          <a:xfrm>
            <a:off x="6373368" y="2743200"/>
            <a:ext cx="4764024" cy="1417320"/>
          </a:xfrm>
          <a:prstGeom prst="rect">
            <a:avLst/>
          </a:prstGeom>
          <a:noFill/>
          <a:ln/>
        </p:spPr>
        <p:txBody>
          <a:bodyPr wrap="square" lIns="0" tIns="0" rIns="0" bIns="0" rtlCol="0" anchor="ctr"/>
          <a:lstStyle/>
          <a:p>
            <a:pPr indent="0" marL="0">
              <a:lnSpc>
                <a:spcPct val="125000"/>
              </a:lnSpc>
              <a:buNone/>
            </a:pPr>
            <a:r>
              <a:rPr lang="en-US" sz="1200" i="1" dirty="0">
                <a:solidFill>
                  <a:srgbClr val="23283A"/>
                </a:solidFill>
                <a:latin typeface="Helvetica" pitchFamily="34" charset="0"/>
                <a:ea typeface="Helvetica" pitchFamily="34" charset="-122"/>
                <a:cs typeface="Helvetica" pitchFamily="34" charset="-120"/>
              </a:rPr>
              <a:t>"Buat 3 variasi copy iklan Meta Ads untuk Flash Sale Frozen Rendang Sapi, diskon 30%, stok 50 pcs, Sabtu-Minggu. Target: ibu rumah tangga 28-40 di Jabodetabek. Format: headline (maks 7 kata) + body (maks 30 kata) + CTA. Variasi tone: urgensi, emosional, fungsional."</a:t>
            </a:r>
            <a:endParaRPr lang="en-US" sz="1200" dirty="0"/>
          </a:p>
        </p:txBody>
      </p:sp>
      <p:sp>
        <p:nvSpPr>
          <p:cNvPr id="15" name="Text 13"/>
          <p:cNvSpPr/>
          <p:nvPr/>
        </p:nvSpPr>
        <p:spPr>
          <a:xfrm>
            <a:off x="6373368" y="4206240"/>
            <a:ext cx="4764024" cy="41148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Helvetica" pitchFamily="34" charset="0"/>
                <a:ea typeface="Helvetica" pitchFamily="34" charset="-122"/>
                <a:cs typeface="Helvetica" pitchFamily="34" charset="-120"/>
              </a:rPr>
              <a:t>Kenapa berhasil: 3 variasi siap langsung ditest — tinggal pilih mana untuk A/B test.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Copy Iklan Multi-Platform + Canva</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DARI BRIEF KE IKLAN YANG BERJALAN</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Cara Kerja</a:t>
            </a:r>
            <a:endParaRPr lang="en-US" sz="2200" dirty="0"/>
          </a:p>
        </p:txBody>
      </p:sp>
      <p:sp>
        <p:nvSpPr>
          <p:cNvPr id="8" name="Shape 6"/>
          <p:cNvSpPr/>
          <p:nvPr/>
        </p:nvSpPr>
        <p:spPr>
          <a:xfrm>
            <a:off x="548640" y="2194560"/>
            <a:ext cx="329184" cy="329184"/>
          </a:xfrm>
          <a:prstGeom prst="ellipse">
            <a:avLst/>
          </a:prstGeom>
          <a:solidFill>
            <a:srgbClr val="6849F6"/>
          </a:solidFill>
          <a:ln/>
        </p:spPr>
      </p:sp>
      <p:sp>
        <p:nvSpPr>
          <p:cNvPr id="9" name="Text 7"/>
          <p:cNvSpPr/>
          <p:nvPr/>
        </p:nvSpPr>
        <p:spPr>
          <a:xfrm>
            <a:off x="548640" y="21945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1</a:t>
            </a:r>
            <a:endParaRPr lang="en-US" sz="1300" dirty="0"/>
          </a:p>
        </p:txBody>
      </p:sp>
      <p:sp>
        <p:nvSpPr>
          <p:cNvPr id="10" name="Text 8"/>
          <p:cNvSpPr/>
          <p:nvPr/>
        </p:nvSpPr>
        <p:spPr>
          <a:xfrm>
            <a:off x="1024128" y="2148840"/>
            <a:ext cx="10607040" cy="548640"/>
          </a:xfrm>
          <a:prstGeom prst="rect">
            <a:avLst/>
          </a:prstGeom>
          <a:noFill/>
          <a:ln/>
        </p:spPr>
        <p:txBody>
          <a:bodyPr wrap="square" lIns="0" tIns="0" rIns="0" bIns="0" rtlCol="0" anchor="ctr"/>
          <a:lstStyle/>
          <a:p>
            <a:pPr indent="0" marL="0">
              <a:lnSpc>
                <a:spcPct val="120000"/>
              </a:lnSpc>
              <a:buNone/>
            </a:pPr>
            <a:r>
              <a:rPr lang="en-US" sz="1300" b="1" dirty="0">
                <a:solidFill>
                  <a:srgbClr val="0D1321"/>
                </a:solidFill>
                <a:latin typeface="Helvetica" pitchFamily="34" charset="0"/>
                <a:ea typeface="Helvetica" pitchFamily="34" charset="-122"/>
                <a:cs typeface="Helvetica" pitchFamily="34" charset="-120"/>
              </a:rPr>
              <a:t>Generate 3 Variasi Copy — </a:t>
            </a:r>
            <a:pPr indent="0" marL="0">
              <a:lnSpc>
                <a:spcPct val="120000"/>
              </a:lnSpc>
              <a:buNone/>
            </a:pPr>
            <a:r>
              <a:rPr lang="en-US" sz="1300" dirty="0">
                <a:solidFill>
                  <a:srgbClr val="23283A"/>
                </a:solidFill>
                <a:latin typeface="Helvetica" pitchFamily="34" charset="0"/>
                <a:ea typeface="Helvetica" pitchFamily="34" charset="-122"/>
                <a:cs typeface="Helvetica" pitchFamily="34" charset="-120"/>
              </a:rPr>
              <a:t>sesuai framework, spesifik platform + target + promo</a:t>
            </a:r>
            <a:endParaRPr lang="en-US" sz="1300" dirty="0"/>
          </a:p>
        </p:txBody>
      </p:sp>
      <p:sp>
        <p:nvSpPr>
          <p:cNvPr id="11" name="Shape 9"/>
          <p:cNvSpPr/>
          <p:nvPr/>
        </p:nvSpPr>
        <p:spPr>
          <a:xfrm>
            <a:off x="548640" y="2816352"/>
            <a:ext cx="329184" cy="329184"/>
          </a:xfrm>
          <a:prstGeom prst="ellipse">
            <a:avLst/>
          </a:prstGeom>
          <a:solidFill>
            <a:srgbClr val="6849F6"/>
          </a:solidFill>
          <a:ln/>
        </p:spPr>
      </p:sp>
      <p:sp>
        <p:nvSpPr>
          <p:cNvPr id="12" name="Text 10"/>
          <p:cNvSpPr/>
          <p:nvPr/>
        </p:nvSpPr>
        <p:spPr>
          <a:xfrm>
            <a:off x="548640" y="28163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2</a:t>
            </a:r>
            <a:endParaRPr lang="en-US" sz="1300" dirty="0"/>
          </a:p>
        </p:txBody>
      </p:sp>
      <p:sp>
        <p:nvSpPr>
          <p:cNvPr id="13" name="Text 11"/>
          <p:cNvSpPr/>
          <p:nvPr/>
        </p:nvSpPr>
        <p:spPr>
          <a:xfrm>
            <a:off x="1024128" y="2770632"/>
            <a:ext cx="10607040" cy="548640"/>
          </a:xfrm>
          <a:prstGeom prst="rect">
            <a:avLst/>
          </a:prstGeom>
          <a:noFill/>
          <a:ln/>
        </p:spPr>
        <p:txBody>
          <a:bodyPr wrap="square" lIns="0" tIns="0" rIns="0" bIns="0" rtlCol="0" anchor="ctr"/>
          <a:lstStyle/>
          <a:p>
            <a:pPr indent="0" marL="0">
              <a:lnSpc>
                <a:spcPct val="120000"/>
              </a:lnSpc>
              <a:buNone/>
            </a:pPr>
            <a:r>
              <a:rPr lang="en-US" sz="1300" b="1" dirty="0">
                <a:solidFill>
                  <a:srgbClr val="0D1321"/>
                </a:solidFill>
                <a:latin typeface="Helvetica" pitchFamily="34" charset="0"/>
                <a:ea typeface="Helvetica" pitchFamily="34" charset="-122"/>
                <a:cs typeface="Helvetica" pitchFamily="34" charset="-120"/>
              </a:rPr>
              <a:t>Pilih &amp; Buat Desain — </a:t>
            </a:r>
            <a:pPr indent="0" marL="0">
              <a:lnSpc>
                <a:spcPct val="120000"/>
              </a:lnSpc>
              <a:buNone/>
            </a:pPr>
            <a:r>
              <a:rPr lang="en-US" sz="1300" dirty="0">
                <a:solidFill>
                  <a:srgbClr val="23283A"/>
                </a:solidFill>
                <a:latin typeface="Helvetica" pitchFamily="34" charset="0"/>
                <a:ea typeface="Helvetica" pitchFamily="34" charset="-122"/>
                <a:cs typeface="Helvetica" pitchFamily="34" charset="-120"/>
              </a:rPr>
              <a:t>pilih variasi terbaik, minta Claude buat desain Canva (ukuran + warna + font)</a:t>
            </a:r>
            <a:endParaRPr lang="en-US" sz="1300" dirty="0"/>
          </a:p>
        </p:txBody>
      </p:sp>
      <p:sp>
        <p:nvSpPr>
          <p:cNvPr id="14" name="Shape 12"/>
          <p:cNvSpPr/>
          <p:nvPr/>
        </p:nvSpPr>
        <p:spPr>
          <a:xfrm>
            <a:off x="548640" y="3438144"/>
            <a:ext cx="329184" cy="329184"/>
          </a:xfrm>
          <a:prstGeom prst="ellipse">
            <a:avLst/>
          </a:prstGeom>
          <a:solidFill>
            <a:srgbClr val="6849F6"/>
          </a:solidFill>
          <a:ln/>
        </p:spPr>
      </p:sp>
      <p:sp>
        <p:nvSpPr>
          <p:cNvPr id="15" name="Text 13"/>
          <p:cNvSpPr/>
          <p:nvPr/>
        </p:nvSpPr>
        <p:spPr>
          <a:xfrm>
            <a:off x="548640" y="343814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3</a:t>
            </a:r>
            <a:endParaRPr lang="en-US" sz="1300" dirty="0"/>
          </a:p>
        </p:txBody>
      </p:sp>
      <p:sp>
        <p:nvSpPr>
          <p:cNvPr id="16" name="Text 14"/>
          <p:cNvSpPr/>
          <p:nvPr/>
        </p:nvSpPr>
        <p:spPr>
          <a:xfrm>
            <a:off x="1024128" y="3392424"/>
            <a:ext cx="10607040" cy="548640"/>
          </a:xfrm>
          <a:prstGeom prst="rect">
            <a:avLst/>
          </a:prstGeom>
          <a:noFill/>
          <a:ln/>
        </p:spPr>
        <p:txBody>
          <a:bodyPr wrap="square" lIns="0" tIns="0" rIns="0" bIns="0" rtlCol="0" anchor="ctr"/>
          <a:lstStyle/>
          <a:p>
            <a:pPr indent="0" marL="0">
              <a:lnSpc>
                <a:spcPct val="120000"/>
              </a:lnSpc>
              <a:buNone/>
            </a:pPr>
            <a:r>
              <a:rPr lang="en-US" sz="1300" b="1" dirty="0">
                <a:solidFill>
                  <a:srgbClr val="0D1321"/>
                </a:solidFill>
                <a:latin typeface="Helvetica" pitchFamily="34" charset="0"/>
                <a:ea typeface="Helvetica" pitchFamily="34" charset="-122"/>
                <a:cs typeface="Helvetica" pitchFamily="34" charset="-120"/>
              </a:rPr>
              <a:t>Review Desain — </a:t>
            </a:r>
            <a:pPr indent="0" marL="0">
              <a:lnSpc>
                <a:spcPct val="120000"/>
              </a:lnSpc>
              <a:buNone/>
            </a:pPr>
            <a:r>
              <a:rPr lang="en-US" sz="1300" dirty="0">
                <a:solidFill>
                  <a:srgbClr val="23283A"/>
                </a:solidFill>
                <a:latin typeface="Helvetica" pitchFamily="34" charset="0"/>
                <a:ea typeface="Helvetica" pitchFamily="34" charset="-122"/>
                <a:cs typeface="Helvetica" pitchFamily="34" charset="-120"/>
              </a:rPr>
              <a:t>sesuaikan warna/foto brand kamu</a:t>
            </a:r>
            <a:endParaRPr lang="en-US" sz="1300" dirty="0"/>
          </a:p>
        </p:txBody>
      </p:sp>
      <p:sp>
        <p:nvSpPr>
          <p:cNvPr id="17" name="Shape 15"/>
          <p:cNvSpPr/>
          <p:nvPr/>
        </p:nvSpPr>
        <p:spPr>
          <a:xfrm>
            <a:off x="548640" y="4059936"/>
            <a:ext cx="329184" cy="329184"/>
          </a:xfrm>
          <a:prstGeom prst="ellipse">
            <a:avLst/>
          </a:prstGeom>
          <a:solidFill>
            <a:srgbClr val="6849F6"/>
          </a:solidFill>
          <a:ln/>
        </p:spPr>
      </p:sp>
      <p:sp>
        <p:nvSpPr>
          <p:cNvPr id="18" name="Text 16"/>
          <p:cNvSpPr/>
          <p:nvPr/>
        </p:nvSpPr>
        <p:spPr>
          <a:xfrm>
            <a:off x="548640" y="40599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4</a:t>
            </a:r>
            <a:endParaRPr lang="en-US" sz="1300" dirty="0"/>
          </a:p>
        </p:txBody>
      </p:sp>
      <p:sp>
        <p:nvSpPr>
          <p:cNvPr id="19" name="Text 17"/>
          <p:cNvSpPr/>
          <p:nvPr/>
        </p:nvSpPr>
        <p:spPr>
          <a:xfrm>
            <a:off x="1024128" y="4014216"/>
            <a:ext cx="10607040" cy="548640"/>
          </a:xfrm>
          <a:prstGeom prst="rect">
            <a:avLst/>
          </a:prstGeom>
          <a:noFill/>
          <a:ln/>
        </p:spPr>
        <p:txBody>
          <a:bodyPr wrap="square" lIns="0" tIns="0" rIns="0" bIns="0" rtlCol="0" anchor="ctr"/>
          <a:lstStyle/>
          <a:p>
            <a:pPr indent="0" marL="0">
              <a:lnSpc>
                <a:spcPct val="120000"/>
              </a:lnSpc>
              <a:buNone/>
            </a:pPr>
            <a:r>
              <a:rPr lang="en-US" sz="1300" b="1" dirty="0">
                <a:solidFill>
                  <a:srgbClr val="0D1321"/>
                </a:solidFill>
                <a:latin typeface="Helvetica" pitchFamily="34" charset="0"/>
                <a:ea typeface="Helvetica" pitchFamily="34" charset="-122"/>
                <a:cs typeface="Helvetica" pitchFamily="34" charset="-120"/>
              </a:rPr>
              <a:t>Download &amp; Test — </a:t>
            </a:r>
            <a:pPr indent="0" marL="0">
              <a:lnSpc>
                <a:spcPct val="120000"/>
              </a:lnSpc>
              <a:buNone/>
            </a:pPr>
            <a:r>
              <a:rPr lang="en-US" sz="1300" dirty="0">
                <a:solidFill>
                  <a:srgbClr val="23283A"/>
                </a:solidFill>
                <a:latin typeface="Helvetica" pitchFamily="34" charset="0"/>
                <a:ea typeface="Helvetica" pitchFamily="34" charset="-122"/>
                <a:cs typeface="Helvetica" pitchFamily="34" charset="-120"/>
              </a:rPr>
              <a:t>jalankan A/B test 3 hari, track CTR dan ROAS</a:t>
            </a:r>
            <a:endParaRPr lang="en-US" sz="1300" dirty="0"/>
          </a:p>
        </p:txBody>
      </p:sp>
      <p:sp>
        <p:nvSpPr>
          <p:cNvPr id="20" name="Shape 18"/>
          <p:cNvSpPr/>
          <p:nvPr/>
        </p:nvSpPr>
        <p:spPr>
          <a:xfrm>
            <a:off x="502920" y="4818888"/>
            <a:ext cx="11064240" cy="868680"/>
          </a:xfrm>
          <a:prstGeom prst="roundRect">
            <a:avLst>
              <a:gd name="adj" fmla="val 10526"/>
            </a:avLst>
          </a:prstGeom>
          <a:solidFill>
            <a:srgbClr val="F3F0FF"/>
          </a:solidFill>
          <a:ln w="12700">
            <a:solidFill>
              <a:srgbClr val="DCD3FB"/>
            </a:solidFill>
            <a:prstDash val="solid"/>
          </a:ln>
        </p:spPr>
      </p:sp>
      <p:sp>
        <p:nvSpPr>
          <p:cNvPr id="21" name="Text 19"/>
          <p:cNvSpPr/>
          <p:nvPr/>
        </p:nvSpPr>
        <p:spPr>
          <a:xfrm>
            <a:off x="713232" y="4818888"/>
            <a:ext cx="10643616" cy="868680"/>
          </a:xfrm>
          <a:prstGeom prst="rect">
            <a:avLst/>
          </a:prstGeom>
          <a:noFill/>
          <a:ln/>
        </p:spPr>
        <p:txBody>
          <a:bodyPr wrap="square" lIns="0" tIns="0" rIns="0" bIns="0" rtlCol="0" anchor="ctr"/>
          <a:lstStyle/>
          <a:p>
            <a:pPr indent="0" marL="0">
              <a:lnSpc>
                <a:spcPct val="120000"/>
              </a:lnSpc>
              <a:buNone/>
            </a:pPr>
            <a:r>
              <a:rPr lang="en-US" sz="1250" b="1" dirty="0">
                <a:solidFill>
                  <a:srgbClr val="4B36C7"/>
                </a:solidFill>
                <a:latin typeface="Helvetica" pitchFamily="34" charset="0"/>
                <a:ea typeface="Helvetica" pitchFamily="34" charset="-122"/>
                <a:cs typeface="Helvetica" pitchFamily="34" charset="-120"/>
              </a:rPr>
              <a:t>◆  CANVA CONNECTOR AKTIF DARI MODUL 3?  </a:t>
            </a:r>
            <a:pPr indent="0" marL="0">
              <a:lnSpc>
                <a:spcPct val="120000"/>
              </a:lnSpc>
              <a:buNone/>
            </a:pPr>
            <a:r>
              <a:rPr lang="en-US" sz="1250" dirty="0">
                <a:solidFill>
                  <a:srgbClr val="23283A"/>
                </a:solidFill>
                <a:latin typeface="Helvetica" pitchFamily="34" charset="0"/>
                <a:ea typeface="Helvetica" pitchFamily="34" charset="-122"/>
                <a:cs typeface="Helvetica" pitchFamily="34" charset="-120"/>
              </a:rPr>
              <a:t>Langkah 2 di atas berjalan otomatis di Canva — kalau belum aktif, tetap bisa ikuti dengan copy-paste manual.</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Copy Iklan Multi-Platform + Canva</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BUKAN COPY-PASTE YANG SAMA DI SEMUA TEMPAT</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Copy Beda Platform, Bukan Copy Sama</a:t>
            </a:r>
            <a:endParaRPr lang="en-US" sz="2200" dirty="0"/>
          </a:p>
        </p:txBody>
      </p:sp>
      <p:sp>
        <p:nvSpPr>
          <p:cNvPr id="8" name="Text 6"/>
          <p:cNvSpPr/>
          <p:nvPr/>
        </p:nvSpPr>
        <p:spPr>
          <a:xfrm>
            <a:off x="502920" y="2048256"/>
            <a:ext cx="11064240" cy="365760"/>
          </a:xfrm>
          <a:prstGeom prst="rect">
            <a:avLst/>
          </a:prstGeom>
          <a:noFill/>
          <a:ln/>
        </p:spPr>
        <p:txBody>
          <a:bodyPr wrap="square" lIns="0" tIns="0" rIns="0" bIns="0" rtlCol="0" anchor="ctr"/>
          <a:lstStyle/>
          <a:p>
            <a:pPr indent="0" marL="0">
              <a:lnSpc>
                <a:spcPct val="120000"/>
              </a:lnSpc>
              <a:buNone/>
            </a:pPr>
            <a:r>
              <a:rPr lang="en-US" sz="1200" dirty="0">
                <a:solidFill>
                  <a:srgbClr val="6B7280"/>
                </a:solidFill>
                <a:latin typeface="Helvetica" pitchFamily="34" charset="0"/>
                <a:ea typeface="Helvetica" pitchFamily="34" charset="-122"/>
                <a:cs typeface="Helvetica" pitchFamily="34" charset="-120"/>
              </a:rPr>
              <a:t>Meta, TikTok, dan Google Ads punya "bahasa" berbeda — copy yang sama biasanya perform buruk di minimal 2 dari 3. Minta Claude buat ketiganya sekaligus dari 1 brief.</a:t>
            </a:r>
            <a:endParaRPr lang="en-US" sz="1200" dirty="0"/>
          </a:p>
        </p:txBody>
      </p:sp>
      <p:sp>
        <p:nvSpPr>
          <p:cNvPr id="9" name="Shape 7"/>
          <p:cNvSpPr/>
          <p:nvPr/>
        </p:nvSpPr>
        <p:spPr>
          <a:xfrm>
            <a:off x="502920" y="2542032"/>
            <a:ext cx="3529584" cy="2011680"/>
          </a:xfrm>
          <a:prstGeom prst="roundRect">
            <a:avLst>
              <a:gd name="adj" fmla="val 4545"/>
            </a:avLst>
          </a:prstGeom>
          <a:solidFill>
            <a:srgbClr val="F4F6FB"/>
          </a:solidFill>
          <a:ln w="12700">
            <a:solidFill>
              <a:srgbClr val="D6DCEB"/>
            </a:solidFill>
            <a:prstDash val="solid"/>
          </a:ln>
        </p:spPr>
      </p:sp>
      <p:sp>
        <p:nvSpPr>
          <p:cNvPr id="10" name="Shape 8"/>
          <p:cNvSpPr/>
          <p:nvPr/>
        </p:nvSpPr>
        <p:spPr>
          <a:xfrm>
            <a:off x="502920" y="2542032"/>
            <a:ext cx="3529584" cy="73152"/>
          </a:xfrm>
          <a:prstGeom prst="rect">
            <a:avLst/>
          </a:prstGeom>
          <a:solidFill>
            <a:srgbClr val="1877F2"/>
          </a:solidFill>
          <a:ln/>
        </p:spPr>
      </p:sp>
      <p:sp>
        <p:nvSpPr>
          <p:cNvPr id="11" name="Shape 9"/>
          <p:cNvSpPr/>
          <p:nvPr/>
        </p:nvSpPr>
        <p:spPr>
          <a:xfrm>
            <a:off x="649224" y="2724912"/>
            <a:ext cx="868680" cy="256032"/>
          </a:xfrm>
          <a:prstGeom prst="roundRect">
            <a:avLst>
              <a:gd name="adj" fmla="val 17857"/>
            </a:avLst>
          </a:prstGeom>
          <a:solidFill>
            <a:srgbClr val="1877F2"/>
          </a:solidFill>
          <a:ln/>
        </p:spPr>
      </p:sp>
      <p:sp>
        <p:nvSpPr>
          <p:cNvPr id="12" name="Text 10"/>
          <p:cNvSpPr/>
          <p:nvPr/>
        </p:nvSpPr>
        <p:spPr>
          <a:xfrm>
            <a:off x="649224" y="2724912"/>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pitchFamily="34" charset="0"/>
                <a:ea typeface="Helvetica" pitchFamily="34" charset="-122"/>
                <a:cs typeface="Helvetica" pitchFamily="34" charset="-120"/>
              </a:rPr>
              <a:t>META</a:t>
            </a:r>
            <a:endParaRPr lang="en-US" sz="900" dirty="0"/>
          </a:p>
        </p:txBody>
      </p:sp>
      <p:sp>
        <p:nvSpPr>
          <p:cNvPr id="13" name="Text 11"/>
          <p:cNvSpPr/>
          <p:nvPr/>
        </p:nvSpPr>
        <p:spPr>
          <a:xfrm>
            <a:off x="649224" y="3054096"/>
            <a:ext cx="3236976" cy="320040"/>
          </a:xfrm>
          <a:prstGeom prst="rect">
            <a:avLst/>
          </a:prstGeom>
          <a:noFill/>
          <a:ln/>
        </p:spPr>
        <p:txBody>
          <a:bodyPr wrap="square" lIns="0" tIns="0" rIns="0" bIns="0" rtlCol="0" anchor="ctr"/>
          <a:lstStyle/>
          <a:p>
            <a:pPr indent="0" marL="0">
              <a:buNone/>
            </a:pPr>
            <a:r>
              <a:rPr lang="en-US" sz="1250" b="1" dirty="0">
                <a:solidFill>
                  <a:srgbClr val="0D1321"/>
                </a:solidFill>
                <a:latin typeface="Helvetica" pitchFamily="34" charset="0"/>
                <a:ea typeface="Helvetica" pitchFamily="34" charset="-122"/>
                <a:cs typeface="Helvetica" pitchFamily="34" charset="-120"/>
              </a:rPr>
              <a:t>Meta / Instagram Ads</a:t>
            </a:r>
            <a:endParaRPr lang="en-US" sz="1250" dirty="0"/>
          </a:p>
        </p:txBody>
      </p:sp>
      <p:sp>
        <p:nvSpPr>
          <p:cNvPr id="14" name="Text 12"/>
          <p:cNvSpPr/>
          <p:nvPr/>
        </p:nvSpPr>
        <p:spPr>
          <a:xfrm>
            <a:off x="649224" y="3383280"/>
            <a:ext cx="3236976" cy="1051560"/>
          </a:xfrm>
          <a:prstGeom prst="rect">
            <a:avLst/>
          </a:prstGeom>
          <a:noFill/>
          <a:ln/>
        </p:spPr>
        <p:txBody>
          <a:bodyPr wrap="square" lIns="0" tIns="0" rIns="0" bIns="0" rtlCol="0" anchor="ctr"/>
          <a:lstStyle/>
          <a:p>
            <a:pPr indent="0" marL="0">
              <a:lnSpc>
                <a:spcPct val="125000"/>
              </a:lnSpc>
              <a:buNone/>
            </a:pPr>
            <a:r>
              <a:rPr lang="en-US" sz="1050" dirty="0">
                <a:solidFill>
                  <a:srgbClr val="23283A"/>
                </a:solidFill>
                <a:latin typeface="Helvetica" pitchFamily="34" charset="0"/>
                <a:ea typeface="Helvetica" pitchFamily="34" charset="-122"/>
                <a:cs typeface="Helvetica" pitchFamily="34" charset="-120"/>
              </a:rPr>
              <a:t>Feed &amp; story, tone lebih polished. Headline pendek + body storytelling singkat + CTA jelas. Cocok untuk framework Hook-Problem-Solution-CTA.</a:t>
            </a:r>
            <a:endParaRPr lang="en-US" sz="1050" dirty="0"/>
          </a:p>
        </p:txBody>
      </p:sp>
      <p:sp>
        <p:nvSpPr>
          <p:cNvPr id="15" name="Shape 13"/>
          <p:cNvSpPr/>
          <p:nvPr/>
        </p:nvSpPr>
        <p:spPr>
          <a:xfrm>
            <a:off x="4142232" y="2542032"/>
            <a:ext cx="3529584" cy="2011680"/>
          </a:xfrm>
          <a:prstGeom prst="roundRect">
            <a:avLst>
              <a:gd name="adj" fmla="val 4545"/>
            </a:avLst>
          </a:prstGeom>
          <a:solidFill>
            <a:srgbClr val="F4F6FB"/>
          </a:solidFill>
          <a:ln w="12700">
            <a:solidFill>
              <a:srgbClr val="D6DCEB"/>
            </a:solidFill>
            <a:prstDash val="solid"/>
          </a:ln>
        </p:spPr>
      </p:sp>
      <p:sp>
        <p:nvSpPr>
          <p:cNvPr id="16" name="Shape 14"/>
          <p:cNvSpPr/>
          <p:nvPr/>
        </p:nvSpPr>
        <p:spPr>
          <a:xfrm>
            <a:off x="4142232" y="2542032"/>
            <a:ext cx="3529584" cy="73152"/>
          </a:xfrm>
          <a:prstGeom prst="rect">
            <a:avLst/>
          </a:prstGeom>
          <a:solidFill>
            <a:srgbClr val="111827"/>
          </a:solidFill>
          <a:ln/>
        </p:spPr>
      </p:sp>
      <p:sp>
        <p:nvSpPr>
          <p:cNvPr id="17" name="Shape 15"/>
          <p:cNvSpPr/>
          <p:nvPr/>
        </p:nvSpPr>
        <p:spPr>
          <a:xfrm>
            <a:off x="4288536" y="2724912"/>
            <a:ext cx="868680" cy="256032"/>
          </a:xfrm>
          <a:prstGeom prst="roundRect">
            <a:avLst>
              <a:gd name="adj" fmla="val 17857"/>
            </a:avLst>
          </a:prstGeom>
          <a:solidFill>
            <a:srgbClr val="111827"/>
          </a:solidFill>
          <a:ln/>
        </p:spPr>
      </p:sp>
      <p:sp>
        <p:nvSpPr>
          <p:cNvPr id="18" name="Text 16"/>
          <p:cNvSpPr/>
          <p:nvPr/>
        </p:nvSpPr>
        <p:spPr>
          <a:xfrm>
            <a:off x="4288536" y="2724912"/>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pitchFamily="34" charset="0"/>
                <a:ea typeface="Helvetica" pitchFamily="34" charset="-122"/>
                <a:cs typeface="Helvetica" pitchFamily="34" charset="-120"/>
              </a:rPr>
              <a:t>TIKTOK</a:t>
            </a:r>
            <a:endParaRPr lang="en-US" sz="900" dirty="0"/>
          </a:p>
        </p:txBody>
      </p:sp>
      <p:sp>
        <p:nvSpPr>
          <p:cNvPr id="19" name="Text 17"/>
          <p:cNvSpPr/>
          <p:nvPr/>
        </p:nvSpPr>
        <p:spPr>
          <a:xfrm>
            <a:off x="4288536" y="3054096"/>
            <a:ext cx="3236976" cy="320040"/>
          </a:xfrm>
          <a:prstGeom prst="rect">
            <a:avLst/>
          </a:prstGeom>
          <a:noFill/>
          <a:ln/>
        </p:spPr>
        <p:txBody>
          <a:bodyPr wrap="square" lIns="0" tIns="0" rIns="0" bIns="0" rtlCol="0" anchor="ctr"/>
          <a:lstStyle/>
          <a:p>
            <a:pPr indent="0" marL="0">
              <a:buNone/>
            </a:pPr>
            <a:r>
              <a:rPr lang="en-US" sz="1250" b="1" dirty="0">
                <a:solidFill>
                  <a:srgbClr val="0D1321"/>
                </a:solidFill>
                <a:latin typeface="Helvetica" pitchFamily="34" charset="0"/>
                <a:ea typeface="Helvetica" pitchFamily="34" charset="-122"/>
                <a:cs typeface="Helvetica" pitchFamily="34" charset="-120"/>
              </a:rPr>
              <a:t>TikTok Ads</a:t>
            </a:r>
            <a:endParaRPr lang="en-US" sz="1250" dirty="0"/>
          </a:p>
        </p:txBody>
      </p:sp>
      <p:sp>
        <p:nvSpPr>
          <p:cNvPr id="20" name="Text 18"/>
          <p:cNvSpPr/>
          <p:nvPr/>
        </p:nvSpPr>
        <p:spPr>
          <a:xfrm>
            <a:off x="4288536" y="3383280"/>
            <a:ext cx="3236976" cy="1051560"/>
          </a:xfrm>
          <a:prstGeom prst="rect">
            <a:avLst/>
          </a:prstGeom>
          <a:noFill/>
          <a:ln/>
        </p:spPr>
        <p:txBody>
          <a:bodyPr wrap="square" lIns="0" tIns="0" rIns="0" bIns="0" rtlCol="0" anchor="ctr"/>
          <a:lstStyle/>
          <a:p>
            <a:pPr indent="0" marL="0">
              <a:lnSpc>
                <a:spcPct val="125000"/>
              </a:lnSpc>
              <a:buNone/>
            </a:pPr>
            <a:r>
              <a:rPr lang="en-US" sz="1050" dirty="0">
                <a:solidFill>
                  <a:srgbClr val="23283A"/>
                </a:solidFill>
                <a:latin typeface="Helvetica" pitchFamily="34" charset="0"/>
                <a:ea typeface="Helvetica" pitchFamily="34" charset="-122"/>
                <a:cs typeface="Helvetica" pitchFamily="34" charset="-120"/>
              </a:rPr>
              <a:t>Native, hook dalam 1-2 detik pertama, terasa seperti konten organik bukan iklan. Skrip video pendek, tone santai, langsung ke inti.</a:t>
            </a:r>
            <a:endParaRPr lang="en-US" sz="1050" dirty="0"/>
          </a:p>
        </p:txBody>
      </p:sp>
      <p:sp>
        <p:nvSpPr>
          <p:cNvPr id="21" name="Shape 19"/>
          <p:cNvSpPr/>
          <p:nvPr/>
        </p:nvSpPr>
        <p:spPr>
          <a:xfrm>
            <a:off x="7781544" y="2542032"/>
            <a:ext cx="3529584" cy="2011680"/>
          </a:xfrm>
          <a:prstGeom prst="roundRect">
            <a:avLst>
              <a:gd name="adj" fmla="val 4545"/>
            </a:avLst>
          </a:prstGeom>
          <a:solidFill>
            <a:srgbClr val="F4F6FB"/>
          </a:solidFill>
          <a:ln w="12700">
            <a:solidFill>
              <a:srgbClr val="D6DCEB"/>
            </a:solidFill>
            <a:prstDash val="solid"/>
          </a:ln>
        </p:spPr>
      </p:sp>
      <p:sp>
        <p:nvSpPr>
          <p:cNvPr id="22" name="Shape 20"/>
          <p:cNvSpPr/>
          <p:nvPr/>
        </p:nvSpPr>
        <p:spPr>
          <a:xfrm>
            <a:off x="7781544" y="2542032"/>
            <a:ext cx="3529584" cy="73152"/>
          </a:xfrm>
          <a:prstGeom prst="rect">
            <a:avLst/>
          </a:prstGeom>
          <a:solidFill>
            <a:srgbClr val="F4B400"/>
          </a:solidFill>
          <a:ln/>
        </p:spPr>
      </p:sp>
      <p:sp>
        <p:nvSpPr>
          <p:cNvPr id="23" name="Shape 21"/>
          <p:cNvSpPr/>
          <p:nvPr/>
        </p:nvSpPr>
        <p:spPr>
          <a:xfrm>
            <a:off x="7927848" y="2724912"/>
            <a:ext cx="868680" cy="256032"/>
          </a:xfrm>
          <a:prstGeom prst="roundRect">
            <a:avLst>
              <a:gd name="adj" fmla="val 17857"/>
            </a:avLst>
          </a:prstGeom>
          <a:solidFill>
            <a:srgbClr val="F4B400"/>
          </a:solidFill>
          <a:ln/>
        </p:spPr>
      </p:sp>
      <p:sp>
        <p:nvSpPr>
          <p:cNvPr id="24" name="Text 22"/>
          <p:cNvSpPr/>
          <p:nvPr/>
        </p:nvSpPr>
        <p:spPr>
          <a:xfrm>
            <a:off x="7927848" y="2724912"/>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Helvetica" pitchFamily="34" charset="0"/>
                <a:ea typeface="Helvetica" pitchFamily="34" charset="-122"/>
                <a:cs typeface="Helvetica" pitchFamily="34" charset="-120"/>
              </a:rPr>
              <a:t>GOOGLE</a:t>
            </a:r>
            <a:endParaRPr lang="en-US" sz="900" dirty="0"/>
          </a:p>
        </p:txBody>
      </p:sp>
      <p:sp>
        <p:nvSpPr>
          <p:cNvPr id="25" name="Text 23"/>
          <p:cNvSpPr/>
          <p:nvPr/>
        </p:nvSpPr>
        <p:spPr>
          <a:xfrm>
            <a:off x="7927848" y="3054096"/>
            <a:ext cx="3236976" cy="320040"/>
          </a:xfrm>
          <a:prstGeom prst="rect">
            <a:avLst/>
          </a:prstGeom>
          <a:noFill/>
          <a:ln/>
        </p:spPr>
        <p:txBody>
          <a:bodyPr wrap="square" lIns="0" tIns="0" rIns="0" bIns="0" rtlCol="0" anchor="ctr"/>
          <a:lstStyle/>
          <a:p>
            <a:pPr indent="0" marL="0">
              <a:buNone/>
            </a:pPr>
            <a:r>
              <a:rPr lang="en-US" sz="1250" b="1" dirty="0">
                <a:solidFill>
                  <a:srgbClr val="0D1321"/>
                </a:solidFill>
                <a:latin typeface="Helvetica" pitchFamily="34" charset="0"/>
                <a:ea typeface="Helvetica" pitchFamily="34" charset="-122"/>
                <a:cs typeface="Helvetica" pitchFamily="34" charset="-120"/>
              </a:rPr>
              <a:t>Google Ads (Search)</a:t>
            </a:r>
            <a:endParaRPr lang="en-US" sz="1250" dirty="0"/>
          </a:p>
        </p:txBody>
      </p:sp>
      <p:sp>
        <p:nvSpPr>
          <p:cNvPr id="26" name="Text 24"/>
          <p:cNvSpPr/>
          <p:nvPr/>
        </p:nvSpPr>
        <p:spPr>
          <a:xfrm>
            <a:off x="7927848" y="3383280"/>
            <a:ext cx="3236976" cy="1051560"/>
          </a:xfrm>
          <a:prstGeom prst="rect">
            <a:avLst/>
          </a:prstGeom>
          <a:noFill/>
          <a:ln/>
        </p:spPr>
        <p:txBody>
          <a:bodyPr wrap="square" lIns="0" tIns="0" rIns="0" bIns="0" rtlCol="0" anchor="ctr"/>
          <a:lstStyle/>
          <a:p>
            <a:pPr indent="0" marL="0">
              <a:lnSpc>
                <a:spcPct val="125000"/>
              </a:lnSpc>
              <a:buNone/>
            </a:pPr>
            <a:r>
              <a:rPr lang="en-US" sz="1050" dirty="0">
                <a:solidFill>
                  <a:srgbClr val="23283A"/>
                </a:solidFill>
                <a:latin typeface="Helvetica" pitchFamily="34" charset="0"/>
                <a:ea typeface="Helvetica" pitchFamily="34" charset="-122"/>
                <a:cs typeface="Helvetica" pitchFamily="34" charset="-120"/>
              </a:rPr>
              <a:t>Berbasis keyword, bukan storytelling. Headline maks 30 karakter ×15 variasi + deskripsi maks 90 karakter ×4, plus keyword &amp; negative keyword.</a:t>
            </a:r>
            <a:endParaRPr lang="en-US" sz="1050" dirty="0"/>
          </a:p>
        </p:txBody>
      </p:sp>
      <p:sp>
        <p:nvSpPr>
          <p:cNvPr id="27" name="Shape 25"/>
          <p:cNvSpPr/>
          <p:nvPr/>
        </p:nvSpPr>
        <p:spPr>
          <a:xfrm>
            <a:off x="502920" y="4736592"/>
            <a:ext cx="11064240" cy="1051560"/>
          </a:xfrm>
          <a:prstGeom prst="roundRect">
            <a:avLst>
              <a:gd name="adj" fmla="val 8696"/>
            </a:avLst>
          </a:prstGeom>
          <a:solidFill>
            <a:srgbClr val="F3F0FF"/>
          </a:solidFill>
          <a:ln w="12700">
            <a:solidFill>
              <a:srgbClr val="DCD3FB"/>
            </a:solidFill>
            <a:prstDash val="solid"/>
          </a:ln>
        </p:spPr>
      </p:sp>
      <p:sp>
        <p:nvSpPr>
          <p:cNvPr id="28" name="Text 26"/>
          <p:cNvSpPr/>
          <p:nvPr/>
        </p:nvSpPr>
        <p:spPr>
          <a:xfrm>
            <a:off x="713232" y="4736592"/>
            <a:ext cx="10643616" cy="1051560"/>
          </a:xfrm>
          <a:prstGeom prst="rect">
            <a:avLst/>
          </a:prstGeom>
          <a:noFill/>
          <a:ln/>
        </p:spPr>
        <p:txBody>
          <a:bodyPr wrap="square" lIns="0" tIns="0" rIns="0" bIns="0" rtlCol="0" anchor="ctr"/>
          <a:lstStyle/>
          <a:p>
            <a:pPr indent="0" marL="0">
              <a:lnSpc>
                <a:spcPct val="125000"/>
              </a:lnSpc>
              <a:buNone/>
            </a:pPr>
            <a:r>
              <a:rPr lang="en-US" sz="1200" b="1" dirty="0">
                <a:solidFill>
                  <a:srgbClr val="4B36C7"/>
                </a:solidFill>
                <a:latin typeface="Helvetica" pitchFamily="34" charset="0"/>
                <a:ea typeface="Helvetica" pitchFamily="34" charset="-122"/>
                <a:cs typeface="Helvetica" pitchFamily="34" charset="-120"/>
              </a:rPr>
              <a:t>◆  BONUS: TARGETING BRIEF  </a:t>
            </a:r>
            <a:pPr indent="0" marL="0">
              <a:lnSpc>
                <a:spcPct val="125000"/>
              </a:lnSpc>
              <a:buNone/>
            </a:pPr>
            <a:r>
              <a:rPr lang="en-US" sz="1200" dirty="0">
                <a:solidFill>
                  <a:srgbClr val="23283A"/>
                </a:solidFill>
                <a:latin typeface="Helvetica" pitchFamily="34" charset="0"/>
                <a:ea typeface="Helvetica" pitchFamily="34" charset="-122"/>
                <a:cs typeface="Helvetica" pitchFamily="34" charset="-120"/>
              </a:rPr>
              <a:t>Minta Claude tulis targeting brief (umur, minat, lokasi, lookalike) untuk kamu masukkan manual ke Ads Manager. Claude tidak punya koneksi ke Meta/TikTok/Google Ads — kamu tetap yang setup dan menjalankan campaign-nya.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04 — Copy Iklan Multi-Platform + Canva</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DARI LATIHAN KE IKLAN AKTIF</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Latihan &amp; Output yang Diharapkan</a:t>
            </a:r>
            <a:endParaRPr lang="en-US" sz="2200" dirty="0"/>
          </a:p>
        </p:txBody>
      </p:sp>
      <p:sp>
        <p:nvSpPr>
          <p:cNvPr id="8" name="Shape 6"/>
          <p:cNvSpPr/>
          <p:nvPr/>
        </p:nvSpPr>
        <p:spPr>
          <a:xfrm>
            <a:off x="502920" y="2084832"/>
            <a:ext cx="11064240" cy="1965960"/>
          </a:xfrm>
          <a:prstGeom prst="roundRect">
            <a:avLst>
              <a:gd name="adj" fmla="val 5581"/>
            </a:avLst>
          </a:prstGeom>
          <a:solidFill>
            <a:srgbClr val="EAFAF0"/>
          </a:solidFill>
          <a:ln w="12700">
            <a:solidFill>
              <a:srgbClr val="B8E6C9"/>
            </a:solidFill>
            <a:prstDash val="solid"/>
          </a:ln>
        </p:spPr>
      </p:sp>
      <p:sp>
        <p:nvSpPr>
          <p:cNvPr id="9" name="Text 7"/>
          <p:cNvSpPr/>
          <p:nvPr/>
        </p:nvSpPr>
        <p:spPr>
          <a:xfrm>
            <a:off x="713232" y="2249424"/>
            <a:ext cx="10607040" cy="274320"/>
          </a:xfrm>
          <a:prstGeom prst="rect">
            <a:avLst/>
          </a:prstGeom>
          <a:noFill/>
          <a:ln/>
        </p:spPr>
        <p:txBody>
          <a:bodyPr wrap="square" lIns="0" tIns="0" rIns="0" bIns="0" rtlCol="0" anchor="ctr"/>
          <a:lstStyle/>
          <a:p>
            <a:pPr indent="0" marL="0">
              <a:buNone/>
            </a:pPr>
            <a:r>
              <a:rPr lang="en-US" sz="1300" b="1" dirty="0">
                <a:solidFill>
                  <a:srgbClr val="1A7A44"/>
                </a:solidFill>
                <a:latin typeface="Helvetica" pitchFamily="34" charset="0"/>
                <a:ea typeface="Helvetica" pitchFamily="34" charset="-122"/>
                <a:cs typeface="Helvetica" pitchFamily="34" charset="-120"/>
              </a:rPr>
              <a:t>■  LATIHAN</a:t>
            </a:r>
            <a:endParaRPr lang="en-US" sz="1300" dirty="0"/>
          </a:p>
        </p:txBody>
      </p:sp>
      <p:sp>
        <p:nvSpPr>
          <p:cNvPr id="10" name="Text 8"/>
          <p:cNvSpPr/>
          <p:nvPr/>
        </p:nvSpPr>
        <p:spPr>
          <a:xfrm>
            <a:off x="713232" y="2542032"/>
            <a:ext cx="10607040" cy="685800"/>
          </a:xfrm>
          <a:prstGeom prst="rect">
            <a:avLst/>
          </a:prstGeom>
          <a:noFill/>
          <a:ln/>
        </p:spPr>
        <p:txBody>
          <a:bodyPr wrap="square" lIns="0" tIns="0" rIns="0" bIns="0" rtlCol="0" anchor="ctr"/>
          <a:lstStyle/>
          <a:p>
            <a:pPr indent="0" marL="0">
              <a:lnSpc>
                <a:spcPct val="125000"/>
              </a:lnSpc>
              <a:buNone/>
            </a:pPr>
            <a:r>
              <a:rPr lang="en-US" sz="1200" dirty="0">
                <a:solidFill>
                  <a:srgbClr val="23283A"/>
                </a:solidFill>
                <a:latin typeface="Helvetica" pitchFamily="34" charset="0"/>
                <a:ea typeface="Helvetica" pitchFamily="34" charset="-122"/>
                <a:cs typeface="Helvetica" pitchFamily="34" charset="-120"/>
              </a:rPr>
              <a:t>Jalankan prompt ini untuk 1 produk unggulan atau promo yang berjalan. Jika Canva Connector aktif: instruksikan Claude buat desain untuk variasi terbaik langsung di Canva. Jalankan iklan 3 hari, catat CTR dan konversi.</a:t>
            </a:r>
            <a:endParaRPr lang="en-US" sz="1200" dirty="0"/>
          </a:p>
        </p:txBody>
      </p:sp>
      <p:sp>
        <p:nvSpPr>
          <p:cNvPr id="11" name="Shape 9"/>
          <p:cNvSpPr/>
          <p:nvPr/>
        </p:nvSpPr>
        <p:spPr>
          <a:xfrm>
            <a:off x="713232" y="3310128"/>
            <a:ext cx="10607040" cy="685800"/>
          </a:xfrm>
          <a:prstGeom prst="roundRect">
            <a:avLst>
              <a:gd name="adj" fmla="val 10667"/>
            </a:avLst>
          </a:prstGeom>
          <a:solidFill>
            <a:srgbClr val="FFFFFF"/>
          </a:solidFill>
          <a:ln w="12700">
            <a:solidFill>
              <a:srgbClr val="B8E6C9"/>
            </a:solidFill>
            <a:prstDash val="solid"/>
          </a:ln>
        </p:spPr>
      </p:sp>
      <p:sp>
        <p:nvSpPr>
          <p:cNvPr id="12" name="Text 10"/>
          <p:cNvSpPr/>
          <p:nvPr/>
        </p:nvSpPr>
        <p:spPr>
          <a:xfrm>
            <a:off x="868680" y="3310128"/>
            <a:ext cx="10296144" cy="685800"/>
          </a:xfrm>
          <a:prstGeom prst="rect">
            <a:avLst/>
          </a:prstGeom>
          <a:noFill/>
          <a:ln/>
        </p:spPr>
        <p:txBody>
          <a:bodyPr wrap="square" lIns="0" tIns="0" rIns="0" bIns="0" rtlCol="0" anchor="ctr"/>
          <a:lstStyle/>
          <a:p>
            <a:pPr indent="0" marL="0">
              <a:lnSpc>
                <a:spcPct val="120000"/>
              </a:lnSpc>
              <a:buNone/>
            </a:pPr>
            <a:r>
              <a:rPr lang="en-US" sz="950" i="1" dirty="0">
                <a:solidFill>
                  <a:srgbClr val="1A7A44"/>
                </a:solidFill>
                <a:latin typeface="Helvetica" pitchFamily="34" charset="0"/>
                <a:ea typeface="Helvetica" pitchFamily="34" charset="-122"/>
                <a:cs typeface="Helvetica" pitchFamily="34" charset="-120"/>
              </a:rPr>
              <a:t>Buat 3 variasi copy iklan (Meta, TikTok, Google Ads) untuk [nama produk/promo], diskon [%], berlaku [tanggal]. Target: [deskripsi target]. Format: headline (maks 7 kata) + body (maks 30 kata) + CTA per platform. Variasi tone: urgensi, emosional, fungsional. Tambahkan juga 1 targeting brief singkat (usia, minat, lokasi).</a:t>
            </a:r>
            <a:endParaRPr lang="en-US" sz="950" dirty="0"/>
          </a:p>
        </p:txBody>
      </p:sp>
      <p:sp>
        <p:nvSpPr>
          <p:cNvPr id="13" name="Shape 11"/>
          <p:cNvSpPr/>
          <p:nvPr/>
        </p:nvSpPr>
        <p:spPr>
          <a:xfrm>
            <a:off x="502920" y="4325112"/>
            <a:ext cx="11064240" cy="1371600"/>
          </a:xfrm>
          <a:prstGeom prst="roundRect">
            <a:avLst>
              <a:gd name="adj" fmla="val 8000"/>
            </a:avLst>
          </a:prstGeom>
          <a:solidFill>
            <a:srgbClr val="141D33"/>
          </a:solidFill>
          <a:ln/>
        </p:spPr>
      </p:sp>
      <p:sp>
        <p:nvSpPr>
          <p:cNvPr id="14" name="Text 12"/>
          <p:cNvSpPr/>
          <p:nvPr/>
        </p:nvSpPr>
        <p:spPr>
          <a:xfrm>
            <a:off x="713232" y="4489704"/>
            <a:ext cx="10607040" cy="274320"/>
          </a:xfrm>
          <a:prstGeom prst="rect">
            <a:avLst/>
          </a:prstGeom>
          <a:noFill/>
          <a:ln/>
        </p:spPr>
        <p:txBody>
          <a:bodyPr wrap="square" lIns="0" tIns="0" rIns="0" bIns="0" rtlCol="0" anchor="ctr"/>
          <a:lstStyle/>
          <a:p>
            <a:pPr indent="0" marL="0">
              <a:buNone/>
            </a:pPr>
            <a:r>
              <a:rPr lang="en-US" sz="1300" b="1" dirty="0">
                <a:solidFill>
                  <a:srgbClr val="8B7CF6"/>
                </a:solidFill>
                <a:latin typeface="Helvetica" pitchFamily="34" charset="0"/>
                <a:ea typeface="Helvetica" pitchFamily="34" charset="-122"/>
                <a:cs typeface="Helvetica" pitchFamily="34" charset="-120"/>
              </a:rPr>
              <a:t>OUTPUT YANG DIHARAPKAN</a:t>
            </a:r>
            <a:endParaRPr lang="en-US" sz="1300" dirty="0"/>
          </a:p>
        </p:txBody>
      </p:sp>
      <p:sp>
        <p:nvSpPr>
          <p:cNvPr id="15" name="Text 13"/>
          <p:cNvSpPr/>
          <p:nvPr/>
        </p:nvSpPr>
        <p:spPr>
          <a:xfrm>
            <a:off x="713232" y="4782312"/>
            <a:ext cx="10607040" cy="822960"/>
          </a:xfrm>
          <a:prstGeom prst="rect">
            <a:avLst/>
          </a:prstGeom>
          <a:noFill/>
          <a:ln/>
        </p:spPr>
        <p:txBody>
          <a:bodyPr wrap="square" lIns="0" tIns="0" rIns="0" bIns="0" rtlCol="0" anchor="ctr"/>
          <a:lstStyle/>
          <a:p>
            <a:pPr indent="0" marL="0">
              <a:lnSpc>
                <a:spcPct val="130000"/>
              </a:lnSpc>
              <a:buNone/>
            </a:pPr>
            <a:r>
              <a:rPr lang="en-US" sz="1250" dirty="0">
                <a:solidFill>
                  <a:srgbClr val="B7C0D8"/>
                </a:solidFill>
                <a:latin typeface="Helvetica" pitchFamily="34" charset="0"/>
                <a:ea typeface="Helvetica" pitchFamily="34" charset="-122"/>
                <a:cs typeface="Helvetica" pitchFamily="34" charset="-120"/>
              </a:rPr>
              <a:t>3 variasi copy iklan per platform (Meta, TikTok, Google) siap pakai + 1 targeting brief + minimal 1 desain Canva (via Connector atau manual) + iklan aktif berjalan dengan tracking A/B test.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2026-07-28T13:53:53Z</dcterms:created>
  <dcterms:modified xsi:type="dcterms:W3CDTF">2026-07-28T13:53:53Z</dcterms:modified>
</cp:coreProperties>
</file>