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62088" y="0"/>
            <a:ext cx="4626864" cy="6858000"/>
          </a:xfrm>
          <a:prstGeom prst="rect">
            <a:avLst/>
          </a:prstGeom>
          <a:solidFill>
            <a:srgbClr val="141D3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belajar</a:t>
            </a:r>
            <a:pPr indent="0" marL="0">
              <a:buNone/>
            </a:pPr>
            <a:r>
              <a:rPr lang="en-US" sz="2000" b="1" dirty="0">
                <a:solidFill>
                  <a:srgbClr val="8B7C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claude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0616184" y="384048"/>
            <a:ext cx="1024128" cy="384048"/>
          </a:xfrm>
          <a:prstGeom prst="roundRect">
            <a:avLst>
              <a:gd name="adj" fmla="val 23810"/>
            </a:avLst>
          </a:prstGeom>
          <a:solidFill>
            <a:srgbClr val="6849F6"/>
          </a:solidFill>
          <a:ln/>
        </p:spPr>
      </p:sp>
      <p:sp>
        <p:nvSpPr>
          <p:cNvPr id="5" name="Text 3"/>
          <p:cNvSpPr/>
          <p:nvPr/>
        </p:nvSpPr>
        <p:spPr>
          <a:xfrm>
            <a:off x="10616184" y="384048"/>
            <a:ext cx="1024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MODUL 3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48640" y="23317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" kern="0" dirty="0">
                <a:solidFill>
                  <a:srgbClr val="8B7C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KREASI KONTEN PEMASARAN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697480"/>
            <a:ext cx="7589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Sistem Konten Instagram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548640" y="3703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B7C0D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Kalender 30 hari selesai dalam 1 sesi</a:t>
            </a:r>
            <a:endParaRPr lang="en-US" sz="15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D13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6849F6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belajar</a:t>
            </a:r>
            <a:pPr indent="0" marL="0">
              <a:buNone/>
            </a:pPr>
            <a:r>
              <a:rPr lang="en-US" sz="2000" b="1" dirty="0">
                <a:solidFill>
                  <a:srgbClr val="8B7C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claude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943600" y="274320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9AA2B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Modul 03 — Sistem Konten Instagram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02920" y="117043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40" kern="0" dirty="0">
                <a:solidFill>
                  <a:srgbClr val="4B36C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SISTEM, BUKAN SEKADAR IDE HARIAN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02920" y="1444752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32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Sistem Konten yang Sustainable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502920" y="2084832"/>
            <a:ext cx="2487168" cy="1280160"/>
          </a:xfrm>
          <a:prstGeom prst="roundRect">
            <a:avLst>
              <a:gd name="adj" fmla="val 7143"/>
            </a:avLst>
          </a:prstGeom>
          <a:solidFill>
            <a:srgbClr val="F4F6FB"/>
          </a:solidFill>
          <a:ln w="12700">
            <a:solidFill>
              <a:srgbClr val="D6DC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7512" y="2231136"/>
            <a:ext cx="2157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4B36C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 TEMA ROTASI PER MINGGU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67512" y="2706624"/>
            <a:ext cx="2157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Produk, edukasi/tips, behind the scene, testimoni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108960" y="2084832"/>
            <a:ext cx="2487168" cy="1280160"/>
          </a:xfrm>
          <a:prstGeom prst="roundRect">
            <a:avLst>
              <a:gd name="adj" fmla="val 7143"/>
            </a:avLst>
          </a:prstGeom>
          <a:solidFill>
            <a:srgbClr val="F4F6FB"/>
          </a:solidFill>
          <a:ln w="12700">
            <a:solidFill>
              <a:srgbClr val="D6DC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73552" y="2231136"/>
            <a:ext cx="2157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4B36C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CLAUDE GENERATE SEKALIGUS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273552" y="2706624"/>
            <a:ext cx="2157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Tema + caption + hashtag untuk 30 hari dalam 1 prompt terstruktur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715000" y="2084832"/>
            <a:ext cx="2487168" cy="1280160"/>
          </a:xfrm>
          <a:prstGeom prst="roundRect">
            <a:avLst>
              <a:gd name="adj" fmla="val 7143"/>
            </a:avLst>
          </a:prstGeom>
          <a:solidFill>
            <a:srgbClr val="F4F6FB"/>
          </a:solidFill>
          <a:ln w="12700">
            <a:solidFill>
              <a:srgbClr val="D6DC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79592" y="2231136"/>
            <a:ext cx="2157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4B36C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TEMPLATE SPREADSHEET SIAP PAKAI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879592" y="2706624"/>
            <a:ext cx="2157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Warna otomatis per tema, dropdown status, ringkasan real-time.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321040" y="2084832"/>
            <a:ext cx="2487168" cy="1280160"/>
          </a:xfrm>
          <a:prstGeom prst="roundRect">
            <a:avLst>
              <a:gd name="adj" fmla="val 7143"/>
            </a:avLst>
          </a:prstGeom>
          <a:solidFill>
            <a:srgbClr val="F4F6FB"/>
          </a:solidFill>
          <a:ln w="12700">
            <a:solidFill>
              <a:srgbClr val="D6DC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85632" y="2231136"/>
            <a:ext cx="2157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4B36C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REVIEW DAN PERSONALISASI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485632" y="2706624"/>
            <a:ext cx="2157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Claude buat draft, kamu tambahkan detail spesifik yang hanya kamu tahu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02920" y="3611880"/>
            <a:ext cx="11064240" cy="1417320"/>
          </a:xfrm>
          <a:prstGeom prst="roundRect">
            <a:avLst>
              <a:gd name="adj" fmla="val 6452"/>
            </a:avLst>
          </a:prstGeom>
          <a:solidFill>
            <a:srgbClr val="F3F0FF"/>
          </a:solidFill>
          <a:ln w="12700">
            <a:solidFill>
              <a:srgbClr val="DCD3F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3232" y="3776472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B36C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◆  INTEGRASI: CANVA CONNECTOR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713232" y="406908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Level: Connector (gratis) · Setup: 60 detik di Settings &gt; Connectors &gt; Canva. Konten organik butuh visual sesering iklan — setup di sini, bukan nanti di modul iklan. Setelah aktif, Claude bisa langsung membuat desain di Canva sesuai warna brand di Project-mu. Dipakai lagi di Modul 4 — tidak perlu setup ulang.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02920" y="5193792"/>
            <a:ext cx="11064240" cy="594360"/>
          </a:xfrm>
          <a:prstGeom prst="roundRect">
            <a:avLst>
              <a:gd name="adj" fmla="val 15385"/>
            </a:avLst>
          </a:prstGeom>
          <a:solidFill>
            <a:srgbClr val="F4F6FB"/>
          </a:solidFill>
          <a:ln w="12700">
            <a:solidFill>
              <a:srgbClr val="D6DC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3232" y="5193792"/>
            <a:ext cx="106436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◆  CATATAN  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Tanpa setup Canva Connector, tetap bisa ikuti modul ini dengan workflow copy-paste manual ke Canva.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D13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6849F6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belajar</a:t>
            </a:r>
            <a:pPr indent="0" marL="0">
              <a:buNone/>
            </a:pPr>
            <a:r>
              <a:rPr lang="en-US" sz="2000" b="1" dirty="0">
                <a:solidFill>
                  <a:srgbClr val="8B7C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claude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943600" y="274320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9AA2B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Modul 03 — Sistem Konten Instagram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02920" y="117043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40" kern="0" dirty="0">
                <a:solidFill>
                  <a:srgbClr val="4B36C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CAPTION YANG BERHENTI DI-SCROLL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02920" y="1444752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32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Framework Caption yang Engaging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502920" y="2084832"/>
            <a:ext cx="3529584" cy="1051560"/>
          </a:xfrm>
          <a:prstGeom prst="roundRect">
            <a:avLst>
              <a:gd name="adj" fmla="val 8696"/>
            </a:avLst>
          </a:prstGeom>
          <a:solidFill>
            <a:srgbClr val="F4F6FB"/>
          </a:solidFill>
          <a:ln w="12700">
            <a:solidFill>
              <a:srgbClr val="D6DC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7512" y="221284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B36C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HOOK (BARIS PERTAMA)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67512" y="2505456"/>
            <a:ext cx="3200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Berhenti scroll dalam 1 baris — pertanyaan, angka, atau pernyataan yang relate ke audiens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142232" y="2084832"/>
            <a:ext cx="3529584" cy="1051560"/>
          </a:xfrm>
          <a:prstGeom prst="roundRect">
            <a:avLst>
              <a:gd name="adj" fmla="val 8696"/>
            </a:avLst>
          </a:prstGeom>
          <a:solidFill>
            <a:srgbClr val="F4F6FB"/>
          </a:solidFill>
          <a:ln w="12700">
            <a:solidFill>
              <a:srgbClr val="D6DC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06824" y="221284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B36C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VALUE ATAU CERITA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306824" y="2505456"/>
            <a:ext cx="3200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Manfaat produk atau cerita singkat di baliknya — bukan sekadar deskripsi fitur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781544" y="2084832"/>
            <a:ext cx="3529584" cy="1051560"/>
          </a:xfrm>
          <a:prstGeom prst="roundRect">
            <a:avLst>
              <a:gd name="adj" fmla="val 8696"/>
            </a:avLst>
          </a:prstGeom>
          <a:solidFill>
            <a:srgbClr val="F4F6FB"/>
          </a:solidFill>
          <a:ln w="12700">
            <a:solidFill>
              <a:srgbClr val="D6DC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46136" y="221284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B36C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CTA YANG JELAS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7946136" y="2505456"/>
            <a:ext cx="3200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Ajakan spesifik — "DM untuk pesan", "link di bio" — bukan cuma "cek produk kami"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02920" y="327355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Pola ini sama dengan framework iklan di Modul 4 — bedanya, di sini nadanya lebih santai dan personal karena ini konten organik, bukan iklan berbayar.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02920" y="3767328"/>
            <a:ext cx="11064240" cy="1691640"/>
          </a:xfrm>
          <a:prstGeom prst="roundRect">
            <a:avLst>
              <a:gd name="adj" fmla="val 5405"/>
            </a:avLst>
          </a:prstGeom>
          <a:solidFill>
            <a:srgbClr val="FFF6F6"/>
          </a:solidFill>
          <a:ln w="12700">
            <a:solidFill>
              <a:srgbClr val="F3C6C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3232" y="3913632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40" kern="0" dirty="0">
                <a:solidFill>
                  <a:srgbClr val="DC262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KESALAHAN UMUM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713232" y="4215384"/>
            <a:ext cx="219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×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50976" y="4187952"/>
            <a:ext cx="10378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7A3B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Posting tanpa tema — audiens tidak dapat kesan brand konsisten, growth stagnan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13232" y="4512564"/>
            <a:ext cx="219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×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50976" y="4485132"/>
            <a:ext cx="10378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7A3B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Caption terlalu panjang — 80% audiens tidak baca lebih dari 2 baris pertama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13232" y="4809744"/>
            <a:ext cx="219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×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50976" y="4782312"/>
            <a:ext cx="10378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7A3B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Hashtag asal tempel — campurkan hashtag besar (1M+) dan niche (10K-100K)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13232" y="5106924"/>
            <a:ext cx="219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×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50976" y="5079492"/>
            <a:ext cx="10378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7A3B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Generate lalu langsung post — Claude tidak tahu promo yang baru berubah atau stok habis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02920" y="5560000"/>
            <a:ext cx="11064240" cy="750000"/>
          </a:xfrm>
          <a:prstGeom prst="roundRect">
            <a:avLst>
              <a:gd name="adj" fmla="val 15385"/>
            </a:avLst>
          </a:prstGeom>
          <a:solidFill>
            <a:srgbClr val="F4F6FB"/>
          </a:solidFill>
          <a:ln w="12700">
            <a:solidFill>
              <a:srgbClr val="D6DC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13232" y="5560000"/>
            <a:ext cx="10643616" cy="7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◆  BUKAN CUMA UNTUK INSTAGRAM  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Sistem kalender &amp; framework Hook-Value-CTA ini juga berlaku untuk TikTok, Facebook, atau platform lain — tinggal minta Claude sesuaikan formatnya per platform.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D13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6849F6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belajar</a:t>
            </a:r>
            <a:pPr indent="0" marL="0">
              <a:buNone/>
            </a:pPr>
            <a:r>
              <a:rPr lang="en-US" sz="2000" b="1" dirty="0">
                <a:solidFill>
                  <a:srgbClr val="8B7C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claude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943600" y="274320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9AA2B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Modul 03 — Sistem Konten Instagram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02920" y="117043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40" kern="0" dirty="0">
                <a:solidFill>
                  <a:srgbClr val="4B36C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SATU PROMPT UNTUK 16 CAPTION SEKALIGUS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02920" y="1444752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32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Contoh Prompt: Buruk vs Baik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502920" y="2121408"/>
            <a:ext cx="5166360" cy="1691640"/>
          </a:xfrm>
          <a:prstGeom prst="roundRect">
            <a:avLst>
              <a:gd name="adj" fmla="val 6486"/>
            </a:avLst>
          </a:prstGeom>
          <a:solidFill>
            <a:srgbClr val="F4F6FB"/>
          </a:solidFill>
          <a:ln w="12700">
            <a:solidFill>
              <a:srgbClr val="D6DC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04088" y="2322576"/>
            <a:ext cx="4764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PROMPT BURUK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04088" y="2688336"/>
            <a:ext cx="4764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i="1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"Buatkan caption Instagram untuk produk saya"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704088" y="3172968"/>
            <a:ext cx="4764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Masalah: hasilnya 1 caption generik, harus diulang besok dari nol.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172200" y="2121408"/>
            <a:ext cx="5166360" cy="2286000"/>
          </a:xfrm>
          <a:prstGeom prst="roundRect">
            <a:avLst>
              <a:gd name="adj" fmla="val 4800"/>
            </a:avLst>
          </a:prstGeom>
          <a:solidFill>
            <a:srgbClr val="F3F0FF"/>
          </a:solidFill>
          <a:ln w="12700">
            <a:solidFill>
              <a:srgbClr val="DCD3F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73368" y="2322576"/>
            <a:ext cx="4764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B36C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PROMPT BAIK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373368" y="2670048"/>
            <a:ext cx="476402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i="1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"[Project ini sudah tahu positioning dan produk-produkku] Buatkan kalender Instagram Juli — 16 post (4/minggu): 1 produk, 1 edukasi, 1 BTS, 1 testimoni. Tiap post: tema, caption maks 80 kata, 8 hashtag. Format tabel."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73368" y="3904488"/>
            <a:ext cx="4764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Kenapa berhasil: 1 prompt = 16 caption terstruktur siap isi ke kalender.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02920" y="4590288"/>
            <a:ext cx="11064240" cy="1097280"/>
          </a:xfrm>
          <a:prstGeom prst="roundRect">
            <a:avLst>
              <a:gd name="adj" fmla="val 8333"/>
            </a:avLst>
          </a:prstGeom>
          <a:solidFill>
            <a:srgbClr val="F3F0FF"/>
          </a:solidFill>
          <a:ln w="12700">
            <a:solidFill>
              <a:srgbClr val="DCD3F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3232" y="4590288"/>
            <a:ext cx="1064361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4B36C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◆  YANG KAMU BUTUHKAN  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file cm-kalender-konten.xlsx (template 16 slot posting per bulan), akun Instagram bisnis aktif + 5-10 foto produk, dan Canva Connector aktif (opsional). Positioning dan katalog produk dari Modul 1-2 sudah otomatis tersedia kalau kamu masih di Project yang sama.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D13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6849F6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belajar</a:t>
            </a:r>
            <a:pPr indent="0" marL="0">
              <a:buNone/>
            </a:pPr>
            <a:r>
              <a:rPr lang="en-US" sz="2000" b="1" dirty="0">
                <a:solidFill>
                  <a:srgbClr val="8B7C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claude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943600" y="274320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9AA2B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Modul 03 — Sistem Konten Instagram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02920" y="117043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40" kern="0" dirty="0">
                <a:solidFill>
                  <a:srgbClr val="4B36C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DARI BAHAN KE KALENDER SIAP JADWAL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02920" y="1444752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32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Cara Kerja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548640" y="2194560"/>
            <a:ext cx="329184" cy="329184"/>
          </a:xfrm>
          <a:prstGeom prst="ellipse">
            <a:avLst/>
          </a:prstGeom>
          <a:solidFill>
            <a:srgbClr val="6849F6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1945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214884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D132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Siapkan Bahan Tambahan —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promo bulan ini, momen spesial (produk sudah diketahui Claude dari Project)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2816352"/>
            <a:ext cx="329184" cy="329184"/>
          </a:xfrm>
          <a:prstGeom prst="ellipse">
            <a:avLst/>
          </a:prstGeom>
          <a:solidFill>
            <a:srgbClr val="6849F6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8163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24128" y="2770632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D132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Generate Kalender 30 Hari —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format tabel: Minggu | Hari | Tema | Caption | Hashtag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438144"/>
            <a:ext cx="329184" cy="329184"/>
          </a:xfrm>
          <a:prstGeom prst="ellipse">
            <a:avLst/>
          </a:prstGeom>
          <a:solidFill>
            <a:srgbClr val="6849F6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4381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24128" y="3392424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D132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Review &amp; Personalisasi —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tambahkan cerita atau info promo spesifik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4059936"/>
            <a:ext cx="329184" cy="329184"/>
          </a:xfrm>
          <a:prstGeom prst="ellipse">
            <a:avLst/>
          </a:prstGeom>
          <a:solidFill>
            <a:srgbClr val="6849F6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40599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24128" y="4014216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D132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Import —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ke Google Sheets atau tool scheduling (Later, Buffer)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02920" y="4818888"/>
            <a:ext cx="11064240" cy="960120"/>
          </a:xfrm>
          <a:prstGeom prst="roundRect">
            <a:avLst>
              <a:gd name="adj" fmla="val 9524"/>
            </a:avLst>
          </a:prstGeom>
          <a:solidFill>
            <a:srgbClr val="F3F0FF"/>
          </a:solidFill>
          <a:ln w="12700">
            <a:solidFill>
              <a:srgbClr val="DCD3F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3232" y="4818888"/>
            <a:ext cx="106436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4B36C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◆  KENAPA POSITIONING TIDAK PERLU DIKETIK ULANG?  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Project yang sama dari Modul 1-2 sudah membawa positioning dan daftar produk — langkah 1 di atas cukup fokus ke hal baru: promo dan momen bulan ini.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D13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6849F6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belajar</a:t>
            </a:r>
            <a:pPr indent="0" marL="0">
              <a:buNone/>
            </a:pPr>
            <a:r>
              <a:rPr lang="en-US" sz="2000" b="1" dirty="0">
                <a:solidFill>
                  <a:srgbClr val="8B7C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claude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943600" y="274320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9AA2B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Modul 03 — Sistem Konten Instagram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02920" y="117043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40" kern="0" dirty="0">
                <a:solidFill>
                  <a:srgbClr val="4B36C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LEBIH DARI SEKADAR TEKS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02920" y="1444752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32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Level Up: 3 Kemampuan Bonus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502920" y="2121408"/>
            <a:ext cx="11064240" cy="1188720"/>
          </a:xfrm>
          <a:prstGeom prst="roundRect">
            <a:avLst>
              <a:gd name="adj" fmla="val 7692"/>
            </a:avLst>
          </a:prstGeom>
          <a:solidFill>
            <a:srgbClr val="F4F6FB"/>
          </a:solidFill>
          <a:ln w="12700">
            <a:solidFill>
              <a:srgbClr val="D6DC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13232" y="2304288"/>
            <a:ext cx="457200" cy="457200"/>
          </a:xfrm>
          <a:prstGeom prst="ellipse">
            <a:avLst/>
          </a:prstGeom>
          <a:solidFill>
            <a:srgbClr val="6849F6"/>
          </a:solidFill>
          <a:ln/>
        </p:spPr>
      </p:sp>
      <p:sp>
        <p:nvSpPr>
          <p:cNvPr id="10" name="Text 8"/>
          <p:cNvSpPr/>
          <p:nvPr/>
        </p:nvSpPr>
        <p:spPr>
          <a:xfrm>
            <a:off x="713232" y="23042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71600" y="2258568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B36C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Dashboard Kalender HTML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371600" y="2551176"/>
            <a:ext cx="9966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Claude bikin halaman kalender visual dari data di atas — checkbox status per post, warna beda per tema. 1 file HTML, buka langsung di browser mana saja, tidak perlu Sheets atau tool berbayar.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3493008"/>
            <a:ext cx="11064240" cy="1188720"/>
          </a:xfrm>
          <a:prstGeom prst="roundRect">
            <a:avLst>
              <a:gd name="adj" fmla="val 7692"/>
            </a:avLst>
          </a:prstGeom>
          <a:solidFill>
            <a:srgbClr val="F4F6FB"/>
          </a:solidFill>
          <a:ln w="12700">
            <a:solidFill>
              <a:srgbClr val="D6DC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13232" y="3675888"/>
            <a:ext cx="457200" cy="457200"/>
          </a:xfrm>
          <a:prstGeom prst="ellipse">
            <a:avLst/>
          </a:prstGeom>
          <a:solidFill>
            <a:srgbClr val="6849F6"/>
          </a:solidFill>
          <a:ln/>
        </p:spPr>
      </p:sp>
      <p:sp>
        <p:nvSpPr>
          <p:cNvPr id="15" name="Text 13"/>
          <p:cNvSpPr/>
          <p:nvPr/>
        </p:nvSpPr>
        <p:spPr>
          <a:xfrm>
            <a:off x="713232" y="36758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371600" y="3630168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B36C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Grafis Langsung dari Claude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371600" y="3922776"/>
            <a:ext cx="9966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Untuk visual yang tidak butuh foto realistis — quote card, price tag, tile promo. Warna dan mood brand otomatis dari Project Modul 1, tidak perlu disebut ulang.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02920" y="4864608"/>
            <a:ext cx="11064240" cy="1188720"/>
          </a:xfrm>
          <a:prstGeom prst="roundRect">
            <a:avLst>
              <a:gd name="adj" fmla="val 7692"/>
            </a:avLst>
          </a:prstGeom>
          <a:solidFill>
            <a:srgbClr val="F4F6FB"/>
          </a:solidFill>
          <a:ln w="12700">
            <a:solidFill>
              <a:srgbClr val="D6DC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13232" y="5047488"/>
            <a:ext cx="457200" cy="457200"/>
          </a:xfrm>
          <a:prstGeom prst="ellipse">
            <a:avLst/>
          </a:prstGeom>
          <a:solidFill>
            <a:srgbClr val="6849F6"/>
          </a:solidFill>
          <a:ln/>
        </p:spPr>
      </p:sp>
      <p:sp>
        <p:nvSpPr>
          <p:cNvPr id="20" name="Text 18"/>
          <p:cNvSpPr/>
          <p:nvPr/>
        </p:nvSpPr>
        <p:spPr>
          <a:xfrm>
            <a:off x="713232" y="5047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371600" y="5001768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B36C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Foto Produk via Prompt Enhancer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371600" y="5294376"/>
            <a:ext cx="9966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Claude tidak bisa buat foto langsung, tapi bisa tulis prompt gambar detail untuk Nano Banana Pro (gratis 3/hari) atau ChatGPT. Revisi promptnya kalau hasil belum pas, bukan mulai dari nol.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D13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6849F6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belajar</a:t>
            </a:r>
            <a:pPr indent="0" marL="0">
              <a:buNone/>
            </a:pPr>
            <a:r>
              <a:rPr lang="en-US" sz="2000" b="1" dirty="0">
                <a:solidFill>
                  <a:srgbClr val="8B7C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claude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943600" y="274320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9AA2B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Modul 03 — Sistem Konten Instagram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02920" y="117043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40" kern="0" dirty="0">
                <a:solidFill>
                  <a:srgbClr val="4B36C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DARI LATIHAN KE OUTPUT SIAP PAKAI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02920" y="1444752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32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Latihan &amp; Output yang Diharapkan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502920" y="2084832"/>
            <a:ext cx="11064240" cy="1965960"/>
          </a:xfrm>
          <a:prstGeom prst="roundRect">
            <a:avLst>
              <a:gd name="adj" fmla="val 5581"/>
            </a:avLst>
          </a:prstGeom>
          <a:solidFill>
            <a:srgbClr val="EAFAF0"/>
          </a:solidFill>
          <a:ln w="12700">
            <a:solidFill>
              <a:srgbClr val="B8E6C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2249424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7A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■  LATIHAN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13232" y="2542032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Jalankan prompt ini untuk bulan depan, lalu isi hasilnya ke cm-kalender-konten.xlsx. Pilih 3 caption terbaik, personalisasi, dan jadwalkan. Bonus: minta Claude ubah jadi dashboard HTML, buat 1 grafis, dan 1 foto produk dengan Prompt Enhancer.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13232" y="3310128"/>
            <a:ext cx="1060704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B8E6C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3310128"/>
            <a:ext cx="10296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1A7A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Buatkan kalender Instagram bulan Agustus — 16 post (4/minggu): 1 produk, 1 edukasi, 1 BTS, 1 testimoni. Tiap post: tema, caption maks 80 kata (Hook-Value/Cerita-CTA), 8 hashtag. Format tabel: Minggu | Hari | Tema | Caption | Hashtag.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02920" y="4279392"/>
            <a:ext cx="11064240" cy="1737360"/>
          </a:xfrm>
          <a:prstGeom prst="roundRect">
            <a:avLst>
              <a:gd name="adj" fmla="val 6316"/>
            </a:avLst>
          </a:prstGeom>
          <a:solidFill>
            <a:srgbClr val="141D33"/>
          </a:solidFill>
          <a:ln/>
        </p:spPr>
      </p:sp>
      <p:sp>
        <p:nvSpPr>
          <p:cNvPr id="14" name="Text 12"/>
          <p:cNvSpPr/>
          <p:nvPr/>
        </p:nvSpPr>
        <p:spPr>
          <a:xfrm>
            <a:off x="713232" y="4443984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7C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OUTPUT YANG DIHARAPKAN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13232" y="4736592"/>
            <a:ext cx="10607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B7C0D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Kalender konten 1 bulan (16 post) dalam spreadsheet — tema, caption (framework Hook-Value-CTA), dan hashtag terisi — siap dijadwalkan. Canva Connector aktif untuk Modul 4. Waktu yang dihemat: ~8 jam per bulan.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B7C0D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File pendukung: cm-kalender-konten.xlsx. Bonus: 1 dashboard HTML, 1 grafis Claude, 1 foto produk via Prompt Enhancer. Ulangi tiap awal bulan — simpan prompt terbaik sebagai template.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2026-07-28T13:46:25Z</dcterms:created>
  <dcterms:modified xsi:type="dcterms:W3CDTF">2026-07-28T13:46:25Z</dcterms:modified>
</cp:coreProperties>
</file>