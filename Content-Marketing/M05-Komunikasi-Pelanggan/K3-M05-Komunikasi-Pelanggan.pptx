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384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74684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62088" y="0"/>
            <a:ext cx="4626864" cy="6858000"/>
          </a:xfrm>
          <a:prstGeom prst="rect">
            <a:avLst/>
          </a:prstGeom>
          <a:solidFill>
            <a:srgbClr val="141D3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6184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5" name="Text 3"/>
          <p:cNvSpPr/>
          <p:nvPr/>
        </p:nvSpPr>
        <p:spPr>
          <a:xfrm>
            <a:off x="10616184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5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KREASI KONTEN PEMASARAN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87576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Komunikasi Pelanggan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3693416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WhatsApp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brand voice, respons konsisten setiap saat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PROFIL BISNIS, RESPONS KONSISTEN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Mengapa Template On-Brand Penting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66751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KONSISTENSI TONE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Semua orang di tim balas dengan gaya yang sama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0896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327355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KECEPATAN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27355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Copy-paste + edit &lt;30 detik vs 3-5 menit tulis dari nol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1500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5" name="Text 13"/>
          <p:cNvSpPr/>
          <p:nvPr/>
        </p:nvSpPr>
        <p:spPr>
          <a:xfrm>
            <a:off x="587959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ADA YANG TERLEWAT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87959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untuk semua skenario = tidak bingung harus balas apa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32104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8" name="Text 16"/>
          <p:cNvSpPr/>
          <p:nvPr/>
        </p:nvSpPr>
        <p:spPr>
          <a:xfrm>
            <a:off x="848563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PROFESIONALISME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8563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yang baik membuat bisnis terlihat lebih besar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566160"/>
            <a:ext cx="11064240" cy="1554480"/>
          </a:xfrm>
          <a:prstGeom prst="roundRect">
            <a:avLst>
              <a:gd name="adj" fmla="val 5882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1" name="Text 19"/>
          <p:cNvSpPr/>
          <p:nvPr/>
        </p:nvSpPr>
        <p:spPr>
          <a:xfrm>
            <a:off x="713232" y="373075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CLAUDE PROJECTS — SATU-SATUNYA YANG KAMU BUTUHKAN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13232" y="4041648"/>
            <a:ext cx="10607040" cy="10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Level: Claude Projects (semua plan termasuk Free) · Setup: 5 menit sekali. Tambahkan brand voice khusus komunikasi pelanggan — sapaan, batasan, tone untuk CS — ke Claude Project dari Modul 1, yang sudah punya positioning dan identitas visual bisnismu. Upload cm-template-wa.txt ke Project Knowledge — file ini berisi 10 skenario dan satu Prompt Siap Pakai yang tinggal diisi pesan pembeli, dipakai berulang kapan saja. Belum ada WA Connector — jadi generate di chat, lalu copy-paste manual ke WhatsApp-mu, selalu begitu.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SEBELUM GENERATE, HINDARI INI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94560"/>
            <a:ext cx="11064240" cy="2057400"/>
          </a:xfrm>
          <a:prstGeom prst="roundRect">
            <a:avLst>
              <a:gd name="adj" fmla="val 4444"/>
            </a:avLst>
          </a:prstGeom>
          <a:solidFill>
            <a:srgbClr val="FFF6F6"/>
          </a:solidFill>
          <a:ln w="12700">
            <a:solidFill>
              <a:srgbClr val="F3C6C6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13232" y="234086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 DI WHATSAPP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3232" y="264261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50976" y="26151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Terlalu formal dan kaku — pembeli modern tidak suka merasa bicara dengan bot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13232" y="295351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50976" y="29260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ada CTA yang jelas — tiap pesan harus ada next step yang jelas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326440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50976" y="3236976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dikustomisasi per situasi — 1 template untuk semua situasi terasa generic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3232" y="357530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50976" y="354787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Terlalu panjang — maksimal 5 baris, WA adalah medium untuk di-scan, bukan dibaca penuh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3232" y="388620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50976" y="385876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Respon terlalu lambat — pembeli modern expect balasan dalam hitungan menit, bukan jam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ALUR, TIGA LANGKAH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Cara Kerja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2121408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CARA KERJA STEP-BY-STEP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505456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0" name="Text 8"/>
          <p:cNvSpPr/>
          <p:nvPr/>
        </p:nvSpPr>
        <p:spPr>
          <a:xfrm>
            <a:off x="502920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05256" y="2366552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Tambahkan brand voice CS ke Claude Project dari Modul 1 — dilakukan sekali saja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3218688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3" name="Text 11"/>
          <p:cNvSpPr/>
          <p:nvPr/>
        </p:nvSpPr>
        <p:spPr>
          <a:xfrm>
            <a:off x="502920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05256" y="3079784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Upload cm-template-wa.txt ke Project Knowledge — dilakukan sekali saja. File ini sudah lengkap: 10 skenario + prompt siap pakai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3931920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6" name="Text 14"/>
          <p:cNvSpPr/>
          <p:nvPr/>
        </p:nvSpPr>
        <p:spPr>
          <a:xfrm>
            <a:off x="502920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05256" y="3816312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 ada pembeli beneran chat: cocokkan ke salah satu dari 10 skenario, isi prompt siap pakai di file dengan pesan aslinya, kirim ke Claude, lalu copy-paste balasannya ke WhatsApp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TEMPLATE FILE, SEPULUH SKENARIO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 Skenario WhatsApp yang Perlu Dikuasai</a:t>
            </a:r>
            <a:endParaRPr lang="en-US" sz="2200" dirty="0"/>
          </a:p>
        </p:txBody>
      </p:sp>
      <p:sp>
        <p:nvSpPr>
          <p:cNvPr id="8" name="Rounded Rectangle 7"/>
          <p:cNvSpPr/>
          <p:nvPr/>
        </p:nvSpPr>
        <p:spPr>
          <a:xfrm>
            <a:off x="502920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" y="2249424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INQUIRY PERTAMA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779776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Sambut hangat + arahkan ke katalog/order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89504" y="2249424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KONFIRMASI PESANAN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9504" y="2779776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Info diterima + estimasi proses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79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29783" y="2249424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INFO PENGIRIMAN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9783" y="2779776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Nomor resi + estimasi tiba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59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70063" y="2249424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FOLLOW-UP PEMBAYARAN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0063" y="2779776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Reminder ramah + tenggat waktu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64040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10344" y="2249424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BALAS KOMPLAIN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10344" y="2779776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Minta maaf + solusi (ganti/refund)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9224" y="3831335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MINTA TESTIMONI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" y="4361688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Tanya pengalaman + minta review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889504" y="3831335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BROADCAST PROMO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9504" y="4361688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Hook menarik + deadline + cara order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83479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29783" y="3831335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NEGOSIASI HARGA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9783" y="4361688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Pertahankan harga + tawarkan value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223759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70063" y="3831335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STOK HABIS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70063" y="4361688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Info stok + estimasi restock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64040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610344" y="3831335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UCAPAN TERIMA KASIH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10344" y="4361688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Terima kasih + undang kembali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TIGA LATIHAN, TIGA OUTPUT JELAS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1 &amp; 2: Setup Brand Voice + Upload Template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1"/>
            <a:ext cx="11064240" cy="1691640"/>
          </a:xfrm>
          <a:prstGeom prst="roundRect">
            <a:avLst>
              <a:gd name="adj" fmla="val 5581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 1 — SETUP BRAND VOICE CS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254203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 Project yang sama dari Modul 1 → Project Instructions → tambahkan teks di bawah, jangan hapus positioning yang sudah ada.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3232" y="2999232"/>
            <a:ext cx="10607040" cy="50292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8E6C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868680" y="2999232"/>
            <a:ext cx="10296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i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Brand voice untuk komunikasi pelanggan: tone santai-hangat, sapaan "Kak", batasan emoji 1-2/pesan, tutup pesan dengan "Salam hangat, Dapur Rara".</a:t>
            </a:r>
            <a:endParaRPr lang="en-US" sz="950" dirty="0"/>
          </a:p>
        </p:txBody>
      </p:sp>
      <p:sp>
        <p:nvSpPr>
          <p:cNvPr id="19" name="TextBox 18"/>
          <p:cNvSpPr txBox="1"/>
          <p:nvPr/>
        </p:nvSpPr>
        <p:spPr>
          <a:xfrm>
            <a:off x="713232" y="356616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1A7A44"/>
                </a:solidFill>
                <a:latin typeface="Helvetica"/>
              </a:rPr>
              <a:t>✅ Output: Project Instructions ter-update — dipakai otomatis di semua chat berikutnya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13632"/>
            <a:ext cx="11064240" cy="1575880"/>
          </a:xfrm>
          <a:prstGeom prst="roundRect">
            <a:avLst>
              <a:gd name="adj" fmla="val 6000"/>
            </a:avLst>
          </a:prstGeom>
          <a:solidFill>
            <a:srgbClr val="EAFAF0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4078224"/>
            <a:ext cx="106070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 b="1">
                <a:solidFill>
                  <a:srgbClr val="1A7A44"/>
                </a:solidFill>
                <a:latin typeface="Helvetica"/>
              </a:rPr>
              <a:t>■  LATIHAN 2 — UPLOAD TEMPLATE SKENARIO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370832"/>
            <a:ext cx="106070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>
                <a:solidFill>
                  <a:srgbClr val="23283A"/>
                </a:solidFill>
                <a:latin typeface="Helvetica"/>
              </a:rPr>
              <a:t>Upload cm-template-wa.txt ke Project Knowledge — sudah siap pakai, tidak perlu diisi apapun. Dilakukan sekali saja, sama seperti Latihan 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506519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1A7A44"/>
                </a:solidFill>
                <a:latin typeface="Helvetica"/>
              </a:rPr>
              <a:t>✅ Output: cm-template-wa.txt tersimpan permanen — 10 skenario + prompt siap pakai bisa dipakai kapan saja, tanpa upload ulang.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ounded Rectangle 18"/>
          <p:cNvSpPr/>
          <p:nvPr/>
        </p:nvSpPr>
        <p:spPr>
          <a:xfrm>
            <a:off x="502920" y="2084831"/>
            <a:ext cx="11064240" cy="2546440"/>
          </a:xfrm>
          <a:prstGeom prst="roundRect">
            <a:avLst>
              <a:gd name="adj" fmla="val 6000"/>
            </a:avLst>
          </a:prstGeom>
          <a:solidFill>
            <a:srgbClr val="EAFAF0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TEMPLATE KE BALASAN NYATA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3: Pakai Prompt Siap Pakai dari File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02920" y="4832440"/>
            <a:ext cx="11064240" cy="1691640"/>
          </a:xfrm>
          <a:prstGeom prst="roundRect">
            <a:avLst>
              <a:gd name="adj" fmla="val 7742"/>
            </a:avLst>
          </a:prstGeom>
          <a:solidFill>
            <a:srgbClr val="141D3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4" name="Text 12"/>
          <p:cNvSpPr/>
          <p:nvPr/>
        </p:nvSpPr>
        <p:spPr>
          <a:xfrm>
            <a:off x="713232" y="499703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MODUL (KESELURUHAN)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3232" y="52896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 Claude Project dengan brand voice CS aktif (Latihan 1) + cm-template-wa.txt tersimpan permanen di Project Knowledge (Latihan 2) + kemampuan generate balasan on-brand untuk pesan pembeli asli, kapanpun, pakai prompt siap pakai dari file itu (Latihan 3).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pendukung: cm-template-wa.txt.</a:t>
            </a:r>
            <a:endParaRPr lang="en-US" sz="1100" dirty="0"/>
          </a:p>
        </p:txBody>
      </p:sp>
      <p:sp>
        <p:nvSpPr>
          <p:cNvPr id="18" name="Rounded Rectangle 17"/>
          <p:cNvSpPr/>
          <p:nvPr/>
        </p:nvSpPr>
        <p:spPr>
          <a:xfrm>
            <a:off x="713232" y="3320000"/>
            <a:ext cx="10607040" cy="7500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" tIns="73152" rIns="155448" bIns="73152" rtlCol="0" anchor="ctr"/>
          <a:lstStyle/>
          <a:p>
            <a:pPr algn="ctr"/>
            <a:r>
              <a:rPr sz="950" i="1">
                <a:solidFill>
                  <a:srgbClr val="1A7A44"/>
                </a:solidFill>
                <a:latin typeface="Helvetica"/>
              </a:rPr>
              <a:t>Buatkan template WhatsApp untuk skenario berikut, pakai brand voice dan sapaan dari Project-ku: "Kak, boleh kurang lagi ga harganya kalau aku ambil 5 pcs sekaligus?" Maks 5 baris, ada emoji 1-2, ada CTA jelas.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 b="1">
                <a:solidFill>
                  <a:srgbClr val="1A7A44"/>
                </a:solidFill>
                <a:latin typeface="Helvetica"/>
              </a:rPr>
              <a:t>■  LATIHAN 3 — PAKAI PROMPT SIAP PAKAI DARI FILE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2542032"/>
            <a:ext cx="10607040" cy="31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dirty="0" err="1">
                <a:solidFill>
                  <a:srgbClr val="23283A"/>
                </a:solidFill>
                <a:latin typeface="Helvetica"/>
              </a:rPr>
              <a:t>Begitu</a:t>
            </a:r>
            <a:r>
              <a:rPr sz="1200" dirty="0">
                <a:solidFill>
                  <a:srgbClr val="23283A"/>
                </a:solidFill>
                <a:latin typeface="Helvetica"/>
              </a:rPr>
              <a:t> </a:t>
            </a:r>
            <a:r>
              <a:rPr sz="1200" dirty="0" err="1">
                <a:solidFill>
                  <a:srgbClr val="23283A"/>
                </a:solidFill>
                <a:latin typeface="Helvetica"/>
              </a:rPr>
              <a:t>ada</a:t>
            </a:r>
            <a:r>
              <a:rPr sz="1200" dirty="0">
                <a:solidFill>
                  <a:srgbClr val="23283A"/>
                </a:solidFill>
                <a:latin typeface="Helvetica"/>
              </a:rPr>
              <a:t> </a:t>
            </a:r>
            <a:r>
              <a:rPr sz="1200" dirty="0" err="1">
                <a:solidFill>
                  <a:srgbClr val="23283A"/>
                </a:solidFill>
                <a:latin typeface="Helvetica"/>
              </a:rPr>
              <a:t>pembeli</a:t>
            </a:r>
            <a:r>
              <a:rPr sz="1200" dirty="0">
                <a:solidFill>
                  <a:srgbClr val="23283A"/>
                </a:solidFill>
                <a:latin typeface="Helvetica"/>
              </a:rPr>
              <a:t> chat </a:t>
            </a:r>
            <a:r>
              <a:rPr sz="1200" dirty="0" err="1">
                <a:solidFill>
                  <a:srgbClr val="23283A"/>
                </a:solidFill>
                <a:latin typeface="Helvetica"/>
              </a:rPr>
              <a:t>beneran</a:t>
            </a:r>
            <a:r>
              <a:rPr sz="1200" dirty="0">
                <a:solidFill>
                  <a:srgbClr val="23283A"/>
                </a:solidFill>
                <a:latin typeface="Helvetica"/>
              </a:rPr>
              <a:t>, </a:t>
            </a:r>
            <a:r>
              <a:rPr sz="1200" dirty="0" err="1">
                <a:solidFill>
                  <a:srgbClr val="23283A"/>
                </a:solidFill>
                <a:latin typeface="Helvetica"/>
              </a:rPr>
              <a:t>buka</a:t>
            </a:r>
            <a:r>
              <a:rPr sz="1200" dirty="0">
                <a:solidFill>
                  <a:srgbClr val="23283A"/>
                </a:solidFill>
                <a:latin typeface="Helvetica"/>
              </a:rPr>
              <a:t> cm-template-wa.txt, </a:t>
            </a:r>
            <a:r>
              <a:rPr sz="1200" dirty="0" err="1">
                <a:solidFill>
                  <a:srgbClr val="23283A"/>
                </a:solidFill>
                <a:latin typeface="Helvetica"/>
              </a:rPr>
              <a:t>cocokkan</a:t>
            </a:r>
            <a:r>
              <a:rPr sz="1200" dirty="0">
                <a:solidFill>
                  <a:srgbClr val="23283A"/>
                </a:solidFill>
                <a:latin typeface="Helvetica"/>
              </a:rPr>
              <a:t> </a:t>
            </a:r>
            <a:r>
              <a:rPr sz="1200" dirty="0" err="1">
                <a:solidFill>
                  <a:srgbClr val="23283A"/>
                </a:solidFill>
                <a:latin typeface="Helvetica"/>
              </a:rPr>
              <a:t>pesannya</a:t>
            </a:r>
            <a:r>
              <a:rPr sz="1200" dirty="0">
                <a:solidFill>
                  <a:srgbClr val="23283A"/>
                </a:solidFill>
                <a:latin typeface="Helvetica"/>
              </a:rPr>
              <a:t> </a:t>
            </a:r>
            <a:r>
              <a:rPr sz="1200" dirty="0" err="1">
                <a:solidFill>
                  <a:srgbClr val="23283A"/>
                </a:solidFill>
                <a:latin typeface="Helvetica"/>
              </a:rPr>
              <a:t>ke</a:t>
            </a:r>
            <a:r>
              <a:rPr sz="1200" dirty="0">
                <a:solidFill>
                  <a:srgbClr val="23283A"/>
                </a:solidFill>
                <a:latin typeface="Helvetica"/>
              </a:rPr>
              <a:t> salah </a:t>
            </a:r>
            <a:r>
              <a:rPr sz="1200" dirty="0" err="1">
                <a:solidFill>
                  <a:srgbClr val="23283A"/>
                </a:solidFill>
                <a:latin typeface="Helvetica"/>
              </a:rPr>
              <a:t>satu</a:t>
            </a:r>
            <a:r>
              <a:rPr sz="1200" dirty="0">
                <a:solidFill>
                  <a:srgbClr val="23283A"/>
                </a:solidFill>
                <a:latin typeface="Helvetica"/>
              </a:rPr>
              <a:t> </a:t>
            </a:r>
            <a:r>
              <a:rPr sz="1200" dirty="0" err="1">
                <a:solidFill>
                  <a:srgbClr val="23283A"/>
                </a:solidFill>
                <a:latin typeface="Helvetica"/>
              </a:rPr>
              <a:t>dari</a:t>
            </a:r>
            <a:r>
              <a:rPr sz="1200" dirty="0">
                <a:solidFill>
                  <a:srgbClr val="23283A"/>
                </a:solidFill>
                <a:latin typeface="Helvetica"/>
              </a:rPr>
              <a:t> 10 </a:t>
            </a:r>
            <a:r>
              <a:rPr sz="1200" dirty="0" err="1">
                <a:solidFill>
                  <a:srgbClr val="23283A"/>
                </a:solidFill>
                <a:latin typeface="Helvetica"/>
              </a:rPr>
              <a:t>skenario</a:t>
            </a:r>
            <a:r>
              <a:rPr sz="1200" dirty="0">
                <a:solidFill>
                  <a:srgbClr val="23283A"/>
                </a:solidFill>
                <a:latin typeface="Helvetica"/>
              </a:rPr>
              <a:t>. </a:t>
            </a:r>
            <a:r>
              <a:rPr sz="1200" dirty="0" err="1">
                <a:solidFill>
                  <a:srgbClr val="23283A"/>
                </a:solidFill>
                <a:latin typeface="Helvetica"/>
              </a:rPr>
              <a:t>Contoh</a:t>
            </a:r>
            <a:r>
              <a:rPr sz="1200" dirty="0">
                <a:solidFill>
                  <a:srgbClr val="23283A"/>
                </a:solidFill>
                <a:latin typeface="Helvetica"/>
              </a:rPr>
              <a:t> </a:t>
            </a:r>
            <a:r>
              <a:rPr sz="1200" dirty="0" err="1">
                <a:solidFill>
                  <a:srgbClr val="23283A"/>
                </a:solidFill>
                <a:latin typeface="Helvetica"/>
              </a:rPr>
              <a:t>ini</a:t>
            </a:r>
            <a:r>
              <a:rPr sz="1200" dirty="0">
                <a:solidFill>
                  <a:srgbClr val="23283A"/>
                </a:solidFill>
                <a:latin typeface="Helvetica"/>
              </a:rPr>
              <a:t> </a:t>
            </a:r>
            <a:r>
              <a:rPr sz="1200" dirty="0" err="1">
                <a:solidFill>
                  <a:srgbClr val="23283A"/>
                </a:solidFill>
                <a:latin typeface="Helvetica"/>
              </a:rPr>
              <a:t>cocok</a:t>
            </a:r>
            <a:r>
              <a:rPr sz="1200" dirty="0">
                <a:solidFill>
                  <a:srgbClr val="23283A"/>
                </a:solidFill>
                <a:latin typeface="Helvetica"/>
              </a:rPr>
              <a:t> </a:t>
            </a:r>
            <a:r>
              <a:rPr sz="1200" dirty="0" err="1">
                <a:solidFill>
                  <a:srgbClr val="23283A"/>
                </a:solidFill>
                <a:latin typeface="Helvetica"/>
              </a:rPr>
              <a:t>Skenario</a:t>
            </a:r>
            <a:r>
              <a:rPr sz="1200" dirty="0">
                <a:solidFill>
                  <a:srgbClr val="23283A"/>
                </a:solidFill>
                <a:latin typeface="Helvetica"/>
              </a:rPr>
              <a:t> 8 (</a:t>
            </a:r>
            <a:r>
              <a:rPr sz="1200" dirty="0" err="1">
                <a:solidFill>
                  <a:srgbClr val="23283A"/>
                </a:solidFill>
                <a:latin typeface="Helvetica"/>
              </a:rPr>
              <a:t>negosiasi</a:t>
            </a:r>
            <a:r>
              <a:rPr sz="1200" dirty="0">
                <a:solidFill>
                  <a:srgbClr val="23283A"/>
                </a:solidFill>
                <a:latin typeface="Helvetica"/>
              </a:rPr>
              <a:t> </a:t>
            </a:r>
            <a:r>
              <a:rPr sz="1200" dirty="0" err="1">
                <a:solidFill>
                  <a:srgbClr val="23283A"/>
                </a:solidFill>
                <a:latin typeface="Helvetica"/>
              </a:rPr>
              <a:t>harga</a:t>
            </a:r>
            <a:r>
              <a:rPr sz="1200" dirty="0">
                <a:solidFill>
                  <a:srgbClr val="23283A"/>
                </a:solidFill>
                <a:latin typeface="Helvetica"/>
              </a:rPr>
              <a:t>):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16120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1A7A44"/>
                </a:solidFill>
                <a:latin typeface="Helvetica"/>
              </a:rPr>
              <a:t>✅ Output: balasan sesuai skenario negosiasi harga &amp; brand voice Dapur Rara. Copy-paste ke WhatsApp, kirim. Ulangi tiap ada pembeli chat baru, prompt yang sama.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2957888"/>
            <a:ext cx="1060704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 dirty="0">
                <a:solidFill>
                  <a:srgbClr val="23283A"/>
                </a:solidFill>
                <a:latin typeface="Helvetica"/>
              </a:rPr>
              <a:t>"Kak, </a:t>
            </a:r>
            <a:r>
              <a:rPr sz="1200" i="1" dirty="0" err="1">
                <a:solidFill>
                  <a:srgbClr val="23283A"/>
                </a:solidFill>
                <a:latin typeface="Helvetica"/>
              </a:rPr>
              <a:t>boleh</a:t>
            </a:r>
            <a:r>
              <a:rPr sz="1200" i="1" dirty="0">
                <a:solidFill>
                  <a:srgbClr val="23283A"/>
                </a:solidFill>
                <a:latin typeface="Helvetica"/>
              </a:rPr>
              <a:t> </a:t>
            </a:r>
            <a:r>
              <a:rPr sz="1200" i="1" dirty="0" err="1">
                <a:solidFill>
                  <a:srgbClr val="23283A"/>
                </a:solidFill>
                <a:latin typeface="Helvetica"/>
              </a:rPr>
              <a:t>kurang</a:t>
            </a:r>
            <a:r>
              <a:rPr sz="1200" i="1" dirty="0">
                <a:solidFill>
                  <a:srgbClr val="23283A"/>
                </a:solidFill>
                <a:latin typeface="Helvetica"/>
              </a:rPr>
              <a:t> </a:t>
            </a:r>
            <a:r>
              <a:rPr sz="1200" i="1" dirty="0" err="1">
                <a:solidFill>
                  <a:srgbClr val="23283A"/>
                </a:solidFill>
                <a:latin typeface="Helvetica"/>
              </a:rPr>
              <a:t>lagi</a:t>
            </a:r>
            <a:r>
              <a:rPr sz="1200" i="1" dirty="0">
                <a:solidFill>
                  <a:srgbClr val="23283A"/>
                </a:solidFill>
                <a:latin typeface="Helvetica"/>
              </a:rPr>
              <a:t> ga </a:t>
            </a:r>
            <a:r>
              <a:rPr sz="1200" i="1" dirty="0" err="1">
                <a:solidFill>
                  <a:srgbClr val="23283A"/>
                </a:solidFill>
                <a:latin typeface="Helvetica"/>
              </a:rPr>
              <a:t>harganya</a:t>
            </a:r>
            <a:r>
              <a:rPr sz="1200" i="1" dirty="0">
                <a:solidFill>
                  <a:srgbClr val="23283A"/>
                </a:solidFill>
                <a:latin typeface="Helvetica"/>
              </a:rPr>
              <a:t> </a:t>
            </a:r>
            <a:r>
              <a:rPr sz="1200" i="1" dirty="0" err="1">
                <a:solidFill>
                  <a:srgbClr val="23283A"/>
                </a:solidFill>
                <a:latin typeface="Helvetica"/>
              </a:rPr>
              <a:t>kalau</a:t>
            </a:r>
            <a:r>
              <a:rPr sz="1200" i="1" dirty="0">
                <a:solidFill>
                  <a:srgbClr val="23283A"/>
                </a:solidFill>
                <a:latin typeface="Helvetica"/>
              </a:rPr>
              <a:t> </a:t>
            </a:r>
            <a:r>
              <a:rPr sz="1200" i="1" dirty="0" err="1">
                <a:solidFill>
                  <a:srgbClr val="23283A"/>
                </a:solidFill>
                <a:latin typeface="Helvetica"/>
              </a:rPr>
              <a:t>aku</a:t>
            </a:r>
            <a:r>
              <a:rPr sz="1200" i="1" dirty="0">
                <a:solidFill>
                  <a:srgbClr val="23283A"/>
                </a:solidFill>
                <a:latin typeface="Helvetica"/>
              </a:rPr>
              <a:t> </a:t>
            </a:r>
            <a:r>
              <a:rPr sz="1200" i="1" dirty="0" err="1">
                <a:solidFill>
                  <a:srgbClr val="23283A"/>
                </a:solidFill>
                <a:latin typeface="Helvetica"/>
              </a:rPr>
              <a:t>ambil</a:t>
            </a:r>
            <a:r>
              <a:rPr sz="1200" i="1" dirty="0">
                <a:solidFill>
                  <a:srgbClr val="23283A"/>
                </a:solidFill>
                <a:latin typeface="Helvetica"/>
              </a:rPr>
              <a:t> 5 pcs </a:t>
            </a:r>
            <a:r>
              <a:rPr sz="1200" i="1" dirty="0" err="1">
                <a:solidFill>
                  <a:srgbClr val="23283A"/>
                </a:solidFill>
                <a:latin typeface="Helvetica"/>
              </a:rPr>
              <a:t>sekaligus</a:t>
            </a:r>
            <a:r>
              <a:rPr sz="1200" i="1" dirty="0">
                <a:solidFill>
                  <a:srgbClr val="23283A"/>
                </a:solidFill>
                <a:latin typeface="Helvetica"/>
              </a:rPr>
              <a:t>?"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847</Words>
  <Application>Microsoft Office PowerPoint</Application>
  <PresentationFormat>Widescreen</PresentationFormat>
  <Paragraphs>99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Julia Utomo</cp:lastModifiedBy>
  <cp:revision>8</cp:revision>
  <dcterms:created xsi:type="dcterms:W3CDTF">2026-07-29T03:50:02Z</dcterms:created>
  <dcterms:modified xsi:type="dcterms:W3CDTF">2026-07-30T14:35:59Z</dcterms:modified>
</cp:coreProperties>
</file>