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9"/>
  </p:notesMasterIdLst>
  <p:sldIdLst>
    <p:sldId id="256" r:id="rId2"/>
    <p:sldId id="257" r:id="rId3"/>
    <p:sldId id="258" r:id="rId4"/>
    <p:sldId id="260" r:id="rId5"/>
    <p:sldId id="261" r:id="rId6"/>
    <p:sldId id="262" r:id="rId7"/>
    <p:sldId id="263" r:id="rId8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82" d="100"/>
          <a:sy n="82" d="100"/>
        </p:scale>
        <p:origin x="384" y="4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26746847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32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562088" y="0"/>
            <a:ext cx="4626864" cy="6858000"/>
          </a:xfrm>
          <a:prstGeom prst="rect">
            <a:avLst/>
          </a:prstGeom>
          <a:solidFill>
            <a:srgbClr val="141D33"/>
          </a:solidFill>
          <a:ln/>
        </p:spPr>
        <p:txBody>
          <a:bodyPr/>
          <a:lstStyle/>
          <a:p>
            <a:endParaRPr lang="en-ID"/>
          </a:p>
        </p:txBody>
      </p:sp>
      <p:sp>
        <p:nvSpPr>
          <p:cNvPr id="3" name="Text 1"/>
          <p:cNvSpPr/>
          <p:nvPr/>
        </p:nvSpPr>
        <p:spPr>
          <a:xfrm>
            <a:off x="548640" y="45720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belajar</a:t>
            </a:r>
            <a:r>
              <a:rPr lang="en-US" sz="2000" b="1" dirty="0">
                <a:solidFill>
                  <a:srgbClr val="8B7CF6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claude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10616184" y="384048"/>
            <a:ext cx="1024128" cy="384048"/>
          </a:xfrm>
          <a:prstGeom prst="roundRect">
            <a:avLst>
              <a:gd name="adj" fmla="val 23810"/>
            </a:avLst>
          </a:prstGeom>
          <a:solidFill>
            <a:srgbClr val="6849F6"/>
          </a:solidFill>
          <a:ln/>
        </p:spPr>
        <p:txBody>
          <a:bodyPr/>
          <a:lstStyle/>
          <a:p>
            <a:endParaRPr lang="en-ID"/>
          </a:p>
        </p:txBody>
      </p:sp>
      <p:sp>
        <p:nvSpPr>
          <p:cNvPr id="5" name="Text 3"/>
          <p:cNvSpPr/>
          <p:nvPr/>
        </p:nvSpPr>
        <p:spPr>
          <a:xfrm>
            <a:off x="10616184" y="384048"/>
            <a:ext cx="10241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MODUL 5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548640" y="2331720"/>
            <a:ext cx="7772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40" dirty="0">
                <a:solidFill>
                  <a:srgbClr val="8B7CF6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KREASI KONTEN PEMASARAN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548640" y="2687576"/>
            <a:ext cx="7772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48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Template Komunikasi Pelanggan</a:t>
            </a:r>
            <a:endParaRPr lang="en-US" sz="4000" dirty="0"/>
          </a:p>
        </p:txBody>
      </p:sp>
      <p:sp>
        <p:nvSpPr>
          <p:cNvPr id="8" name="Text 6"/>
          <p:cNvSpPr/>
          <p:nvPr/>
        </p:nvSpPr>
        <p:spPr>
          <a:xfrm>
            <a:off x="548640" y="3693416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8B7CF6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WhatsApp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548640" y="416052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dirty="0">
                <a:solidFill>
                  <a:srgbClr val="B7C0D8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Satu brand voice, respons konsisten setiap saat</a:t>
            </a:r>
            <a:endParaRPr lang="en-US" sz="15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D1321"/>
          </a:solidFill>
          <a:ln/>
        </p:spPr>
        <p:txBody>
          <a:bodyPr/>
          <a:lstStyle/>
          <a:p>
            <a:endParaRPr lang="en-ID"/>
          </a:p>
        </p:txBody>
      </p:sp>
      <p:sp>
        <p:nvSpPr>
          <p:cNvPr id="3" name="Shape 1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6849F6"/>
          </a:solidFill>
          <a:ln/>
        </p:spPr>
        <p:txBody>
          <a:bodyPr/>
          <a:lstStyle/>
          <a:p>
            <a:endParaRPr lang="en-ID"/>
          </a:p>
        </p:txBody>
      </p:sp>
      <p:sp>
        <p:nvSpPr>
          <p:cNvPr id="4" name="Text 2"/>
          <p:cNvSpPr/>
          <p:nvPr/>
        </p:nvSpPr>
        <p:spPr>
          <a:xfrm>
            <a:off x="502920" y="256032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belajar</a:t>
            </a:r>
            <a:r>
              <a:rPr lang="en-US" sz="2000" b="1" dirty="0">
                <a:solidFill>
                  <a:srgbClr val="8B7CF6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claude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5943600" y="274320"/>
            <a:ext cx="5760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50" dirty="0">
                <a:solidFill>
                  <a:srgbClr val="9AA2B4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Modul 05 — Komunikasi Pelanggan (WhatsApp)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502920" y="1170432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kern="0" spc="40" dirty="0">
                <a:solidFill>
                  <a:srgbClr val="4B36C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SATU PROFIL BISNIS, RESPONS KONSISTEN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502920" y="1444752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D132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Mengapa Template On-Brand Penting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502920" y="2084832"/>
            <a:ext cx="2487168" cy="1234440"/>
          </a:xfrm>
          <a:prstGeom prst="roundRect">
            <a:avLst>
              <a:gd name="adj" fmla="val 7407"/>
            </a:avLst>
          </a:prstGeom>
          <a:solidFill>
            <a:srgbClr val="F4F6FB"/>
          </a:solidFill>
          <a:ln w="12700">
            <a:solidFill>
              <a:srgbClr val="D6DCEB"/>
            </a:solidFill>
            <a:prstDash val="solid"/>
          </a:ln>
        </p:spPr>
        <p:txBody>
          <a:bodyPr/>
          <a:lstStyle/>
          <a:p>
            <a:endParaRPr lang="en-ID"/>
          </a:p>
        </p:txBody>
      </p:sp>
      <p:sp>
        <p:nvSpPr>
          <p:cNvPr id="9" name="Text 7"/>
          <p:cNvSpPr/>
          <p:nvPr/>
        </p:nvSpPr>
        <p:spPr>
          <a:xfrm>
            <a:off x="667512" y="2231136"/>
            <a:ext cx="21579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4B36C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KONSISTENSI TONE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667512" y="2651760"/>
            <a:ext cx="21579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Semua orang di tim balas dengan gaya yang sama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3108960" y="2084832"/>
            <a:ext cx="2487168" cy="1234440"/>
          </a:xfrm>
          <a:prstGeom prst="roundRect">
            <a:avLst>
              <a:gd name="adj" fmla="val 7407"/>
            </a:avLst>
          </a:prstGeom>
          <a:solidFill>
            <a:srgbClr val="F4F6FB"/>
          </a:solidFill>
          <a:ln w="12700">
            <a:solidFill>
              <a:srgbClr val="D6DCEB"/>
            </a:solidFill>
            <a:prstDash val="solid"/>
          </a:ln>
        </p:spPr>
        <p:txBody>
          <a:bodyPr/>
          <a:lstStyle/>
          <a:p>
            <a:endParaRPr lang="en-ID"/>
          </a:p>
        </p:txBody>
      </p:sp>
      <p:sp>
        <p:nvSpPr>
          <p:cNvPr id="12" name="Text 10"/>
          <p:cNvSpPr/>
          <p:nvPr/>
        </p:nvSpPr>
        <p:spPr>
          <a:xfrm>
            <a:off x="3273552" y="2231136"/>
            <a:ext cx="21579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4B36C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KECEPATAN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3273552" y="2651760"/>
            <a:ext cx="21579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Copy-paste + edit &lt;30 detik vs 3-5 menit tulis dari nol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5715000" y="2084832"/>
            <a:ext cx="2487168" cy="1234440"/>
          </a:xfrm>
          <a:prstGeom prst="roundRect">
            <a:avLst>
              <a:gd name="adj" fmla="val 7407"/>
            </a:avLst>
          </a:prstGeom>
          <a:solidFill>
            <a:srgbClr val="F4F6FB"/>
          </a:solidFill>
          <a:ln w="12700">
            <a:solidFill>
              <a:srgbClr val="D6DCEB"/>
            </a:solidFill>
            <a:prstDash val="solid"/>
          </a:ln>
        </p:spPr>
        <p:txBody>
          <a:bodyPr/>
          <a:lstStyle/>
          <a:p>
            <a:endParaRPr lang="en-ID"/>
          </a:p>
        </p:txBody>
      </p:sp>
      <p:sp>
        <p:nvSpPr>
          <p:cNvPr id="15" name="Text 13"/>
          <p:cNvSpPr/>
          <p:nvPr/>
        </p:nvSpPr>
        <p:spPr>
          <a:xfrm>
            <a:off x="5879592" y="2231136"/>
            <a:ext cx="21579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4B36C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TIDAK ADA YANG TERLEWAT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5879592" y="2651760"/>
            <a:ext cx="21579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Template untuk semua skenario = tidak bingung harus balas apa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8321040" y="2084832"/>
            <a:ext cx="2487168" cy="1234440"/>
          </a:xfrm>
          <a:prstGeom prst="roundRect">
            <a:avLst>
              <a:gd name="adj" fmla="val 7407"/>
            </a:avLst>
          </a:prstGeom>
          <a:solidFill>
            <a:srgbClr val="F4F6FB"/>
          </a:solidFill>
          <a:ln w="12700">
            <a:solidFill>
              <a:srgbClr val="D6DCEB"/>
            </a:solidFill>
            <a:prstDash val="solid"/>
          </a:ln>
        </p:spPr>
        <p:txBody>
          <a:bodyPr/>
          <a:lstStyle/>
          <a:p>
            <a:endParaRPr lang="en-ID"/>
          </a:p>
        </p:txBody>
      </p:sp>
      <p:sp>
        <p:nvSpPr>
          <p:cNvPr id="18" name="Text 16"/>
          <p:cNvSpPr/>
          <p:nvPr/>
        </p:nvSpPr>
        <p:spPr>
          <a:xfrm>
            <a:off x="8485632" y="2231136"/>
            <a:ext cx="21579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4B36C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PROFESIONALISME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8485632" y="2651760"/>
            <a:ext cx="21579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Template yang baik membuat bisnis terlihat lebih besar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502920" y="3566160"/>
            <a:ext cx="11064240" cy="1554480"/>
          </a:xfrm>
          <a:prstGeom prst="roundRect">
            <a:avLst>
              <a:gd name="adj" fmla="val 5882"/>
            </a:avLst>
          </a:prstGeom>
          <a:solidFill>
            <a:srgbClr val="F3F0FF"/>
          </a:solidFill>
          <a:ln w="12700">
            <a:solidFill>
              <a:srgbClr val="DCD3FB"/>
            </a:solidFill>
            <a:prstDash val="solid"/>
          </a:ln>
        </p:spPr>
        <p:txBody>
          <a:bodyPr/>
          <a:lstStyle/>
          <a:p>
            <a:endParaRPr lang="en-ID"/>
          </a:p>
        </p:txBody>
      </p:sp>
      <p:sp>
        <p:nvSpPr>
          <p:cNvPr id="21" name="Text 19"/>
          <p:cNvSpPr/>
          <p:nvPr/>
        </p:nvSpPr>
        <p:spPr>
          <a:xfrm>
            <a:off x="713232" y="3730752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4B36C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◆  CLAUDE PROJECTS — SATU-SATUNYA YANG KAMU BUTUHKAN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713232" y="4041648"/>
            <a:ext cx="10607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Level: Claude Projects (semua plan termasuk Free) · Setup: 5 menit sekali. Tambahkan brand voice khusus komunikasi pelanggan — sapaan, batasan, tone untuk CS — ke Claude Project dari Modul 1, yang sudah punya positioning dan identitas visual bisnismu. Upload cm-template-wa.txt ke Project Knowledge — file ini sengaja tidak berisi info bisnis lagi, cuma 10 skenario. Belum ada WA Connector — jadi generate di chat, lalu copy-paste manual ke WhatsApp-mu, selalu begitu.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D1321"/>
          </a:solidFill>
          <a:ln/>
        </p:spPr>
        <p:txBody>
          <a:bodyPr/>
          <a:lstStyle/>
          <a:p>
            <a:endParaRPr lang="en-ID"/>
          </a:p>
        </p:txBody>
      </p:sp>
      <p:sp>
        <p:nvSpPr>
          <p:cNvPr id="3" name="Shape 1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6849F6"/>
          </a:solidFill>
          <a:ln/>
        </p:spPr>
        <p:txBody>
          <a:bodyPr/>
          <a:lstStyle/>
          <a:p>
            <a:endParaRPr lang="en-ID"/>
          </a:p>
        </p:txBody>
      </p:sp>
      <p:sp>
        <p:nvSpPr>
          <p:cNvPr id="4" name="Text 2"/>
          <p:cNvSpPr/>
          <p:nvPr/>
        </p:nvSpPr>
        <p:spPr>
          <a:xfrm>
            <a:off x="502920" y="256032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belajar</a:t>
            </a:r>
            <a:r>
              <a:rPr lang="en-US" sz="2000" b="1" dirty="0">
                <a:solidFill>
                  <a:srgbClr val="8B7CF6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claude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5943600" y="274320"/>
            <a:ext cx="5760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50" dirty="0">
                <a:solidFill>
                  <a:srgbClr val="9AA2B4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Modul 05 — Komunikasi Pelanggan (WhatsApp)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502920" y="1170432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kern="0" spc="40" dirty="0">
                <a:solidFill>
                  <a:srgbClr val="4B36C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SEBELUM GENERATE, HINDARI INI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502920" y="1444752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D132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Kesalahan Umum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502920" y="2194560"/>
            <a:ext cx="11064240" cy="2057400"/>
          </a:xfrm>
          <a:prstGeom prst="roundRect">
            <a:avLst>
              <a:gd name="adj" fmla="val 4444"/>
            </a:avLst>
          </a:prstGeom>
          <a:solidFill>
            <a:srgbClr val="FFF6F6"/>
          </a:solidFill>
          <a:ln w="12700">
            <a:solidFill>
              <a:srgbClr val="F3C6C6"/>
            </a:solidFill>
            <a:prstDash val="solid"/>
          </a:ln>
        </p:spPr>
        <p:txBody>
          <a:bodyPr/>
          <a:lstStyle/>
          <a:p>
            <a:endParaRPr lang="en-ID"/>
          </a:p>
        </p:txBody>
      </p:sp>
      <p:sp>
        <p:nvSpPr>
          <p:cNvPr id="9" name="Text 7"/>
          <p:cNvSpPr/>
          <p:nvPr/>
        </p:nvSpPr>
        <p:spPr>
          <a:xfrm>
            <a:off x="713232" y="2340864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kern="0" spc="40" dirty="0">
                <a:solidFill>
                  <a:srgbClr val="DC2626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KESALAHAN UMUM DI WHATSAPP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713232" y="2642616"/>
            <a:ext cx="219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DC2626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×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950976" y="2615184"/>
            <a:ext cx="10378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7A3B3B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Terlalu formal dan kaku — pembeli modern tidak suka merasa bicara dengan bot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713232" y="2953512"/>
            <a:ext cx="219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DC2626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×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950976" y="2926080"/>
            <a:ext cx="10378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7A3B3B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Tidak ada CTA yang jelas — tiap pesan harus ada next step yang jelas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713232" y="3264408"/>
            <a:ext cx="219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DC2626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×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950976" y="3236976"/>
            <a:ext cx="10378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7A3B3B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Tidak dikustomisasi per situasi — 1 template untuk semua situasi terasa generic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713232" y="3575304"/>
            <a:ext cx="219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DC2626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×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950976" y="3547872"/>
            <a:ext cx="10378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7A3B3B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Terlalu panjang — maksimal 5 baris, WA adalah medium untuk di-scan, bukan dibaca penuh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713232" y="3886200"/>
            <a:ext cx="219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DC2626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×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950976" y="3858768"/>
            <a:ext cx="10378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7A3B3B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Respon terlalu lambat — pembeli modern expect balasan dalam hitungan menit, bukan jam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D1321"/>
          </a:solidFill>
          <a:ln/>
        </p:spPr>
        <p:txBody>
          <a:bodyPr/>
          <a:lstStyle/>
          <a:p>
            <a:endParaRPr lang="en-ID"/>
          </a:p>
        </p:txBody>
      </p:sp>
      <p:sp>
        <p:nvSpPr>
          <p:cNvPr id="3" name="Shape 1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6849F6"/>
          </a:solidFill>
          <a:ln/>
        </p:spPr>
        <p:txBody>
          <a:bodyPr/>
          <a:lstStyle/>
          <a:p>
            <a:endParaRPr lang="en-ID"/>
          </a:p>
        </p:txBody>
      </p:sp>
      <p:sp>
        <p:nvSpPr>
          <p:cNvPr id="4" name="Text 2"/>
          <p:cNvSpPr/>
          <p:nvPr/>
        </p:nvSpPr>
        <p:spPr>
          <a:xfrm>
            <a:off x="502920" y="256032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belajar</a:t>
            </a:r>
            <a:r>
              <a:rPr lang="en-US" sz="2000" b="1" dirty="0">
                <a:solidFill>
                  <a:srgbClr val="8B7CF6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claude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5943600" y="274320"/>
            <a:ext cx="5760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50" dirty="0">
                <a:solidFill>
                  <a:srgbClr val="9AA2B4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Modul 05 — Komunikasi Pelanggan (WhatsApp)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502920" y="1170432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kern="0" spc="40" dirty="0">
                <a:solidFill>
                  <a:srgbClr val="4B36C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SATU ALUR, EMPAT LANGKAH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502920" y="1444752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D132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Cara Kerja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502920" y="2121408"/>
            <a:ext cx="5166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kern="0" spc="30" dirty="0">
                <a:solidFill>
                  <a:srgbClr val="1A7A44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CARA KERJA STEP-BY-STEP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502920" y="2505456"/>
            <a:ext cx="292608" cy="292608"/>
          </a:xfrm>
          <a:prstGeom prst="ellipse">
            <a:avLst/>
          </a:prstGeom>
          <a:solidFill>
            <a:srgbClr val="1A7A44"/>
          </a:solidFill>
          <a:ln/>
        </p:spPr>
        <p:txBody>
          <a:bodyPr/>
          <a:lstStyle/>
          <a:p>
            <a:endParaRPr lang="en-ID"/>
          </a:p>
        </p:txBody>
      </p:sp>
      <p:sp>
        <p:nvSpPr>
          <p:cNvPr id="10" name="Text 8"/>
          <p:cNvSpPr/>
          <p:nvPr/>
        </p:nvSpPr>
        <p:spPr>
          <a:xfrm>
            <a:off x="502920" y="250545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1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905256" y="2389848"/>
            <a:ext cx="10332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Tambahkan brand voice CS ke Project Modul 1, lalu upload cm-template-wa.txt ke Project Knowledge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502920" y="3218688"/>
            <a:ext cx="292608" cy="292608"/>
          </a:xfrm>
          <a:prstGeom prst="ellipse">
            <a:avLst/>
          </a:prstGeom>
          <a:solidFill>
            <a:srgbClr val="1A7A44"/>
          </a:solidFill>
          <a:ln/>
        </p:spPr>
        <p:txBody>
          <a:bodyPr/>
          <a:lstStyle/>
          <a:p>
            <a:endParaRPr lang="en-ID"/>
          </a:p>
        </p:txBody>
      </p:sp>
      <p:sp>
        <p:nvSpPr>
          <p:cNvPr id="13" name="Text 11"/>
          <p:cNvSpPr/>
          <p:nvPr/>
        </p:nvSpPr>
        <p:spPr>
          <a:xfrm>
            <a:off x="502920" y="321868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2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905256" y="3103080"/>
            <a:ext cx="10332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Generate 10 template dasar, lalu simpan hasilnya sebagai file baru dan upload lagi ke Project Knowledge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502920" y="3931920"/>
            <a:ext cx="292608" cy="292608"/>
          </a:xfrm>
          <a:prstGeom prst="ellipse">
            <a:avLst/>
          </a:prstGeom>
          <a:solidFill>
            <a:srgbClr val="1A7A44"/>
          </a:solidFill>
          <a:ln/>
        </p:spPr>
        <p:txBody>
          <a:bodyPr/>
          <a:lstStyle/>
          <a:p>
            <a:endParaRPr lang="en-ID"/>
          </a:p>
        </p:txBody>
      </p:sp>
      <p:sp>
        <p:nvSpPr>
          <p:cNvPr id="16" name="Text 14"/>
          <p:cNvSpPr/>
          <p:nvPr/>
        </p:nvSpPr>
        <p:spPr>
          <a:xfrm>
            <a:off x="502920" y="393192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3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905256" y="3816312"/>
            <a:ext cx="10332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Pas ada pembeli chat: paste pesannya ke Claude, minta cocokkan ke salah satu dari 10 template yang sudah diupload</a:t>
            </a:r>
            <a:endParaRPr lang="en-US" sz="1100" dirty="0"/>
          </a:p>
        </p:txBody>
      </p:sp>
      <p:sp>
        <p:nvSpPr>
          <p:cNvPr id="33" name="Oval 32"/>
          <p:cNvSpPr/>
          <p:nvPr/>
        </p:nvSpPr>
        <p:spPr>
          <a:xfrm>
            <a:off x="502920" y="4645152"/>
            <a:ext cx="292608" cy="292608"/>
          </a:xfrm>
          <a:prstGeom prst="ellipse">
            <a:avLst/>
          </a:prstGeom>
          <a:solidFill>
            <a:srgbClr val="1A7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502920" y="4645152"/>
            <a:ext cx="292608" cy="29260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150" b="1">
                <a:solidFill>
                  <a:srgbClr val="FFFFFF"/>
                </a:solidFill>
                <a:latin typeface="Helvetica"/>
              </a:rPr>
              <a:t>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05256" y="4654183"/>
            <a:ext cx="10332720" cy="33855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sz="1100">
                <a:solidFill>
                  <a:srgbClr val="23283A"/>
                </a:solidFill>
                <a:latin typeface="Helvetica"/>
              </a:rPr>
              <a:t>Copy-paste balasan ke WhatsApp. Simpan 10 template dasar di catatan WA/Google Keep sebagai referensi cepat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D1321"/>
          </a:solidFill>
          <a:ln/>
        </p:spPr>
        <p:txBody>
          <a:bodyPr/>
          <a:lstStyle/>
          <a:p>
            <a:endParaRPr lang="en-ID"/>
          </a:p>
        </p:txBody>
      </p:sp>
      <p:sp>
        <p:nvSpPr>
          <p:cNvPr id="3" name="Shape 1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6849F6"/>
          </a:solidFill>
          <a:ln/>
        </p:spPr>
        <p:txBody>
          <a:bodyPr/>
          <a:lstStyle/>
          <a:p>
            <a:endParaRPr lang="en-ID"/>
          </a:p>
        </p:txBody>
      </p:sp>
      <p:sp>
        <p:nvSpPr>
          <p:cNvPr id="4" name="Text 2"/>
          <p:cNvSpPr/>
          <p:nvPr/>
        </p:nvSpPr>
        <p:spPr>
          <a:xfrm>
            <a:off x="502920" y="256032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belajar</a:t>
            </a:r>
            <a:r>
              <a:rPr lang="en-US" sz="2000" b="1" dirty="0">
                <a:solidFill>
                  <a:srgbClr val="8B7CF6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claude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5943600" y="274320"/>
            <a:ext cx="5760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50" dirty="0">
                <a:solidFill>
                  <a:srgbClr val="9AA2B4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Modul 05 — Komunikasi Pelanggan (WhatsApp)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502920" y="1170432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kern="0" spc="40" dirty="0">
                <a:solidFill>
                  <a:srgbClr val="4B36C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SATU TEMPLATE FILE, SEPULUH SKENARIO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502920" y="1444752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D132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10 Skenario WhatsApp yang Perlu Dikuasai</a:t>
            </a:r>
            <a:endParaRPr lang="en-US" sz="2200" dirty="0"/>
          </a:p>
        </p:txBody>
      </p:sp>
      <p:sp>
        <p:nvSpPr>
          <p:cNvPr id="8" name="Rounded Rectangle 7"/>
          <p:cNvSpPr/>
          <p:nvPr/>
        </p:nvSpPr>
        <p:spPr>
          <a:xfrm>
            <a:off x="502920" y="2121408"/>
            <a:ext cx="2103120" cy="1417320"/>
          </a:xfrm>
          <a:prstGeom prst="roundRect">
            <a:avLst>
              <a:gd name="adj" fmla="val 7407"/>
            </a:avLst>
          </a:prstGeom>
          <a:solidFill>
            <a:srgbClr val="EFF6FF"/>
          </a:solidFill>
          <a:ln w="12700">
            <a:solidFill>
              <a:srgbClr val="BFDB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49224" y="2249424"/>
            <a:ext cx="1810511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00" b="1">
                <a:solidFill>
                  <a:srgbClr val="1D4ED8"/>
                </a:solidFill>
                <a:latin typeface="Helvetica"/>
              </a:rPr>
              <a:t>INQUIRY PERTAMA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9224" y="2779776"/>
            <a:ext cx="1810511" cy="685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950">
                <a:solidFill>
                  <a:srgbClr val="23283A"/>
                </a:solidFill>
                <a:latin typeface="Helvetica"/>
              </a:rPr>
              <a:t>Sambut hangat + arahkan ke katalog/order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743200" y="2121408"/>
            <a:ext cx="2103120" cy="1417320"/>
          </a:xfrm>
          <a:prstGeom prst="roundRect">
            <a:avLst>
              <a:gd name="adj" fmla="val 7407"/>
            </a:avLst>
          </a:prstGeom>
          <a:solidFill>
            <a:srgbClr val="EFF6FF"/>
          </a:solidFill>
          <a:ln w="12700">
            <a:solidFill>
              <a:srgbClr val="BFDB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2889504" y="2249424"/>
            <a:ext cx="1810511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00" b="1">
                <a:solidFill>
                  <a:srgbClr val="1D4ED8"/>
                </a:solidFill>
                <a:latin typeface="Helvetica"/>
              </a:rPr>
              <a:t>KONFIRMASI PESANAN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89504" y="2779776"/>
            <a:ext cx="1810511" cy="685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950">
                <a:solidFill>
                  <a:srgbClr val="23283A"/>
                </a:solidFill>
                <a:latin typeface="Helvetica"/>
              </a:rPr>
              <a:t>Info diterima + estimasi proses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983479" y="2121408"/>
            <a:ext cx="2103120" cy="1417320"/>
          </a:xfrm>
          <a:prstGeom prst="roundRect">
            <a:avLst>
              <a:gd name="adj" fmla="val 7407"/>
            </a:avLst>
          </a:prstGeom>
          <a:solidFill>
            <a:srgbClr val="EFF6FF"/>
          </a:solidFill>
          <a:ln w="12700">
            <a:solidFill>
              <a:srgbClr val="BFDB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5129783" y="2249424"/>
            <a:ext cx="1810511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00" b="1">
                <a:solidFill>
                  <a:srgbClr val="1D4ED8"/>
                </a:solidFill>
                <a:latin typeface="Helvetica"/>
              </a:rPr>
              <a:t>INFO PENGIRIMAN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29783" y="2779776"/>
            <a:ext cx="1810511" cy="685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950">
                <a:solidFill>
                  <a:srgbClr val="23283A"/>
                </a:solidFill>
                <a:latin typeface="Helvetica"/>
              </a:rPr>
              <a:t>Nomor resi + estimasi tiba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223759" y="2121408"/>
            <a:ext cx="2103120" cy="1417320"/>
          </a:xfrm>
          <a:prstGeom prst="roundRect">
            <a:avLst>
              <a:gd name="adj" fmla="val 7407"/>
            </a:avLst>
          </a:prstGeom>
          <a:solidFill>
            <a:srgbClr val="EFF6FF"/>
          </a:solidFill>
          <a:ln w="12700">
            <a:solidFill>
              <a:srgbClr val="BFDB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7370063" y="2249424"/>
            <a:ext cx="1810511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00" b="1">
                <a:solidFill>
                  <a:srgbClr val="1D4ED8"/>
                </a:solidFill>
                <a:latin typeface="Helvetica"/>
              </a:rPr>
              <a:t>FOLLOW-UP PEMBAYARAN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70063" y="2779776"/>
            <a:ext cx="1810511" cy="685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950">
                <a:solidFill>
                  <a:srgbClr val="23283A"/>
                </a:solidFill>
                <a:latin typeface="Helvetica"/>
              </a:rPr>
              <a:t>Reminder ramah + tenggat waktu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464040" y="2121408"/>
            <a:ext cx="2103120" cy="1417320"/>
          </a:xfrm>
          <a:prstGeom prst="roundRect">
            <a:avLst>
              <a:gd name="adj" fmla="val 7407"/>
            </a:avLst>
          </a:prstGeom>
          <a:solidFill>
            <a:srgbClr val="EFF6FF"/>
          </a:solidFill>
          <a:ln w="12700">
            <a:solidFill>
              <a:srgbClr val="BFDB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9610344" y="2249424"/>
            <a:ext cx="1810511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00" b="1">
                <a:solidFill>
                  <a:srgbClr val="1D4ED8"/>
                </a:solidFill>
                <a:latin typeface="Helvetica"/>
              </a:rPr>
              <a:t>BALAS KOMPLAIN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10344" y="2779776"/>
            <a:ext cx="1810511" cy="685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950">
                <a:solidFill>
                  <a:srgbClr val="23283A"/>
                </a:solidFill>
                <a:latin typeface="Helvetica"/>
              </a:rPr>
              <a:t>Minta maaf + solusi (ganti/refund)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02920" y="3703320"/>
            <a:ext cx="2103120" cy="1417320"/>
          </a:xfrm>
          <a:prstGeom prst="roundRect">
            <a:avLst>
              <a:gd name="adj" fmla="val 7407"/>
            </a:avLst>
          </a:prstGeom>
          <a:solidFill>
            <a:srgbClr val="EFF6FF"/>
          </a:solidFill>
          <a:ln w="12700">
            <a:solidFill>
              <a:srgbClr val="BFDB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649224" y="3831335"/>
            <a:ext cx="1810511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00" b="1">
                <a:solidFill>
                  <a:srgbClr val="1D4ED8"/>
                </a:solidFill>
                <a:latin typeface="Helvetica"/>
              </a:rPr>
              <a:t>MINTA TESTIMONI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9224" y="4361688"/>
            <a:ext cx="1810511" cy="685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950">
                <a:solidFill>
                  <a:srgbClr val="23283A"/>
                </a:solidFill>
                <a:latin typeface="Helvetica"/>
              </a:rPr>
              <a:t>Tanya pengalaman + minta review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2743200" y="3703320"/>
            <a:ext cx="2103120" cy="1417320"/>
          </a:xfrm>
          <a:prstGeom prst="roundRect">
            <a:avLst>
              <a:gd name="adj" fmla="val 7407"/>
            </a:avLst>
          </a:prstGeom>
          <a:solidFill>
            <a:srgbClr val="EFF6FF"/>
          </a:solidFill>
          <a:ln w="12700">
            <a:solidFill>
              <a:srgbClr val="BFDB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2889504" y="3831335"/>
            <a:ext cx="1810511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00" b="1">
                <a:solidFill>
                  <a:srgbClr val="1D4ED8"/>
                </a:solidFill>
                <a:latin typeface="Helvetica"/>
              </a:rPr>
              <a:t>BROADCAST PROMO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889504" y="4361688"/>
            <a:ext cx="1810511" cy="685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950">
                <a:solidFill>
                  <a:srgbClr val="23283A"/>
                </a:solidFill>
                <a:latin typeface="Helvetica"/>
              </a:rPr>
              <a:t>Hook menarik + deadline + cara order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983479" y="3703320"/>
            <a:ext cx="2103120" cy="1417320"/>
          </a:xfrm>
          <a:prstGeom prst="roundRect">
            <a:avLst>
              <a:gd name="adj" fmla="val 7407"/>
            </a:avLst>
          </a:prstGeom>
          <a:solidFill>
            <a:srgbClr val="EFF6FF"/>
          </a:solidFill>
          <a:ln w="12700">
            <a:solidFill>
              <a:srgbClr val="BFDB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5129783" y="3831335"/>
            <a:ext cx="1810511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00" b="1">
                <a:solidFill>
                  <a:srgbClr val="1D4ED8"/>
                </a:solidFill>
                <a:latin typeface="Helvetica"/>
              </a:rPr>
              <a:t>NEGOSIASI HARGA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129783" y="4361688"/>
            <a:ext cx="1810511" cy="685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950">
                <a:solidFill>
                  <a:srgbClr val="23283A"/>
                </a:solidFill>
                <a:latin typeface="Helvetica"/>
              </a:rPr>
              <a:t>Pertahankan harga + tawarkan value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223759" y="3703320"/>
            <a:ext cx="2103120" cy="1417320"/>
          </a:xfrm>
          <a:prstGeom prst="roundRect">
            <a:avLst>
              <a:gd name="adj" fmla="val 7407"/>
            </a:avLst>
          </a:prstGeom>
          <a:solidFill>
            <a:srgbClr val="EFF6FF"/>
          </a:solidFill>
          <a:ln w="12700">
            <a:solidFill>
              <a:srgbClr val="BFDB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7370063" y="3831335"/>
            <a:ext cx="1810511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00" b="1">
                <a:solidFill>
                  <a:srgbClr val="1D4ED8"/>
                </a:solidFill>
                <a:latin typeface="Helvetica"/>
              </a:rPr>
              <a:t>STOK HABIS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70063" y="4361688"/>
            <a:ext cx="1810511" cy="685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950">
                <a:solidFill>
                  <a:srgbClr val="23283A"/>
                </a:solidFill>
                <a:latin typeface="Helvetica"/>
              </a:rPr>
              <a:t>Info stok + estimasi restock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464040" y="3703320"/>
            <a:ext cx="2103120" cy="1417320"/>
          </a:xfrm>
          <a:prstGeom prst="roundRect">
            <a:avLst>
              <a:gd name="adj" fmla="val 7407"/>
            </a:avLst>
          </a:prstGeom>
          <a:solidFill>
            <a:srgbClr val="EFF6FF"/>
          </a:solidFill>
          <a:ln w="12700">
            <a:solidFill>
              <a:srgbClr val="BFDB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9610344" y="3831335"/>
            <a:ext cx="1810511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00" b="1">
                <a:solidFill>
                  <a:srgbClr val="1D4ED8"/>
                </a:solidFill>
                <a:latin typeface="Helvetica"/>
              </a:rPr>
              <a:t>UCAPAN TERIMA KASIH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610344" y="4361688"/>
            <a:ext cx="1810511" cy="685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950">
                <a:solidFill>
                  <a:srgbClr val="23283A"/>
                </a:solidFill>
                <a:latin typeface="Helvetica"/>
              </a:rPr>
              <a:t>Terima kasih + undang kembali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D1321"/>
          </a:solidFill>
          <a:ln/>
        </p:spPr>
        <p:txBody>
          <a:bodyPr/>
          <a:lstStyle/>
          <a:p>
            <a:endParaRPr lang="en-ID"/>
          </a:p>
        </p:txBody>
      </p:sp>
      <p:sp>
        <p:nvSpPr>
          <p:cNvPr id="3" name="Shape 1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6849F6"/>
          </a:solidFill>
          <a:ln/>
        </p:spPr>
        <p:txBody>
          <a:bodyPr/>
          <a:lstStyle/>
          <a:p>
            <a:endParaRPr lang="en-ID"/>
          </a:p>
        </p:txBody>
      </p:sp>
      <p:sp>
        <p:nvSpPr>
          <p:cNvPr id="4" name="Text 2"/>
          <p:cNvSpPr/>
          <p:nvPr/>
        </p:nvSpPr>
        <p:spPr>
          <a:xfrm>
            <a:off x="502920" y="256032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belajar</a:t>
            </a:r>
            <a:r>
              <a:rPr lang="en-US" sz="2000" b="1" dirty="0">
                <a:solidFill>
                  <a:srgbClr val="8B7CF6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claude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5943600" y="274320"/>
            <a:ext cx="5760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50" dirty="0">
                <a:solidFill>
                  <a:srgbClr val="9AA2B4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Modul 05 — Komunikasi Pelanggan (WhatsApp)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502920" y="1170432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kern="0" spc="40" dirty="0">
                <a:solidFill>
                  <a:srgbClr val="4B36C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TIGA LATIHAN, TIGA OUTPUT JELAS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502920" y="1444752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D132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Latihan 1 &amp; 2: Setup Brand Voice + Generate Template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502920" y="2084831"/>
            <a:ext cx="11064240" cy="1691640"/>
          </a:xfrm>
          <a:prstGeom prst="roundRect">
            <a:avLst>
              <a:gd name="adj" fmla="val 5581"/>
            </a:avLst>
          </a:prstGeom>
          <a:solidFill>
            <a:srgbClr val="EAFAF0"/>
          </a:solidFill>
          <a:ln w="12700">
            <a:solidFill>
              <a:srgbClr val="B8E6C9"/>
            </a:solidFill>
            <a:prstDash val="solid"/>
          </a:ln>
        </p:spPr>
        <p:txBody>
          <a:bodyPr/>
          <a:lstStyle/>
          <a:p>
            <a:endParaRPr lang="en-ID"/>
          </a:p>
        </p:txBody>
      </p:sp>
      <p:sp>
        <p:nvSpPr>
          <p:cNvPr id="9" name="Text 7"/>
          <p:cNvSpPr/>
          <p:nvPr/>
        </p:nvSpPr>
        <p:spPr>
          <a:xfrm>
            <a:off x="713232" y="2249424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7A44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■  LATIHAN 1 — SETUP BRAND VOICE CS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713232" y="2542032"/>
            <a:ext cx="10607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Buka Project yang sama dari Modul 1 → Project Instructions → tambahkan teks di bawah, jangan hapus positioning yang sudah ada.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713232" y="2999232"/>
            <a:ext cx="10607040" cy="502920"/>
          </a:xfrm>
          <a:prstGeom prst="roundRect">
            <a:avLst>
              <a:gd name="adj" fmla="val 10667"/>
            </a:avLst>
          </a:prstGeom>
          <a:solidFill>
            <a:srgbClr val="FFFFFF"/>
          </a:solidFill>
          <a:ln w="12700">
            <a:solidFill>
              <a:srgbClr val="B8E6C9"/>
            </a:solidFill>
            <a:prstDash val="solid"/>
          </a:ln>
        </p:spPr>
        <p:txBody>
          <a:bodyPr/>
          <a:lstStyle/>
          <a:p>
            <a:endParaRPr lang="en-ID"/>
          </a:p>
        </p:txBody>
      </p:sp>
      <p:sp>
        <p:nvSpPr>
          <p:cNvPr id="12" name="Text 10"/>
          <p:cNvSpPr/>
          <p:nvPr/>
        </p:nvSpPr>
        <p:spPr>
          <a:xfrm>
            <a:off x="868680" y="2999232"/>
            <a:ext cx="1029614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950" i="1" dirty="0">
                <a:solidFill>
                  <a:srgbClr val="1A7A44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Brand voice untuk komunikasi pelanggan: tone santai-hangat, sapaan "Kak", batasan emoji 1-2/pesan, tutup pesan dengan "Salam hangat, Dapur Rara".</a:t>
            </a:r>
            <a:endParaRPr lang="en-US" sz="950" dirty="0"/>
          </a:p>
        </p:txBody>
      </p:sp>
      <p:sp>
        <p:nvSpPr>
          <p:cNvPr id="19" name="TextBox 18"/>
          <p:cNvSpPr txBox="1"/>
          <p:nvPr/>
        </p:nvSpPr>
        <p:spPr>
          <a:xfrm>
            <a:off x="713232" y="3566160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00" b="1">
                <a:solidFill>
                  <a:srgbClr val="1A7A44"/>
                </a:solidFill>
                <a:latin typeface="Helvetica"/>
              </a:rPr>
              <a:t>✅ Output: Project Instructions ter-update — dipakai otomatis di semua chat berikutnya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3913632"/>
            <a:ext cx="11064240" cy="1737360"/>
          </a:xfrm>
          <a:prstGeom prst="roundRect">
            <a:avLst>
              <a:gd name="adj" fmla="val 6000"/>
            </a:avLst>
          </a:prstGeom>
          <a:solidFill>
            <a:srgbClr val="EAFAF0"/>
          </a:solidFill>
          <a:ln w="12700">
            <a:solidFill>
              <a:srgbClr val="B8E6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713232" y="4078224"/>
            <a:ext cx="1060704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1300" b="1">
                <a:solidFill>
                  <a:srgbClr val="1A7A44"/>
                </a:solidFill>
                <a:latin typeface="Helvetica"/>
              </a:rPr>
              <a:t>■  LATIHAN 2 — GENERATE TEMPLATE DASAR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13232" y="4370832"/>
            <a:ext cx="1060704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200">
                <a:solidFill>
                  <a:srgbClr val="23283A"/>
                </a:solidFill>
                <a:latin typeface="Helvetica"/>
              </a:rPr>
              <a:t>Langkah 1 — Upload cm-template-wa.txt ke Project Knowledge (siap pakai, tidak perlu diisi apapun).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13232" y="4643987"/>
            <a:ext cx="10607040" cy="594360"/>
          </a:xfrm>
          <a:prstGeom prst="roundRect">
            <a:avLst>
              <a:gd name="adj" fmla="val 10667"/>
            </a:avLst>
          </a:prstGeom>
          <a:solidFill>
            <a:srgbClr val="FFFFFF"/>
          </a:solidFill>
          <a:ln w="12700">
            <a:solidFill>
              <a:srgbClr val="B8E6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55448" tIns="73152" rIns="155448" bIns="73152" rtlCol="0" anchor="ctr"/>
          <a:lstStyle/>
          <a:p>
            <a:pPr algn="ctr"/>
            <a:r>
              <a:rPr sz="950" i="1">
                <a:solidFill>
                  <a:srgbClr val="1A7A44"/>
                </a:solidFill>
                <a:latin typeface="Helvetica"/>
              </a:rPr>
              <a:t>Buatkan 10 template WhatsApp untuk skenario di cm-template-wa.txt.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13232" y="5284067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00" b="1">
                <a:solidFill>
                  <a:srgbClr val="1A7A44"/>
                </a:solidFill>
                <a:latin typeface="Helvetica"/>
              </a:rPr>
              <a:t>✅ Output: 10 template WA dasar — pakai tone Latihan 1. Langkah 2: simpan hasilnya, upload lagi ke Project Knowledge.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Rounded Rectangle 18"/>
          <p:cNvSpPr/>
          <p:nvPr/>
        </p:nvSpPr>
        <p:spPr>
          <a:xfrm>
            <a:off x="502920" y="2084831"/>
            <a:ext cx="11064240" cy="2377440"/>
          </a:xfrm>
          <a:prstGeom prst="roundRect">
            <a:avLst>
              <a:gd name="adj" fmla="val 6000"/>
            </a:avLst>
          </a:prstGeom>
          <a:solidFill>
            <a:srgbClr val="EAFAF0"/>
          </a:solidFill>
          <a:ln w="12700">
            <a:solidFill>
              <a:srgbClr val="B8E6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D1321"/>
          </a:solidFill>
          <a:ln/>
        </p:spPr>
        <p:txBody>
          <a:bodyPr/>
          <a:lstStyle/>
          <a:p>
            <a:endParaRPr lang="en-ID"/>
          </a:p>
        </p:txBody>
      </p:sp>
      <p:sp>
        <p:nvSpPr>
          <p:cNvPr id="3" name="Shape 1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6849F6"/>
          </a:solidFill>
          <a:ln/>
        </p:spPr>
        <p:txBody>
          <a:bodyPr/>
          <a:lstStyle/>
          <a:p>
            <a:endParaRPr lang="en-ID"/>
          </a:p>
        </p:txBody>
      </p:sp>
      <p:sp>
        <p:nvSpPr>
          <p:cNvPr id="4" name="Text 2"/>
          <p:cNvSpPr/>
          <p:nvPr/>
        </p:nvSpPr>
        <p:spPr>
          <a:xfrm>
            <a:off x="502920" y="256032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belajar</a:t>
            </a:r>
            <a:r>
              <a:rPr lang="en-US" sz="2000" b="1" dirty="0">
                <a:solidFill>
                  <a:srgbClr val="8B7CF6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claude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5943600" y="274320"/>
            <a:ext cx="5760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50" dirty="0">
                <a:solidFill>
                  <a:srgbClr val="9AA2B4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Modul 05 — Komunikasi Pelanggan (WhatsApp)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502920" y="1170432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kern="0" spc="40" dirty="0">
                <a:solidFill>
                  <a:srgbClr val="4B36C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DARI TEMPLATE KE BALASAN NYATA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502920" y="1444752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D132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Latihan 3: Cocokkan ke Salah Satu Skenario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502920" y="4663440"/>
            <a:ext cx="11064240" cy="1691640"/>
          </a:xfrm>
          <a:prstGeom prst="roundRect">
            <a:avLst>
              <a:gd name="adj" fmla="val 7742"/>
            </a:avLst>
          </a:prstGeom>
          <a:solidFill>
            <a:srgbClr val="141D33"/>
          </a:solidFill>
          <a:ln/>
        </p:spPr>
        <p:txBody>
          <a:bodyPr/>
          <a:lstStyle/>
          <a:p>
            <a:endParaRPr lang="en-ID"/>
          </a:p>
        </p:txBody>
      </p:sp>
      <p:sp>
        <p:nvSpPr>
          <p:cNvPr id="14" name="Text 12"/>
          <p:cNvSpPr/>
          <p:nvPr/>
        </p:nvSpPr>
        <p:spPr>
          <a:xfrm>
            <a:off x="713232" y="4828032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8B7CF6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OUTPUT MODUL (KESELURUHAN)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713232" y="5120640"/>
            <a:ext cx="10607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B7C0D8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1 Claude Project dengan brand voice CS aktif (Latihan 1) + 10 template WhatsApp jadi tersimpan permanen di Project Knowledge (Latihan 2) + kemampuan mencocokkan pesan pembeli asli ke salah satu dari 10 template itu (Latihan 3).</a:t>
            </a:r>
            <a:endParaRPr lang="en-US" sz="11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B7C0D8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File pendukung: cm-template-wa.txt.</a:t>
            </a:r>
            <a:endParaRPr lang="en-US" sz="1100" dirty="0"/>
          </a:p>
        </p:txBody>
      </p:sp>
      <p:sp>
        <p:nvSpPr>
          <p:cNvPr id="18" name="Rounded Rectangle 17"/>
          <p:cNvSpPr/>
          <p:nvPr/>
        </p:nvSpPr>
        <p:spPr>
          <a:xfrm>
            <a:off x="713232" y="3320000"/>
            <a:ext cx="10607040" cy="685800"/>
          </a:xfrm>
          <a:prstGeom prst="roundRect">
            <a:avLst>
              <a:gd name="adj" fmla="val 10667"/>
            </a:avLst>
          </a:prstGeom>
          <a:solidFill>
            <a:srgbClr val="FFFFFF"/>
          </a:solidFill>
          <a:ln w="12700">
            <a:solidFill>
              <a:srgbClr val="B8E6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55448" tIns="73152" rIns="155448" bIns="73152" rtlCol="0" anchor="ctr"/>
          <a:lstStyle/>
          <a:p>
            <a:pPr algn="ctr"/>
            <a:r>
              <a:rPr sz="950" i="1">
                <a:solidFill>
                  <a:srgbClr val="1A7A44"/>
                </a:solidFill>
                <a:latin typeface="Helvetica"/>
              </a:rPr>
              <a:t>Cocokkan pesan ini ke salah satu dari 10 template yang sudah aku upload, lalu sesuaikan: "Kak, boleh kurang lagi ga harganya kalau aku ambil 5 pcs sekaligus?"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13232" y="2249424"/>
            <a:ext cx="1060704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1300" b="1">
                <a:solidFill>
                  <a:srgbClr val="1A7A44"/>
                </a:solidFill>
                <a:latin typeface="Helvetica"/>
              </a:rPr>
              <a:t>■  LATIHAN 3 — COCOKKAN KE SALAH SATU SKENARIO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13232" y="2542032"/>
            <a:ext cx="10607040" cy="31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200">
                <a:solidFill>
                  <a:srgbClr val="23283A"/>
                </a:solidFill>
                <a:latin typeface="Helvetica"/>
              </a:rPr>
              <a:t>Begitu ada pembeli chat beneran — ini cocok Skenario 8 (negosiasi harga) dari 10 template yang sudah diupload: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13232" y="4097000"/>
            <a:ext cx="1060704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00" b="1">
                <a:solidFill>
                  <a:srgbClr val="1A7A44"/>
                </a:solidFill>
                <a:latin typeface="Helvetica"/>
              </a:rPr>
              <a:t>✅ Output: balasan hasil adaptasi dari Skenario 8 — bukan generate dari nol. Copy-paste ke WhatsApp, kirim. Ulangi 5x/minggu untuk situasi berbeda.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13232" y="2888000"/>
            <a:ext cx="10607040" cy="31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i="1">
                <a:solidFill>
                  <a:srgbClr val="23283A"/>
                </a:solidFill>
                <a:latin typeface="Helvetica"/>
              </a:rPr>
              <a:t>"Kak, boleh kurang lagi ga harganya kalau aku ambil 5 pcs sekaligus?"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776</Words>
  <Application>Microsoft Office PowerPoint</Application>
  <PresentationFormat>Widescreen</PresentationFormat>
  <Paragraphs>102</Paragraphs>
  <Slides>7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Helvetica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Julia Utomo</cp:lastModifiedBy>
  <cp:revision>6</cp:revision>
  <dcterms:created xsi:type="dcterms:W3CDTF">2026-07-29T03:50:02Z</dcterms:created>
  <dcterms:modified xsi:type="dcterms:W3CDTF">2026-07-30T13:07:42Z</dcterms:modified>
</cp:coreProperties>
</file>