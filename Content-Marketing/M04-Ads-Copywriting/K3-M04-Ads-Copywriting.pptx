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B36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384"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4239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a:effectLst/>
      </p:bgPr>
    </p:bg>
    <p:spTree>
      <p:nvGrpSpPr>
        <p:cNvPr id="1" name=""/>
        <p:cNvGrpSpPr/>
        <p:nvPr/>
      </p:nvGrpSpPr>
      <p:grpSpPr>
        <a:xfrm>
          <a:off x="0" y="0"/>
          <a:ext cx="0" cy="0"/>
          <a:chOff x="0" y="0"/>
          <a:chExt cx="0" cy="0"/>
        </a:xfrm>
      </p:grpSpPr>
      <p:sp>
        <p:nvSpPr>
          <p:cNvPr id="2" name="Shape 0"/>
          <p:cNvSpPr/>
          <p:nvPr/>
        </p:nvSpPr>
        <p:spPr>
          <a:xfrm>
            <a:off x="7562088" y="0"/>
            <a:ext cx="4626864" cy="6858000"/>
          </a:xfrm>
          <a:prstGeom prst="rect">
            <a:avLst/>
          </a:prstGeom>
          <a:solidFill>
            <a:srgbClr val="141D33"/>
          </a:solidFill>
          <a:ln/>
        </p:spPr>
        <p:txBody>
          <a:bodyPr/>
          <a:lstStyle/>
          <a:p>
            <a:endParaRPr/>
          </a:p>
        </p:txBody>
      </p:sp>
      <p:sp>
        <p:nvSpPr>
          <p:cNvPr id="3" name="Text 1"/>
          <p:cNvSpPr/>
          <p:nvPr/>
        </p:nvSpPr>
        <p:spPr>
          <a:xfrm>
            <a:off x="548640" y="457200"/>
            <a:ext cx="3657600" cy="457200"/>
          </a:xfrm>
          <a:prstGeom prst="rect">
            <a:avLst/>
          </a:prstGeom>
          <a:noFill/>
          <a:ln/>
        </p:spPr>
        <p:txBody>
          <a:bodyPr wrap="square" lIns="0" tIns="0" rIns="0" bIns="0" rtlCol="0" anchor="ctr"/>
          <a:lstStyle/>
          <a:p>
            <a:pPr marL="0" indent="0">
              <a:buNone/>
            </a:pPr>
            <a:r>
              <a:rPr lang="en-US" sz="2000" b="1" dirty="0">
                <a:solidFill>
                  <a:srgbClr val="FFFFFF"/>
                </a:solidFill>
                <a:latin typeface="Helvetica" pitchFamily="34" charset="0"/>
                <a:ea typeface="Helvetica" pitchFamily="34" charset="-122"/>
                <a:cs typeface="Helvetica" pitchFamily="34" charset="-120"/>
              </a:rPr>
              <a:t>belajar</a:t>
            </a: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4" name="Shape 2"/>
          <p:cNvSpPr/>
          <p:nvPr/>
        </p:nvSpPr>
        <p:spPr>
          <a:xfrm>
            <a:off x="10616184" y="384048"/>
            <a:ext cx="1024128" cy="384048"/>
          </a:xfrm>
          <a:prstGeom prst="roundRect">
            <a:avLst>
              <a:gd name="adj" fmla="val 23810"/>
            </a:avLst>
          </a:prstGeom>
          <a:solidFill>
            <a:srgbClr val="6849F6"/>
          </a:solidFill>
          <a:ln/>
        </p:spPr>
        <p:txBody>
          <a:bodyPr/>
          <a:lstStyle/>
          <a:p>
            <a:endParaRPr/>
          </a:p>
        </p:txBody>
      </p:sp>
      <p:sp>
        <p:nvSpPr>
          <p:cNvPr id="5" name="Text 3"/>
          <p:cNvSpPr/>
          <p:nvPr/>
        </p:nvSpPr>
        <p:spPr>
          <a:xfrm>
            <a:off x="10616184" y="384048"/>
            <a:ext cx="102412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Helvetica" pitchFamily="34" charset="0"/>
                <a:ea typeface="Helvetica" pitchFamily="34" charset="-122"/>
                <a:cs typeface="Helvetica" pitchFamily="34" charset="-120"/>
              </a:rPr>
              <a:t>MODUL 4</a:t>
            </a:r>
            <a:endParaRPr lang="en-US" sz="1250" dirty="0"/>
          </a:p>
        </p:txBody>
      </p:sp>
      <p:sp>
        <p:nvSpPr>
          <p:cNvPr id="6" name="Text 4"/>
          <p:cNvSpPr/>
          <p:nvPr/>
        </p:nvSpPr>
        <p:spPr>
          <a:xfrm>
            <a:off x="548640" y="2331720"/>
            <a:ext cx="7772400" cy="320040"/>
          </a:xfrm>
          <a:prstGeom prst="rect">
            <a:avLst/>
          </a:prstGeom>
          <a:noFill/>
          <a:ln/>
        </p:spPr>
        <p:txBody>
          <a:bodyPr wrap="square" lIns="0" tIns="0" rIns="0" bIns="0" rtlCol="0" anchor="ctr"/>
          <a:lstStyle/>
          <a:p>
            <a:pPr marL="0" indent="0">
              <a:buNone/>
            </a:pPr>
            <a:r>
              <a:rPr lang="en-US" sz="1300" b="1" kern="0" spc="40" dirty="0">
                <a:solidFill>
                  <a:srgbClr val="8B7CF6"/>
                </a:solidFill>
                <a:latin typeface="Helvetica" pitchFamily="34" charset="0"/>
                <a:ea typeface="Helvetica" pitchFamily="34" charset="-122"/>
                <a:cs typeface="Helvetica" pitchFamily="34" charset="-120"/>
              </a:rPr>
              <a:t>KREASI KONTEN PEMASARAN</a:t>
            </a:r>
            <a:endParaRPr lang="en-US" sz="1300" dirty="0"/>
          </a:p>
        </p:txBody>
      </p:sp>
      <p:sp>
        <p:nvSpPr>
          <p:cNvPr id="7" name="Text 5"/>
          <p:cNvSpPr/>
          <p:nvPr/>
        </p:nvSpPr>
        <p:spPr>
          <a:xfrm>
            <a:off x="548640" y="2697480"/>
            <a:ext cx="7772400" cy="914400"/>
          </a:xfrm>
          <a:prstGeom prst="rect">
            <a:avLst/>
          </a:prstGeom>
          <a:noFill/>
          <a:ln/>
        </p:spPr>
        <p:txBody>
          <a:bodyPr wrap="square" lIns="0" tIns="0" rIns="0" bIns="0" rtlCol="0" anchor="ctr"/>
          <a:lstStyle/>
          <a:p>
            <a:pPr marL="0" indent="0">
              <a:lnSpc>
                <a:spcPts val="4800"/>
              </a:lnSpc>
              <a:buNone/>
            </a:pPr>
            <a:r>
              <a:rPr lang="en-US" sz="4000" b="1" dirty="0">
                <a:solidFill>
                  <a:srgbClr val="FFFFFF"/>
                </a:solidFill>
                <a:latin typeface="Helvetica" pitchFamily="34" charset="0"/>
                <a:ea typeface="Helvetica" pitchFamily="34" charset="-122"/>
                <a:cs typeface="Helvetica" pitchFamily="34" charset="-120"/>
              </a:rPr>
              <a:t>Ads Copywriting Multi-Platform + Desain Siap Pakai</a:t>
            </a:r>
            <a:endParaRPr lang="en-US" sz="4000" dirty="0"/>
          </a:p>
        </p:txBody>
      </p:sp>
      <p:sp>
        <p:nvSpPr>
          <p:cNvPr id="8" name="Text 6"/>
          <p:cNvSpPr/>
          <p:nvPr/>
        </p:nvSpPr>
        <p:spPr>
          <a:xfrm>
            <a:off x="548640" y="3703320"/>
            <a:ext cx="7315200" cy="548640"/>
          </a:xfrm>
          <a:prstGeom prst="rect">
            <a:avLst/>
          </a:prstGeom>
          <a:noFill/>
          <a:ln/>
        </p:spPr>
        <p:txBody>
          <a:bodyPr wrap="square" lIns="0" tIns="0" rIns="0" bIns="0" rtlCol="0" anchor="ctr"/>
          <a:lstStyle/>
          <a:p>
            <a:pPr marL="0" indent="0">
              <a:buNone/>
            </a:pPr>
            <a:r>
              <a:rPr lang="en-US" sz="1550" dirty="0">
                <a:solidFill>
                  <a:srgbClr val="B7C0D8"/>
                </a:solidFill>
                <a:latin typeface="Helvetica" pitchFamily="34" charset="0"/>
                <a:ea typeface="Helvetica" pitchFamily="34" charset="-122"/>
                <a:cs typeface="Helvetica" pitchFamily="34" charset="-120"/>
              </a:rPr>
              <a:t>Claude tulis ads copy per platform, desain tinggal susun</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txBody>
          <a:bodyPr/>
          <a:lstStyle/>
          <a:p>
            <a:endParaRPr/>
          </a:p>
        </p:txBody>
      </p:sp>
      <p:sp>
        <p:nvSpPr>
          <p:cNvPr id="3" name="Shape 1"/>
          <p:cNvSpPr/>
          <p:nvPr/>
        </p:nvSpPr>
        <p:spPr>
          <a:xfrm>
            <a:off x="0" y="960120"/>
            <a:ext cx="12191695" cy="41148"/>
          </a:xfrm>
          <a:prstGeom prst="rect">
            <a:avLst/>
          </a:prstGeom>
          <a:solidFill>
            <a:srgbClr val="6849F6"/>
          </a:solidFill>
          <a:ln/>
        </p:spPr>
        <p:txBody>
          <a:bodyPr/>
          <a:lstStyle/>
          <a:p>
            <a:endParaRPr/>
          </a:p>
        </p:txBody>
      </p:sp>
      <p:sp>
        <p:nvSpPr>
          <p:cNvPr id="4" name="Text 2"/>
          <p:cNvSpPr/>
          <p:nvPr/>
        </p:nvSpPr>
        <p:spPr>
          <a:xfrm>
            <a:off x="502920" y="256032"/>
            <a:ext cx="3657600" cy="457200"/>
          </a:xfrm>
          <a:prstGeom prst="rect">
            <a:avLst/>
          </a:prstGeom>
          <a:noFill/>
          <a:ln/>
        </p:spPr>
        <p:txBody>
          <a:bodyPr wrap="square" lIns="0" tIns="0" rIns="0" bIns="0" rtlCol="0" anchor="ctr"/>
          <a:lstStyle/>
          <a:p>
            <a:pPr marL="0" indent="0">
              <a:buNone/>
            </a:pPr>
            <a:r>
              <a:rPr lang="en-US" sz="2000" b="1" dirty="0">
                <a:solidFill>
                  <a:srgbClr val="FFFFFF"/>
                </a:solidFill>
                <a:latin typeface="Helvetica" pitchFamily="34" charset="0"/>
                <a:ea typeface="Helvetica" pitchFamily="34" charset="-122"/>
                <a:cs typeface="Helvetica" pitchFamily="34" charset="-120"/>
              </a:rPr>
              <a:t>belajar</a:t>
            </a: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marL="0" indent="0" algn="r">
              <a:buNone/>
            </a:pPr>
            <a:r>
              <a:rPr lang="en-US" sz="1250" dirty="0">
                <a:solidFill>
                  <a:srgbClr val="9AA2B4"/>
                </a:solidFill>
                <a:latin typeface="Helvetica" pitchFamily="34" charset="0"/>
                <a:ea typeface="Helvetica" pitchFamily="34" charset="-122"/>
                <a:cs typeface="Helvetica" pitchFamily="34" charset="-120"/>
              </a:rPr>
              <a:t>Modul 04 — Ads Copywriting Multi-Platform</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marL="0" indent="0">
              <a:buNone/>
            </a:pPr>
            <a:r>
              <a:rPr lang="en-US" sz="1250" b="1" kern="0" spc="40" dirty="0">
                <a:solidFill>
                  <a:srgbClr val="4B36C7"/>
                </a:solidFill>
                <a:latin typeface="Helvetica" pitchFamily="34" charset="0"/>
                <a:ea typeface="Helvetica" pitchFamily="34" charset="-122"/>
                <a:cs typeface="Helvetica" pitchFamily="34" charset="-120"/>
              </a:rPr>
              <a:t>COPY DULU, DESAIN CARA APA SAJA</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marL="0" indent="0">
              <a:buNone/>
            </a:pPr>
            <a:r>
              <a:rPr lang="en-US" sz="2200" b="1" dirty="0">
                <a:solidFill>
                  <a:srgbClr val="0D1321"/>
                </a:solidFill>
                <a:latin typeface="Helvetica" pitchFamily="34" charset="0"/>
                <a:ea typeface="Helvetica" pitchFamily="34" charset="-122"/>
                <a:cs typeface="Helvetica" pitchFamily="34" charset="-120"/>
              </a:rPr>
              <a:t>Copy + Desain dalam Satu Alur</a:t>
            </a:r>
            <a:endParaRPr lang="en-US" sz="2200" dirty="0"/>
          </a:p>
        </p:txBody>
      </p:sp>
      <p:sp>
        <p:nvSpPr>
          <p:cNvPr id="8" name="Shape 6"/>
          <p:cNvSpPr/>
          <p:nvPr/>
        </p:nvSpPr>
        <p:spPr>
          <a:xfrm>
            <a:off x="502920" y="2103120"/>
            <a:ext cx="11064240" cy="1554480"/>
          </a:xfrm>
          <a:prstGeom prst="roundRect">
            <a:avLst>
              <a:gd name="adj" fmla="val 5882"/>
            </a:avLst>
          </a:prstGeom>
          <a:solidFill>
            <a:srgbClr val="F3F0FF"/>
          </a:solidFill>
          <a:ln w="12700">
            <a:solidFill>
              <a:srgbClr val="DCD3FB"/>
            </a:solidFill>
            <a:prstDash val="solid"/>
          </a:ln>
        </p:spPr>
        <p:txBody>
          <a:bodyPr/>
          <a:lstStyle/>
          <a:p>
            <a:endParaRPr/>
          </a:p>
        </p:txBody>
      </p:sp>
      <p:sp>
        <p:nvSpPr>
          <p:cNvPr id="9" name="Text 7"/>
          <p:cNvSpPr/>
          <p:nvPr/>
        </p:nvSpPr>
        <p:spPr>
          <a:xfrm>
            <a:off x="713232" y="2267712"/>
            <a:ext cx="10607040" cy="274320"/>
          </a:xfrm>
          <a:prstGeom prst="rect">
            <a:avLst/>
          </a:prstGeom>
          <a:noFill/>
          <a:ln/>
        </p:spPr>
        <p:txBody>
          <a:bodyPr wrap="square" lIns="0" tIns="0" rIns="0" bIns="0" rtlCol="0" anchor="ctr"/>
          <a:lstStyle/>
          <a:p>
            <a:pPr marL="0" indent="0">
              <a:buNone/>
            </a:pPr>
            <a:r>
              <a:rPr lang="en-US" sz="1250" b="1" dirty="0">
                <a:solidFill>
                  <a:srgbClr val="4B36C7"/>
                </a:solidFill>
                <a:latin typeface="Helvetica" pitchFamily="34" charset="0"/>
                <a:ea typeface="Helvetica" pitchFamily="34" charset="-122"/>
                <a:cs typeface="Helvetica" pitchFamily="34" charset="-120"/>
              </a:rPr>
              <a:t>◆  OPSIONAL: CANVA CONNECTOR DARI MODUL 3</a:t>
            </a:r>
            <a:endParaRPr lang="en-US" sz="1250" dirty="0"/>
          </a:p>
        </p:txBody>
      </p:sp>
      <p:sp>
        <p:nvSpPr>
          <p:cNvPr id="10" name="Text 8"/>
          <p:cNvSpPr/>
          <p:nvPr/>
        </p:nvSpPr>
        <p:spPr>
          <a:xfrm>
            <a:off x="713232" y="2578608"/>
            <a:ext cx="10607040" cy="1005840"/>
          </a:xfrm>
          <a:prstGeom prst="rect">
            <a:avLst/>
          </a:prstGeom>
          <a:noFill/>
          <a:ln/>
        </p:spPr>
        <p:txBody>
          <a:bodyPr wrap="square" lIns="0" tIns="0" rIns="0" bIns="0" rtlCol="0" anchor="ctr"/>
          <a:lstStyle/>
          <a:p>
            <a:pPr marL="0" indent="0">
              <a:lnSpc>
                <a:spcPct val="125000"/>
              </a:lnSpc>
              <a:buNone/>
            </a:pPr>
            <a:r>
              <a:rPr lang="en-US" sz="1200" dirty="0">
                <a:solidFill>
                  <a:srgbClr val="23283A"/>
                </a:solidFill>
                <a:latin typeface="Helvetica" pitchFamily="34" charset="0"/>
                <a:ea typeface="Helvetica" pitchFamily="34" charset="-122"/>
                <a:cs typeface="Helvetica" pitchFamily="34" charset="-120"/>
              </a:rPr>
              <a:t>Copy dari Claude bisa dipakai di tool desain apa saja. Kalau kamu pakai Canva dan sudah setup Connector-nya di Modul 3, tinggal dipakai lagi — tidak perlu setup ulang. Instruksikan: "Buat desain Instagram Story iklan produk ini di Canva, ukuran 1080x1920px, sesuai warna brand di Project-ku" — Claude buka Canva, pilih template, isi teks, hasilkan desain siap download. Pakai tool lain? Brief copy-nya tetap langsung dipakai.</a:t>
            </a:r>
            <a:endParaRPr lang="en-US" sz="1200" dirty="0"/>
          </a:p>
        </p:txBody>
      </p:sp>
      <p:sp>
        <p:nvSpPr>
          <p:cNvPr id="11" name="Shape 9"/>
          <p:cNvSpPr/>
          <p:nvPr/>
        </p:nvSpPr>
        <p:spPr>
          <a:xfrm>
            <a:off x="502920" y="3794760"/>
            <a:ext cx="11064240" cy="1371600"/>
          </a:xfrm>
          <a:prstGeom prst="roundRect">
            <a:avLst>
              <a:gd name="adj" fmla="val 6667"/>
            </a:avLst>
          </a:prstGeom>
          <a:solidFill>
            <a:srgbClr val="F4F6FB"/>
          </a:solidFill>
          <a:ln w="12700">
            <a:solidFill>
              <a:srgbClr val="D6DCEB"/>
            </a:solidFill>
            <a:prstDash val="solid"/>
          </a:ln>
        </p:spPr>
        <p:txBody>
          <a:bodyPr/>
          <a:lstStyle/>
          <a:p>
            <a:endParaRPr/>
          </a:p>
        </p:txBody>
      </p:sp>
      <p:sp>
        <p:nvSpPr>
          <p:cNvPr id="12" name="Text 10"/>
          <p:cNvSpPr/>
          <p:nvPr/>
        </p:nvSpPr>
        <p:spPr>
          <a:xfrm>
            <a:off x="713232" y="3959352"/>
            <a:ext cx="10607040" cy="274320"/>
          </a:xfrm>
          <a:prstGeom prst="rect">
            <a:avLst/>
          </a:prstGeom>
          <a:noFill/>
          <a:ln/>
        </p:spPr>
        <p:txBody>
          <a:bodyPr wrap="square" lIns="0" tIns="0" rIns="0" bIns="0" rtlCol="0" anchor="ctr"/>
          <a:lstStyle/>
          <a:p>
            <a:pPr marL="0" indent="0">
              <a:buNone/>
            </a:pPr>
            <a:r>
              <a:rPr lang="en-US" sz="1250" b="1" dirty="0">
                <a:solidFill>
                  <a:srgbClr val="4B36C7"/>
                </a:solidFill>
                <a:latin typeface="Helvetica" pitchFamily="34" charset="0"/>
                <a:ea typeface="Helvetica" pitchFamily="34" charset="-122"/>
                <a:cs typeface="Helvetica" pitchFamily="34" charset="-120"/>
              </a:rPr>
              <a:t>◆  </a:t>
            </a:r>
            <a:r>
              <a:rPr lang="en-US" sz="1250" b="1" dirty="0">
                <a:solidFill>
                  <a:srgbClr val="4B36C7"/>
                </a:solidFill>
                <a:latin typeface="Helvetica" pitchFamily="34" charset="0"/>
                <a:cs typeface="Helvetica" pitchFamily="34" charset="-120"/>
              </a:rPr>
              <a:t>BUTUH</a:t>
            </a:r>
            <a:r>
              <a:rPr lang="en-US" sz="1250" b="1" dirty="0">
                <a:solidFill>
                  <a:srgbClr val="4B36C7"/>
                </a:solidFill>
                <a:latin typeface="Helvetica" pitchFamily="34" charset="0"/>
                <a:ea typeface="Helvetica" pitchFamily="34" charset="-122"/>
                <a:cs typeface="Helvetica" pitchFamily="34" charset="-120"/>
              </a:rPr>
              <a:t> FOTO PRODUK ATAU VISUAL IKLAN BARU?</a:t>
            </a:r>
            <a:endParaRPr lang="en-US" sz="1250" dirty="0">
              <a:solidFill>
                <a:srgbClr val="4B36C7"/>
              </a:solidFill>
            </a:endParaRPr>
          </a:p>
        </p:txBody>
      </p:sp>
      <p:sp>
        <p:nvSpPr>
          <p:cNvPr id="13" name="Text 11"/>
          <p:cNvSpPr/>
          <p:nvPr/>
        </p:nvSpPr>
        <p:spPr>
          <a:xfrm>
            <a:off x="713232" y="4270248"/>
            <a:ext cx="10607040" cy="868680"/>
          </a:xfrm>
          <a:prstGeom prst="rect">
            <a:avLst/>
          </a:prstGeom>
          <a:noFill/>
          <a:ln/>
        </p:spPr>
        <p:txBody>
          <a:bodyPr wrap="square" lIns="0" tIns="0" rIns="0" bIns="0" rtlCol="0" anchor="ctr"/>
          <a:lstStyle/>
          <a:p>
            <a:pPr marL="0" indent="0">
              <a:lnSpc>
                <a:spcPct val="125000"/>
              </a:lnSpc>
              <a:buNone/>
            </a:pPr>
            <a:r>
              <a:rPr lang="en-US" sz="1200" dirty="0">
                <a:solidFill>
                  <a:srgbClr val="23283A"/>
                </a:solidFill>
                <a:latin typeface="Helvetica" pitchFamily="34" charset="0"/>
                <a:ea typeface="Helvetica" pitchFamily="34" charset="-122"/>
                <a:cs typeface="Helvetica" pitchFamily="34" charset="-120"/>
              </a:rPr>
              <a:t>Untuk foto produk realistis, Claude bisa jadi Prompt Enhancer — pola yang sama seperti Modul 3: jelaskan idemu, Claude tulis prompt detail untuk Nano Banana Pro atau ChatGPT, hasil gambarnya tinggal disusun jadi desain final. Foto yang sudah ada dan cuma perlu diedit (crop, retouch, hapus background)? Pakai Canva, remove.bg, atau tool lain.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txBody>
          <a:bodyPr/>
          <a:lstStyle/>
          <a:p>
            <a:endParaRPr/>
          </a:p>
        </p:txBody>
      </p:sp>
      <p:sp>
        <p:nvSpPr>
          <p:cNvPr id="3" name="Shape 1"/>
          <p:cNvSpPr/>
          <p:nvPr/>
        </p:nvSpPr>
        <p:spPr>
          <a:xfrm>
            <a:off x="0" y="960120"/>
            <a:ext cx="12191695" cy="41148"/>
          </a:xfrm>
          <a:prstGeom prst="rect">
            <a:avLst/>
          </a:prstGeom>
          <a:solidFill>
            <a:srgbClr val="6849F6"/>
          </a:solidFill>
          <a:ln/>
        </p:spPr>
        <p:txBody>
          <a:bodyPr/>
          <a:lstStyle/>
          <a:p>
            <a:endParaRPr/>
          </a:p>
        </p:txBody>
      </p:sp>
      <p:sp>
        <p:nvSpPr>
          <p:cNvPr id="4" name="Text 2"/>
          <p:cNvSpPr/>
          <p:nvPr/>
        </p:nvSpPr>
        <p:spPr>
          <a:xfrm>
            <a:off x="502920" y="256032"/>
            <a:ext cx="3657600" cy="457200"/>
          </a:xfrm>
          <a:prstGeom prst="rect">
            <a:avLst/>
          </a:prstGeom>
          <a:noFill/>
          <a:ln/>
        </p:spPr>
        <p:txBody>
          <a:bodyPr wrap="square" lIns="0" tIns="0" rIns="0" bIns="0" rtlCol="0" anchor="ctr"/>
          <a:lstStyle/>
          <a:p>
            <a:pPr marL="0" indent="0">
              <a:buNone/>
            </a:pPr>
            <a:r>
              <a:rPr lang="en-US" sz="2000" b="1" dirty="0">
                <a:solidFill>
                  <a:srgbClr val="FFFFFF"/>
                </a:solidFill>
                <a:latin typeface="Helvetica" pitchFamily="34" charset="0"/>
                <a:ea typeface="Helvetica" pitchFamily="34" charset="-122"/>
                <a:cs typeface="Helvetica" pitchFamily="34" charset="-120"/>
              </a:rPr>
              <a:t>belajar</a:t>
            </a: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marL="0" indent="0" algn="r">
              <a:buNone/>
            </a:pPr>
            <a:r>
              <a:rPr lang="en-US" sz="1250" dirty="0">
                <a:solidFill>
                  <a:srgbClr val="9AA2B4"/>
                </a:solidFill>
                <a:latin typeface="Helvetica" pitchFamily="34" charset="0"/>
                <a:ea typeface="Helvetica" pitchFamily="34" charset="-122"/>
                <a:cs typeface="Helvetica" pitchFamily="34" charset="-120"/>
              </a:rPr>
              <a:t>Modul 04 — Ads Copywriting Multi-Platform</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marL="0" indent="0">
              <a:buNone/>
            </a:pPr>
            <a:r>
              <a:rPr lang="en-US" sz="1250" b="1" kern="0" spc="40" dirty="0">
                <a:solidFill>
                  <a:srgbClr val="4B36C7"/>
                </a:solidFill>
                <a:latin typeface="Helvetica" pitchFamily="34" charset="0"/>
                <a:ea typeface="Helvetica" pitchFamily="34" charset="-122"/>
                <a:cs typeface="Helvetica" pitchFamily="34" charset="-120"/>
              </a:rPr>
              <a:t>URUTAN YANG BIKIN PEMBELI BERHENTI SCROLL</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marL="0" indent="0">
              <a:buNone/>
            </a:pPr>
            <a:r>
              <a:rPr lang="en-US" sz="2200" b="1" dirty="0">
                <a:solidFill>
                  <a:srgbClr val="0D1321"/>
                </a:solidFill>
                <a:latin typeface="Helvetica" pitchFamily="34" charset="0"/>
                <a:ea typeface="Helvetica" pitchFamily="34" charset="-122"/>
                <a:cs typeface="Helvetica" pitchFamily="34" charset="-120"/>
              </a:rPr>
              <a:t>Framework Copy Iklan yang Convert</a:t>
            </a:r>
            <a:endParaRPr lang="en-US" sz="2200" dirty="0"/>
          </a:p>
        </p:txBody>
      </p:sp>
      <p:sp>
        <p:nvSpPr>
          <p:cNvPr id="8" name="Shape 6"/>
          <p:cNvSpPr/>
          <p:nvPr/>
        </p:nvSpPr>
        <p:spPr>
          <a:xfrm>
            <a:off x="502920" y="2103120"/>
            <a:ext cx="2377440" cy="1371600"/>
          </a:xfrm>
          <a:prstGeom prst="roundRect">
            <a:avLst>
              <a:gd name="adj" fmla="val 6667"/>
            </a:avLst>
          </a:prstGeom>
          <a:solidFill>
            <a:srgbClr val="F4F6FB"/>
          </a:solidFill>
          <a:ln w="12700">
            <a:solidFill>
              <a:srgbClr val="D6DCEB"/>
            </a:solidFill>
            <a:prstDash val="solid"/>
          </a:ln>
        </p:spPr>
        <p:txBody>
          <a:bodyPr/>
          <a:lstStyle/>
          <a:p>
            <a:endParaRPr/>
          </a:p>
        </p:txBody>
      </p:sp>
      <p:sp>
        <p:nvSpPr>
          <p:cNvPr id="9" name="Text 7"/>
          <p:cNvSpPr/>
          <p:nvPr/>
        </p:nvSpPr>
        <p:spPr>
          <a:xfrm>
            <a:off x="630936" y="2249424"/>
            <a:ext cx="2121408" cy="320040"/>
          </a:xfrm>
          <a:prstGeom prst="rect">
            <a:avLst/>
          </a:prstGeom>
          <a:noFill/>
          <a:ln/>
        </p:spPr>
        <p:txBody>
          <a:bodyPr wrap="square" lIns="0" tIns="0" rIns="0" bIns="0" rtlCol="0" anchor="ctr"/>
          <a:lstStyle/>
          <a:p>
            <a:pPr marL="0" indent="0">
              <a:buNone/>
            </a:pPr>
            <a:r>
              <a:rPr lang="en-US" sz="1150" b="1" kern="0" spc="30" dirty="0">
                <a:solidFill>
                  <a:srgbClr val="4B36C7"/>
                </a:solidFill>
                <a:latin typeface="Helvetica" pitchFamily="34" charset="0"/>
                <a:ea typeface="Helvetica" pitchFamily="34" charset="-122"/>
                <a:cs typeface="Helvetica" pitchFamily="34" charset="-120"/>
              </a:rPr>
              <a:t>HOOK</a:t>
            </a:r>
            <a:endParaRPr lang="en-US" sz="1150" dirty="0"/>
          </a:p>
        </p:txBody>
      </p:sp>
      <p:sp>
        <p:nvSpPr>
          <p:cNvPr id="10" name="Text 8"/>
          <p:cNvSpPr/>
          <p:nvPr/>
        </p:nvSpPr>
        <p:spPr>
          <a:xfrm>
            <a:off x="630936" y="2596896"/>
            <a:ext cx="2121408" cy="749808"/>
          </a:xfrm>
          <a:prstGeom prst="rect">
            <a:avLst/>
          </a:prstGeom>
          <a:noFill/>
          <a:ln/>
        </p:spPr>
        <p:txBody>
          <a:bodyPr wrap="square" lIns="0" tIns="0" rIns="0" bIns="0" rtlCol="0" anchor="ctr"/>
          <a:lstStyle/>
          <a:p>
            <a:pPr marL="0" indent="0">
              <a:lnSpc>
                <a:spcPct val="120000"/>
              </a:lnSpc>
              <a:buNone/>
            </a:pPr>
            <a:r>
              <a:rPr lang="en-US" sz="1000" dirty="0">
                <a:solidFill>
                  <a:srgbClr val="23283A"/>
                </a:solidFill>
                <a:latin typeface="Helvetica" pitchFamily="34" charset="0"/>
                <a:ea typeface="Helvetica" pitchFamily="34" charset="-122"/>
                <a:cs typeface="Helvetica" pitchFamily="34" charset="-120"/>
              </a:rPr>
              <a:t>1-2 detik pertama — scroll stopper: pertanyaan, angka, atau pernyataan mengejutkan</a:t>
            </a:r>
            <a:endParaRPr lang="en-US" sz="1000" dirty="0"/>
          </a:p>
        </p:txBody>
      </p:sp>
      <p:sp>
        <p:nvSpPr>
          <p:cNvPr id="11" name="Text 9"/>
          <p:cNvSpPr/>
          <p:nvPr/>
        </p:nvSpPr>
        <p:spPr>
          <a:xfrm>
            <a:off x="2880360" y="2103120"/>
            <a:ext cx="384048" cy="1371600"/>
          </a:xfrm>
          <a:prstGeom prst="rect">
            <a:avLst/>
          </a:prstGeom>
          <a:noFill/>
          <a:ln/>
        </p:spPr>
        <p:txBody>
          <a:bodyPr wrap="square" lIns="0" tIns="0" rIns="0" bIns="0" rtlCol="0" anchor="ctr"/>
          <a:lstStyle/>
          <a:p>
            <a:pPr marL="0" indent="0" algn="ctr">
              <a:buNone/>
            </a:pPr>
            <a:r>
              <a:rPr lang="en-US" sz="1800" b="1" dirty="0">
                <a:solidFill>
                  <a:srgbClr val="6849F6"/>
                </a:solidFill>
                <a:latin typeface="Helvetica" pitchFamily="34" charset="0"/>
                <a:ea typeface="Helvetica" pitchFamily="34" charset="-122"/>
                <a:cs typeface="Helvetica" pitchFamily="34" charset="-120"/>
              </a:rPr>
              <a:t>→</a:t>
            </a:r>
            <a:endParaRPr lang="en-US" sz="1800" dirty="0"/>
          </a:p>
        </p:txBody>
      </p:sp>
      <p:sp>
        <p:nvSpPr>
          <p:cNvPr id="12" name="Shape 10"/>
          <p:cNvSpPr/>
          <p:nvPr/>
        </p:nvSpPr>
        <p:spPr>
          <a:xfrm>
            <a:off x="3264408" y="2103120"/>
            <a:ext cx="2377440" cy="1371600"/>
          </a:xfrm>
          <a:prstGeom prst="roundRect">
            <a:avLst>
              <a:gd name="adj" fmla="val 6667"/>
            </a:avLst>
          </a:prstGeom>
          <a:solidFill>
            <a:srgbClr val="F4F6FB"/>
          </a:solidFill>
          <a:ln w="12700">
            <a:solidFill>
              <a:srgbClr val="D6DCEB"/>
            </a:solidFill>
            <a:prstDash val="solid"/>
          </a:ln>
        </p:spPr>
        <p:txBody>
          <a:bodyPr/>
          <a:lstStyle/>
          <a:p>
            <a:endParaRPr/>
          </a:p>
        </p:txBody>
      </p:sp>
      <p:sp>
        <p:nvSpPr>
          <p:cNvPr id="13" name="Text 11"/>
          <p:cNvSpPr/>
          <p:nvPr/>
        </p:nvSpPr>
        <p:spPr>
          <a:xfrm>
            <a:off x="3392424" y="2249424"/>
            <a:ext cx="2121408" cy="320040"/>
          </a:xfrm>
          <a:prstGeom prst="rect">
            <a:avLst/>
          </a:prstGeom>
          <a:noFill/>
          <a:ln/>
        </p:spPr>
        <p:txBody>
          <a:bodyPr wrap="square" lIns="0" tIns="0" rIns="0" bIns="0" rtlCol="0" anchor="ctr"/>
          <a:lstStyle/>
          <a:p>
            <a:pPr marL="0" indent="0">
              <a:buNone/>
            </a:pPr>
            <a:r>
              <a:rPr lang="en-US" sz="1150" b="1" kern="0" spc="30" dirty="0">
                <a:solidFill>
                  <a:srgbClr val="4B36C7"/>
                </a:solidFill>
                <a:latin typeface="Helvetica" pitchFamily="34" charset="0"/>
                <a:ea typeface="Helvetica" pitchFamily="34" charset="-122"/>
                <a:cs typeface="Helvetica" pitchFamily="34" charset="-120"/>
              </a:rPr>
              <a:t>PROBLEM / PAIN</a:t>
            </a:r>
            <a:endParaRPr lang="en-US" sz="1150" dirty="0"/>
          </a:p>
        </p:txBody>
      </p:sp>
      <p:sp>
        <p:nvSpPr>
          <p:cNvPr id="14" name="Text 12"/>
          <p:cNvSpPr/>
          <p:nvPr/>
        </p:nvSpPr>
        <p:spPr>
          <a:xfrm>
            <a:off x="3392424" y="2596896"/>
            <a:ext cx="2121408" cy="749808"/>
          </a:xfrm>
          <a:prstGeom prst="rect">
            <a:avLst/>
          </a:prstGeom>
          <a:noFill/>
          <a:ln/>
        </p:spPr>
        <p:txBody>
          <a:bodyPr wrap="square" lIns="0" tIns="0" rIns="0" bIns="0" rtlCol="0" anchor="ctr"/>
          <a:lstStyle/>
          <a:p>
            <a:pPr marL="0" indent="0">
              <a:lnSpc>
                <a:spcPct val="120000"/>
              </a:lnSpc>
              <a:buNone/>
            </a:pPr>
            <a:r>
              <a:rPr lang="en-US" sz="1000" dirty="0">
                <a:solidFill>
                  <a:srgbClr val="23283A"/>
                </a:solidFill>
                <a:latin typeface="Helvetica" pitchFamily="34" charset="0"/>
                <a:ea typeface="Helvetica" pitchFamily="34" charset="-122"/>
                <a:cs typeface="Helvetica" pitchFamily="34" charset="-120"/>
              </a:rPr>
              <a:t>Tunjukkan kamu mengerti masalah pembeli, bukan langsung jual</a:t>
            </a:r>
            <a:endParaRPr lang="en-US" sz="1000" dirty="0"/>
          </a:p>
        </p:txBody>
      </p:sp>
      <p:sp>
        <p:nvSpPr>
          <p:cNvPr id="15" name="Text 13"/>
          <p:cNvSpPr/>
          <p:nvPr/>
        </p:nvSpPr>
        <p:spPr>
          <a:xfrm>
            <a:off x="5641848" y="2103120"/>
            <a:ext cx="384048" cy="1371600"/>
          </a:xfrm>
          <a:prstGeom prst="rect">
            <a:avLst/>
          </a:prstGeom>
          <a:noFill/>
          <a:ln/>
        </p:spPr>
        <p:txBody>
          <a:bodyPr wrap="square" lIns="0" tIns="0" rIns="0" bIns="0" rtlCol="0" anchor="ctr"/>
          <a:lstStyle/>
          <a:p>
            <a:pPr marL="0" indent="0" algn="ctr">
              <a:buNone/>
            </a:pPr>
            <a:r>
              <a:rPr lang="en-US" sz="1800" b="1" dirty="0">
                <a:solidFill>
                  <a:srgbClr val="6849F6"/>
                </a:solidFill>
                <a:latin typeface="Helvetica" pitchFamily="34" charset="0"/>
                <a:ea typeface="Helvetica" pitchFamily="34" charset="-122"/>
                <a:cs typeface="Helvetica" pitchFamily="34" charset="-120"/>
              </a:rPr>
              <a:t>→</a:t>
            </a:r>
            <a:endParaRPr lang="en-US" sz="1800" dirty="0"/>
          </a:p>
        </p:txBody>
      </p:sp>
      <p:sp>
        <p:nvSpPr>
          <p:cNvPr id="16" name="Shape 14"/>
          <p:cNvSpPr/>
          <p:nvPr/>
        </p:nvSpPr>
        <p:spPr>
          <a:xfrm>
            <a:off x="6025896" y="2103120"/>
            <a:ext cx="2377440" cy="1371600"/>
          </a:xfrm>
          <a:prstGeom prst="roundRect">
            <a:avLst>
              <a:gd name="adj" fmla="val 6667"/>
            </a:avLst>
          </a:prstGeom>
          <a:solidFill>
            <a:srgbClr val="F4F6FB"/>
          </a:solidFill>
          <a:ln w="12700">
            <a:solidFill>
              <a:srgbClr val="D6DCEB"/>
            </a:solidFill>
            <a:prstDash val="solid"/>
          </a:ln>
        </p:spPr>
        <p:txBody>
          <a:bodyPr/>
          <a:lstStyle/>
          <a:p>
            <a:endParaRPr/>
          </a:p>
        </p:txBody>
      </p:sp>
      <p:sp>
        <p:nvSpPr>
          <p:cNvPr id="17" name="Text 15"/>
          <p:cNvSpPr/>
          <p:nvPr/>
        </p:nvSpPr>
        <p:spPr>
          <a:xfrm>
            <a:off x="6153912" y="2249424"/>
            <a:ext cx="2121408" cy="320040"/>
          </a:xfrm>
          <a:prstGeom prst="rect">
            <a:avLst/>
          </a:prstGeom>
          <a:noFill/>
          <a:ln/>
        </p:spPr>
        <p:txBody>
          <a:bodyPr wrap="square" lIns="0" tIns="0" rIns="0" bIns="0" rtlCol="0" anchor="ctr"/>
          <a:lstStyle/>
          <a:p>
            <a:pPr marL="0" indent="0">
              <a:buNone/>
            </a:pPr>
            <a:r>
              <a:rPr lang="en-US" sz="1150" b="1" kern="0" spc="30" dirty="0">
                <a:solidFill>
                  <a:srgbClr val="4B36C7"/>
                </a:solidFill>
                <a:latin typeface="Helvetica" pitchFamily="34" charset="0"/>
                <a:ea typeface="Helvetica" pitchFamily="34" charset="-122"/>
                <a:cs typeface="Helvetica" pitchFamily="34" charset="-120"/>
              </a:rPr>
              <a:t>SOLUTION + PROOF</a:t>
            </a:r>
            <a:endParaRPr lang="en-US" sz="1150" dirty="0"/>
          </a:p>
        </p:txBody>
      </p:sp>
      <p:sp>
        <p:nvSpPr>
          <p:cNvPr id="18" name="Text 16"/>
          <p:cNvSpPr/>
          <p:nvPr/>
        </p:nvSpPr>
        <p:spPr>
          <a:xfrm>
            <a:off x="6153912" y="2596896"/>
            <a:ext cx="2121408" cy="749808"/>
          </a:xfrm>
          <a:prstGeom prst="rect">
            <a:avLst/>
          </a:prstGeom>
          <a:noFill/>
          <a:ln/>
        </p:spPr>
        <p:txBody>
          <a:bodyPr wrap="square" lIns="0" tIns="0" rIns="0" bIns="0" rtlCol="0" anchor="ctr"/>
          <a:lstStyle/>
          <a:p>
            <a:pPr marL="0" indent="0">
              <a:lnSpc>
                <a:spcPct val="120000"/>
              </a:lnSpc>
              <a:buNone/>
            </a:pPr>
            <a:r>
              <a:rPr lang="en-US" sz="1000" dirty="0">
                <a:solidFill>
                  <a:srgbClr val="23283A"/>
                </a:solidFill>
                <a:latin typeface="Helvetica" pitchFamily="34" charset="0"/>
                <a:ea typeface="Helvetica" pitchFamily="34" charset="-122"/>
                <a:cs typeface="Helvetica" pitchFamily="34" charset="-120"/>
              </a:rPr>
              <a:t>Produkmu sebagai solusi, dengan bukti konkret (review, angka, testimoni)</a:t>
            </a:r>
            <a:endParaRPr lang="en-US" sz="1000" dirty="0"/>
          </a:p>
        </p:txBody>
      </p:sp>
      <p:sp>
        <p:nvSpPr>
          <p:cNvPr id="19" name="Text 17"/>
          <p:cNvSpPr/>
          <p:nvPr/>
        </p:nvSpPr>
        <p:spPr>
          <a:xfrm>
            <a:off x="8403336" y="2103120"/>
            <a:ext cx="384048" cy="1371600"/>
          </a:xfrm>
          <a:prstGeom prst="rect">
            <a:avLst/>
          </a:prstGeom>
          <a:noFill/>
          <a:ln/>
        </p:spPr>
        <p:txBody>
          <a:bodyPr wrap="square" lIns="0" tIns="0" rIns="0" bIns="0" rtlCol="0" anchor="ctr"/>
          <a:lstStyle/>
          <a:p>
            <a:pPr marL="0" indent="0" algn="ctr">
              <a:buNone/>
            </a:pPr>
            <a:r>
              <a:rPr lang="en-US" sz="1800" b="1" dirty="0">
                <a:solidFill>
                  <a:srgbClr val="6849F6"/>
                </a:solidFill>
                <a:latin typeface="Helvetica" pitchFamily="34" charset="0"/>
                <a:ea typeface="Helvetica" pitchFamily="34" charset="-122"/>
                <a:cs typeface="Helvetica" pitchFamily="34" charset="-120"/>
              </a:rPr>
              <a:t>→</a:t>
            </a:r>
            <a:endParaRPr lang="en-US" sz="1800" dirty="0"/>
          </a:p>
        </p:txBody>
      </p:sp>
      <p:sp>
        <p:nvSpPr>
          <p:cNvPr id="20" name="Shape 18"/>
          <p:cNvSpPr/>
          <p:nvPr/>
        </p:nvSpPr>
        <p:spPr>
          <a:xfrm>
            <a:off x="8787384" y="2103120"/>
            <a:ext cx="2377440" cy="1371600"/>
          </a:xfrm>
          <a:prstGeom prst="roundRect">
            <a:avLst>
              <a:gd name="adj" fmla="val 6667"/>
            </a:avLst>
          </a:prstGeom>
          <a:solidFill>
            <a:srgbClr val="F4F6FB"/>
          </a:solidFill>
          <a:ln w="12700">
            <a:solidFill>
              <a:srgbClr val="D6DCEB"/>
            </a:solidFill>
            <a:prstDash val="solid"/>
          </a:ln>
        </p:spPr>
        <p:txBody>
          <a:bodyPr/>
          <a:lstStyle/>
          <a:p>
            <a:endParaRPr/>
          </a:p>
        </p:txBody>
      </p:sp>
      <p:sp>
        <p:nvSpPr>
          <p:cNvPr id="21" name="Text 19"/>
          <p:cNvSpPr/>
          <p:nvPr/>
        </p:nvSpPr>
        <p:spPr>
          <a:xfrm>
            <a:off x="8915400" y="2249424"/>
            <a:ext cx="2121408" cy="320040"/>
          </a:xfrm>
          <a:prstGeom prst="rect">
            <a:avLst/>
          </a:prstGeom>
          <a:noFill/>
          <a:ln/>
        </p:spPr>
        <p:txBody>
          <a:bodyPr wrap="square" lIns="0" tIns="0" rIns="0" bIns="0" rtlCol="0" anchor="ctr"/>
          <a:lstStyle/>
          <a:p>
            <a:pPr marL="0" indent="0">
              <a:buNone/>
            </a:pPr>
            <a:r>
              <a:rPr lang="en-US" sz="1150" b="1" kern="0" spc="30" dirty="0">
                <a:solidFill>
                  <a:srgbClr val="4B36C7"/>
                </a:solidFill>
                <a:latin typeface="Helvetica" pitchFamily="34" charset="0"/>
                <a:ea typeface="Helvetica" pitchFamily="34" charset="-122"/>
                <a:cs typeface="Helvetica" pitchFamily="34" charset="-120"/>
              </a:rPr>
              <a:t>CTA SPESIFIK</a:t>
            </a:r>
            <a:endParaRPr lang="en-US" sz="1150" dirty="0"/>
          </a:p>
        </p:txBody>
      </p:sp>
      <p:sp>
        <p:nvSpPr>
          <p:cNvPr id="22" name="Text 20"/>
          <p:cNvSpPr/>
          <p:nvPr/>
        </p:nvSpPr>
        <p:spPr>
          <a:xfrm>
            <a:off x="8915400" y="2596896"/>
            <a:ext cx="2121408" cy="749808"/>
          </a:xfrm>
          <a:prstGeom prst="rect">
            <a:avLst/>
          </a:prstGeom>
          <a:noFill/>
          <a:ln/>
        </p:spPr>
        <p:txBody>
          <a:bodyPr wrap="square" lIns="0" tIns="0" rIns="0" bIns="0" rtlCol="0" anchor="ctr"/>
          <a:lstStyle/>
          <a:p>
            <a:pPr marL="0" indent="0">
              <a:lnSpc>
                <a:spcPct val="120000"/>
              </a:lnSpc>
              <a:buNone/>
            </a:pPr>
            <a:r>
              <a:rPr lang="en-US" sz="1000" dirty="0">
                <a:solidFill>
                  <a:srgbClr val="23283A"/>
                </a:solidFill>
                <a:latin typeface="Helvetica" pitchFamily="34" charset="0"/>
                <a:ea typeface="Helvetica" pitchFamily="34" charset="-122"/>
                <a:cs typeface="Helvetica" pitchFamily="34" charset="-120"/>
              </a:rPr>
              <a:t>Bukan "hubungi kami" tapi "klik link di bio, stok terbatas 50 pcs"</a:t>
            </a:r>
            <a:endParaRPr lang="en-US" sz="1000" dirty="0"/>
          </a:p>
        </p:txBody>
      </p:sp>
      <p:sp>
        <p:nvSpPr>
          <p:cNvPr id="23" name="Text 21"/>
          <p:cNvSpPr/>
          <p:nvPr/>
        </p:nvSpPr>
        <p:spPr>
          <a:xfrm>
            <a:off x="502920" y="3611880"/>
            <a:ext cx="11064240" cy="292608"/>
          </a:xfrm>
          <a:prstGeom prst="rect">
            <a:avLst/>
          </a:prstGeom>
          <a:noFill/>
          <a:ln/>
        </p:spPr>
        <p:txBody>
          <a:bodyPr wrap="square" lIns="0" tIns="0" rIns="0" bIns="0" rtlCol="0" anchor="ctr"/>
          <a:lstStyle/>
          <a:p>
            <a:pPr marL="0" indent="0">
              <a:buNone/>
            </a:pPr>
            <a:r>
              <a:rPr lang="en-US" sz="1200" i="1" dirty="0">
                <a:solidFill>
                  <a:srgbClr val="6B7280"/>
                </a:solidFill>
                <a:latin typeface="Helvetica" pitchFamily="34" charset="0"/>
                <a:ea typeface="Helvetica" pitchFamily="34" charset="-122"/>
                <a:cs typeface="Helvetica" pitchFamily="34" charset="-120"/>
              </a:rPr>
              <a:t>Selalu buat </a:t>
            </a:r>
            <a:r>
              <a:rPr lang="en-US" sz="1200" b="1" i="1" dirty="0">
                <a:solidFill>
                  <a:srgbClr val="23283A"/>
                </a:solidFill>
                <a:latin typeface="Helvetica" pitchFamily="34" charset="0"/>
                <a:ea typeface="Helvetica" pitchFamily="34" charset="-122"/>
                <a:cs typeface="Helvetica" pitchFamily="34" charset="-120"/>
              </a:rPr>
              <a:t>3 variasi</a:t>
            </a:r>
            <a:r>
              <a:rPr lang="en-US" sz="1200" i="1" dirty="0">
                <a:solidFill>
                  <a:srgbClr val="6B7280"/>
                </a:solidFill>
                <a:latin typeface="Helvetica" pitchFamily="34" charset="0"/>
                <a:ea typeface="Helvetica" pitchFamily="34" charset="-122"/>
                <a:cs typeface="Helvetica" pitchFamily="34" charset="-120"/>
              </a:rPr>
              <a:t> — A/B test mana yang perform terbaik setelah 3 hari.</a:t>
            </a:r>
            <a:endParaRPr lang="en-US" sz="1200" dirty="0"/>
          </a:p>
        </p:txBody>
      </p:sp>
      <p:sp>
        <p:nvSpPr>
          <p:cNvPr id="24" name="Shape 22"/>
          <p:cNvSpPr/>
          <p:nvPr/>
        </p:nvSpPr>
        <p:spPr>
          <a:xfrm>
            <a:off x="502920" y="4069080"/>
            <a:ext cx="11064240" cy="1691640"/>
          </a:xfrm>
          <a:prstGeom prst="roundRect">
            <a:avLst>
              <a:gd name="adj" fmla="val 5405"/>
            </a:avLst>
          </a:prstGeom>
          <a:solidFill>
            <a:srgbClr val="FFF6F6"/>
          </a:solidFill>
          <a:ln w="12700">
            <a:solidFill>
              <a:srgbClr val="F3C6C6"/>
            </a:solidFill>
            <a:prstDash val="solid"/>
          </a:ln>
        </p:spPr>
        <p:txBody>
          <a:bodyPr/>
          <a:lstStyle/>
          <a:p>
            <a:endParaRPr/>
          </a:p>
        </p:txBody>
      </p:sp>
      <p:sp>
        <p:nvSpPr>
          <p:cNvPr id="25" name="Text 23"/>
          <p:cNvSpPr/>
          <p:nvPr/>
        </p:nvSpPr>
        <p:spPr>
          <a:xfrm>
            <a:off x="713232" y="4215384"/>
            <a:ext cx="10607040" cy="274320"/>
          </a:xfrm>
          <a:prstGeom prst="rect">
            <a:avLst/>
          </a:prstGeom>
          <a:noFill/>
          <a:ln/>
        </p:spPr>
        <p:txBody>
          <a:bodyPr wrap="square" lIns="0" tIns="0" rIns="0" bIns="0" rtlCol="0" anchor="ctr"/>
          <a:lstStyle/>
          <a:p>
            <a:pPr marL="0" indent="0">
              <a:buNone/>
            </a:pPr>
            <a:r>
              <a:rPr lang="en-US" sz="1250" b="1" kern="0" spc="40" dirty="0">
                <a:solidFill>
                  <a:srgbClr val="DC2626"/>
                </a:solidFill>
                <a:latin typeface="Helvetica" pitchFamily="34" charset="0"/>
                <a:ea typeface="Helvetica" pitchFamily="34" charset="-122"/>
                <a:cs typeface="Helvetica" pitchFamily="34" charset="-120"/>
              </a:rPr>
              <a:t>KESALAHAN UMUM</a:t>
            </a:r>
            <a:endParaRPr lang="en-US" sz="1250" dirty="0"/>
          </a:p>
        </p:txBody>
      </p:sp>
      <p:sp>
        <p:nvSpPr>
          <p:cNvPr id="26" name="Text 24"/>
          <p:cNvSpPr/>
          <p:nvPr/>
        </p:nvSpPr>
        <p:spPr>
          <a:xfrm>
            <a:off x="713232" y="4517136"/>
            <a:ext cx="219456" cy="274320"/>
          </a:xfrm>
          <a:prstGeom prst="rect">
            <a:avLst/>
          </a:prstGeom>
          <a:noFill/>
          <a:ln/>
        </p:spPr>
        <p:txBody>
          <a:bodyPr wrap="square" lIns="0" tIns="0" rIns="0" bIns="0" rtlCol="0" anchor="ctr"/>
          <a:lstStyle/>
          <a:p>
            <a:pPr marL="0" indent="0">
              <a:buNone/>
            </a:pPr>
            <a:r>
              <a:rPr lang="en-US" sz="1300" b="1" dirty="0">
                <a:solidFill>
                  <a:srgbClr val="DC2626"/>
                </a:solidFill>
                <a:latin typeface="Helvetica" pitchFamily="34" charset="0"/>
                <a:ea typeface="Helvetica" pitchFamily="34" charset="-122"/>
                <a:cs typeface="Helvetica" pitchFamily="34" charset="-120"/>
              </a:rPr>
              <a:t>×</a:t>
            </a:r>
            <a:endParaRPr lang="en-US" sz="1300" dirty="0"/>
          </a:p>
        </p:txBody>
      </p:sp>
      <p:sp>
        <p:nvSpPr>
          <p:cNvPr id="27" name="Text 25"/>
          <p:cNvSpPr/>
          <p:nvPr/>
        </p:nvSpPr>
        <p:spPr>
          <a:xfrm>
            <a:off x="950976" y="4489704"/>
            <a:ext cx="10378440" cy="329184"/>
          </a:xfrm>
          <a:prstGeom prst="rect">
            <a:avLst/>
          </a:prstGeom>
          <a:noFill/>
          <a:ln/>
        </p:spPr>
        <p:txBody>
          <a:bodyPr wrap="square" lIns="0" tIns="0" rIns="0" bIns="0" rtlCol="0" anchor="ctr"/>
          <a:lstStyle/>
          <a:p>
            <a:pPr marL="0" indent="0">
              <a:lnSpc>
                <a:spcPct val="115000"/>
              </a:lnSpc>
              <a:buNone/>
            </a:pPr>
            <a:r>
              <a:rPr lang="en-US" sz="1100" dirty="0">
                <a:solidFill>
                  <a:srgbClr val="7A3B3B"/>
                </a:solidFill>
                <a:latin typeface="Helvetica" pitchFamily="34" charset="0"/>
                <a:ea typeface="Helvetica" pitchFamily="34" charset="-122"/>
                <a:cs typeface="Helvetica" pitchFamily="34" charset="-120"/>
              </a:rPr>
              <a:t>Hanya promosi fitur — "premium, halal, enak" — tidak ada hook, tidak ada pain point</a:t>
            </a:r>
            <a:endParaRPr lang="en-US" sz="1100" dirty="0"/>
          </a:p>
        </p:txBody>
      </p:sp>
      <p:sp>
        <p:nvSpPr>
          <p:cNvPr id="28" name="Text 26"/>
          <p:cNvSpPr/>
          <p:nvPr/>
        </p:nvSpPr>
        <p:spPr>
          <a:xfrm>
            <a:off x="713232" y="4814316"/>
            <a:ext cx="219456" cy="274320"/>
          </a:xfrm>
          <a:prstGeom prst="rect">
            <a:avLst/>
          </a:prstGeom>
          <a:noFill/>
          <a:ln/>
        </p:spPr>
        <p:txBody>
          <a:bodyPr wrap="square" lIns="0" tIns="0" rIns="0" bIns="0" rtlCol="0" anchor="ctr"/>
          <a:lstStyle/>
          <a:p>
            <a:pPr marL="0" indent="0">
              <a:buNone/>
            </a:pPr>
            <a:r>
              <a:rPr lang="en-US" sz="1300" b="1" dirty="0">
                <a:solidFill>
                  <a:srgbClr val="DC2626"/>
                </a:solidFill>
                <a:latin typeface="Helvetica" pitchFamily="34" charset="0"/>
                <a:ea typeface="Helvetica" pitchFamily="34" charset="-122"/>
                <a:cs typeface="Helvetica" pitchFamily="34" charset="-120"/>
              </a:rPr>
              <a:t>×</a:t>
            </a:r>
            <a:endParaRPr lang="en-US" sz="1300" dirty="0"/>
          </a:p>
        </p:txBody>
      </p:sp>
      <p:sp>
        <p:nvSpPr>
          <p:cNvPr id="29" name="Text 27"/>
          <p:cNvSpPr/>
          <p:nvPr/>
        </p:nvSpPr>
        <p:spPr>
          <a:xfrm>
            <a:off x="950976" y="4786884"/>
            <a:ext cx="10378440" cy="329184"/>
          </a:xfrm>
          <a:prstGeom prst="rect">
            <a:avLst/>
          </a:prstGeom>
          <a:noFill/>
          <a:ln/>
        </p:spPr>
        <p:txBody>
          <a:bodyPr wrap="square" lIns="0" tIns="0" rIns="0" bIns="0" rtlCol="0" anchor="ctr"/>
          <a:lstStyle/>
          <a:p>
            <a:pPr marL="0" indent="0">
              <a:lnSpc>
                <a:spcPct val="115000"/>
              </a:lnSpc>
              <a:buNone/>
            </a:pPr>
            <a:r>
              <a:rPr lang="en-US" sz="1100" dirty="0">
                <a:solidFill>
                  <a:srgbClr val="7A3B3B"/>
                </a:solidFill>
                <a:latin typeface="Helvetica" pitchFamily="34" charset="0"/>
                <a:ea typeface="Helvetica" pitchFamily="34" charset="-122"/>
                <a:cs typeface="Helvetica" pitchFamily="34" charset="-120"/>
              </a:rPr>
              <a:t>Hanya 1 versi copy — tidak mungkin tahu mana yang perform terbaik tanpa tes</a:t>
            </a:r>
            <a:endParaRPr lang="en-US" sz="1100" dirty="0"/>
          </a:p>
        </p:txBody>
      </p:sp>
      <p:sp>
        <p:nvSpPr>
          <p:cNvPr id="30" name="Text 28"/>
          <p:cNvSpPr/>
          <p:nvPr/>
        </p:nvSpPr>
        <p:spPr>
          <a:xfrm>
            <a:off x="713232" y="5111496"/>
            <a:ext cx="219456" cy="274320"/>
          </a:xfrm>
          <a:prstGeom prst="rect">
            <a:avLst/>
          </a:prstGeom>
          <a:noFill/>
          <a:ln/>
        </p:spPr>
        <p:txBody>
          <a:bodyPr wrap="square" lIns="0" tIns="0" rIns="0" bIns="0" rtlCol="0" anchor="ctr"/>
          <a:lstStyle/>
          <a:p>
            <a:pPr marL="0" indent="0">
              <a:buNone/>
            </a:pPr>
            <a:r>
              <a:rPr lang="en-US" sz="1300" b="1" dirty="0">
                <a:solidFill>
                  <a:srgbClr val="DC2626"/>
                </a:solidFill>
                <a:latin typeface="Helvetica" pitchFamily="34" charset="0"/>
                <a:ea typeface="Helvetica" pitchFamily="34" charset="-122"/>
                <a:cs typeface="Helvetica" pitchFamily="34" charset="-120"/>
              </a:rPr>
              <a:t>×</a:t>
            </a:r>
            <a:endParaRPr lang="en-US" sz="1300" dirty="0"/>
          </a:p>
        </p:txBody>
      </p:sp>
      <p:sp>
        <p:nvSpPr>
          <p:cNvPr id="31" name="Text 29"/>
          <p:cNvSpPr/>
          <p:nvPr/>
        </p:nvSpPr>
        <p:spPr>
          <a:xfrm>
            <a:off x="950976" y="5084064"/>
            <a:ext cx="10378440" cy="329184"/>
          </a:xfrm>
          <a:prstGeom prst="rect">
            <a:avLst/>
          </a:prstGeom>
          <a:noFill/>
          <a:ln/>
        </p:spPr>
        <p:txBody>
          <a:bodyPr wrap="square" lIns="0" tIns="0" rIns="0" bIns="0" rtlCol="0" anchor="ctr"/>
          <a:lstStyle/>
          <a:p>
            <a:pPr marL="0" indent="0">
              <a:lnSpc>
                <a:spcPct val="115000"/>
              </a:lnSpc>
              <a:buNone/>
            </a:pPr>
            <a:r>
              <a:rPr lang="en-US" sz="1100" dirty="0">
                <a:solidFill>
                  <a:srgbClr val="7A3B3B"/>
                </a:solidFill>
                <a:latin typeface="Helvetica" pitchFamily="34" charset="0"/>
                <a:ea typeface="Helvetica" pitchFamily="34" charset="-122"/>
                <a:cs typeface="Helvetica" pitchFamily="34" charset="-120"/>
              </a:rPr>
              <a:t>CTA ambigu — "kunjungi toko kami" tidak jelas apa yang harus dilakukan pembeli</a:t>
            </a:r>
            <a:endParaRPr lang="en-US" sz="1100" dirty="0"/>
          </a:p>
        </p:txBody>
      </p:sp>
      <p:sp>
        <p:nvSpPr>
          <p:cNvPr id="32" name="Text 30"/>
          <p:cNvSpPr/>
          <p:nvPr/>
        </p:nvSpPr>
        <p:spPr>
          <a:xfrm>
            <a:off x="713232" y="5408676"/>
            <a:ext cx="219456" cy="274320"/>
          </a:xfrm>
          <a:prstGeom prst="rect">
            <a:avLst/>
          </a:prstGeom>
          <a:noFill/>
          <a:ln/>
        </p:spPr>
        <p:txBody>
          <a:bodyPr wrap="square" lIns="0" tIns="0" rIns="0" bIns="0" rtlCol="0" anchor="ctr"/>
          <a:lstStyle/>
          <a:p>
            <a:pPr marL="0" indent="0">
              <a:buNone/>
            </a:pPr>
            <a:r>
              <a:rPr lang="en-US" sz="1300" b="1" dirty="0">
                <a:solidFill>
                  <a:srgbClr val="DC2626"/>
                </a:solidFill>
                <a:latin typeface="Helvetica" pitchFamily="34" charset="0"/>
                <a:ea typeface="Helvetica" pitchFamily="34" charset="-122"/>
                <a:cs typeface="Helvetica" pitchFamily="34" charset="-120"/>
              </a:rPr>
              <a:t>×</a:t>
            </a:r>
            <a:endParaRPr lang="en-US" sz="1300" dirty="0"/>
          </a:p>
        </p:txBody>
      </p:sp>
      <p:sp>
        <p:nvSpPr>
          <p:cNvPr id="33" name="Text 31"/>
          <p:cNvSpPr/>
          <p:nvPr/>
        </p:nvSpPr>
        <p:spPr>
          <a:xfrm>
            <a:off x="950976" y="5381244"/>
            <a:ext cx="10378440" cy="329184"/>
          </a:xfrm>
          <a:prstGeom prst="rect">
            <a:avLst/>
          </a:prstGeom>
          <a:noFill/>
          <a:ln/>
        </p:spPr>
        <p:txBody>
          <a:bodyPr wrap="square" lIns="0" tIns="0" rIns="0" bIns="0" rtlCol="0" anchor="ctr"/>
          <a:lstStyle/>
          <a:p>
            <a:pPr marL="0" indent="0">
              <a:lnSpc>
                <a:spcPct val="115000"/>
              </a:lnSpc>
              <a:buNone/>
            </a:pPr>
            <a:r>
              <a:rPr lang="en-US" sz="1100" dirty="0">
                <a:solidFill>
                  <a:srgbClr val="7A3B3B"/>
                </a:solidFill>
                <a:latin typeface="Helvetica" pitchFamily="34" charset="0"/>
                <a:ea typeface="Helvetica" pitchFamily="34" charset="-122"/>
                <a:cs typeface="Helvetica" pitchFamily="34" charset="-120"/>
              </a:rPr>
              <a:t>Desain sibuk dan teks penuh — iklan terbaik punya 1 visual kuat + maks 7 kata headline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txBody>
          <a:bodyPr/>
          <a:lstStyle/>
          <a:p>
            <a:endParaRPr/>
          </a:p>
        </p:txBody>
      </p:sp>
      <p:sp>
        <p:nvSpPr>
          <p:cNvPr id="3" name="Shape 1"/>
          <p:cNvSpPr/>
          <p:nvPr/>
        </p:nvSpPr>
        <p:spPr>
          <a:xfrm>
            <a:off x="0" y="960120"/>
            <a:ext cx="12191695" cy="41148"/>
          </a:xfrm>
          <a:prstGeom prst="rect">
            <a:avLst/>
          </a:prstGeom>
          <a:solidFill>
            <a:srgbClr val="6849F6"/>
          </a:solidFill>
          <a:ln/>
        </p:spPr>
        <p:txBody>
          <a:bodyPr/>
          <a:lstStyle/>
          <a:p>
            <a:endParaRPr/>
          </a:p>
        </p:txBody>
      </p:sp>
      <p:sp>
        <p:nvSpPr>
          <p:cNvPr id="4" name="Text 2"/>
          <p:cNvSpPr/>
          <p:nvPr/>
        </p:nvSpPr>
        <p:spPr>
          <a:xfrm>
            <a:off x="502920" y="256032"/>
            <a:ext cx="3657600" cy="457200"/>
          </a:xfrm>
          <a:prstGeom prst="rect">
            <a:avLst/>
          </a:prstGeom>
          <a:noFill/>
          <a:ln/>
        </p:spPr>
        <p:txBody>
          <a:bodyPr wrap="square" lIns="0" tIns="0" rIns="0" bIns="0" rtlCol="0" anchor="ctr"/>
          <a:lstStyle/>
          <a:p>
            <a:pPr marL="0" indent="0">
              <a:buNone/>
            </a:pPr>
            <a:r>
              <a:rPr lang="en-US" sz="2000" b="1" dirty="0">
                <a:solidFill>
                  <a:srgbClr val="FFFFFF"/>
                </a:solidFill>
                <a:latin typeface="Helvetica" pitchFamily="34" charset="0"/>
                <a:ea typeface="Helvetica" pitchFamily="34" charset="-122"/>
                <a:cs typeface="Helvetica" pitchFamily="34" charset="-120"/>
              </a:rPr>
              <a:t>belajar</a:t>
            </a: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marL="0" indent="0" algn="r">
              <a:buNone/>
            </a:pPr>
            <a:r>
              <a:rPr lang="en-US" sz="1250" dirty="0">
                <a:solidFill>
                  <a:srgbClr val="9AA2B4"/>
                </a:solidFill>
                <a:latin typeface="Helvetica" pitchFamily="34" charset="0"/>
                <a:ea typeface="Helvetica" pitchFamily="34" charset="-122"/>
                <a:cs typeface="Helvetica" pitchFamily="34" charset="-120"/>
              </a:rPr>
              <a:t>Modul 04 — Ads Copywriting Multi-Platform</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marL="0" indent="0">
              <a:buNone/>
            </a:pPr>
            <a:r>
              <a:rPr lang="en-US" sz="1250" b="1" kern="0" spc="40" dirty="0">
                <a:solidFill>
                  <a:srgbClr val="4B36C7"/>
                </a:solidFill>
                <a:latin typeface="Helvetica" pitchFamily="34" charset="0"/>
                <a:ea typeface="Helvetica" pitchFamily="34" charset="-122"/>
                <a:cs typeface="Helvetica" pitchFamily="34" charset="-120"/>
              </a:rPr>
              <a:t>SATU BRIEF, TIGA VARIASI SIAP TES</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marL="0" indent="0">
              <a:buNone/>
            </a:pPr>
            <a:r>
              <a:rPr lang="en-US" sz="2200" b="1" dirty="0">
                <a:solidFill>
                  <a:srgbClr val="0D1321"/>
                </a:solidFill>
                <a:latin typeface="Helvetica" pitchFamily="34" charset="0"/>
                <a:ea typeface="Helvetica" pitchFamily="34" charset="-122"/>
                <a:cs typeface="Helvetica" pitchFamily="34" charset="-120"/>
              </a:rPr>
              <a:t>Contoh Prompt: Buruk vs Baik</a:t>
            </a:r>
            <a:endParaRPr lang="en-US" sz="2200" dirty="0"/>
          </a:p>
        </p:txBody>
      </p:sp>
      <p:sp>
        <p:nvSpPr>
          <p:cNvPr id="8" name="Shape 6"/>
          <p:cNvSpPr/>
          <p:nvPr/>
        </p:nvSpPr>
        <p:spPr>
          <a:xfrm>
            <a:off x="502920" y="2194560"/>
            <a:ext cx="5166360" cy="1783080"/>
          </a:xfrm>
          <a:prstGeom prst="roundRect">
            <a:avLst>
              <a:gd name="adj" fmla="val 6154"/>
            </a:avLst>
          </a:prstGeom>
          <a:solidFill>
            <a:srgbClr val="F4F6FB"/>
          </a:solidFill>
          <a:ln w="12700">
            <a:solidFill>
              <a:srgbClr val="D6DCEB"/>
            </a:solidFill>
            <a:prstDash val="solid"/>
          </a:ln>
        </p:spPr>
        <p:txBody>
          <a:bodyPr/>
          <a:lstStyle/>
          <a:p>
            <a:endParaRPr/>
          </a:p>
        </p:txBody>
      </p:sp>
      <p:sp>
        <p:nvSpPr>
          <p:cNvPr id="9" name="Text 7"/>
          <p:cNvSpPr/>
          <p:nvPr/>
        </p:nvSpPr>
        <p:spPr>
          <a:xfrm>
            <a:off x="704088" y="2395728"/>
            <a:ext cx="4764024" cy="274320"/>
          </a:xfrm>
          <a:prstGeom prst="rect">
            <a:avLst/>
          </a:prstGeom>
          <a:noFill/>
          <a:ln/>
        </p:spPr>
        <p:txBody>
          <a:bodyPr wrap="square" lIns="0" tIns="0" rIns="0" bIns="0" rtlCol="0" anchor="ctr"/>
          <a:lstStyle/>
          <a:p>
            <a:pPr marL="0" indent="0">
              <a:buNone/>
            </a:pPr>
            <a:r>
              <a:rPr lang="en-US" sz="1200" b="1" dirty="0">
                <a:solidFill>
                  <a:srgbClr val="6B7280"/>
                </a:solidFill>
                <a:latin typeface="Helvetica" pitchFamily="34" charset="0"/>
                <a:ea typeface="Helvetica" pitchFamily="34" charset="-122"/>
                <a:cs typeface="Helvetica" pitchFamily="34" charset="-120"/>
              </a:rPr>
              <a:t>PROMPT BURUK</a:t>
            </a:r>
            <a:endParaRPr lang="en-US" sz="1200" dirty="0"/>
          </a:p>
        </p:txBody>
      </p:sp>
      <p:sp>
        <p:nvSpPr>
          <p:cNvPr id="10" name="Text 8"/>
          <p:cNvSpPr/>
          <p:nvPr/>
        </p:nvSpPr>
        <p:spPr>
          <a:xfrm>
            <a:off x="704088" y="2761488"/>
            <a:ext cx="4764024" cy="365760"/>
          </a:xfrm>
          <a:prstGeom prst="rect">
            <a:avLst/>
          </a:prstGeom>
          <a:noFill/>
          <a:ln/>
        </p:spPr>
        <p:txBody>
          <a:bodyPr wrap="square" lIns="0" tIns="0" rIns="0" bIns="0" rtlCol="0" anchor="ctr"/>
          <a:lstStyle/>
          <a:p>
            <a:pPr marL="0" indent="0">
              <a:lnSpc>
                <a:spcPct val="130000"/>
              </a:lnSpc>
              <a:buNone/>
            </a:pPr>
            <a:r>
              <a:rPr lang="en-US" sz="1350" i="1" dirty="0">
                <a:solidFill>
                  <a:srgbClr val="23283A"/>
                </a:solidFill>
                <a:latin typeface="Helvetica" pitchFamily="34" charset="0"/>
                <a:ea typeface="Helvetica" pitchFamily="34" charset="-122"/>
                <a:cs typeface="Helvetica" pitchFamily="34" charset="-120"/>
              </a:rPr>
              <a:t>"Buatkan copy iklan untuk frozen rendang saya"</a:t>
            </a:r>
            <a:endParaRPr lang="en-US" sz="1350" dirty="0"/>
          </a:p>
        </p:txBody>
      </p:sp>
      <p:sp>
        <p:nvSpPr>
          <p:cNvPr id="11" name="Text 9"/>
          <p:cNvSpPr/>
          <p:nvPr/>
        </p:nvSpPr>
        <p:spPr>
          <a:xfrm>
            <a:off x="704088" y="3337560"/>
            <a:ext cx="4764024" cy="548640"/>
          </a:xfrm>
          <a:prstGeom prst="rect">
            <a:avLst/>
          </a:prstGeom>
          <a:noFill/>
          <a:ln/>
        </p:spPr>
        <p:txBody>
          <a:bodyPr wrap="square" lIns="0" tIns="0" rIns="0" bIns="0" rtlCol="0" anchor="ctr"/>
          <a:lstStyle/>
          <a:p>
            <a:pPr marL="0" indent="0">
              <a:lnSpc>
                <a:spcPct val="125000"/>
              </a:lnSpc>
              <a:buNone/>
            </a:pPr>
            <a:r>
              <a:rPr lang="en-US" sz="1150" dirty="0">
                <a:solidFill>
                  <a:srgbClr val="6B7280"/>
                </a:solidFill>
                <a:latin typeface="Helvetica" pitchFamily="34" charset="0"/>
                <a:ea typeface="Helvetica" pitchFamily="34" charset="-122"/>
                <a:cs typeface="Helvetica" pitchFamily="34" charset="-120"/>
              </a:rPr>
              <a:t>Masalah: Claude tidak tahu tujuan, platform, target, promo. Hasilnya tidak bisa langsung dipakai.</a:t>
            </a:r>
            <a:endParaRPr lang="en-US" sz="1150" dirty="0"/>
          </a:p>
        </p:txBody>
      </p:sp>
      <p:sp>
        <p:nvSpPr>
          <p:cNvPr id="12" name="Shape 10"/>
          <p:cNvSpPr/>
          <p:nvPr/>
        </p:nvSpPr>
        <p:spPr>
          <a:xfrm>
            <a:off x="6172200" y="2194559"/>
            <a:ext cx="5166360" cy="2670049"/>
          </a:xfrm>
          <a:prstGeom prst="roundRect">
            <a:avLst>
              <a:gd name="adj" fmla="val 4444"/>
            </a:avLst>
          </a:prstGeom>
          <a:solidFill>
            <a:srgbClr val="F3F0FF"/>
          </a:solidFill>
          <a:ln w="12700">
            <a:solidFill>
              <a:srgbClr val="DCD3FB"/>
            </a:solidFill>
            <a:prstDash val="solid"/>
          </a:ln>
        </p:spPr>
        <p:txBody>
          <a:bodyPr/>
          <a:lstStyle/>
          <a:p>
            <a:endParaRPr/>
          </a:p>
        </p:txBody>
      </p:sp>
      <p:sp>
        <p:nvSpPr>
          <p:cNvPr id="13" name="Text 11"/>
          <p:cNvSpPr/>
          <p:nvPr/>
        </p:nvSpPr>
        <p:spPr>
          <a:xfrm>
            <a:off x="6373368" y="2395728"/>
            <a:ext cx="4764024" cy="274320"/>
          </a:xfrm>
          <a:prstGeom prst="rect">
            <a:avLst/>
          </a:prstGeom>
          <a:noFill/>
          <a:ln/>
        </p:spPr>
        <p:txBody>
          <a:bodyPr wrap="square" lIns="0" tIns="0" rIns="0" bIns="0" rtlCol="0" anchor="ctr"/>
          <a:lstStyle/>
          <a:p>
            <a:pPr marL="0" indent="0">
              <a:buNone/>
            </a:pPr>
            <a:r>
              <a:rPr lang="en-US" sz="1200" b="1" dirty="0">
                <a:solidFill>
                  <a:srgbClr val="4B36C7"/>
                </a:solidFill>
                <a:latin typeface="Helvetica" pitchFamily="34" charset="0"/>
                <a:ea typeface="Helvetica" pitchFamily="34" charset="-122"/>
                <a:cs typeface="Helvetica" pitchFamily="34" charset="-120"/>
              </a:rPr>
              <a:t>PROMPT BAIK</a:t>
            </a:r>
            <a:endParaRPr lang="en-US" sz="1200" dirty="0"/>
          </a:p>
        </p:txBody>
      </p:sp>
      <p:sp>
        <p:nvSpPr>
          <p:cNvPr id="14" name="Text 12"/>
          <p:cNvSpPr/>
          <p:nvPr/>
        </p:nvSpPr>
        <p:spPr>
          <a:xfrm>
            <a:off x="6373368" y="2743200"/>
            <a:ext cx="4764024" cy="1417320"/>
          </a:xfrm>
          <a:prstGeom prst="rect">
            <a:avLst/>
          </a:prstGeom>
          <a:noFill/>
          <a:ln/>
        </p:spPr>
        <p:txBody>
          <a:bodyPr wrap="square" lIns="0" tIns="0" rIns="0" bIns="0" rtlCol="0" anchor="ctr"/>
          <a:lstStyle/>
          <a:p>
            <a:pPr marL="0" indent="0">
              <a:lnSpc>
                <a:spcPct val="125000"/>
              </a:lnSpc>
              <a:buNone/>
            </a:pPr>
            <a:r>
              <a:rPr lang="en-US" sz="1200" i="1" dirty="0">
                <a:solidFill>
                  <a:srgbClr val="23283A"/>
                </a:solidFill>
                <a:latin typeface="Helvetica" pitchFamily="34" charset="0"/>
                <a:ea typeface="Helvetica" pitchFamily="34" charset="-122"/>
                <a:cs typeface="Helvetica" pitchFamily="34" charset="-120"/>
              </a:rPr>
              <a:t>"Buat 3 variasi copy iklan Meta Ads untuk Flash Sale Frozen Rendang Sapi, diskon 30%, stok 50 pcs, Sabtu-Minggu. Target: ibu rumah tangga 28-40 di Jabodetabek. Format: headline (maks 7 kata) + body (maks 30 kata) + CTA. Variasi tone: urgensi, emosional, fungsional."</a:t>
            </a:r>
            <a:endParaRPr lang="en-US" sz="1200" dirty="0"/>
          </a:p>
        </p:txBody>
      </p:sp>
      <p:sp>
        <p:nvSpPr>
          <p:cNvPr id="15" name="Text 13"/>
          <p:cNvSpPr/>
          <p:nvPr/>
        </p:nvSpPr>
        <p:spPr>
          <a:xfrm>
            <a:off x="6373368" y="4206240"/>
            <a:ext cx="4764024" cy="411480"/>
          </a:xfrm>
          <a:prstGeom prst="rect">
            <a:avLst/>
          </a:prstGeom>
          <a:noFill/>
          <a:ln/>
        </p:spPr>
        <p:txBody>
          <a:bodyPr wrap="square" lIns="0" tIns="0" rIns="0" bIns="0" rtlCol="0" anchor="ctr"/>
          <a:lstStyle/>
          <a:p>
            <a:pPr marL="0" indent="0">
              <a:lnSpc>
                <a:spcPct val="125000"/>
              </a:lnSpc>
              <a:buNone/>
            </a:pPr>
            <a:r>
              <a:rPr lang="en-US" sz="1150" dirty="0">
                <a:solidFill>
                  <a:srgbClr val="6B7280"/>
                </a:solidFill>
                <a:latin typeface="Helvetica" pitchFamily="34" charset="0"/>
                <a:ea typeface="Helvetica" pitchFamily="34" charset="-122"/>
                <a:cs typeface="Helvetica" pitchFamily="34" charset="-120"/>
              </a:rPr>
              <a:t>Kenapa berhasil: 3 variasi siap langsung ditest — tinggal pilih mana untuk A/B test.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txBody>
          <a:bodyPr/>
          <a:lstStyle/>
          <a:p>
            <a:endParaRPr/>
          </a:p>
        </p:txBody>
      </p:sp>
      <p:sp>
        <p:nvSpPr>
          <p:cNvPr id="3" name="Shape 1"/>
          <p:cNvSpPr/>
          <p:nvPr/>
        </p:nvSpPr>
        <p:spPr>
          <a:xfrm>
            <a:off x="0" y="960120"/>
            <a:ext cx="12191695" cy="41148"/>
          </a:xfrm>
          <a:prstGeom prst="rect">
            <a:avLst/>
          </a:prstGeom>
          <a:solidFill>
            <a:srgbClr val="6849F6"/>
          </a:solidFill>
          <a:ln/>
        </p:spPr>
        <p:txBody>
          <a:bodyPr/>
          <a:lstStyle/>
          <a:p>
            <a:endParaRPr/>
          </a:p>
        </p:txBody>
      </p:sp>
      <p:sp>
        <p:nvSpPr>
          <p:cNvPr id="4" name="Text 2"/>
          <p:cNvSpPr/>
          <p:nvPr/>
        </p:nvSpPr>
        <p:spPr>
          <a:xfrm>
            <a:off x="502920" y="256032"/>
            <a:ext cx="3657600" cy="457200"/>
          </a:xfrm>
          <a:prstGeom prst="rect">
            <a:avLst/>
          </a:prstGeom>
          <a:noFill/>
          <a:ln/>
        </p:spPr>
        <p:txBody>
          <a:bodyPr wrap="square" lIns="0" tIns="0" rIns="0" bIns="0" rtlCol="0" anchor="ctr"/>
          <a:lstStyle/>
          <a:p>
            <a:pPr marL="0" indent="0">
              <a:buNone/>
            </a:pPr>
            <a:r>
              <a:rPr lang="en-US" sz="2000" b="1" dirty="0">
                <a:solidFill>
                  <a:srgbClr val="FFFFFF"/>
                </a:solidFill>
                <a:latin typeface="Helvetica" pitchFamily="34" charset="0"/>
                <a:ea typeface="Helvetica" pitchFamily="34" charset="-122"/>
                <a:cs typeface="Helvetica" pitchFamily="34" charset="-120"/>
              </a:rPr>
              <a:t>belajar</a:t>
            </a: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marL="0" indent="0" algn="r">
              <a:buNone/>
            </a:pPr>
            <a:r>
              <a:rPr lang="en-US" sz="1250" dirty="0">
                <a:solidFill>
                  <a:srgbClr val="9AA2B4"/>
                </a:solidFill>
                <a:latin typeface="Helvetica" pitchFamily="34" charset="0"/>
                <a:ea typeface="Helvetica" pitchFamily="34" charset="-122"/>
                <a:cs typeface="Helvetica" pitchFamily="34" charset="-120"/>
              </a:rPr>
              <a:t>Modul 04 — Ads Copywriting Multi-Platform</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marL="0" indent="0">
              <a:buNone/>
            </a:pPr>
            <a:r>
              <a:rPr lang="en-US" sz="1250" b="1" kern="0" spc="40" dirty="0">
                <a:solidFill>
                  <a:srgbClr val="4B36C7"/>
                </a:solidFill>
                <a:latin typeface="Helvetica" pitchFamily="34" charset="0"/>
                <a:ea typeface="Helvetica" pitchFamily="34" charset="-122"/>
                <a:cs typeface="Helvetica" pitchFamily="34" charset="-120"/>
              </a:rPr>
              <a:t>DARI BRIEF KE IKLAN YANG BERJALAN</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marL="0" indent="0">
              <a:buNone/>
            </a:pPr>
            <a:r>
              <a:rPr lang="en-US" sz="2200" b="1" dirty="0">
                <a:solidFill>
                  <a:srgbClr val="0D1321"/>
                </a:solidFill>
                <a:latin typeface="Helvetica" pitchFamily="34" charset="0"/>
                <a:ea typeface="Helvetica" pitchFamily="34" charset="-122"/>
                <a:cs typeface="Helvetica" pitchFamily="34" charset="-120"/>
              </a:rPr>
              <a:t>Cara Kerja</a:t>
            </a:r>
            <a:endParaRPr lang="en-US" sz="2200" dirty="0"/>
          </a:p>
        </p:txBody>
      </p:sp>
      <p:sp>
        <p:nvSpPr>
          <p:cNvPr id="8" name="Shape 6"/>
          <p:cNvSpPr/>
          <p:nvPr/>
        </p:nvSpPr>
        <p:spPr>
          <a:xfrm>
            <a:off x="548640" y="2194560"/>
            <a:ext cx="329184" cy="329184"/>
          </a:xfrm>
          <a:prstGeom prst="ellipse">
            <a:avLst/>
          </a:prstGeom>
          <a:solidFill>
            <a:srgbClr val="6849F6"/>
          </a:solidFill>
          <a:ln/>
        </p:spPr>
        <p:txBody>
          <a:bodyPr/>
          <a:lstStyle/>
          <a:p>
            <a:endParaRPr/>
          </a:p>
        </p:txBody>
      </p:sp>
      <p:sp>
        <p:nvSpPr>
          <p:cNvPr id="9" name="Text 7"/>
          <p:cNvSpPr/>
          <p:nvPr/>
        </p:nvSpPr>
        <p:spPr>
          <a:xfrm>
            <a:off x="548640" y="21945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Helvetica" pitchFamily="34" charset="0"/>
                <a:ea typeface="Helvetica" pitchFamily="34" charset="-122"/>
                <a:cs typeface="Helvetica" pitchFamily="34" charset="-120"/>
              </a:rPr>
              <a:t>1</a:t>
            </a:r>
            <a:endParaRPr lang="en-US" sz="1300" dirty="0"/>
          </a:p>
        </p:txBody>
      </p:sp>
      <p:sp>
        <p:nvSpPr>
          <p:cNvPr id="10" name="Text 8"/>
          <p:cNvSpPr/>
          <p:nvPr/>
        </p:nvSpPr>
        <p:spPr>
          <a:xfrm>
            <a:off x="1024128" y="2108072"/>
            <a:ext cx="10607040" cy="548640"/>
          </a:xfrm>
          <a:prstGeom prst="rect">
            <a:avLst/>
          </a:prstGeom>
          <a:noFill/>
          <a:ln/>
        </p:spPr>
        <p:txBody>
          <a:bodyPr wrap="square" lIns="0" tIns="0" rIns="0" bIns="0" rtlCol="0" anchor="ctr"/>
          <a:lstStyle/>
          <a:p>
            <a:pPr marL="0" indent="0">
              <a:lnSpc>
                <a:spcPct val="120000"/>
              </a:lnSpc>
              <a:buNone/>
            </a:pPr>
            <a:r>
              <a:rPr lang="en-US" sz="1300" b="1" dirty="0">
                <a:solidFill>
                  <a:srgbClr val="0D1321"/>
                </a:solidFill>
                <a:latin typeface="Helvetica" pitchFamily="34" charset="0"/>
                <a:ea typeface="Helvetica" pitchFamily="34" charset="-122"/>
                <a:cs typeface="Helvetica" pitchFamily="34" charset="-120"/>
              </a:rPr>
              <a:t>Generate 3 Variasi Copy — </a:t>
            </a:r>
            <a:r>
              <a:rPr lang="en-US" sz="1300" dirty="0">
                <a:solidFill>
                  <a:srgbClr val="23283A"/>
                </a:solidFill>
                <a:latin typeface="Helvetica" pitchFamily="34" charset="0"/>
                <a:ea typeface="Helvetica" pitchFamily="34" charset="-122"/>
                <a:cs typeface="Helvetica" pitchFamily="34" charset="-120"/>
              </a:rPr>
              <a:t>sesuai framework, platform + target + promo, plus targeting brief</a:t>
            </a:r>
            <a:endParaRPr lang="en-US" sz="1300" dirty="0"/>
          </a:p>
        </p:txBody>
      </p:sp>
      <p:sp>
        <p:nvSpPr>
          <p:cNvPr id="11" name="Shape 9"/>
          <p:cNvSpPr/>
          <p:nvPr/>
        </p:nvSpPr>
        <p:spPr>
          <a:xfrm>
            <a:off x="548640" y="2816352"/>
            <a:ext cx="329184" cy="329184"/>
          </a:xfrm>
          <a:prstGeom prst="ellipse">
            <a:avLst/>
          </a:prstGeom>
          <a:solidFill>
            <a:srgbClr val="6849F6"/>
          </a:solidFill>
          <a:ln/>
        </p:spPr>
        <p:txBody>
          <a:bodyPr/>
          <a:lstStyle/>
          <a:p>
            <a:endParaRPr/>
          </a:p>
        </p:txBody>
      </p:sp>
      <p:sp>
        <p:nvSpPr>
          <p:cNvPr id="12" name="Text 10"/>
          <p:cNvSpPr/>
          <p:nvPr/>
        </p:nvSpPr>
        <p:spPr>
          <a:xfrm>
            <a:off x="548640" y="281635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Helvetica" pitchFamily="34" charset="0"/>
                <a:ea typeface="Helvetica" pitchFamily="34" charset="-122"/>
                <a:cs typeface="Helvetica" pitchFamily="34" charset="-120"/>
              </a:rPr>
              <a:t>2</a:t>
            </a:r>
            <a:endParaRPr lang="en-US" sz="1300" dirty="0"/>
          </a:p>
        </p:txBody>
      </p:sp>
      <p:sp>
        <p:nvSpPr>
          <p:cNvPr id="13" name="Text 11"/>
          <p:cNvSpPr/>
          <p:nvPr/>
        </p:nvSpPr>
        <p:spPr>
          <a:xfrm>
            <a:off x="1024128" y="2729864"/>
            <a:ext cx="10607040" cy="548640"/>
          </a:xfrm>
          <a:prstGeom prst="rect">
            <a:avLst/>
          </a:prstGeom>
          <a:noFill/>
          <a:ln/>
        </p:spPr>
        <p:txBody>
          <a:bodyPr wrap="square" lIns="0" tIns="0" rIns="0" bIns="0" rtlCol="0" anchor="ctr"/>
          <a:lstStyle/>
          <a:p>
            <a:pPr marL="0" indent="0">
              <a:lnSpc>
                <a:spcPct val="120000"/>
              </a:lnSpc>
              <a:buNone/>
            </a:pPr>
            <a:r>
              <a:rPr lang="en-US" sz="1300" b="1" dirty="0">
                <a:solidFill>
                  <a:srgbClr val="0D1321"/>
                </a:solidFill>
                <a:latin typeface="Helvetica" pitchFamily="34" charset="0"/>
                <a:ea typeface="Helvetica" pitchFamily="34" charset="-122"/>
                <a:cs typeface="Helvetica" pitchFamily="34" charset="-120"/>
              </a:rPr>
              <a:t>Pilih &amp; Buat Desain — </a:t>
            </a:r>
            <a:r>
              <a:rPr lang="en-US" sz="1300" dirty="0">
                <a:solidFill>
                  <a:srgbClr val="23283A"/>
                </a:solidFill>
                <a:latin typeface="Helvetica" pitchFamily="34" charset="0"/>
                <a:ea typeface="Helvetica" pitchFamily="34" charset="-122"/>
                <a:cs typeface="Helvetica" pitchFamily="34" charset="-120"/>
              </a:rPr>
              <a:t>pilih variasi terbaik, buat desainnya (Canva Connector kalau aktif, atau tool lain)</a:t>
            </a:r>
            <a:endParaRPr lang="en-US" sz="1300" dirty="0"/>
          </a:p>
        </p:txBody>
      </p:sp>
      <p:sp>
        <p:nvSpPr>
          <p:cNvPr id="14" name="Shape 12"/>
          <p:cNvSpPr/>
          <p:nvPr/>
        </p:nvSpPr>
        <p:spPr>
          <a:xfrm>
            <a:off x="548640" y="3438144"/>
            <a:ext cx="329184" cy="329184"/>
          </a:xfrm>
          <a:prstGeom prst="ellipse">
            <a:avLst/>
          </a:prstGeom>
          <a:solidFill>
            <a:srgbClr val="6849F6"/>
          </a:solidFill>
          <a:ln/>
        </p:spPr>
        <p:txBody>
          <a:bodyPr/>
          <a:lstStyle/>
          <a:p>
            <a:endParaRPr/>
          </a:p>
        </p:txBody>
      </p:sp>
      <p:sp>
        <p:nvSpPr>
          <p:cNvPr id="15" name="Text 13"/>
          <p:cNvSpPr/>
          <p:nvPr/>
        </p:nvSpPr>
        <p:spPr>
          <a:xfrm>
            <a:off x="548640" y="343814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Helvetica" pitchFamily="34" charset="0"/>
                <a:ea typeface="Helvetica" pitchFamily="34" charset="-122"/>
                <a:cs typeface="Helvetica" pitchFamily="34" charset="-120"/>
              </a:rPr>
              <a:t>3</a:t>
            </a:r>
            <a:endParaRPr lang="en-US" sz="1300" dirty="0"/>
          </a:p>
        </p:txBody>
      </p:sp>
      <p:sp>
        <p:nvSpPr>
          <p:cNvPr id="16" name="Text 14"/>
          <p:cNvSpPr/>
          <p:nvPr/>
        </p:nvSpPr>
        <p:spPr>
          <a:xfrm>
            <a:off x="1024128" y="3351656"/>
            <a:ext cx="10607040" cy="548640"/>
          </a:xfrm>
          <a:prstGeom prst="rect">
            <a:avLst/>
          </a:prstGeom>
          <a:noFill/>
          <a:ln/>
        </p:spPr>
        <p:txBody>
          <a:bodyPr wrap="square" lIns="0" tIns="0" rIns="0" bIns="0" rtlCol="0" anchor="ctr"/>
          <a:lstStyle/>
          <a:p>
            <a:pPr marL="0" indent="0">
              <a:lnSpc>
                <a:spcPct val="120000"/>
              </a:lnSpc>
              <a:buNone/>
            </a:pPr>
            <a:r>
              <a:rPr lang="en-US" sz="1300" b="1" dirty="0">
                <a:solidFill>
                  <a:srgbClr val="0D1321"/>
                </a:solidFill>
                <a:latin typeface="Helvetica" pitchFamily="34" charset="0"/>
                <a:ea typeface="Helvetica" pitchFamily="34" charset="-122"/>
                <a:cs typeface="Helvetica" pitchFamily="34" charset="-120"/>
              </a:rPr>
              <a:t>Rakit di Ads Manager — </a:t>
            </a:r>
            <a:r>
              <a:rPr lang="en-US" sz="1300" dirty="0">
                <a:solidFill>
                  <a:srgbClr val="23283A"/>
                </a:solidFill>
                <a:latin typeface="Helvetica" pitchFamily="34" charset="0"/>
                <a:ea typeface="Helvetica" pitchFamily="34" charset="-122"/>
                <a:cs typeface="Helvetica" pitchFamily="34" charset="-120"/>
              </a:rPr>
              <a:t>upload desain sebagai creative, tempel copy &amp; targeting brief dari atas</a:t>
            </a:r>
            <a:endParaRPr lang="en-US" sz="1300" dirty="0"/>
          </a:p>
        </p:txBody>
      </p:sp>
      <p:sp>
        <p:nvSpPr>
          <p:cNvPr id="17" name="Shape 15"/>
          <p:cNvSpPr/>
          <p:nvPr/>
        </p:nvSpPr>
        <p:spPr>
          <a:xfrm>
            <a:off x="548640" y="4059936"/>
            <a:ext cx="329184" cy="329184"/>
          </a:xfrm>
          <a:prstGeom prst="ellipse">
            <a:avLst/>
          </a:prstGeom>
          <a:solidFill>
            <a:srgbClr val="6849F6"/>
          </a:solidFill>
          <a:ln/>
        </p:spPr>
        <p:txBody>
          <a:bodyPr/>
          <a:lstStyle/>
          <a:p>
            <a:endParaRPr/>
          </a:p>
        </p:txBody>
      </p:sp>
      <p:sp>
        <p:nvSpPr>
          <p:cNvPr id="18" name="Text 16"/>
          <p:cNvSpPr/>
          <p:nvPr/>
        </p:nvSpPr>
        <p:spPr>
          <a:xfrm>
            <a:off x="548640" y="405993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Helvetica" pitchFamily="34" charset="0"/>
                <a:ea typeface="Helvetica" pitchFamily="34" charset="-122"/>
                <a:cs typeface="Helvetica" pitchFamily="34" charset="-120"/>
              </a:rPr>
              <a:t>4</a:t>
            </a:r>
            <a:endParaRPr lang="en-US" sz="1300" dirty="0"/>
          </a:p>
        </p:txBody>
      </p:sp>
      <p:sp>
        <p:nvSpPr>
          <p:cNvPr id="19" name="Text 17"/>
          <p:cNvSpPr/>
          <p:nvPr/>
        </p:nvSpPr>
        <p:spPr>
          <a:xfrm>
            <a:off x="1024128" y="3973448"/>
            <a:ext cx="10607040" cy="548640"/>
          </a:xfrm>
          <a:prstGeom prst="rect">
            <a:avLst/>
          </a:prstGeom>
          <a:noFill/>
          <a:ln/>
        </p:spPr>
        <p:txBody>
          <a:bodyPr wrap="square" lIns="0" tIns="0" rIns="0" bIns="0" rtlCol="0" anchor="ctr"/>
          <a:lstStyle/>
          <a:p>
            <a:pPr marL="0" indent="0">
              <a:lnSpc>
                <a:spcPct val="120000"/>
              </a:lnSpc>
              <a:buNone/>
            </a:pPr>
            <a:r>
              <a:rPr lang="en-US" sz="1300" b="1" dirty="0">
                <a:solidFill>
                  <a:srgbClr val="0D1321"/>
                </a:solidFill>
                <a:latin typeface="Helvetica" pitchFamily="34" charset="0"/>
                <a:ea typeface="Helvetica" pitchFamily="34" charset="-122"/>
                <a:cs typeface="Helvetica" pitchFamily="34" charset="-120"/>
              </a:rPr>
              <a:t>Download &amp; Test — </a:t>
            </a:r>
            <a:r>
              <a:rPr lang="en-US" sz="1300" dirty="0">
                <a:solidFill>
                  <a:srgbClr val="23283A"/>
                </a:solidFill>
                <a:latin typeface="Helvetica" pitchFamily="34" charset="0"/>
                <a:ea typeface="Helvetica" pitchFamily="34" charset="-122"/>
                <a:cs typeface="Helvetica" pitchFamily="34" charset="-120"/>
              </a:rPr>
              <a:t>jalankan A/B test 3 hari, track CTR dan ROAS</a:t>
            </a:r>
            <a:endParaRPr lang="en-US" sz="1300" dirty="0"/>
          </a:p>
        </p:txBody>
      </p:sp>
      <p:sp>
        <p:nvSpPr>
          <p:cNvPr id="20" name="Shape 18"/>
          <p:cNvSpPr/>
          <p:nvPr/>
        </p:nvSpPr>
        <p:spPr>
          <a:xfrm>
            <a:off x="502920" y="4818888"/>
            <a:ext cx="11064240" cy="868680"/>
          </a:xfrm>
          <a:prstGeom prst="roundRect">
            <a:avLst>
              <a:gd name="adj" fmla="val 10526"/>
            </a:avLst>
          </a:prstGeom>
          <a:solidFill>
            <a:srgbClr val="F3F0FF"/>
          </a:solidFill>
          <a:ln w="12700">
            <a:solidFill>
              <a:srgbClr val="DCD3FB"/>
            </a:solidFill>
            <a:prstDash val="solid"/>
          </a:ln>
        </p:spPr>
        <p:txBody>
          <a:bodyPr/>
          <a:lstStyle/>
          <a:p>
            <a:endParaRPr/>
          </a:p>
        </p:txBody>
      </p:sp>
      <p:sp>
        <p:nvSpPr>
          <p:cNvPr id="21" name="Text 19"/>
          <p:cNvSpPr/>
          <p:nvPr/>
        </p:nvSpPr>
        <p:spPr>
          <a:xfrm>
            <a:off x="713232" y="4818888"/>
            <a:ext cx="10643616" cy="868680"/>
          </a:xfrm>
          <a:prstGeom prst="rect">
            <a:avLst/>
          </a:prstGeom>
          <a:noFill/>
          <a:ln/>
        </p:spPr>
        <p:txBody>
          <a:bodyPr wrap="square" lIns="0" tIns="0" rIns="0" bIns="0" rtlCol="0" anchor="ctr"/>
          <a:lstStyle/>
          <a:p>
            <a:pPr marL="0" indent="0">
              <a:lnSpc>
                <a:spcPct val="120000"/>
              </a:lnSpc>
              <a:buNone/>
            </a:pPr>
            <a:r>
              <a:rPr lang="en-US" sz="1250" b="1" dirty="0">
                <a:solidFill>
                  <a:srgbClr val="4B36C7"/>
                </a:solidFill>
                <a:latin typeface="Helvetica" pitchFamily="34" charset="0"/>
                <a:ea typeface="Helvetica" pitchFamily="34" charset="-122"/>
                <a:cs typeface="Helvetica" pitchFamily="34" charset="-120"/>
              </a:rPr>
              <a:t>◆  OPSIONAL: CANVA CONNECTOR DARI MODUL 3?  </a:t>
            </a:r>
            <a:r>
              <a:rPr lang="en-US" sz="1250" dirty="0">
                <a:solidFill>
                  <a:srgbClr val="23283A"/>
                </a:solidFill>
                <a:latin typeface="Helvetica" pitchFamily="34" charset="0"/>
                <a:ea typeface="Helvetica" pitchFamily="34" charset="-122"/>
                <a:cs typeface="Helvetica" pitchFamily="34" charset="-120"/>
              </a:rPr>
              <a:t>Kalau aktif, Langkah 2 berjalan otomatis di Canva — kalau tidak, pakai brief yang sama untuk desain manual di tool lain.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txBody>
          <a:bodyPr/>
          <a:lstStyle/>
          <a:p>
            <a:endParaRPr/>
          </a:p>
        </p:txBody>
      </p:sp>
      <p:sp>
        <p:nvSpPr>
          <p:cNvPr id="3" name="Shape 1"/>
          <p:cNvSpPr/>
          <p:nvPr/>
        </p:nvSpPr>
        <p:spPr>
          <a:xfrm>
            <a:off x="0" y="960120"/>
            <a:ext cx="12191695" cy="41148"/>
          </a:xfrm>
          <a:prstGeom prst="rect">
            <a:avLst/>
          </a:prstGeom>
          <a:solidFill>
            <a:srgbClr val="6849F6"/>
          </a:solidFill>
          <a:ln/>
        </p:spPr>
        <p:txBody>
          <a:bodyPr/>
          <a:lstStyle/>
          <a:p>
            <a:endParaRPr/>
          </a:p>
        </p:txBody>
      </p:sp>
      <p:sp>
        <p:nvSpPr>
          <p:cNvPr id="4" name="Text 2"/>
          <p:cNvSpPr/>
          <p:nvPr/>
        </p:nvSpPr>
        <p:spPr>
          <a:xfrm>
            <a:off x="502920" y="256032"/>
            <a:ext cx="3657600" cy="457200"/>
          </a:xfrm>
          <a:prstGeom prst="rect">
            <a:avLst/>
          </a:prstGeom>
          <a:noFill/>
          <a:ln/>
        </p:spPr>
        <p:txBody>
          <a:bodyPr wrap="square" lIns="0" tIns="0" rIns="0" bIns="0" rtlCol="0" anchor="ctr"/>
          <a:lstStyle/>
          <a:p>
            <a:pPr marL="0" indent="0">
              <a:buNone/>
            </a:pPr>
            <a:r>
              <a:rPr lang="en-US" sz="2000" b="1" dirty="0">
                <a:solidFill>
                  <a:srgbClr val="FFFFFF"/>
                </a:solidFill>
                <a:latin typeface="Helvetica" pitchFamily="34" charset="0"/>
                <a:ea typeface="Helvetica" pitchFamily="34" charset="-122"/>
                <a:cs typeface="Helvetica" pitchFamily="34" charset="-120"/>
              </a:rPr>
              <a:t>belajar</a:t>
            </a: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marL="0" indent="0" algn="r">
              <a:buNone/>
            </a:pPr>
            <a:r>
              <a:rPr lang="en-US" sz="1250" dirty="0">
                <a:solidFill>
                  <a:srgbClr val="9AA2B4"/>
                </a:solidFill>
                <a:latin typeface="Helvetica" pitchFamily="34" charset="0"/>
                <a:ea typeface="Helvetica" pitchFamily="34" charset="-122"/>
                <a:cs typeface="Helvetica" pitchFamily="34" charset="-120"/>
              </a:rPr>
              <a:t>Modul 04 — Ads Copywriting Multi-Platform</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marL="0" indent="0">
              <a:buNone/>
            </a:pPr>
            <a:r>
              <a:rPr lang="en-US" sz="1250" b="1" kern="0" spc="40" dirty="0">
                <a:solidFill>
                  <a:srgbClr val="4B36C7"/>
                </a:solidFill>
                <a:latin typeface="Helvetica" pitchFamily="34" charset="0"/>
                <a:ea typeface="Helvetica" pitchFamily="34" charset="-122"/>
                <a:cs typeface="Helvetica" pitchFamily="34" charset="-120"/>
              </a:rPr>
              <a:t>BUKAN COPY-PASTE YANG SAMA DI SEMUA TEMPAT</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marL="0" indent="0">
              <a:buNone/>
            </a:pPr>
            <a:r>
              <a:rPr lang="en-US" sz="2200" b="1" dirty="0">
                <a:solidFill>
                  <a:srgbClr val="0D1321"/>
                </a:solidFill>
                <a:latin typeface="Helvetica" pitchFamily="34" charset="0"/>
                <a:ea typeface="Helvetica" pitchFamily="34" charset="-122"/>
                <a:cs typeface="Helvetica" pitchFamily="34" charset="-120"/>
              </a:rPr>
              <a:t>Copy Beda Platform, Bukan Copy Sama</a:t>
            </a:r>
            <a:endParaRPr lang="en-US" sz="2200" dirty="0"/>
          </a:p>
        </p:txBody>
      </p:sp>
      <p:sp>
        <p:nvSpPr>
          <p:cNvPr id="8" name="Text 6"/>
          <p:cNvSpPr/>
          <p:nvPr/>
        </p:nvSpPr>
        <p:spPr>
          <a:xfrm>
            <a:off x="502920" y="2048256"/>
            <a:ext cx="11064240" cy="365760"/>
          </a:xfrm>
          <a:prstGeom prst="rect">
            <a:avLst/>
          </a:prstGeom>
          <a:noFill/>
          <a:ln/>
        </p:spPr>
        <p:txBody>
          <a:bodyPr wrap="square" lIns="0" tIns="0" rIns="0" bIns="0" rtlCol="0" anchor="ctr"/>
          <a:lstStyle/>
          <a:p>
            <a:pPr marL="0" indent="0">
              <a:lnSpc>
                <a:spcPct val="120000"/>
              </a:lnSpc>
              <a:buNone/>
            </a:pPr>
            <a:r>
              <a:rPr lang="en-US" sz="1200" dirty="0">
                <a:solidFill>
                  <a:srgbClr val="6B7280"/>
                </a:solidFill>
                <a:latin typeface="Helvetica" pitchFamily="34" charset="0"/>
                <a:ea typeface="Helvetica" pitchFamily="34" charset="-122"/>
                <a:cs typeface="Helvetica" pitchFamily="34" charset="-120"/>
              </a:rPr>
              <a:t>Meta, TikTok, dan Google Ads punya "bahasa" berbeda — copy yang sama biasanya perform buruk di minimal 2 dari 3. Minta Claude buat ketiganya sekaligus dari 1 brief.</a:t>
            </a:r>
            <a:endParaRPr lang="en-US" sz="1200" dirty="0"/>
          </a:p>
        </p:txBody>
      </p:sp>
      <p:sp>
        <p:nvSpPr>
          <p:cNvPr id="9" name="Shape 7"/>
          <p:cNvSpPr/>
          <p:nvPr/>
        </p:nvSpPr>
        <p:spPr>
          <a:xfrm>
            <a:off x="619400" y="2542032"/>
            <a:ext cx="3529584" cy="2011680"/>
          </a:xfrm>
          <a:prstGeom prst="roundRect">
            <a:avLst>
              <a:gd name="adj" fmla="val 4545"/>
            </a:avLst>
          </a:prstGeom>
          <a:solidFill>
            <a:srgbClr val="F4F6FB"/>
          </a:solidFill>
          <a:ln w="12700">
            <a:solidFill>
              <a:srgbClr val="D6DCEB"/>
            </a:solidFill>
            <a:prstDash val="solid"/>
          </a:ln>
        </p:spPr>
        <p:txBody>
          <a:bodyPr/>
          <a:lstStyle/>
          <a:p>
            <a:endParaRPr/>
          </a:p>
        </p:txBody>
      </p:sp>
      <p:sp>
        <p:nvSpPr>
          <p:cNvPr id="10" name="Shape 8"/>
          <p:cNvSpPr/>
          <p:nvPr/>
        </p:nvSpPr>
        <p:spPr>
          <a:xfrm>
            <a:off x="619400" y="2542032"/>
            <a:ext cx="3529584" cy="73152"/>
          </a:xfrm>
          <a:prstGeom prst="rect">
            <a:avLst/>
          </a:prstGeom>
          <a:solidFill>
            <a:srgbClr val="1877F2"/>
          </a:solidFill>
          <a:ln/>
        </p:spPr>
        <p:txBody>
          <a:bodyPr/>
          <a:lstStyle/>
          <a:p>
            <a:endParaRPr/>
          </a:p>
        </p:txBody>
      </p:sp>
      <p:sp>
        <p:nvSpPr>
          <p:cNvPr id="11" name="Shape 9"/>
          <p:cNvSpPr/>
          <p:nvPr/>
        </p:nvSpPr>
        <p:spPr>
          <a:xfrm>
            <a:off x="765704" y="2724912"/>
            <a:ext cx="868680" cy="256032"/>
          </a:xfrm>
          <a:prstGeom prst="roundRect">
            <a:avLst>
              <a:gd name="adj" fmla="val 17857"/>
            </a:avLst>
          </a:prstGeom>
          <a:solidFill>
            <a:srgbClr val="1877F2"/>
          </a:solidFill>
          <a:ln/>
        </p:spPr>
        <p:txBody>
          <a:bodyPr/>
          <a:lstStyle/>
          <a:p>
            <a:endParaRPr/>
          </a:p>
        </p:txBody>
      </p:sp>
      <p:sp>
        <p:nvSpPr>
          <p:cNvPr id="12" name="Text 10"/>
          <p:cNvSpPr/>
          <p:nvPr/>
        </p:nvSpPr>
        <p:spPr>
          <a:xfrm>
            <a:off x="765704" y="2724912"/>
            <a:ext cx="8686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Helvetica" pitchFamily="34" charset="0"/>
                <a:ea typeface="Helvetica" pitchFamily="34" charset="-122"/>
                <a:cs typeface="Helvetica" pitchFamily="34" charset="-120"/>
              </a:rPr>
              <a:t>META</a:t>
            </a:r>
            <a:endParaRPr lang="en-US" sz="900" dirty="0"/>
          </a:p>
        </p:txBody>
      </p:sp>
      <p:sp>
        <p:nvSpPr>
          <p:cNvPr id="13" name="Text 11"/>
          <p:cNvSpPr/>
          <p:nvPr/>
        </p:nvSpPr>
        <p:spPr>
          <a:xfrm>
            <a:off x="765704" y="3054096"/>
            <a:ext cx="3236976" cy="320040"/>
          </a:xfrm>
          <a:prstGeom prst="rect">
            <a:avLst/>
          </a:prstGeom>
          <a:noFill/>
          <a:ln/>
        </p:spPr>
        <p:txBody>
          <a:bodyPr wrap="square" lIns="0" tIns="0" rIns="0" bIns="0" rtlCol="0" anchor="ctr"/>
          <a:lstStyle/>
          <a:p>
            <a:pPr marL="0" indent="0">
              <a:buNone/>
            </a:pPr>
            <a:r>
              <a:rPr lang="en-US" sz="1250" b="1" dirty="0">
                <a:solidFill>
                  <a:srgbClr val="0D1321"/>
                </a:solidFill>
                <a:latin typeface="Helvetica" pitchFamily="34" charset="0"/>
                <a:ea typeface="Helvetica" pitchFamily="34" charset="-122"/>
                <a:cs typeface="Helvetica" pitchFamily="34" charset="-120"/>
              </a:rPr>
              <a:t>Meta / Instagram Ads</a:t>
            </a:r>
            <a:endParaRPr lang="en-US" sz="1250" dirty="0"/>
          </a:p>
        </p:txBody>
      </p:sp>
      <p:sp>
        <p:nvSpPr>
          <p:cNvPr id="14" name="Text 12"/>
          <p:cNvSpPr/>
          <p:nvPr/>
        </p:nvSpPr>
        <p:spPr>
          <a:xfrm>
            <a:off x="765704" y="3383280"/>
            <a:ext cx="3236976" cy="1051560"/>
          </a:xfrm>
          <a:prstGeom prst="rect">
            <a:avLst/>
          </a:prstGeom>
          <a:noFill/>
          <a:ln/>
        </p:spPr>
        <p:txBody>
          <a:bodyPr wrap="square" lIns="0" tIns="0" rIns="0" bIns="0" rtlCol="0" anchor="ctr"/>
          <a:lstStyle/>
          <a:p>
            <a:pPr marL="0" indent="0">
              <a:lnSpc>
                <a:spcPct val="125000"/>
              </a:lnSpc>
              <a:buNone/>
            </a:pPr>
            <a:r>
              <a:rPr lang="en-US" sz="1050" dirty="0">
                <a:solidFill>
                  <a:srgbClr val="23283A"/>
                </a:solidFill>
                <a:latin typeface="Helvetica" pitchFamily="34" charset="0"/>
                <a:ea typeface="Helvetica" pitchFamily="34" charset="-122"/>
                <a:cs typeface="Helvetica" pitchFamily="34" charset="-120"/>
              </a:rPr>
              <a:t>Feed &amp; story, tone lebih polished. Headline pendek + body storytelling singkat + CTA jelas. Cocok untuk framework Hook-Problem-Solution-CTA.</a:t>
            </a:r>
            <a:endParaRPr lang="en-US" sz="1050" dirty="0"/>
          </a:p>
        </p:txBody>
      </p:sp>
      <p:sp>
        <p:nvSpPr>
          <p:cNvPr id="15" name="Shape 13"/>
          <p:cNvSpPr/>
          <p:nvPr/>
        </p:nvSpPr>
        <p:spPr>
          <a:xfrm>
            <a:off x="4258712" y="2542032"/>
            <a:ext cx="3529584" cy="2011680"/>
          </a:xfrm>
          <a:prstGeom prst="roundRect">
            <a:avLst>
              <a:gd name="adj" fmla="val 4545"/>
            </a:avLst>
          </a:prstGeom>
          <a:solidFill>
            <a:srgbClr val="F4F6FB"/>
          </a:solidFill>
          <a:ln w="12700">
            <a:solidFill>
              <a:srgbClr val="D6DCEB"/>
            </a:solidFill>
            <a:prstDash val="solid"/>
          </a:ln>
        </p:spPr>
        <p:txBody>
          <a:bodyPr/>
          <a:lstStyle/>
          <a:p>
            <a:endParaRPr/>
          </a:p>
        </p:txBody>
      </p:sp>
      <p:sp>
        <p:nvSpPr>
          <p:cNvPr id="16" name="Shape 14"/>
          <p:cNvSpPr/>
          <p:nvPr/>
        </p:nvSpPr>
        <p:spPr>
          <a:xfrm>
            <a:off x="4258712" y="2542032"/>
            <a:ext cx="3529584" cy="73152"/>
          </a:xfrm>
          <a:prstGeom prst="rect">
            <a:avLst/>
          </a:prstGeom>
          <a:solidFill>
            <a:srgbClr val="111827"/>
          </a:solidFill>
          <a:ln/>
        </p:spPr>
        <p:txBody>
          <a:bodyPr/>
          <a:lstStyle/>
          <a:p>
            <a:endParaRPr/>
          </a:p>
        </p:txBody>
      </p:sp>
      <p:sp>
        <p:nvSpPr>
          <p:cNvPr id="17" name="Shape 15"/>
          <p:cNvSpPr/>
          <p:nvPr/>
        </p:nvSpPr>
        <p:spPr>
          <a:xfrm>
            <a:off x="4405016" y="2724912"/>
            <a:ext cx="868680" cy="256032"/>
          </a:xfrm>
          <a:prstGeom prst="roundRect">
            <a:avLst>
              <a:gd name="adj" fmla="val 17857"/>
            </a:avLst>
          </a:prstGeom>
          <a:solidFill>
            <a:srgbClr val="111827"/>
          </a:solidFill>
          <a:ln/>
        </p:spPr>
        <p:txBody>
          <a:bodyPr/>
          <a:lstStyle/>
          <a:p>
            <a:endParaRPr/>
          </a:p>
        </p:txBody>
      </p:sp>
      <p:sp>
        <p:nvSpPr>
          <p:cNvPr id="18" name="Text 16"/>
          <p:cNvSpPr/>
          <p:nvPr/>
        </p:nvSpPr>
        <p:spPr>
          <a:xfrm>
            <a:off x="4405016" y="2724912"/>
            <a:ext cx="8686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Helvetica" pitchFamily="34" charset="0"/>
                <a:ea typeface="Helvetica" pitchFamily="34" charset="-122"/>
                <a:cs typeface="Helvetica" pitchFamily="34" charset="-120"/>
              </a:rPr>
              <a:t>TIKTOK</a:t>
            </a:r>
            <a:endParaRPr lang="en-US" sz="900" dirty="0"/>
          </a:p>
        </p:txBody>
      </p:sp>
      <p:sp>
        <p:nvSpPr>
          <p:cNvPr id="19" name="Text 17"/>
          <p:cNvSpPr/>
          <p:nvPr/>
        </p:nvSpPr>
        <p:spPr>
          <a:xfrm>
            <a:off x="4405016" y="3054096"/>
            <a:ext cx="3236976" cy="320040"/>
          </a:xfrm>
          <a:prstGeom prst="rect">
            <a:avLst/>
          </a:prstGeom>
          <a:noFill/>
          <a:ln/>
        </p:spPr>
        <p:txBody>
          <a:bodyPr wrap="square" lIns="0" tIns="0" rIns="0" bIns="0" rtlCol="0" anchor="ctr"/>
          <a:lstStyle/>
          <a:p>
            <a:pPr marL="0" indent="0">
              <a:buNone/>
            </a:pPr>
            <a:r>
              <a:rPr lang="en-US" sz="1250" b="1" dirty="0">
                <a:solidFill>
                  <a:srgbClr val="0D1321"/>
                </a:solidFill>
                <a:latin typeface="Helvetica" pitchFamily="34" charset="0"/>
                <a:ea typeface="Helvetica" pitchFamily="34" charset="-122"/>
                <a:cs typeface="Helvetica" pitchFamily="34" charset="-120"/>
              </a:rPr>
              <a:t>TikTok Ads</a:t>
            </a:r>
            <a:endParaRPr lang="en-US" sz="1250" dirty="0"/>
          </a:p>
        </p:txBody>
      </p:sp>
      <p:sp>
        <p:nvSpPr>
          <p:cNvPr id="20" name="Text 18"/>
          <p:cNvSpPr/>
          <p:nvPr/>
        </p:nvSpPr>
        <p:spPr>
          <a:xfrm>
            <a:off x="4405016" y="3383280"/>
            <a:ext cx="3236976" cy="1051560"/>
          </a:xfrm>
          <a:prstGeom prst="rect">
            <a:avLst/>
          </a:prstGeom>
          <a:noFill/>
          <a:ln/>
        </p:spPr>
        <p:txBody>
          <a:bodyPr wrap="square" lIns="0" tIns="0" rIns="0" bIns="0" rtlCol="0" anchor="ctr"/>
          <a:lstStyle/>
          <a:p>
            <a:pPr marL="0" indent="0">
              <a:lnSpc>
                <a:spcPct val="125000"/>
              </a:lnSpc>
              <a:buNone/>
            </a:pPr>
            <a:r>
              <a:rPr lang="en-US" sz="1050" dirty="0">
                <a:solidFill>
                  <a:srgbClr val="23283A"/>
                </a:solidFill>
                <a:latin typeface="Helvetica" pitchFamily="34" charset="0"/>
                <a:ea typeface="Helvetica" pitchFamily="34" charset="-122"/>
                <a:cs typeface="Helvetica" pitchFamily="34" charset="-120"/>
              </a:rPr>
              <a:t>Native, hook dalam 1-2 detik pertama, terasa seperti konten organik bukan iklan. Skrip video pendek, tone santai, langsung ke inti.</a:t>
            </a:r>
            <a:endParaRPr lang="en-US" sz="1050" dirty="0"/>
          </a:p>
        </p:txBody>
      </p:sp>
      <p:sp>
        <p:nvSpPr>
          <p:cNvPr id="21" name="Shape 19"/>
          <p:cNvSpPr/>
          <p:nvPr/>
        </p:nvSpPr>
        <p:spPr>
          <a:xfrm>
            <a:off x="7898024" y="2542032"/>
            <a:ext cx="3529584" cy="2011680"/>
          </a:xfrm>
          <a:prstGeom prst="roundRect">
            <a:avLst>
              <a:gd name="adj" fmla="val 4545"/>
            </a:avLst>
          </a:prstGeom>
          <a:solidFill>
            <a:srgbClr val="F4F6FB"/>
          </a:solidFill>
          <a:ln w="12700">
            <a:solidFill>
              <a:srgbClr val="D6DCEB"/>
            </a:solidFill>
            <a:prstDash val="solid"/>
          </a:ln>
        </p:spPr>
        <p:txBody>
          <a:bodyPr/>
          <a:lstStyle/>
          <a:p>
            <a:endParaRPr/>
          </a:p>
        </p:txBody>
      </p:sp>
      <p:sp>
        <p:nvSpPr>
          <p:cNvPr id="22" name="Shape 20"/>
          <p:cNvSpPr/>
          <p:nvPr/>
        </p:nvSpPr>
        <p:spPr>
          <a:xfrm>
            <a:off x="7898024" y="2542032"/>
            <a:ext cx="3529584" cy="73152"/>
          </a:xfrm>
          <a:prstGeom prst="rect">
            <a:avLst/>
          </a:prstGeom>
          <a:solidFill>
            <a:srgbClr val="F4B400"/>
          </a:solidFill>
          <a:ln/>
        </p:spPr>
        <p:txBody>
          <a:bodyPr/>
          <a:lstStyle/>
          <a:p>
            <a:endParaRPr/>
          </a:p>
        </p:txBody>
      </p:sp>
      <p:sp>
        <p:nvSpPr>
          <p:cNvPr id="23" name="Shape 21"/>
          <p:cNvSpPr/>
          <p:nvPr/>
        </p:nvSpPr>
        <p:spPr>
          <a:xfrm>
            <a:off x="8044328" y="2724912"/>
            <a:ext cx="868680" cy="256032"/>
          </a:xfrm>
          <a:prstGeom prst="roundRect">
            <a:avLst>
              <a:gd name="adj" fmla="val 17857"/>
            </a:avLst>
          </a:prstGeom>
          <a:solidFill>
            <a:srgbClr val="F4B400"/>
          </a:solidFill>
          <a:ln/>
        </p:spPr>
        <p:txBody>
          <a:bodyPr/>
          <a:lstStyle/>
          <a:p>
            <a:endParaRPr/>
          </a:p>
        </p:txBody>
      </p:sp>
      <p:sp>
        <p:nvSpPr>
          <p:cNvPr id="24" name="Text 22"/>
          <p:cNvSpPr/>
          <p:nvPr/>
        </p:nvSpPr>
        <p:spPr>
          <a:xfrm>
            <a:off x="8044328" y="2724912"/>
            <a:ext cx="86868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Helvetica" pitchFamily="34" charset="0"/>
                <a:ea typeface="Helvetica" pitchFamily="34" charset="-122"/>
                <a:cs typeface="Helvetica" pitchFamily="34" charset="-120"/>
              </a:rPr>
              <a:t>GOOGLE</a:t>
            </a:r>
            <a:endParaRPr lang="en-US" sz="900" dirty="0"/>
          </a:p>
        </p:txBody>
      </p:sp>
      <p:sp>
        <p:nvSpPr>
          <p:cNvPr id="25" name="Text 23"/>
          <p:cNvSpPr/>
          <p:nvPr/>
        </p:nvSpPr>
        <p:spPr>
          <a:xfrm>
            <a:off x="8044328" y="3054096"/>
            <a:ext cx="3236976" cy="320040"/>
          </a:xfrm>
          <a:prstGeom prst="rect">
            <a:avLst/>
          </a:prstGeom>
          <a:noFill/>
          <a:ln/>
        </p:spPr>
        <p:txBody>
          <a:bodyPr wrap="square" lIns="0" tIns="0" rIns="0" bIns="0" rtlCol="0" anchor="ctr"/>
          <a:lstStyle/>
          <a:p>
            <a:pPr marL="0" indent="0">
              <a:buNone/>
            </a:pPr>
            <a:r>
              <a:rPr lang="en-US" sz="1250" b="1" dirty="0">
                <a:solidFill>
                  <a:srgbClr val="0D1321"/>
                </a:solidFill>
                <a:latin typeface="Helvetica" pitchFamily="34" charset="0"/>
                <a:ea typeface="Helvetica" pitchFamily="34" charset="-122"/>
                <a:cs typeface="Helvetica" pitchFamily="34" charset="-120"/>
              </a:rPr>
              <a:t>Google Ads (Search)</a:t>
            </a:r>
            <a:endParaRPr lang="en-US" sz="1250" dirty="0"/>
          </a:p>
        </p:txBody>
      </p:sp>
      <p:sp>
        <p:nvSpPr>
          <p:cNvPr id="26" name="Text 24"/>
          <p:cNvSpPr/>
          <p:nvPr/>
        </p:nvSpPr>
        <p:spPr>
          <a:xfrm>
            <a:off x="8044328" y="3383280"/>
            <a:ext cx="3236976" cy="1051560"/>
          </a:xfrm>
          <a:prstGeom prst="rect">
            <a:avLst/>
          </a:prstGeom>
          <a:noFill/>
          <a:ln/>
        </p:spPr>
        <p:txBody>
          <a:bodyPr wrap="square" lIns="0" tIns="0" rIns="0" bIns="0" rtlCol="0" anchor="ctr"/>
          <a:lstStyle/>
          <a:p>
            <a:pPr marL="0" indent="0">
              <a:lnSpc>
                <a:spcPct val="125000"/>
              </a:lnSpc>
              <a:buNone/>
            </a:pPr>
            <a:r>
              <a:rPr lang="en-US" sz="1050" dirty="0">
                <a:solidFill>
                  <a:srgbClr val="23283A"/>
                </a:solidFill>
                <a:latin typeface="Helvetica" pitchFamily="34" charset="0"/>
                <a:ea typeface="Helvetica" pitchFamily="34" charset="-122"/>
                <a:cs typeface="Helvetica" pitchFamily="34" charset="-120"/>
              </a:rPr>
              <a:t>Berbasis keyword, bukan storytelling. Headline maks 30 karakter ×15 variasi + deskripsi maks 90 karakter ×4, plus keyword &amp; negative keyword.</a:t>
            </a:r>
            <a:endParaRPr lang="en-US" sz="1050" dirty="0"/>
          </a:p>
        </p:txBody>
      </p:sp>
      <p:sp>
        <p:nvSpPr>
          <p:cNvPr id="27" name="Shape 25"/>
          <p:cNvSpPr/>
          <p:nvPr/>
        </p:nvSpPr>
        <p:spPr>
          <a:xfrm>
            <a:off x="502920" y="4736592"/>
            <a:ext cx="11064240" cy="1051560"/>
          </a:xfrm>
          <a:prstGeom prst="roundRect">
            <a:avLst>
              <a:gd name="adj" fmla="val 8696"/>
            </a:avLst>
          </a:prstGeom>
          <a:solidFill>
            <a:srgbClr val="F3F0FF"/>
          </a:solidFill>
          <a:ln w="12700">
            <a:solidFill>
              <a:srgbClr val="DCD3FB"/>
            </a:solidFill>
            <a:prstDash val="solid"/>
          </a:ln>
        </p:spPr>
        <p:txBody>
          <a:bodyPr/>
          <a:lstStyle/>
          <a:p>
            <a:endParaRPr/>
          </a:p>
        </p:txBody>
      </p:sp>
      <p:sp>
        <p:nvSpPr>
          <p:cNvPr id="28" name="Text 26"/>
          <p:cNvSpPr/>
          <p:nvPr/>
        </p:nvSpPr>
        <p:spPr>
          <a:xfrm>
            <a:off x="713232" y="4736592"/>
            <a:ext cx="10643616" cy="1051560"/>
          </a:xfrm>
          <a:prstGeom prst="rect">
            <a:avLst/>
          </a:prstGeom>
          <a:noFill/>
          <a:ln/>
        </p:spPr>
        <p:txBody>
          <a:bodyPr wrap="square" lIns="0" tIns="0" rIns="0" bIns="0" rtlCol="0" anchor="ctr"/>
          <a:lstStyle/>
          <a:p>
            <a:pPr marL="0" indent="0">
              <a:lnSpc>
                <a:spcPct val="125000"/>
              </a:lnSpc>
              <a:buNone/>
            </a:pPr>
            <a:r>
              <a:rPr lang="en-US" sz="1200" b="1" dirty="0">
                <a:solidFill>
                  <a:srgbClr val="4B36C7"/>
                </a:solidFill>
                <a:latin typeface="Helvetica" pitchFamily="34" charset="0"/>
                <a:ea typeface="Helvetica" pitchFamily="34" charset="-122"/>
                <a:cs typeface="Helvetica" pitchFamily="34" charset="-120"/>
              </a:rPr>
              <a:t>◆  BONUS: TARGETING BRIEF  </a:t>
            </a:r>
            <a:r>
              <a:rPr lang="en-US" sz="1200" dirty="0">
                <a:solidFill>
                  <a:srgbClr val="23283A"/>
                </a:solidFill>
                <a:latin typeface="Helvetica" pitchFamily="34" charset="0"/>
                <a:ea typeface="Helvetica" pitchFamily="34" charset="-122"/>
                <a:cs typeface="Helvetica" pitchFamily="34" charset="-120"/>
              </a:rPr>
              <a:t>Minta Claude tulis targeting brief (umur, minat, lokasi, lookalike) untuk kamu masukkan manual ke Ads Manager. Claude tidak punya koneksi ke Meta/TikTok/Google Ads — kamu tetap yang setup dan menjalankan campaign-nya.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txBody>
          <a:bodyPr/>
          <a:lstStyle/>
          <a:p>
            <a:endParaRPr/>
          </a:p>
        </p:txBody>
      </p:sp>
      <p:sp>
        <p:nvSpPr>
          <p:cNvPr id="3" name="Shape 1"/>
          <p:cNvSpPr/>
          <p:nvPr/>
        </p:nvSpPr>
        <p:spPr>
          <a:xfrm>
            <a:off x="0" y="960120"/>
            <a:ext cx="12191695" cy="41148"/>
          </a:xfrm>
          <a:prstGeom prst="rect">
            <a:avLst/>
          </a:prstGeom>
          <a:solidFill>
            <a:srgbClr val="6849F6"/>
          </a:solidFill>
          <a:ln/>
        </p:spPr>
        <p:txBody>
          <a:bodyPr/>
          <a:lstStyle/>
          <a:p>
            <a:endParaRPr/>
          </a:p>
        </p:txBody>
      </p:sp>
      <p:sp>
        <p:nvSpPr>
          <p:cNvPr id="4" name="Text 2"/>
          <p:cNvSpPr/>
          <p:nvPr/>
        </p:nvSpPr>
        <p:spPr>
          <a:xfrm>
            <a:off x="502920" y="256032"/>
            <a:ext cx="3657600" cy="457200"/>
          </a:xfrm>
          <a:prstGeom prst="rect">
            <a:avLst/>
          </a:prstGeom>
          <a:noFill/>
          <a:ln/>
        </p:spPr>
        <p:txBody>
          <a:bodyPr wrap="square" lIns="0" tIns="0" rIns="0" bIns="0" rtlCol="0" anchor="ctr"/>
          <a:lstStyle/>
          <a:p>
            <a:pPr marL="0" indent="0">
              <a:buNone/>
            </a:pPr>
            <a:r>
              <a:rPr lang="en-US" sz="2000" b="1" dirty="0">
                <a:solidFill>
                  <a:srgbClr val="FFFFFF"/>
                </a:solidFill>
                <a:latin typeface="Helvetica" pitchFamily="34" charset="0"/>
                <a:ea typeface="Helvetica" pitchFamily="34" charset="-122"/>
                <a:cs typeface="Helvetica" pitchFamily="34" charset="-120"/>
              </a:rPr>
              <a:t>belajar</a:t>
            </a: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marL="0" indent="0" algn="r">
              <a:buNone/>
            </a:pPr>
            <a:r>
              <a:rPr lang="en-US" sz="1250" dirty="0">
                <a:solidFill>
                  <a:srgbClr val="9AA2B4"/>
                </a:solidFill>
                <a:latin typeface="Helvetica" pitchFamily="34" charset="0"/>
                <a:ea typeface="Helvetica" pitchFamily="34" charset="-122"/>
                <a:cs typeface="Helvetica" pitchFamily="34" charset="-120"/>
              </a:rPr>
              <a:t>Modul 04 — Ads Copywriting Multi-Platform</a:t>
            </a:r>
            <a:endParaRPr lang="en-US" sz="1250" dirty="0"/>
          </a:p>
        </p:txBody>
      </p:sp>
      <p:sp>
        <p:nvSpPr>
          <p:cNvPr id="6" name="Text 4"/>
          <p:cNvSpPr/>
          <p:nvPr/>
        </p:nvSpPr>
        <p:spPr>
          <a:xfrm>
            <a:off x="502920" y="1170432"/>
            <a:ext cx="11064240" cy="274320"/>
          </a:xfrm>
          <a:prstGeom prst="rect">
            <a:avLst/>
          </a:prstGeom>
          <a:noFill/>
          <a:ln/>
        </p:spPr>
        <p:txBody>
          <a:bodyPr wrap="square" lIns="0" tIns="0" rIns="0" bIns="0" rtlCol="0" anchor="ctr"/>
          <a:lstStyle/>
          <a:p>
            <a:pPr marL="0" indent="0">
              <a:buNone/>
            </a:pPr>
            <a:r>
              <a:rPr lang="en-US" sz="1250" b="1" kern="0" spc="40" dirty="0">
                <a:solidFill>
                  <a:srgbClr val="4B36C7"/>
                </a:solidFill>
                <a:latin typeface="Helvetica" pitchFamily="34" charset="0"/>
                <a:ea typeface="Helvetica" pitchFamily="34" charset="-122"/>
                <a:cs typeface="Helvetica" pitchFamily="34" charset="-120"/>
              </a:rPr>
              <a:t>DARI LATIHAN KE IKLAN AKTIF</a:t>
            </a:r>
            <a:endParaRPr lang="en-US" sz="1250" dirty="0"/>
          </a:p>
        </p:txBody>
      </p:sp>
      <p:sp>
        <p:nvSpPr>
          <p:cNvPr id="7" name="Text 5"/>
          <p:cNvSpPr/>
          <p:nvPr/>
        </p:nvSpPr>
        <p:spPr>
          <a:xfrm>
            <a:off x="502920" y="1444752"/>
            <a:ext cx="11064240" cy="548640"/>
          </a:xfrm>
          <a:prstGeom prst="rect">
            <a:avLst/>
          </a:prstGeom>
          <a:noFill/>
          <a:ln/>
        </p:spPr>
        <p:txBody>
          <a:bodyPr wrap="square" lIns="0" tIns="0" rIns="0" bIns="0" rtlCol="0" anchor="ctr"/>
          <a:lstStyle/>
          <a:p>
            <a:pPr marL="0" indent="0">
              <a:buNone/>
            </a:pPr>
            <a:r>
              <a:rPr lang="en-US" sz="2200" b="1" dirty="0">
                <a:solidFill>
                  <a:srgbClr val="0D1321"/>
                </a:solidFill>
                <a:latin typeface="Helvetica" pitchFamily="34" charset="0"/>
                <a:ea typeface="Helvetica" pitchFamily="34" charset="-122"/>
                <a:cs typeface="Helvetica" pitchFamily="34" charset="-120"/>
              </a:rPr>
              <a:t>Latihan &amp; Output yang Diharapkan</a:t>
            </a:r>
            <a:endParaRPr lang="en-US" sz="2200" dirty="0"/>
          </a:p>
        </p:txBody>
      </p:sp>
      <p:sp>
        <p:nvSpPr>
          <p:cNvPr id="8" name="Shape 6"/>
          <p:cNvSpPr/>
          <p:nvPr/>
        </p:nvSpPr>
        <p:spPr>
          <a:xfrm>
            <a:off x="502920" y="2084832"/>
            <a:ext cx="11064240" cy="1965960"/>
          </a:xfrm>
          <a:prstGeom prst="roundRect">
            <a:avLst>
              <a:gd name="adj" fmla="val 5581"/>
            </a:avLst>
          </a:prstGeom>
          <a:solidFill>
            <a:srgbClr val="EAFAF0"/>
          </a:solidFill>
          <a:ln w="12700">
            <a:solidFill>
              <a:srgbClr val="B8E6C9"/>
            </a:solidFill>
            <a:prstDash val="solid"/>
          </a:ln>
        </p:spPr>
        <p:txBody>
          <a:bodyPr/>
          <a:lstStyle/>
          <a:p>
            <a:endParaRPr/>
          </a:p>
        </p:txBody>
      </p:sp>
      <p:sp>
        <p:nvSpPr>
          <p:cNvPr id="9" name="Text 7"/>
          <p:cNvSpPr/>
          <p:nvPr/>
        </p:nvSpPr>
        <p:spPr>
          <a:xfrm>
            <a:off x="713232" y="2249424"/>
            <a:ext cx="10607040" cy="274320"/>
          </a:xfrm>
          <a:prstGeom prst="rect">
            <a:avLst/>
          </a:prstGeom>
          <a:noFill/>
          <a:ln/>
        </p:spPr>
        <p:txBody>
          <a:bodyPr wrap="square" lIns="0" tIns="0" rIns="0" bIns="0" rtlCol="0" anchor="ctr"/>
          <a:lstStyle/>
          <a:p>
            <a:pPr marL="0" indent="0">
              <a:buNone/>
            </a:pPr>
            <a:r>
              <a:rPr lang="en-US" sz="1300" b="1" dirty="0">
                <a:solidFill>
                  <a:srgbClr val="1A7A44"/>
                </a:solidFill>
                <a:latin typeface="Helvetica" pitchFamily="34" charset="0"/>
                <a:ea typeface="Helvetica" pitchFamily="34" charset="-122"/>
                <a:cs typeface="Helvetica" pitchFamily="34" charset="-120"/>
              </a:rPr>
              <a:t>■  LATIHAN</a:t>
            </a:r>
            <a:endParaRPr lang="en-US" sz="1300" dirty="0"/>
          </a:p>
        </p:txBody>
      </p:sp>
      <p:sp>
        <p:nvSpPr>
          <p:cNvPr id="10" name="Text 8"/>
          <p:cNvSpPr/>
          <p:nvPr/>
        </p:nvSpPr>
        <p:spPr>
          <a:xfrm>
            <a:off x="713232" y="2542032"/>
            <a:ext cx="10607040" cy="685800"/>
          </a:xfrm>
          <a:prstGeom prst="rect">
            <a:avLst/>
          </a:prstGeom>
          <a:noFill/>
          <a:ln/>
        </p:spPr>
        <p:txBody>
          <a:bodyPr wrap="square" lIns="0" tIns="0" rIns="0" bIns="0" rtlCol="0" anchor="ctr"/>
          <a:lstStyle/>
          <a:p>
            <a:pPr marL="0" indent="0">
              <a:lnSpc>
                <a:spcPct val="125000"/>
              </a:lnSpc>
              <a:buNone/>
            </a:pPr>
            <a:r>
              <a:rPr lang="en-US" sz="1200" dirty="0">
                <a:solidFill>
                  <a:srgbClr val="23283A"/>
                </a:solidFill>
                <a:latin typeface="Helvetica" pitchFamily="34" charset="0"/>
                <a:ea typeface="Helvetica" pitchFamily="34" charset="-122"/>
                <a:cs typeface="Helvetica" pitchFamily="34" charset="-120"/>
              </a:rPr>
              <a:t>Ambil 1 baris dari kalender konten Modul 3 yang cocok jadi iklan berbayar. Jalankan prompt ini, ambil copy terbaik, lalu buat visualnya (foto via Prompt Enhancer kalau perlu). Rakit di Ads Manager sebagai 1 paket — bukan potongan terpisah. Jalankan 3 hari, catat CTR &amp; konversi.</a:t>
            </a:r>
            <a:endParaRPr lang="en-US" sz="1200" dirty="0"/>
          </a:p>
        </p:txBody>
      </p:sp>
      <p:sp>
        <p:nvSpPr>
          <p:cNvPr id="11" name="Shape 9"/>
          <p:cNvSpPr/>
          <p:nvPr/>
        </p:nvSpPr>
        <p:spPr>
          <a:xfrm>
            <a:off x="713232" y="3310128"/>
            <a:ext cx="10607040" cy="685800"/>
          </a:xfrm>
          <a:prstGeom prst="roundRect">
            <a:avLst>
              <a:gd name="adj" fmla="val 10667"/>
            </a:avLst>
          </a:prstGeom>
          <a:solidFill>
            <a:srgbClr val="FFFFFF"/>
          </a:solidFill>
          <a:ln w="12700">
            <a:solidFill>
              <a:srgbClr val="B8E6C9"/>
            </a:solidFill>
            <a:prstDash val="solid"/>
          </a:ln>
        </p:spPr>
        <p:txBody>
          <a:bodyPr/>
          <a:lstStyle/>
          <a:p>
            <a:endParaRPr/>
          </a:p>
        </p:txBody>
      </p:sp>
      <p:sp>
        <p:nvSpPr>
          <p:cNvPr id="12" name="Text 10"/>
          <p:cNvSpPr/>
          <p:nvPr/>
        </p:nvSpPr>
        <p:spPr>
          <a:xfrm>
            <a:off x="868680" y="3310128"/>
            <a:ext cx="10296144" cy="685800"/>
          </a:xfrm>
          <a:prstGeom prst="rect">
            <a:avLst/>
          </a:prstGeom>
          <a:noFill/>
          <a:ln/>
        </p:spPr>
        <p:txBody>
          <a:bodyPr wrap="square" lIns="0" tIns="0" rIns="0" bIns="0" rtlCol="0" anchor="ctr"/>
          <a:lstStyle/>
          <a:p>
            <a:pPr marL="0" indent="0">
              <a:lnSpc>
                <a:spcPct val="120000"/>
              </a:lnSpc>
              <a:buNone/>
            </a:pPr>
            <a:r>
              <a:rPr lang="en-US" sz="950" i="1" dirty="0">
                <a:solidFill>
                  <a:srgbClr val="1A7A44"/>
                </a:solidFill>
                <a:latin typeface="Helvetica" pitchFamily="34" charset="0"/>
                <a:ea typeface="Helvetica" pitchFamily="34" charset="-122"/>
                <a:cs typeface="Helvetica" pitchFamily="34" charset="-120"/>
              </a:rPr>
              <a:t>Buat 3 variasi copy iklan (Meta, TikTok, Google Ads) untuk [nama produk/promo], diskon [%], berlaku [tanggal]. Target: [deskripsi target]. Format: headline (maks 7 kata) + body (maks 30 kata) + CTA per platform. Variasi tone: urgensi, emosional, fungsional. Tambahkan juga 1 targeting brief singkat (usia, minat, lokasi).</a:t>
            </a:r>
            <a:endParaRPr lang="en-US" sz="950" dirty="0"/>
          </a:p>
        </p:txBody>
      </p:sp>
      <p:sp>
        <p:nvSpPr>
          <p:cNvPr id="13" name="Shape 11"/>
          <p:cNvSpPr/>
          <p:nvPr/>
        </p:nvSpPr>
        <p:spPr>
          <a:xfrm>
            <a:off x="502920" y="4325112"/>
            <a:ext cx="11064240" cy="1371600"/>
          </a:xfrm>
          <a:prstGeom prst="roundRect">
            <a:avLst>
              <a:gd name="adj" fmla="val 8000"/>
            </a:avLst>
          </a:prstGeom>
          <a:solidFill>
            <a:srgbClr val="141D33"/>
          </a:solidFill>
          <a:ln/>
        </p:spPr>
        <p:txBody>
          <a:bodyPr/>
          <a:lstStyle/>
          <a:p>
            <a:endParaRPr/>
          </a:p>
        </p:txBody>
      </p:sp>
      <p:sp>
        <p:nvSpPr>
          <p:cNvPr id="14" name="Text 12"/>
          <p:cNvSpPr/>
          <p:nvPr/>
        </p:nvSpPr>
        <p:spPr>
          <a:xfrm>
            <a:off x="713232" y="4489704"/>
            <a:ext cx="10607040" cy="274320"/>
          </a:xfrm>
          <a:prstGeom prst="rect">
            <a:avLst/>
          </a:prstGeom>
          <a:noFill/>
          <a:ln/>
        </p:spPr>
        <p:txBody>
          <a:bodyPr wrap="square" lIns="0" tIns="0" rIns="0" bIns="0" rtlCol="0" anchor="ctr"/>
          <a:lstStyle/>
          <a:p>
            <a:pPr marL="0" indent="0">
              <a:buNone/>
            </a:pPr>
            <a:r>
              <a:rPr lang="en-US" sz="1300" b="1" dirty="0">
                <a:solidFill>
                  <a:srgbClr val="8B7CF6"/>
                </a:solidFill>
                <a:latin typeface="Helvetica" pitchFamily="34" charset="0"/>
                <a:ea typeface="Helvetica" pitchFamily="34" charset="-122"/>
                <a:cs typeface="Helvetica" pitchFamily="34" charset="-120"/>
              </a:rPr>
              <a:t>OUTPUT YANG DIHARAPKAN</a:t>
            </a:r>
            <a:endParaRPr lang="en-US" sz="1300" dirty="0"/>
          </a:p>
        </p:txBody>
      </p:sp>
      <p:sp>
        <p:nvSpPr>
          <p:cNvPr id="15" name="Text 13"/>
          <p:cNvSpPr/>
          <p:nvPr/>
        </p:nvSpPr>
        <p:spPr>
          <a:xfrm>
            <a:off x="713232" y="4782312"/>
            <a:ext cx="10607040" cy="822960"/>
          </a:xfrm>
          <a:prstGeom prst="rect">
            <a:avLst/>
          </a:prstGeom>
          <a:noFill/>
          <a:ln/>
        </p:spPr>
        <p:txBody>
          <a:bodyPr wrap="square" lIns="0" tIns="0" rIns="0" bIns="0" rtlCol="0" anchor="ctr"/>
          <a:lstStyle/>
          <a:p>
            <a:pPr marL="0" indent="0">
              <a:lnSpc>
                <a:spcPct val="130000"/>
              </a:lnSpc>
              <a:buNone/>
            </a:pPr>
            <a:r>
              <a:rPr lang="en-US" sz="1250" dirty="0">
                <a:solidFill>
                  <a:srgbClr val="B7C0D8"/>
                </a:solidFill>
                <a:latin typeface="Helvetica" pitchFamily="34" charset="0"/>
                <a:ea typeface="Helvetica" pitchFamily="34" charset="-122"/>
                <a:cs typeface="Helvetica" pitchFamily="34" charset="-120"/>
              </a:rPr>
              <a:t>1 paket iklan siap jalan — bukan potongan terpisah: 3 variasi copy per platform (Meta, TikTok, Google) + 1 targeting brief + 1 desain/visual, dirakit jadi 1 campaign aktif di Ads Manager dengan tracking A/B test.</a:t>
            </a:r>
            <a:endParaRPr lang="en-US" sz="1250" dirty="0"/>
          </a:p>
        </p:txBody>
      </p:sp>
      <p:sp>
        <p:nvSpPr>
          <p:cNvPr id="16" name="Rounded Rectangle 15"/>
          <p:cNvSpPr/>
          <p:nvPr/>
        </p:nvSpPr>
        <p:spPr>
          <a:xfrm>
            <a:off x="502920" y="5779008"/>
            <a:ext cx="2331720" cy="512064"/>
          </a:xfrm>
          <a:prstGeom prst="roundRect">
            <a:avLst>
              <a:gd name="adj" fmla="val 14000"/>
            </a:avLst>
          </a:prstGeom>
          <a:solidFill>
            <a:srgbClr val="F3F0FF"/>
          </a:solidFill>
          <a:ln w="12700">
            <a:solidFill>
              <a:srgbClr val="DCD3FB"/>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r>
              <a:rPr sz="1100" b="1">
                <a:solidFill>
                  <a:srgbClr val="6849F6"/>
                </a:solidFill>
                <a:latin typeface="Helvetica"/>
              </a:rPr>
              <a:t>◆  Copy Iklan</a:t>
            </a:r>
          </a:p>
          <a:p>
            <a:pPr algn="ctr"/>
            <a:r>
              <a:rPr sz="850" b="0">
                <a:solidFill>
                  <a:srgbClr val="9AA2B4"/>
                </a:solidFill>
                <a:latin typeface="Helvetica"/>
              </a:rPr>
              <a:t>Headline + body + CTA (Claude)</a:t>
            </a:r>
          </a:p>
        </p:txBody>
      </p:sp>
      <p:sp>
        <p:nvSpPr>
          <p:cNvPr id="17" name="TextBox 16"/>
          <p:cNvSpPr txBox="1"/>
          <p:nvPr/>
        </p:nvSpPr>
        <p:spPr>
          <a:xfrm>
            <a:off x="2834640" y="5779008"/>
            <a:ext cx="320040" cy="512064"/>
          </a:xfrm>
          <a:prstGeom prst="rect">
            <a:avLst/>
          </a:prstGeom>
          <a:noFill/>
        </p:spPr>
        <p:txBody>
          <a:bodyPr wrap="none" anchor="ctr" lIns="0" rIns="0" tIns="0" bIns="0">
            <a:spAutoFit/>
          </a:bodyPr>
          <a:lstStyle/>
          <a:p>
            <a:pPr algn="ctr"/>
            <a:r>
              <a:rPr sz="1600" b="1">
                <a:solidFill>
                  <a:srgbClr val="9AA2B4"/>
                </a:solidFill>
                <a:latin typeface="Helvetica"/>
              </a:rPr>
              <a:t>+</a:t>
            </a:r>
          </a:p>
        </p:txBody>
      </p:sp>
      <p:sp>
        <p:nvSpPr>
          <p:cNvPr id="18" name="Rounded Rectangle 17"/>
          <p:cNvSpPr/>
          <p:nvPr/>
        </p:nvSpPr>
        <p:spPr>
          <a:xfrm>
            <a:off x="3154680" y="5779008"/>
            <a:ext cx="2331720" cy="512064"/>
          </a:xfrm>
          <a:prstGeom prst="roundRect">
            <a:avLst>
              <a:gd name="adj" fmla="val 14000"/>
            </a:avLst>
          </a:prstGeom>
          <a:solidFill>
            <a:srgbClr val="F3F0FF"/>
          </a:solidFill>
          <a:ln w="12700">
            <a:solidFill>
              <a:srgbClr val="DCD3FB"/>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r>
              <a:rPr sz="1100" b="1">
                <a:solidFill>
                  <a:srgbClr val="6849F6"/>
                </a:solidFill>
                <a:latin typeface="Helvetica"/>
              </a:rPr>
              <a:t>◆  Targeting Brief</a:t>
            </a:r>
          </a:p>
          <a:p>
            <a:pPr algn="ctr"/>
            <a:r>
              <a:rPr sz="850" b="0">
                <a:solidFill>
                  <a:srgbClr val="9AA2B4"/>
                </a:solidFill>
                <a:latin typeface="Helvetica"/>
              </a:rPr>
              <a:t>Usia, minat, lokasi (Claude)</a:t>
            </a:r>
          </a:p>
        </p:txBody>
      </p:sp>
      <p:sp>
        <p:nvSpPr>
          <p:cNvPr id="19" name="TextBox 18"/>
          <p:cNvSpPr txBox="1"/>
          <p:nvPr/>
        </p:nvSpPr>
        <p:spPr>
          <a:xfrm>
            <a:off x="5486400" y="5779008"/>
            <a:ext cx="320040" cy="512064"/>
          </a:xfrm>
          <a:prstGeom prst="rect">
            <a:avLst/>
          </a:prstGeom>
          <a:noFill/>
        </p:spPr>
        <p:txBody>
          <a:bodyPr wrap="none" anchor="ctr" lIns="0" rIns="0" tIns="0" bIns="0">
            <a:spAutoFit/>
          </a:bodyPr>
          <a:lstStyle/>
          <a:p>
            <a:pPr algn="ctr"/>
            <a:r>
              <a:rPr sz="1600" b="1">
                <a:solidFill>
                  <a:srgbClr val="9AA2B4"/>
                </a:solidFill>
                <a:latin typeface="Helvetica"/>
              </a:rPr>
              <a:t>+</a:t>
            </a:r>
          </a:p>
        </p:txBody>
      </p:sp>
      <p:sp>
        <p:nvSpPr>
          <p:cNvPr id="20" name="Rounded Rectangle 19"/>
          <p:cNvSpPr/>
          <p:nvPr/>
        </p:nvSpPr>
        <p:spPr>
          <a:xfrm>
            <a:off x="5806440" y="5779008"/>
            <a:ext cx="2331720" cy="512064"/>
          </a:xfrm>
          <a:prstGeom prst="roundRect">
            <a:avLst>
              <a:gd name="adj" fmla="val 14000"/>
            </a:avLst>
          </a:prstGeom>
          <a:solidFill>
            <a:srgbClr val="F3F0FF"/>
          </a:solidFill>
          <a:ln w="12700">
            <a:solidFill>
              <a:srgbClr val="DCD3FB"/>
            </a:solidFill>
          </a:ln>
          <a:effectLst/>
        </p:spPr>
        <p:style>
          <a:lnRef idx="1">
            <a:schemeClr val="accent1"/>
          </a:lnRef>
          <a:fillRef idx="3">
            <a:schemeClr val="accent1"/>
          </a:fillRef>
          <a:effectRef idx="2">
            <a:schemeClr val="accent1"/>
          </a:effectRef>
          <a:fontRef idx="minor">
            <a:schemeClr val="lt1"/>
          </a:fontRef>
        </p:style>
        <p:txBody>
          <a:bodyPr rtlCol="0" anchor="ctr" wrap="square" lIns="101600" rIns="101600" tIns="50800" bIns="50800"/>
          <a:lstStyle/>
          <a:p>
            <a:pPr algn="ctr"/>
            <a:r>
              <a:rPr sz="1100" b="1">
                <a:solidFill>
                  <a:srgbClr val="6849F6"/>
                </a:solidFill>
                <a:latin typeface="Helvetica"/>
              </a:rPr>
              <a:t>◆  Visual/Desain</a:t>
            </a:r>
          </a:p>
          <a:p>
            <a:pPr algn="ctr"/>
            <a:r>
              <a:rPr sz="850" b="0">
                <a:solidFill>
                  <a:srgbClr val="9AA2B4"/>
                </a:solidFill>
                <a:latin typeface="Helvetica"/>
              </a:rPr>
              <a:t>Foto (Nano Banana/ChatGPT) + layout (Canva/lain)</a:t>
            </a:r>
          </a:p>
        </p:txBody>
      </p:sp>
      <p:sp>
        <p:nvSpPr>
          <p:cNvPr id="21" name="TextBox 20"/>
          <p:cNvSpPr txBox="1"/>
          <p:nvPr/>
        </p:nvSpPr>
        <p:spPr>
          <a:xfrm>
            <a:off x="8138160" y="5779008"/>
            <a:ext cx="320040" cy="512064"/>
          </a:xfrm>
          <a:prstGeom prst="rect">
            <a:avLst/>
          </a:prstGeom>
          <a:noFill/>
        </p:spPr>
        <p:txBody>
          <a:bodyPr wrap="none" anchor="ctr" lIns="0" rIns="0" tIns="0" bIns="0">
            <a:spAutoFit/>
          </a:bodyPr>
          <a:lstStyle/>
          <a:p>
            <a:pPr algn="ctr"/>
            <a:r>
              <a:rPr sz="1600" b="1">
                <a:solidFill>
                  <a:srgbClr val="9AA2B4"/>
                </a:solidFill>
                <a:latin typeface="Helvetica"/>
              </a:rPr>
              <a:t>→</a:t>
            </a:r>
          </a:p>
        </p:txBody>
      </p:sp>
      <p:sp>
        <p:nvSpPr>
          <p:cNvPr id="22" name="Rounded Rectangle 21"/>
          <p:cNvSpPr/>
          <p:nvPr/>
        </p:nvSpPr>
        <p:spPr>
          <a:xfrm>
            <a:off x="8458200" y="5779008"/>
            <a:ext cx="2697480" cy="512064"/>
          </a:xfrm>
          <a:prstGeom prst="roundRect">
            <a:avLst>
              <a:gd name="adj" fmla="val 50000"/>
            </a:avLst>
          </a:prstGeom>
          <a:solidFill>
            <a:srgbClr val="6849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25400" bIns="25400"/>
          <a:lstStyle/>
          <a:p>
            <a:pPr algn="ctr"/>
            <a:r>
              <a:rPr sz="1150" b="1">
                <a:solidFill>
                  <a:srgbClr val="FFFFFF"/>
                </a:solidFill>
                <a:latin typeface="Helvetica"/>
              </a:rPr>
              <a:t>1 Paket Iklan Siap Jalan</a:t>
            </a:r>
          </a:p>
        </p:txBody>
      </p:sp>
      <p:sp>
        <p:nvSpPr>
          <p:cNvPr id="23" name="TextBox 22"/>
          <p:cNvSpPr txBox="1"/>
          <p:nvPr/>
        </p:nvSpPr>
        <p:spPr>
          <a:xfrm>
            <a:off x="502920" y="6364224"/>
            <a:ext cx="11064240" cy="274320"/>
          </a:xfrm>
          <a:prstGeom prst="rect">
            <a:avLst/>
          </a:prstGeom>
          <a:noFill/>
        </p:spPr>
        <p:txBody>
          <a:bodyPr wrap="none" lIns="0" rIns="0" tIns="0" bIns="0">
            <a:spAutoFit/>
          </a:bodyPr>
          <a:lstStyle/>
          <a:p>
            <a:pPr algn="ctr"/>
            <a:r>
              <a:rPr sz="1000" i="1">
                <a:solidFill>
                  <a:srgbClr val="9AA2B4"/>
                </a:solidFill>
                <a:latin typeface="Helvetica"/>
              </a:rPr>
              <a:t>Bukan potongan terpisah — upload sebagai 1 campaign ke Ads Manager (Meta/TikTok/Google)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1004</Words>
  <Application>Microsoft Office PowerPoint</Application>
  <PresentationFormat>Widescreen</PresentationFormat>
  <Paragraphs>92</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Julia Utomo</cp:lastModifiedBy>
  <cp:revision>6</cp:revision>
  <dcterms:created xsi:type="dcterms:W3CDTF">2026-07-28T13:53:53Z</dcterms:created>
  <dcterms:modified xsi:type="dcterms:W3CDTF">2026-07-30T06:25:43Z</dcterms:modified>
</cp:coreProperties>
</file>